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ppt/tags/tag1.xml" ContentType="application/vnd.openxmlformats-officedocument.presentationml.tags+xml"/>
  <Override PartName="/customXml/itemProps2.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ppt/slides/slide9.xml" ContentType="application/vnd.openxmlformats-officedocument.presentationml.slide+xml"/>
  <Override PartName="/ppt/changesInfos/changesInfo1.xml" ContentType="application/vnd.ms-powerpoint.changesinfo+xml"/>
  <Override PartName="/ppt/revisionInfo.xml" ContentType="application/vnd.ms-powerpoint.revisioninfo+xml"/>
  <Override PartName="/ppt/slides/slide10.xml" ContentType="application/vnd.openxmlformats-officedocument.presentationml.slide+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notesMasterIdLst>
    <p:notesMasterId r:id="rId14"/>
  </p:notesMasterIdLst>
  <p:sldIdLst>
    <p:sldId id="266" r:id="rId4"/>
    <p:sldId id="261" r:id="rId5"/>
    <p:sldId id="260" r:id="rId6"/>
    <p:sldId id="256" r:id="rId7"/>
    <p:sldId id="263" r:id="rId8"/>
    <p:sldId id="257" r:id="rId9"/>
    <p:sldId id="258" r:id="rId10"/>
    <p:sldId id="264" r:id="rId11"/>
    <p:sldId id="267" r:id="rId12"/>
    <p:sldId id="265" r:id="rId13"/>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1FEB5A-FD89-49C0-A092-C0018D09BAE0}" v="13" dt="2026-02-10T13:47:37.574"/>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76125" autoAdjust="0"/>
  </p:normalViewPr>
  <p:slideViewPr>
    <p:cSldViewPr snapToGrid="0">
      <p:cViewPr varScale="1">
        <p:scale>
          <a:sx n="66" d="100"/>
          <a:sy n="66" d="100"/>
        </p:scale>
        <p:origin x="208" y="4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1.xml"/><Relationship Id="rId21" Type="http://schemas.openxmlformats.org/officeDocument/2006/relationships/customXml" Target="../customXml/item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19"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s Clein" userId="25b35d1e-ddd6-43e3-82be-e065862dc903" providerId="ADAL" clId="{BB0A05C4-CDBB-44B1-9480-98774532C6BF}"/>
    <pc:docChg chg="undo custSel addSld modSld">
      <pc:chgData name="Jonas Clein" userId="25b35d1e-ddd6-43e3-82be-e065862dc903" providerId="ADAL" clId="{BB0A05C4-CDBB-44B1-9480-98774532C6BF}" dt="2026-02-10T13:47:40.924" v="139" actId="26606"/>
      <pc:docMkLst>
        <pc:docMk/>
      </pc:docMkLst>
      <pc:sldChg chg="modSp mod">
        <pc:chgData name="Jonas Clein" userId="25b35d1e-ddd6-43e3-82be-e065862dc903" providerId="ADAL" clId="{BB0A05C4-CDBB-44B1-9480-98774532C6BF}" dt="2026-02-10T13:11:13.512" v="122" actId="1076"/>
        <pc:sldMkLst>
          <pc:docMk/>
          <pc:sldMk cId="2922723013" sldId="265"/>
        </pc:sldMkLst>
        <pc:spChg chg="mod">
          <ac:chgData name="Jonas Clein" userId="25b35d1e-ddd6-43e3-82be-e065862dc903" providerId="ADAL" clId="{BB0A05C4-CDBB-44B1-9480-98774532C6BF}" dt="2026-02-10T13:11:13.512" v="122" actId="1076"/>
          <ac:spMkLst>
            <pc:docMk/>
            <pc:sldMk cId="2922723013" sldId="265"/>
            <ac:spMk id="2" creationId="{BACEDE7C-4938-BCD0-0B05-D935AF63A752}"/>
          </ac:spMkLst>
        </pc:spChg>
        <pc:spChg chg="mod">
          <ac:chgData name="Jonas Clein" userId="25b35d1e-ddd6-43e3-82be-e065862dc903" providerId="ADAL" clId="{BB0A05C4-CDBB-44B1-9480-98774532C6BF}" dt="2026-02-10T13:09:09.759" v="101" actId="207"/>
          <ac:spMkLst>
            <pc:docMk/>
            <pc:sldMk cId="2922723013" sldId="265"/>
            <ac:spMk id="8" creationId="{BDED3019-122C-8957-BE97-606A7F8B4C13}"/>
          </ac:spMkLst>
        </pc:spChg>
        <pc:spChg chg="mod">
          <ac:chgData name="Jonas Clein" userId="25b35d1e-ddd6-43e3-82be-e065862dc903" providerId="ADAL" clId="{BB0A05C4-CDBB-44B1-9480-98774532C6BF}" dt="2026-02-10T13:10:51.068" v="118" actId="1076"/>
          <ac:spMkLst>
            <pc:docMk/>
            <pc:sldMk cId="2922723013" sldId="265"/>
            <ac:spMk id="9" creationId="{F9EEE8B3-97FE-06D4-68BB-B0EB74D5A920}"/>
          </ac:spMkLst>
        </pc:spChg>
        <pc:spChg chg="mod">
          <ac:chgData name="Jonas Clein" userId="25b35d1e-ddd6-43e3-82be-e065862dc903" providerId="ADAL" clId="{BB0A05C4-CDBB-44B1-9480-98774532C6BF}" dt="2026-02-10T13:10:40.501" v="116" actId="14100"/>
          <ac:spMkLst>
            <pc:docMk/>
            <pc:sldMk cId="2922723013" sldId="265"/>
            <ac:spMk id="10" creationId="{2BD7D46D-6621-F353-3509-DBEDB06FE963}"/>
          </ac:spMkLst>
        </pc:spChg>
        <pc:spChg chg="mod">
          <ac:chgData name="Jonas Clein" userId="25b35d1e-ddd6-43e3-82be-e065862dc903" providerId="ADAL" clId="{BB0A05C4-CDBB-44B1-9480-98774532C6BF}" dt="2026-02-10T13:10:53.908" v="119" actId="1076"/>
          <ac:spMkLst>
            <pc:docMk/>
            <pc:sldMk cId="2922723013" sldId="265"/>
            <ac:spMk id="11" creationId="{B5CF0158-5945-2B80-097D-6DB5DCF40C3A}"/>
          </ac:spMkLst>
        </pc:spChg>
        <pc:spChg chg="mod">
          <ac:chgData name="Jonas Clein" userId="25b35d1e-ddd6-43e3-82be-e065862dc903" providerId="ADAL" clId="{BB0A05C4-CDBB-44B1-9480-98774532C6BF}" dt="2026-02-10T13:10:56.645" v="120" actId="1076"/>
          <ac:spMkLst>
            <pc:docMk/>
            <pc:sldMk cId="2922723013" sldId="265"/>
            <ac:spMk id="13" creationId="{37E4B5DD-4EC0-88ED-3AF4-EA245DC742E5}"/>
          </ac:spMkLst>
        </pc:spChg>
      </pc:sldChg>
      <pc:sldChg chg="addSp delSp modSp new mod">
        <pc:chgData name="Jonas Clein" userId="25b35d1e-ddd6-43e3-82be-e065862dc903" providerId="ADAL" clId="{BB0A05C4-CDBB-44B1-9480-98774532C6BF}" dt="2026-02-10T13:11:48.923" v="125" actId="1076"/>
        <pc:sldMkLst>
          <pc:docMk/>
          <pc:sldMk cId="2597391254" sldId="266"/>
        </pc:sldMkLst>
        <pc:spChg chg="del">
          <ac:chgData name="Jonas Clein" userId="25b35d1e-ddd6-43e3-82be-e065862dc903" providerId="ADAL" clId="{BB0A05C4-CDBB-44B1-9480-98774532C6BF}" dt="2026-02-10T12:57:41.680" v="20" actId="478"/>
          <ac:spMkLst>
            <pc:docMk/>
            <pc:sldMk cId="2597391254" sldId="266"/>
            <ac:spMk id="2" creationId="{3F269AD8-4E83-A9EA-3B69-7F8D521A3EDE}"/>
          </ac:spMkLst>
        </pc:spChg>
        <pc:spChg chg="mod">
          <ac:chgData name="Jonas Clein" userId="25b35d1e-ddd6-43e3-82be-e065862dc903" providerId="ADAL" clId="{BB0A05C4-CDBB-44B1-9480-98774532C6BF}" dt="2026-02-10T13:07:57.951" v="97" actId="20577"/>
          <ac:spMkLst>
            <pc:docMk/>
            <pc:sldMk cId="2597391254" sldId="266"/>
            <ac:spMk id="3" creationId="{757F8190-A0AF-578B-EAA3-2189BCDE3C40}"/>
          </ac:spMkLst>
        </pc:spChg>
        <pc:spChg chg="add mod">
          <ac:chgData name="Jonas Clein" userId="25b35d1e-ddd6-43e3-82be-e065862dc903" providerId="ADAL" clId="{BB0A05C4-CDBB-44B1-9480-98774532C6BF}" dt="2026-02-10T13:11:48.923" v="125" actId="1076"/>
          <ac:spMkLst>
            <pc:docMk/>
            <pc:sldMk cId="2597391254" sldId="266"/>
            <ac:spMk id="4" creationId="{5E9AF398-63C8-F7D1-DFB8-444805A073C8}"/>
          </ac:spMkLst>
        </pc:spChg>
        <pc:spChg chg="add">
          <ac:chgData name="Jonas Clein" userId="25b35d1e-ddd6-43e3-82be-e065862dc903" providerId="ADAL" clId="{BB0A05C4-CDBB-44B1-9480-98774532C6BF}" dt="2026-02-10T13:04:55.027" v="54"/>
          <ac:spMkLst>
            <pc:docMk/>
            <pc:sldMk cId="2597391254" sldId="266"/>
            <ac:spMk id="5" creationId="{9929D5D5-2F5B-EE88-BC88-38C4B4683037}"/>
          </ac:spMkLst>
        </pc:spChg>
      </pc:sldChg>
      <pc:sldChg chg="addSp delSp modSp new mod">
        <pc:chgData name="Jonas Clein" userId="25b35d1e-ddd6-43e3-82be-e065862dc903" providerId="ADAL" clId="{BB0A05C4-CDBB-44B1-9480-98774532C6BF}" dt="2026-02-10T13:47:40.924" v="139" actId="26606"/>
        <pc:sldMkLst>
          <pc:docMk/>
          <pc:sldMk cId="2254201881" sldId="267"/>
        </pc:sldMkLst>
        <pc:spChg chg="del">
          <ac:chgData name="Jonas Clein" userId="25b35d1e-ddd6-43e3-82be-e065862dc903" providerId="ADAL" clId="{BB0A05C4-CDBB-44B1-9480-98774532C6BF}" dt="2026-02-10T13:46:33.192" v="127" actId="478"/>
          <ac:spMkLst>
            <pc:docMk/>
            <pc:sldMk cId="2254201881" sldId="267"/>
            <ac:spMk id="2" creationId="{12B65C49-6CB2-2457-5237-704EB17D6C46}"/>
          </ac:spMkLst>
        </pc:spChg>
        <pc:spChg chg="del">
          <ac:chgData name="Jonas Clein" userId="25b35d1e-ddd6-43e3-82be-e065862dc903" providerId="ADAL" clId="{BB0A05C4-CDBB-44B1-9480-98774532C6BF}" dt="2026-02-10T13:46:44.284" v="129" actId="478"/>
          <ac:spMkLst>
            <pc:docMk/>
            <pc:sldMk cId="2254201881" sldId="267"/>
            <ac:spMk id="3" creationId="{F1971FFE-0F4D-3848-EB96-3F8B5361F0DE}"/>
          </ac:spMkLst>
        </pc:spChg>
        <pc:spChg chg="add mod">
          <ac:chgData name="Jonas Clein" userId="25b35d1e-ddd6-43e3-82be-e065862dc903" providerId="ADAL" clId="{BB0A05C4-CDBB-44B1-9480-98774532C6BF}" dt="2026-02-10T13:47:40.924" v="139" actId="26606"/>
          <ac:spMkLst>
            <pc:docMk/>
            <pc:sldMk cId="2254201881" sldId="267"/>
            <ac:spMk id="4" creationId="{B81FEEEB-26D1-B624-122D-D458DA9D6725}"/>
          </ac:spMkLst>
        </pc:spChg>
        <pc:picChg chg="add mod">
          <ac:chgData name="Jonas Clein" userId="25b35d1e-ddd6-43e3-82be-e065862dc903" providerId="ADAL" clId="{BB0A05C4-CDBB-44B1-9480-98774532C6BF}" dt="2026-02-10T13:47:40.924" v="139" actId="26606"/>
          <ac:picMkLst>
            <pc:docMk/>
            <pc:sldMk cId="2254201881" sldId="267"/>
            <ac:picMk id="6" creationId="{C2543BF6-3D02-7F53-6AB9-8D7A8D2241D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25411-7C53-4C8A-9321-C8C41D2E05F5}" type="datetimeFigureOut">
              <a:rPr lang="nl-NL" smtClean="0"/>
              <a:t>10-2-2026</a:t>
            </a:fld>
            <a:endParaRPr lang="nl-NL"/>
          </a:p>
        </p:txBody>
      </p:sp>
      <p:sp>
        <p:nvSpPr>
          <p:cNvPr id="4" name="Tijdelijke aanduiding voor dia-afbeelding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16DFBD-D112-4AD4-A5AF-5978A0341E22}" type="slidenum">
              <a:rPr lang="nl-NL" smtClean="0"/>
              <a:t>‹#›</a:t>
            </a:fld>
            <a:endParaRPr lang="nl-NL"/>
          </a:p>
        </p:txBody>
      </p:sp>
    </p:spTree>
    <p:extLst>
      <p:ext uri="{BB962C8B-B14F-4D97-AF65-F5344CB8AC3E}">
        <p14:creationId xmlns:p14="http://schemas.microsoft.com/office/powerpoint/2010/main" val="214027693"/>
      </p:ext>
    </p:extLst>
  </p:cSld>
  <p:clrMap bg1="lt1" tx1="dk1" bg2="lt2" tx2="dk2" accent1="accent1" accent2="accent2" accent3="accent3" accent4="accent4" accent5="accent5" accent6="accent6" hlink="hlink" folHlink="folHlink"/>
  <p:notesStyle>
    <a:lvl1pPr marL="0" algn="l" defTabSz="1075334" rtl="0" eaLnBrk="1" latinLnBrk="0" hangingPunct="1">
      <a:defRPr sz="1411" kern="1200">
        <a:solidFill>
          <a:schemeClr val="tx1"/>
        </a:solidFill>
        <a:latin typeface="+mn-lt"/>
        <a:ea typeface="+mn-ea"/>
        <a:cs typeface="+mn-cs"/>
      </a:defRPr>
    </a:lvl1pPr>
    <a:lvl2pPr marL="537667" algn="l" defTabSz="1075334" rtl="0" eaLnBrk="1" latinLnBrk="0" hangingPunct="1">
      <a:defRPr sz="1411" kern="1200">
        <a:solidFill>
          <a:schemeClr val="tx1"/>
        </a:solidFill>
        <a:latin typeface="+mn-lt"/>
        <a:ea typeface="+mn-ea"/>
        <a:cs typeface="+mn-cs"/>
      </a:defRPr>
    </a:lvl2pPr>
    <a:lvl3pPr marL="1075334" algn="l" defTabSz="1075334" rtl="0" eaLnBrk="1" latinLnBrk="0" hangingPunct="1">
      <a:defRPr sz="1411" kern="1200">
        <a:solidFill>
          <a:schemeClr val="tx1"/>
        </a:solidFill>
        <a:latin typeface="+mn-lt"/>
        <a:ea typeface="+mn-ea"/>
        <a:cs typeface="+mn-cs"/>
      </a:defRPr>
    </a:lvl3pPr>
    <a:lvl4pPr marL="1613002" algn="l" defTabSz="1075334" rtl="0" eaLnBrk="1" latinLnBrk="0" hangingPunct="1">
      <a:defRPr sz="1411" kern="1200">
        <a:solidFill>
          <a:schemeClr val="tx1"/>
        </a:solidFill>
        <a:latin typeface="+mn-lt"/>
        <a:ea typeface="+mn-ea"/>
        <a:cs typeface="+mn-cs"/>
      </a:defRPr>
    </a:lvl4pPr>
    <a:lvl5pPr marL="2150669" algn="l" defTabSz="1075334" rtl="0" eaLnBrk="1" latinLnBrk="0" hangingPunct="1">
      <a:defRPr sz="1411" kern="1200">
        <a:solidFill>
          <a:schemeClr val="tx1"/>
        </a:solidFill>
        <a:latin typeface="+mn-lt"/>
        <a:ea typeface="+mn-ea"/>
        <a:cs typeface="+mn-cs"/>
      </a:defRPr>
    </a:lvl5pPr>
    <a:lvl6pPr marL="2688336" algn="l" defTabSz="1075334" rtl="0" eaLnBrk="1" latinLnBrk="0" hangingPunct="1">
      <a:defRPr sz="1411" kern="1200">
        <a:solidFill>
          <a:schemeClr val="tx1"/>
        </a:solidFill>
        <a:latin typeface="+mn-lt"/>
        <a:ea typeface="+mn-ea"/>
        <a:cs typeface="+mn-cs"/>
      </a:defRPr>
    </a:lvl6pPr>
    <a:lvl7pPr marL="3226003" algn="l" defTabSz="1075334" rtl="0" eaLnBrk="1" latinLnBrk="0" hangingPunct="1">
      <a:defRPr sz="1411" kern="1200">
        <a:solidFill>
          <a:schemeClr val="tx1"/>
        </a:solidFill>
        <a:latin typeface="+mn-lt"/>
        <a:ea typeface="+mn-ea"/>
        <a:cs typeface="+mn-cs"/>
      </a:defRPr>
    </a:lvl7pPr>
    <a:lvl8pPr marL="3763670" algn="l" defTabSz="1075334" rtl="0" eaLnBrk="1" latinLnBrk="0" hangingPunct="1">
      <a:defRPr sz="1411" kern="1200">
        <a:solidFill>
          <a:schemeClr val="tx1"/>
        </a:solidFill>
        <a:latin typeface="+mn-lt"/>
        <a:ea typeface="+mn-ea"/>
        <a:cs typeface="+mn-cs"/>
      </a:defRPr>
    </a:lvl8pPr>
    <a:lvl9pPr marL="4301338" algn="l" defTabSz="1075334" rtl="0" eaLnBrk="1" latinLnBrk="0" hangingPunct="1">
      <a:defRPr sz="141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2</a:t>
            </a:fld>
            <a:endParaRPr lang="nl-NL"/>
          </a:p>
        </p:txBody>
      </p:sp>
    </p:spTree>
    <p:extLst>
      <p:ext uri="{BB962C8B-B14F-4D97-AF65-F5344CB8AC3E}">
        <p14:creationId xmlns:p14="http://schemas.microsoft.com/office/powerpoint/2010/main" val="3188968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3</a:t>
            </a:fld>
            <a:endParaRPr lang="nl-NL"/>
          </a:p>
        </p:txBody>
      </p:sp>
    </p:spTree>
    <p:extLst>
      <p:ext uri="{BB962C8B-B14F-4D97-AF65-F5344CB8AC3E}">
        <p14:creationId xmlns:p14="http://schemas.microsoft.com/office/powerpoint/2010/main" val="1764237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4</a:t>
            </a:fld>
            <a:endParaRPr lang="nl-NL"/>
          </a:p>
        </p:txBody>
      </p:sp>
    </p:spTree>
    <p:extLst>
      <p:ext uri="{BB962C8B-B14F-4D97-AF65-F5344CB8AC3E}">
        <p14:creationId xmlns:p14="http://schemas.microsoft.com/office/powerpoint/2010/main" val="1311136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C/I/A belang: 1 – 3 (1-laag, 2-middel, 3-hoog)</a:t>
            </a:r>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5</a:t>
            </a:fld>
            <a:endParaRPr lang="nl-NL"/>
          </a:p>
        </p:txBody>
      </p:sp>
    </p:spTree>
    <p:extLst>
      <p:ext uri="{BB962C8B-B14F-4D97-AF65-F5344CB8AC3E}">
        <p14:creationId xmlns:p14="http://schemas.microsoft.com/office/powerpoint/2010/main" val="414916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b="1" dirty="0"/>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8</a:t>
            </a:fld>
            <a:endParaRPr lang="nl-NL"/>
          </a:p>
        </p:txBody>
      </p:sp>
    </p:spTree>
    <p:extLst>
      <p:ext uri="{BB962C8B-B14F-4D97-AF65-F5344CB8AC3E}">
        <p14:creationId xmlns:p14="http://schemas.microsoft.com/office/powerpoint/2010/main" val="3268263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b="1" dirty="0"/>
          </a:p>
        </p:txBody>
      </p:sp>
      <p:sp>
        <p:nvSpPr>
          <p:cNvPr id="4" name="Tijdelijke aanduiding voor dianummer 3"/>
          <p:cNvSpPr>
            <a:spLocks noGrp="1"/>
          </p:cNvSpPr>
          <p:nvPr>
            <p:ph type="sldNum" sz="quarter" idx="5"/>
          </p:nvPr>
        </p:nvSpPr>
        <p:spPr/>
        <p:txBody>
          <a:bodyPr/>
          <a:lstStyle/>
          <a:p>
            <a:fld id="{0516DFBD-D112-4AD4-A5AF-5978A0341E22}" type="slidenum">
              <a:rPr lang="nl-NL" smtClean="0"/>
              <a:t>10</a:t>
            </a:fld>
            <a:endParaRPr lang="nl-NL"/>
          </a:p>
        </p:txBody>
      </p:sp>
    </p:spTree>
    <p:extLst>
      <p:ext uri="{BB962C8B-B14F-4D97-AF65-F5344CB8AC3E}">
        <p14:creationId xmlns:p14="http://schemas.microsoft.com/office/powerpoint/2010/main" val="1179308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nl-NL"/>
              <a:t>Klik om stijl te bewerken</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nl-NL"/>
              <a:t>Klikken om de ondertitelstijl van het model te bewerken</a:t>
            </a:r>
            <a:endParaRPr lang="en-US" dirty="0"/>
          </a:p>
        </p:txBody>
      </p:sp>
      <p:sp>
        <p:nvSpPr>
          <p:cNvPr id="4" name="Date Placeholder 3"/>
          <p:cNvSpPr>
            <a:spLocks noGrp="1"/>
          </p:cNvSpPr>
          <p:nvPr>
            <p:ph type="dt" sz="half" idx="10"/>
          </p:nvPr>
        </p:nvSpPr>
        <p:spPr/>
        <p:txBody>
          <a:bodyPr/>
          <a:lstStyle/>
          <a:p>
            <a:fld id="{6D9A7AC5-E547-4324-B12E-BA37F9E96DE4}" type="datetimeFigureOut">
              <a:rPr lang="nl-NL" smtClean="0"/>
              <a:t>10-2-2026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412044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6D9A7AC5-E547-4324-B12E-BA37F9E96DE4}" type="datetimeFigureOut">
              <a:rPr lang="nl-NL" smtClean="0"/>
              <a:t>10-2-2026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355366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nl-NL"/>
              <a:t>Klik om stijl te bewerken</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6D9A7AC5-E547-4324-B12E-BA37F9E96DE4}" type="datetimeFigureOut">
              <a:rPr lang="nl-NL" smtClean="0"/>
              <a:t>10-2-2026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2242300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fld id="{6D9A7AC5-E547-4324-B12E-BA37F9E96DE4}" type="datetimeFigureOut">
              <a:rPr lang="nl-NL" smtClean="0"/>
              <a:t>10-2-2026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1225153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nl-NL"/>
              <a:t>Klik om stijl te bewerken</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nl-NL"/>
              <a:t>Klikken om de tekststijl van het model te bewerken</a:t>
            </a:r>
          </a:p>
        </p:txBody>
      </p:sp>
      <p:sp>
        <p:nvSpPr>
          <p:cNvPr id="4" name="Content Placeholder 3"/>
          <p:cNvSpPr>
            <a:spLocks noGrp="1"/>
          </p:cNvSpPr>
          <p:nvPr>
            <p:ph sz="half" idx="2"/>
          </p:nvPr>
        </p:nvSpPr>
        <p:spPr>
          <a:xfrm>
            <a:off x="881779" y="3507105"/>
            <a:ext cx="5415676" cy="515842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nl-NL"/>
              <a:t>Klikken om de tekststijl van het model te bewerken</a:t>
            </a:r>
          </a:p>
        </p:txBody>
      </p:sp>
      <p:sp>
        <p:nvSpPr>
          <p:cNvPr id="6" name="Content Placeholder 5"/>
          <p:cNvSpPr>
            <a:spLocks noGrp="1"/>
          </p:cNvSpPr>
          <p:nvPr>
            <p:ph sz="quarter" idx="4"/>
          </p:nvPr>
        </p:nvSpPr>
        <p:spPr>
          <a:xfrm>
            <a:off x="6480811" y="3507105"/>
            <a:ext cx="5442347" cy="515842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6"/>
          <p:cNvSpPr>
            <a:spLocks noGrp="1"/>
          </p:cNvSpPr>
          <p:nvPr>
            <p:ph type="dt" sz="half" idx="10"/>
          </p:nvPr>
        </p:nvSpPr>
        <p:spPr/>
        <p:txBody>
          <a:bodyPr/>
          <a:lstStyle/>
          <a:p>
            <a:fld id="{6D9A7AC5-E547-4324-B12E-BA37F9E96DE4}" type="datetimeFigureOut">
              <a:rPr lang="nl-NL" smtClean="0"/>
              <a:t>10-2-2026</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3121775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fld id="{6D9A7AC5-E547-4324-B12E-BA37F9E96DE4}" type="datetimeFigureOut">
              <a:rPr lang="nl-NL" smtClean="0"/>
              <a:t>10-2-2026</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2014461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9A7AC5-E547-4324-B12E-BA37F9E96DE4}" type="datetimeFigureOut">
              <a:rPr lang="nl-NL" smtClean="0"/>
              <a:t>10-2-2026</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1002001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nl-NL"/>
              <a:t>Klik om stijl te bewerken</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6D9A7AC5-E547-4324-B12E-BA37F9E96DE4}" type="datetimeFigureOut">
              <a:rPr lang="nl-NL" smtClean="0"/>
              <a:t>10-2-2026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128717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nl-NL"/>
              <a:t>Klik om stijl te bewerken</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6D9A7AC5-E547-4324-B12E-BA37F9E96DE4}" type="datetimeFigureOut">
              <a:rPr lang="nl-NL" smtClean="0"/>
              <a:t>10-2-2026</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1677721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6D9A7AC5-E547-4324-B12E-BA37F9E96DE4}" type="datetimeFigureOut">
              <a:rPr lang="nl-NL" smtClean="0"/>
              <a:t>10-2-2026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2391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nl-NL"/>
              <a:t>Klik om stijl te bewerken</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6D9A7AC5-E547-4324-B12E-BA37F9E96DE4}" type="datetimeFigureOut">
              <a:rPr lang="nl-NL" smtClean="0"/>
              <a:t>10-2-2026</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83A28757-A74E-47F0-A174-BFA60201612A}" type="slidenum">
              <a:rPr lang="nl-NL" smtClean="0"/>
              <a:t>‹#›</a:t>
            </a:fld>
            <a:endParaRPr lang="nl-NL"/>
          </a:p>
        </p:txBody>
      </p:sp>
    </p:spTree>
    <p:extLst>
      <p:ext uri="{BB962C8B-B14F-4D97-AF65-F5344CB8AC3E}">
        <p14:creationId xmlns:p14="http://schemas.microsoft.com/office/powerpoint/2010/main" val="454644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nl-NL"/>
              <a:t>Klik om stijl te bewerken</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6D9A7AC5-E547-4324-B12E-BA37F9E96DE4}" type="datetimeFigureOut">
              <a:rPr lang="nl-NL" smtClean="0"/>
              <a:t>10-2-2026</a:t>
            </a:fld>
            <a:endParaRPr lang="nl-NL"/>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75000"/>
                  </a:schemeClr>
                </a:solidFill>
              </a:defRPr>
            </a:lvl1pPr>
          </a:lstStyle>
          <a:p>
            <a:fld id="{83A28757-A74E-47F0-A174-BFA60201612A}" type="slidenum">
              <a:rPr lang="nl-NL" smtClean="0"/>
              <a:t>‹#›</a:t>
            </a:fld>
            <a:endParaRPr lang="nl-NL"/>
          </a:p>
        </p:txBody>
      </p:sp>
      <p:pic>
        <p:nvPicPr>
          <p:cNvPr id="7" name="Afbeelding 6">
            <a:extLst>
              <a:ext uri="{FF2B5EF4-FFF2-40B4-BE49-F238E27FC236}">
                <a16:creationId xmlns:a16="http://schemas.microsoft.com/office/drawing/2014/main" id="{CC38591E-78FA-25F7-8161-E047FB0996EC}"/>
              </a:ext>
            </a:extLst>
          </p:cNvPr>
          <p:cNvPicPr>
            <a:picLocks/>
          </p:cNvPicPr>
          <p:nvPr userDrawn="1">
            <p:custDataLst>
              <p:tags r:id="rId13"/>
            </p:custDataLst>
          </p:nvPr>
        </p:nvPicPr>
        <p:blipFill>
          <a:blip r:embed="rId14" cstate="print">
            <a:extLst>
              <a:ext uri="{28A0092B-C50C-407E-A947-70E740481C1C}">
                <a14:useLocalDpi xmlns:a14="http://schemas.microsoft.com/office/drawing/2010/main" val="0"/>
              </a:ext>
            </a:extLst>
          </a:blip>
          <a:stretch>
            <a:fillRect/>
          </a:stretch>
        </p:blipFill>
        <p:spPr>
          <a:xfrm>
            <a:off x="10542343" y="293914"/>
            <a:ext cx="2041396" cy="598077"/>
          </a:xfrm>
          <a:prstGeom prst="rect">
            <a:avLst/>
          </a:prstGeom>
        </p:spPr>
      </p:pic>
      <p:sp>
        <p:nvSpPr>
          <p:cNvPr id="8" name="Rechthoek 7">
            <a:extLst>
              <a:ext uri="{FF2B5EF4-FFF2-40B4-BE49-F238E27FC236}">
                <a16:creationId xmlns:a16="http://schemas.microsoft.com/office/drawing/2014/main" id="{EDB67B77-F588-CCB6-9E71-35059ADB7099}"/>
              </a:ext>
            </a:extLst>
          </p:cNvPr>
          <p:cNvSpPr/>
          <p:nvPr userDrawn="1"/>
        </p:nvSpPr>
        <p:spPr>
          <a:xfrm>
            <a:off x="0" y="0"/>
            <a:ext cx="12801600" cy="130629"/>
          </a:xfrm>
          <a:prstGeom prst="rect">
            <a:avLst/>
          </a:prstGeom>
          <a:solidFill>
            <a:srgbClr val="C7002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782729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57F8190-A0AF-578B-EAA3-2189BCDE3C40}"/>
              </a:ext>
            </a:extLst>
          </p:cNvPr>
          <p:cNvSpPr>
            <a:spLocks noGrp="1"/>
          </p:cNvSpPr>
          <p:nvPr>
            <p:ph type="subTitle" idx="1"/>
          </p:nvPr>
        </p:nvSpPr>
        <p:spPr>
          <a:xfrm>
            <a:off x="880110" y="1260124"/>
            <a:ext cx="9601200" cy="7729872"/>
          </a:xfrm>
        </p:spPr>
        <p:txBody>
          <a:bodyPr>
            <a:normAutofit/>
          </a:bodyPr>
          <a:lstStyle/>
          <a:p>
            <a:pPr algn="l"/>
            <a:r>
              <a:rPr lang="en-US" sz="3200" dirty="0" err="1"/>
              <a:t>Uitwerking</a:t>
            </a:r>
            <a:r>
              <a:rPr lang="en-US" sz="3200" dirty="0"/>
              <a:t> Casus:</a:t>
            </a:r>
          </a:p>
          <a:p>
            <a:pPr algn="l"/>
            <a:r>
              <a:rPr lang="nl-NL" sz="2000" dirty="0"/>
              <a:t>Een huisartsenpraktijk maakt voor de primaire zorgverlening gebruik van een </a:t>
            </a:r>
            <a:r>
              <a:rPr lang="nl-NL" sz="2000" b="1" dirty="0"/>
              <a:t>Elektronisch Patiënten Dossier (EPD)</a:t>
            </a:r>
            <a:r>
              <a:rPr lang="nl-NL" sz="2000" dirty="0"/>
              <a:t>. Dit systeem is cruciaal voor de dagelijkse bedrijfsvoering en bevat zeer gevoelige gegevens, waaronder </a:t>
            </a:r>
            <a:r>
              <a:rPr lang="nl-NL" sz="2000" b="1" dirty="0"/>
              <a:t>NAW-gegevens, BSN, medische historie, diagnoses en medicatievoorschriften.</a:t>
            </a:r>
          </a:p>
          <a:p>
            <a:pPr algn="l"/>
            <a:r>
              <a:rPr lang="nl-NL" sz="2000" dirty="0"/>
              <a:t>De applicatie betreft een </a:t>
            </a:r>
            <a:r>
              <a:rPr lang="nl-NL" sz="2000" b="1" dirty="0"/>
              <a:t>SaaS-oplossing (Cloud)</a:t>
            </a:r>
            <a:r>
              <a:rPr lang="nl-NL" sz="2000" dirty="0"/>
              <a:t>: de database en applicatieservers worden beheerd door een externe leverancier. De medewerkers van de praktijk (huisartsen en assistenten) benaderen het systeem via een webbrowser over het internet. De praktijk is hierdoor voor haar functioneren volledig afhankelijk van de beschikbaarheid van deze externe dienst en de lokale internetverbinding.</a:t>
            </a:r>
          </a:p>
          <a:p>
            <a:pPr algn="l"/>
            <a:r>
              <a:rPr lang="nl-NL" sz="3200" dirty="0"/>
              <a:t>Gemaakte Aannames:</a:t>
            </a:r>
          </a:p>
          <a:p>
            <a:pPr marL="457200" indent="-457200" algn="l">
              <a:buFont typeface="Arial" panose="020B0604020202020204" pitchFamily="34" charset="0"/>
              <a:buChar char="•"/>
            </a:pPr>
            <a:r>
              <a:rPr lang="nl-NL" sz="1800" b="1" dirty="0"/>
              <a:t>Lokale Infrastructuur:</a:t>
            </a:r>
            <a:r>
              <a:rPr lang="nl-NL" sz="1800" dirty="0"/>
              <a:t> Hoewel het EPD in de </a:t>
            </a:r>
            <a:r>
              <a:rPr lang="nl-NL" sz="1800" dirty="0" err="1"/>
              <a:t>cloud</a:t>
            </a:r>
            <a:r>
              <a:rPr lang="nl-NL" sz="1800" dirty="0"/>
              <a:t> draait, is de praktijk zelf verantwoordelijk voor de lokale apparatuur (laptops/</a:t>
            </a:r>
            <a:r>
              <a:rPr lang="nl-NL" sz="1800" dirty="0" err="1"/>
              <a:t>PC's</a:t>
            </a:r>
            <a:r>
              <a:rPr lang="nl-NL" sz="1800" dirty="0"/>
              <a:t>) en het lokale netwerk (wifi). </a:t>
            </a:r>
          </a:p>
          <a:p>
            <a:pPr marL="457200" indent="-457200" algn="l">
              <a:buFont typeface="Arial" panose="020B0604020202020204" pitchFamily="34" charset="0"/>
              <a:buChar char="•"/>
            </a:pPr>
            <a:r>
              <a:rPr lang="nl-NL" sz="1800" b="1" dirty="0"/>
              <a:t>Menselijke Factor:</a:t>
            </a:r>
            <a:r>
              <a:rPr lang="nl-NL" sz="1800" dirty="0"/>
              <a:t> Er zijn meerdere gebruikersaccounts met verschillende rechten (artsen en assistenten). Er wordt aangenomen dat de menselijke factor een zwakke schakel is, gezien de hoge risicoscores op </a:t>
            </a:r>
            <a:r>
              <a:rPr lang="nl-NL" sz="1800" b="1" dirty="0" err="1"/>
              <a:t>phishing</a:t>
            </a:r>
            <a:r>
              <a:rPr lang="nl-NL" sz="1800" b="1" dirty="0"/>
              <a:t>, zwakke wachtwoorden en </a:t>
            </a:r>
            <a:r>
              <a:rPr lang="nl-NL" sz="1800" b="1" dirty="0" err="1"/>
              <a:t>social</a:t>
            </a:r>
            <a:r>
              <a:rPr lang="nl-NL" sz="1800" b="1" dirty="0"/>
              <a:t> engineering</a:t>
            </a:r>
            <a:r>
              <a:rPr lang="nl-NL" sz="1800" dirty="0"/>
              <a:t>.</a:t>
            </a:r>
          </a:p>
          <a:p>
            <a:pPr marL="457200" indent="-457200" algn="l">
              <a:buFont typeface="Arial" panose="020B0604020202020204" pitchFamily="34" charset="0"/>
              <a:buChar char="•"/>
            </a:pPr>
            <a:r>
              <a:rPr lang="nl-NL" sz="1800" b="1" dirty="0"/>
              <a:t>Verantwoordelijkheid Leverancier:</a:t>
            </a:r>
            <a:r>
              <a:rPr lang="nl-NL" sz="1800" dirty="0"/>
              <a:t> De externe leverancier is verantwoordelijk voor de technische beveiliging van de servers, de back-ups van de database en bescherming tegen server-side aanvallen zoals DDoS.</a:t>
            </a:r>
          </a:p>
          <a:p>
            <a:pPr marL="457200" indent="-457200" algn="l">
              <a:buFont typeface="Arial" panose="020B0604020202020204" pitchFamily="34" charset="0"/>
              <a:buChar char="•"/>
            </a:pPr>
            <a:r>
              <a:rPr lang="nl-NL" sz="1800" b="1" dirty="0"/>
              <a:t>Juridisch:</a:t>
            </a:r>
            <a:r>
              <a:rPr lang="nl-NL" sz="1800" dirty="0"/>
              <a:t> Vanwege de verwerking van bijzondere persoonsgegevens (medische data &amp; BSN) is de impact bij een </a:t>
            </a:r>
            <a:r>
              <a:rPr lang="nl-NL" sz="1800" dirty="0" err="1"/>
              <a:t>datalek</a:t>
            </a:r>
            <a:r>
              <a:rPr lang="nl-NL" sz="1800" dirty="0"/>
              <a:t> maximaal (AVG-boetes, ernstige reputatieschade en verlies van vertrouwen).</a:t>
            </a:r>
          </a:p>
        </p:txBody>
      </p:sp>
      <p:sp>
        <p:nvSpPr>
          <p:cNvPr id="4" name="Titel 1">
            <a:extLst>
              <a:ext uri="{FF2B5EF4-FFF2-40B4-BE49-F238E27FC236}">
                <a16:creationId xmlns:a16="http://schemas.microsoft.com/office/drawing/2014/main" id="{5E9AF398-63C8-F7D1-DFB8-444805A073C8}"/>
              </a:ext>
            </a:extLst>
          </p:cNvPr>
          <p:cNvSpPr txBox="1">
            <a:spLocks/>
          </p:cNvSpPr>
          <p:nvPr/>
        </p:nvSpPr>
        <p:spPr>
          <a:xfrm>
            <a:off x="754982" y="611204"/>
            <a:ext cx="11041380" cy="701040"/>
          </a:xfrm>
          <a:prstGeom prst="rect">
            <a:avLst/>
          </a:prstGeom>
        </p:spPr>
        <p:txBody>
          <a:bodyPr vert="horz" lIns="91440" tIns="45720" rIns="91440" bIns="45720" rtlCol="0" anchor="b">
            <a:noAutofit/>
          </a:bodyPr>
          <a:lstStyle>
            <a:lvl1pPr algn="ctr" defTabSz="1280160" rtl="0" eaLnBrk="1" latinLnBrk="0" hangingPunct="1">
              <a:lnSpc>
                <a:spcPct val="90000"/>
              </a:lnSpc>
              <a:spcBef>
                <a:spcPct val="0"/>
              </a:spcBef>
              <a:buNone/>
              <a:defRPr sz="8400" kern="1200">
                <a:solidFill>
                  <a:schemeClr val="tx1"/>
                </a:solidFill>
                <a:latin typeface="+mj-lt"/>
                <a:ea typeface="+mj-ea"/>
                <a:cs typeface="+mj-cs"/>
              </a:defRPr>
            </a:lvl1pPr>
          </a:lstStyle>
          <a:p>
            <a:pPr algn="l"/>
            <a:r>
              <a:rPr lang="nl-NL" sz="5400" b="1" dirty="0"/>
              <a:t>Casus + Aannames</a:t>
            </a:r>
          </a:p>
        </p:txBody>
      </p:sp>
    </p:spTree>
    <p:extLst>
      <p:ext uri="{BB962C8B-B14F-4D97-AF65-F5344CB8AC3E}">
        <p14:creationId xmlns:p14="http://schemas.microsoft.com/office/powerpoint/2010/main" val="2597391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CC5318B9-836D-0058-460B-D018D7B80608}"/>
              </a:ext>
            </a:extLst>
          </p:cNvPr>
          <p:cNvSpPr/>
          <p:nvPr/>
        </p:nvSpPr>
        <p:spPr>
          <a:xfrm>
            <a:off x="5667076" y="2156611"/>
            <a:ext cx="1467448" cy="722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dirty="0"/>
              <a:t>EPD Systeem</a:t>
            </a:r>
          </a:p>
        </p:txBody>
      </p:sp>
      <p:cxnSp>
        <p:nvCxnSpPr>
          <p:cNvPr id="7" name="Rechte verbindingslijn 6">
            <a:extLst>
              <a:ext uri="{FF2B5EF4-FFF2-40B4-BE49-F238E27FC236}">
                <a16:creationId xmlns:a16="http://schemas.microsoft.com/office/drawing/2014/main" id="{641E400A-85B2-1AF6-79DB-8B4F71E4D870}"/>
              </a:ext>
            </a:extLst>
          </p:cNvPr>
          <p:cNvCxnSpPr>
            <a:cxnSpLocks/>
            <a:stCxn id="4" idx="2"/>
            <a:endCxn id="5" idx="10"/>
          </p:cNvCxnSpPr>
          <p:nvPr/>
        </p:nvCxnSpPr>
        <p:spPr>
          <a:xfrm>
            <a:off x="6400800" y="2878853"/>
            <a:ext cx="0" cy="1148265"/>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8" name="Rechthoek 7">
            <a:extLst>
              <a:ext uri="{FF2B5EF4-FFF2-40B4-BE49-F238E27FC236}">
                <a16:creationId xmlns:a16="http://schemas.microsoft.com/office/drawing/2014/main" id="{45768A74-F0F6-E04A-7A0A-D04FD9451724}"/>
              </a:ext>
            </a:extLst>
          </p:cNvPr>
          <p:cNvSpPr/>
          <p:nvPr/>
        </p:nvSpPr>
        <p:spPr>
          <a:xfrm>
            <a:off x="568540" y="132776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dirty="0"/>
              <a:t>Bedreiging</a:t>
            </a:r>
          </a:p>
        </p:txBody>
      </p:sp>
      <p:sp>
        <p:nvSpPr>
          <p:cNvPr id="13" name="Rechthoek 12">
            <a:extLst>
              <a:ext uri="{FF2B5EF4-FFF2-40B4-BE49-F238E27FC236}">
                <a16:creationId xmlns:a16="http://schemas.microsoft.com/office/drawing/2014/main" id="{3C065792-9293-F819-4F90-36EA66D9D889}"/>
              </a:ext>
            </a:extLst>
          </p:cNvPr>
          <p:cNvSpPr/>
          <p:nvPr/>
        </p:nvSpPr>
        <p:spPr>
          <a:xfrm>
            <a:off x="10726037" y="132776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dirty="0"/>
              <a:t>Consequentie</a:t>
            </a:r>
          </a:p>
        </p:txBody>
      </p:sp>
      <p:sp>
        <p:nvSpPr>
          <p:cNvPr id="18" name="Rechthoek 17">
            <a:extLst>
              <a:ext uri="{FF2B5EF4-FFF2-40B4-BE49-F238E27FC236}">
                <a16:creationId xmlns:a16="http://schemas.microsoft.com/office/drawing/2014/main" id="{0FC9159E-6817-2E6F-C493-FCC40DCE6B65}"/>
              </a:ext>
            </a:extLst>
          </p:cNvPr>
          <p:cNvSpPr/>
          <p:nvPr/>
        </p:nvSpPr>
        <p:spPr>
          <a:xfrm>
            <a:off x="576197" y="2420432"/>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Malware/</a:t>
            </a:r>
            <a:r>
              <a:rPr lang="en-US" sz="1200" dirty="0" err="1"/>
              <a:t>Ransomeware</a:t>
            </a:r>
            <a:r>
              <a:rPr lang="en-US" sz="1200" dirty="0"/>
              <a:t> </a:t>
            </a:r>
            <a:r>
              <a:rPr lang="en-US" sz="1200" dirty="0" err="1"/>
              <a:t>infectie</a:t>
            </a:r>
            <a:endParaRPr lang="nl-NL" sz="1200" dirty="0"/>
          </a:p>
        </p:txBody>
      </p:sp>
      <p:sp>
        <p:nvSpPr>
          <p:cNvPr id="19" name="Rechthoek 18">
            <a:extLst>
              <a:ext uri="{FF2B5EF4-FFF2-40B4-BE49-F238E27FC236}">
                <a16:creationId xmlns:a16="http://schemas.microsoft.com/office/drawing/2014/main" id="{78690AE5-AD53-136D-77DC-54143458D6F1}"/>
              </a:ext>
            </a:extLst>
          </p:cNvPr>
          <p:cNvSpPr/>
          <p:nvPr/>
        </p:nvSpPr>
        <p:spPr>
          <a:xfrm>
            <a:off x="10726037" y="2420432"/>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Foute </a:t>
            </a:r>
            <a:r>
              <a:rPr lang="en-US" sz="1200" dirty="0" err="1"/>
              <a:t>medische</a:t>
            </a:r>
            <a:r>
              <a:rPr lang="en-US" sz="1200" dirty="0"/>
              <a:t> </a:t>
            </a:r>
            <a:r>
              <a:rPr lang="en-US" sz="1200" dirty="0" err="1"/>
              <a:t>beslissingen</a:t>
            </a:r>
            <a:endParaRPr lang="nl-NL" sz="1200" dirty="0"/>
          </a:p>
        </p:txBody>
      </p:sp>
      <p:sp>
        <p:nvSpPr>
          <p:cNvPr id="21" name="Rechthoek 20">
            <a:extLst>
              <a:ext uri="{FF2B5EF4-FFF2-40B4-BE49-F238E27FC236}">
                <a16:creationId xmlns:a16="http://schemas.microsoft.com/office/drawing/2014/main" id="{7DAAEE54-F243-83E5-E4B8-75B99ED9E9CF}"/>
              </a:ext>
            </a:extLst>
          </p:cNvPr>
          <p:cNvSpPr/>
          <p:nvPr/>
        </p:nvSpPr>
        <p:spPr>
          <a:xfrm>
            <a:off x="576197" y="3513104"/>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Ongeautoriseerde</a:t>
            </a:r>
            <a:r>
              <a:rPr lang="en-US" sz="1200" dirty="0"/>
              <a:t> </a:t>
            </a:r>
            <a:r>
              <a:rPr lang="en-US" sz="1200" dirty="0" err="1"/>
              <a:t>wijzigingen</a:t>
            </a:r>
            <a:r>
              <a:rPr lang="en-US" sz="1200" dirty="0"/>
              <a:t> door </a:t>
            </a:r>
            <a:r>
              <a:rPr lang="en-US" sz="1200" dirty="0" err="1"/>
              <a:t>medewerkers</a:t>
            </a:r>
            <a:endParaRPr lang="nl-NL" sz="1200" dirty="0"/>
          </a:p>
        </p:txBody>
      </p:sp>
      <p:sp>
        <p:nvSpPr>
          <p:cNvPr id="22" name="Rechthoek 21">
            <a:extLst>
              <a:ext uri="{FF2B5EF4-FFF2-40B4-BE49-F238E27FC236}">
                <a16:creationId xmlns:a16="http://schemas.microsoft.com/office/drawing/2014/main" id="{330F8F20-A99F-3480-6156-48C9A6AE62AD}"/>
              </a:ext>
            </a:extLst>
          </p:cNvPr>
          <p:cNvSpPr/>
          <p:nvPr/>
        </p:nvSpPr>
        <p:spPr>
          <a:xfrm>
            <a:off x="10726037" y="3513104"/>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Patientveiligheid</a:t>
            </a:r>
            <a:r>
              <a:rPr lang="en-US" sz="1200" dirty="0"/>
              <a:t> in </a:t>
            </a:r>
            <a:r>
              <a:rPr lang="en-US" sz="1200" dirty="0" err="1"/>
              <a:t>gevaar</a:t>
            </a:r>
            <a:endParaRPr lang="nl-NL" sz="1200" dirty="0"/>
          </a:p>
        </p:txBody>
      </p:sp>
      <p:sp>
        <p:nvSpPr>
          <p:cNvPr id="24" name="Rechthoek 23">
            <a:extLst>
              <a:ext uri="{FF2B5EF4-FFF2-40B4-BE49-F238E27FC236}">
                <a16:creationId xmlns:a16="http://schemas.microsoft.com/office/drawing/2014/main" id="{B18EF456-1B1A-0A57-F1BF-021C9E3A2C7A}"/>
              </a:ext>
            </a:extLst>
          </p:cNvPr>
          <p:cNvSpPr/>
          <p:nvPr/>
        </p:nvSpPr>
        <p:spPr>
          <a:xfrm>
            <a:off x="576197" y="4605776"/>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Software bugs</a:t>
            </a:r>
            <a:endParaRPr lang="nl-NL" sz="1200" dirty="0"/>
          </a:p>
        </p:txBody>
      </p:sp>
      <p:sp>
        <p:nvSpPr>
          <p:cNvPr id="25" name="Rechthoek 24">
            <a:extLst>
              <a:ext uri="{FF2B5EF4-FFF2-40B4-BE49-F238E27FC236}">
                <a16:creationId xmlns:a16="http://schemas.microsoft.com/office/drawing/2014/main" id="{7EE0E25B-D5A3-890D-4FB0-DD3E11C122AD}"/>
              </a:ext>
            </a:extLst>
          </p:cNvPr>
          <p:cNvSpPr/>
          <p:nvPr/>
        </p:nvSpPr>
        <p:spPr>
          <a:xfrm>
            <a:off x="10726037" y="4605776"/>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Juridische</a:t>
            </a:r>
            <a:r>
              <a:rPr lang="en-US" sz="1200" dirty="0"/>
              <a:t> </a:t>
            </a:r>
            <a:r>
              <a:rPr lang="en-US" sz="1200" dirty="0" err="1"/>
              <a:t>aansprakeleikheid</a:t>
            </a:r>
            <a:endParaRPr lang="nl-NL" sz="1200" dirty="0"/>
          </a:p>
        </p:txBody>
      </p:sp>
      <p:sp>
        <p:nvSpPr>
          <p:cNvPr id="26" name="Rechthoek 25">
            <a:extLst>
              <a:ext uri="{FF2B5EF4-FFF2-40B4-BE49-F238E27FC236}">
                <a16:creationId xmlns:a16="http://schemas.microsoft.com/office/drawing/2014/main" id="{37546589-B616-9BC0-D435-698EF584CDA2}"/>
              </a:ext>
            </a:extLst>
          </p:cNvPr>
          <p:cNvSpPr/>
          <p:nvPr/>
        </p:nvSpPr>
        <p:spPr>
          <a:xfrm>
            <a:off x="576197" y="5698448"/>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Man-in-the-middle </a:t>
            </a:r>
            <a:r>
              <a:rPr lang="en-US" sz="1200" dirty="0" err="1"/>
              <a:t>aanval</a:t>
            </a:r>
            <a:endParaRPr lang="nl-NL" sz="1200" dirty="0"/>
          </a:p>
        </p:txBody>
      </p:sp>
      <p:sp>
        <p:nvSpPr>
          <p:cNvPr id="27" name="Rechthoek 26">
            <a:extLst>
              <a:ext uri="{FF2B5EF4-FFF2-40B4-BE49-F238E27FC236}">
                <a16:creationId xmlns:a16="http://schemas.microsoft.com/office/drawing/2014/main" id="{68908524-CBD2-F8DF-3FF2-52DBDAF07F16}"/>
              </a:ext>
            </a:extLst>
          </p:cNvPr>
          <p:cNvSpPr/>
          <p:nvPr/>
        </p:nvSpPr>
        <p:spPr>
          <a:xfrm>
            <a:off x="10726037" y="5698448"/>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Verlies</a:t>
            </a:r>
            <a:r>
              <a:rPr lang="en-US" sz="1200" dirty="0"/>
              <a:t> van </a:t>
            </a:r>
            <a:r>
              <a:rPr lang="en-US" sz="1200" dirty="0" err="1"/>
              <a:t>vertrouwen</a:t>
            </a:r>
            <a:endParaRPr lang="nl-NL" sz="1200" dirty="0"/>
          </a:p>
        </p:txBody>
      </p:sp>
      <p:sp>
        <p:nvSpPr>
          <p:cNvPr id="28" name="Rechthoek 27">
            <a:extLst>
              <a:ext uri="{FF2B5EF4-FFF2-40B4-BE49-F238E27FC236}">
                <a16:creationId xmlns:a16="http://schemas.microsoft.com/office/drawing/2014/main" id="{2BF0E3B8-980E-4852-6C21-16B24725C0EA}"/>
              </a:ext>
            </a:extLst>
          </p:cNvPr>
          <p:cNvSpPr/>
          <p:nvPr/>
        </p:nvSpPr>
        <p:spPr>
          <a:xfrm>
            <a:off x="576197" y="679112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Onjuiste</a:t>
            </a:r>
            <a:r>
              <a:rPr lang="en-US" sz="1200" dirty="0"/>
              <a:t> data </a:t>
            </a:r>
            <a:r>
              <a:rPr lang="en-US" sz="1200" dirty="0" err="1"/>
              <a:t>synchronisatie</a:t>
            </a:r>
            <a:endParaRPr lang="nl-NL" sz="1200" dirty="0"/>
          </a:p>
        </p:txBody>
      </p:sp>
      <p:sp>
        <p:nvSpPr>
          <p:cNvPr id="29" name="Rechthoek 28">
            <a:extLst>
              <a:ext uri="{FF2B5EF4-FFF2-40B4-BE49-F238E27FC236}">
                <a16:creationId xmlns:a16="http://schemas.microsoft.com/office/drawing/2014/main" id="{0C0B1102-D2C8-A971-80F2-667386CAF260}"/>
              </a:ext>
            </a:extLst>
          </p:cNvPr>
          <p:cNvSpPr/>
          <p:nvPr/>
        </p:nvSpPr>
        <p:spPr>
          <a:xfrm>
            <a:off x="10726037" y="679112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Sancties</a:t>
            </a:r>
            <a:r>
              <a:rPr lang="en-US" sz="1200" dirty="0"/>
              <a:t>/</a:t>
            </a:r>
            <a:r>
              <a:rPr lang="en-US" sz="1200" dirty="0" err="1"/>
              <a:t>boetes</a:t>
            </a:r>
            <a:endParaRPr lang="nl-NL" sz="1200" dirty="0"/>
          </a:p>
        </p:txBody>
      </p:sp>
      <p:sp>
        <p:nvSpPr>
          <p:cNvPr id="30" name="Rechthoek 29">
            <a:extLst>
              <a:ext uri="{FF2B5EF4-FFF2-40B4-BE49-F238E27FC236}">
                <a16:creationId xmlns:a16="http://schemas.microsoft.com/office/drawing/2014/main" id="{252FEF4B-7C6E-3846-82FD-1E9D9C017927}"/>
              </a:ext>
            </a:extLst>
          </p:cNvPr>
          <p:cNvSpPr/>
          <p:nvPr/>
        </p:nvSpPr>
        <p:spPr>
          <a:xfrm>
            <a:off x="576197" y="788379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sp>
        <p:nvSpPr>
          <p:cNvPr id="31" name="Rechthoek 30">
            <a:extLst>
              <a:ext uri="{FF2B5EF4-FFF2-40B4-BE49-F238E27FC236}">
                <a16:creationId xmlns:a16="http://schemas.microsoft.com/office/drawing/2014/main" id="{D4F7ECBE-4D8E-AFE7-F063-9D4C7177BEA1}"/>
              </a:ext>
            </a:extLst>
          </p:cNvPr>
          <p:cNvSpPr/>
          <p:nvPr/>
        </p:nvSpPr>
        <p:spPr>
          <a:xfrm>
            <a:off x="10726037" y="788379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cxnSp>
        <p:nvCxnSpPr>
          <p:cNvPr id="33" name="Rechte verbindingslijn 32">
            <a:extLst>
              <a:ext uri="{FF2B5EF4-FFF2-40B4-BE49-F238E27FC236}">
                <a16:creationId xmlns:a16="http://schemas.microsoft.com/office/drawing/2014/main" id="{81B384F8-2105-EDA1-001E-317331D47302}"/>
              </a:ext>
            </a:extLst>
          </p:cNvPr>
          <p:cNvCxnSpPr>
            <a:stCxn id="8" idx="3"/>
          </p:cNvCxnSpPr>
          <p:nvPr/>
        </p:nvCxnSpPr>
        <p:spPr>
          <a:xfrm>
            <a:off x="2146820" y="179122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6AC71937-9C51-DB92-B6D7-565DC80656E7}"/>
              </a:ext>
            </a:extLst>
          </p:cNvPr>
          <p:cNvCxnSpPr>
            <a:cxnSpLocks/>
          </p:cNvCxnSpPr>
          <p:nvPr/>
        </p:nvCxnSpPr>
        <p:spPr>
          <a:xfrm>
            <a:off x="5115298" y="1798320"/>
            <a:ext cx="1285500" cy="2901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4407EE16-2BE0-0C55-D20B-74C918B0573B}"/>
              </a:ext>
            </a:extLst>
          </p:cNvPr>
          <p:cNvCxnSpPr/>
          <p:nvPr/>
        </p:nvCxnSpPr>
        <p:spPr>
          <a:xfrm>
            <a:off x="2154477" y="287885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8CAB54FC-C8B1-AC29-A6C5-B0882B61A894}"/>
              </a:ext>
            </a:extLst>
          </p:cNvPr>
          <p:cNvCxnSpPr/>
          <p:nvPr/>
        </p:nvCxnSpPr>
        <p:spPr>
          <a:xfrm>
            <a:off x="2154477" y="3976567"/>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8B654201-20AF-6286-046E-1E40FA5D8C4D}"/>
              </a:ext>
            </a:extLst>
          </p:cNvPr>
          <p:cNvCxnSpPr/>
          <p:nvPr/>
        </p:nvCxnSpPr>
        <p:spPr>
          <a:xfrm>
            <a:off x="2154477" y="5062142"/>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Rechte verbindingslijn 38">
            <a:extLst>
              <a:ext uri="{FF2B5EF4-FFF2-40B4-BE49-F238E27FC236}">
                <a16:creationId xmlns:a16="http://schemas.microsoft.com/office/drawing/2014/main" id="{4DC61700-536C-7D6B-9714-AB06CC3F9DD0}"/>
              </a:ext>
            </a:extLst>
          </p:cNvPr>
          <p:cNvCxnSpPr>
            <a:cxnSpLocks/>
            <a:endCxn id="13" idx="1"/>
          </p:cNvCxnSpPr>
          <p:nvPr/>
        </p:nvCxnSpPr>
        <p:spPr>
          <a:xfrm>
            <a:off x="7665722" y="1791223"/>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D4E83FE4-E24C-29CA-7225-1001B9871039}"/>
              </a:ext>
            </a:extLst>
          </p:cNvPr>
          <p:cNvCxnSpPr>
            <a:cxnSpLocks/>
          </p:cNvCxnSpPr>
          <p:nvPr/>
        </p:nvCxnSpPr>
        <p:spPr>
          <a:xfrm flipH="1">
            <a:off x="6438935" y="1798320"/>
            <a:ext cx="1226785" cy="2941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E4BD0E54-F7C0-90E7-CD8D-CC071516653B}"/>
              </a:ext>
            </a:extLst>
          </p:cNvPr>
          <p:cNvCxnSpPr>
            <a:cxnSpLocks/>
          </p:cNvCxnSpPr>
          <p:nvPr/>
        </p:nvCxnSpPr>
        <p:spPr>
          <a:xfrm>
            <a:off x="7665722" y="2885950"/>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0C508631-E18E-F517-C327-3F0E1986CC22}"/>
              </a:ext>
            </a:extLst>
          </p:cNvPr>
          <p:cNvCxnSpPr>
            <a:cxnSpLocks/>
          </p:cNvCxnSpPr>
          <p:nvPr/>
        </p:nvCxnSpPr>
        <p:spPr>
          <a:xfrm>
            <a:off x="7665722" y="3976567"/>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Rechte verbindingslijn 46">
            <a:extLst>
              <a:ext uri="{FF2B5EF4-FFF2-40B4-BE49-F238E27FC236}">
                <a16:creationId xmlns:a16="http://schemas.microsoft.com/office/drawing/2014/main" id="{179DD9C0-F26A-2E63-D40F-A6E2F276F77A}"/>
              </a:ext>
            </a:extLst>
          </p:cNvPr>
          <p:cNvCxnSpPr>
            <a:cxnSpLocks/>
          </p:cNvCxnSpPr>
          <p:nvPr/>
        </p:nvCxnSpPr>
        <p:spPr>
          <a:xfrm>
            <a:off x="7665722" y="5062142"/>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Rechte verbindingslijn 47">
            <a:extLst>
              <a:ext uri="{FF2B5EF4-FFF2-40B4-BE49-F238E27FC236}">
                <a16:creationId xmlns:a16="http://schemas.microsoft.com/office/drawing/2014/main" id="{5A45DD5F-4EA2-895C-9AF3-A5D4F0D0AE7C}"/>
              </a:ext>
            </a:extLst>
          </p:cNvPr>
          <p:cNvCxnSpPr/>
          <p:nvPr/>
        </p:nvCxnSpPr>
        <p:spPr>
          <a:xfrm>
            <a:off x="2154477" y="6154814"/>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Rechte verbindingslijn 48">
            <a:extLst>
              <a:ext uri="{FF2B5EF4-FFF2-40B4-BE49-F238E27FC236}">
                <a16:creationId xmlns:a16="http://schemas.microsoft.com/office/drawing/2014/main" id="{2C334F77-9B9B-B294-BEDE-9F7E317923E1}"/>
              </a:ext>
            </a:extLst>
          </p:cNvPr>
          <p:cNvCxnSpPr>
            <a:cxnSpLocks/>
          </p:cNvCxnSpPr>
          <p:nvPr/>
        </p:nvCxnSpPr>
        <p:spPr>
          <a:xfrm>
            <a:off x="7665722" y="6154814"/>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Rechte verbindingslijn 49">
            <a:extLst>
              <a:ext uri="{FF2B5EF4-FFF2-40B4-BE49-F238E27FC236}">
                <a16:creationId xmlns:a16="http://schemas.microsoft.com/office/drawing/2014/main" id="{5BFB9B04-27A7-7860-10E7-7DEC1EF8F86A}"/>
              </a:ext>
            </a:extLst>
          </p:cNvPr>
          <p:cNvCxnSpPr/>
          <p:nvPr/>
        </p:nvCxnSpPr>
        <p:spPr>
          <a:xfrm>
            <a:off x="2154477" y="7240389"/>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8DB1904F-989C-095A-2A3C-7E3D39D955FD}"/>
              </a:ext>
            </a:extLst>
          </p:cNvPr>
          <p:cNvCxnSpPr>
            <a:cxnSpLocks/>
          </p:cNvCxnSpPr>
          <p:nvPr/>
        </p:nvCxnSpPr>
        <p:spPr>
          <a:xfrm>
            <a:off x="7665722" y="7240389"/>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BD90562D-BDF1-BF22-6D42-8AC176EE304C}"/>
              </a:ext>
            </a:extLst>
          </p:cNvPr>
          <p:cNvCxnSpPr/>
          <p:nvPr/>
        </p:nvCxnSpPr>
        <p:spPr>
          <a:xfrm>
            <a:off x="2154477" y="8322415"/>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AB9EEC4-3519-0EFA-E880-A919CF8F3706}"/>
              </a:ext>
            </a:extLst>
          </p:cNvPr>
          <p:cNvCxnSpPr>
            <a:cxnSpLocks/>
          </p:cNvCxnSpPr>
          <p:nvPr/>
        </p:nvCxnSpPr>
        <p:spPr>
          <a:xfrm>
            <a:off x="7665722" y="8322415"/>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Rechte verbindingslijn 53">
            <a:extLst>
              <a:ext uri="{FF2B5EF4-FFF2-40B4-BE49-F238E27FC236}">
                <a16:creationId xmlns:a16="http://schemas.microsoft.com/office/drawing/2014/main" id="{2F7BEAB5-6313-EA04-AE20-31F104A58079}"/>
              </a:ext>
            </a:extLst>
          </p:cNvPr>
          <p:cNvCxnSpPr>
            <a:cxnSpLocks/>
          </p:cNvCxnSpPr>
          <p:nvPr/>
        </p:nvCxnSpPr>
        <p:spPr>
          <a:xfrm>
            <a:off x="5115301" y="2885950"/>
            <a:ext cx="1323637" cy="1966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Rechte verbindingslijn 59">
            <a:extLst>
              <a:ext uri="{FF2B5EF4-FFF2-40B4-BE49-F238E27FC236}">
                <a16:creationId xmlns:a16="http://schemas.microsoft.com/office/drawing/2014/main" id="{7C927640-9397-A493-96E6-911BDADE7B31}"/>
              </a:ext>
            </a:extLst>
          </p:cNvPr>
          <p:cNvCxnSpPr>
            <a:cxnSpLocks/>
          </p:cNvCxnSpPr>
          <p:nvPr/>
        </p:nvCxnSpPr>
        <p:spPr>
          <a:xfrm>
            <a:off x="5135878" y="3990761"/>
            <a:ext cx="1226785" cy="797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Rechte verbindingslijn 63">
            <a:extLst>
              <a:ext uri="{FF2B5EF4-FFF2-40B4-BE49-F238E27FC236}">
                <a16:creationId xmlns:a16="http://schemas.microsoft.com/office/drawing/2014/main" id="{9386EC04-DA7D-9363-E1E2-25839E57DB6C}"/>
              </a:ext>
            </a:extLst>
          </p:cNvPr>
          <p:cNvCxnSpPr/>
          <p:nvPr/>
        </p:nvCxnSpPr>
        <p:spPr>
          <a:xfrm flipV="1">
            <a:off x="5135880" y="4739640"/>
            <a:ext cx="1303058" cy="322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Rechte verbindingslijn 66">
            <a:extLst>
              <a:ext uri="{FF2B5EF4-FFF2-40B4-BE49-F238E27FC236}">
                <a16:creationId xmlns:a16="http://schemas.microsoft.com/office/drawing/2014/main" id="{803DFEFA-757F-991E-9FD3-A81F99744B89}"/>
              </a:ext>
            </a:extLst>
          </p:cNvPr>
          <p:cNvCxnSpPr/>
          <p:nvPr/>
        </p:nvCxnSpPr>
        <p:spPr>
          <a:xfrm flipV="1">
            <a:off x="5135878" y="4699676"/>
            <a:ext cx="1226785" cy="1462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A96B85ED-1B97-2C1F-566A-4F9A3EA92D5A}"/>
              </a:ext>
            </a:extLst>
          </p:cNvPr>
          <p:cNvCxnSpPr/>
          <p:nvPr/>
        </p:nvCxnSpPr>
        <p:spPr>
          <a:xfrm flipV="1">
            <a:off x="5135876" y="4736033"/>
            <a:ext cx="1247364" cy="251145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0887B23D-2EB7-7254-30BD-903F263712C9}"/>
              </a:ext>
            </a:extLst>
          </p:cNvPr>
          <p:cNvCxnSpPr/>
          <p:nvPr/>
        </p:nvCxnSpPr>
        <p:spPr>
          <a:xfrm flipV="1">
            <a:off x="5135876" y="4736033"/>
            <a:ext cx="1247364" cy="3593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Rechte verbindingslijn 72">
            <a:extLst>
              <a:ext uri="{FF2B5EF4-FFF2-40B4-BE49-F238E27FC236}">
                <a16:creationId xmlns:a16="http://schemas.microsoft.com/office/drawing/2014/main" id="{5F1141DF-12D4-26EE-D16B-4A62FA8D4D81}"/>
              </a:ext>
            </a:extLst>
          </p:cNvPr>
          <p:cNvCxnSpPr/>
          <p:nvPr/>
        </p:nvCxnSpPr>
        <p:spPr>
          <a:xfrm flipH="1">
            <a:off x="6438938" y="2893047"/>
            <a:ext cx="1226782" cy="1842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Rechte verbindingslijn 75">
            <a:extLst>
              <a:ext uri="{FF2B5EF4-FFF2-40B4-BE49-F238E27FC236}">
                <a16:creationId xmlns:a16="http://schemas.microsoft.com/office/drawing/2014/main" id="{1CA01030-8BF8-A724-1635-440AC76B1310}"/>
              </a:ext>
            </a:extLst>
          </p:cNvPr>
          <p:cNvCxnSpPr>
            <a:cxnSpLocks/>
          </p:cNvCxnSpPr>
          <p:nvPr/>
        </p:nvCxnSpPr>
        <p:spPr>
          <a:xfrm flipH="1">
            <a:off x="6456493" y="3976566"/>
            <a:ext cx="1209227" cy="759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Rechte verbindingslijn 77">
            <a:extLst>
              <a:ext uri="{FF2B5EF4-FFF2-40B4-BE49-F238E27FC236}">
                <a16:creationId xmlns:a16="http://schemas.microsoft.com/office/drawing/2014/main" id="{387247B4-E4BA-F49B-2ECB-01CF01919560}"/>
              </a:ext>
            </a:extLst>
          </p:cNvPr>
          <p:cNvCxnSpPr/>
          <p:nvPr/>
        </p:nvCxnSpPr>
        <p:spPr>
          <a:xfrm flipH="1" flipV="1">
            <a:off x="6456493" y="4772390"/>
            <a:ext cx="1209227" cy="289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Rechte verbindingslijn 81">
            <a:extLst>
              <a:ext uri="{FF2B5EF4-FFF2-40B4-BE49-F238E27FC236}">
                <a16:creationId xmlns:a16="http://schemas.microsoft.com/office/drawing/2014/main" id="{617C70C2-1182-7940-DB47-910712E5FBD1}"/>
              </a:ext>
            </a:extLst>
          </p:cNvPr>
          <p:cNvCxnSpPr/>
          <p:nvPr/>
        </p:nvCxnSpPr>
        <p:spPr>
          <a:xfrm flipH="1" flipV="1">
            <a:off x="6400798" y="4736033"/>
            <a:ext cx="1264922" cy="1418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Rechte verbindingslijn 83">
            <a:extLst>
              <a:ext uri="{FF2B5EF4-FFF2-40B4-BE49-F238E27FC236}">
                <a16:creationId xmlns:a16="http://schemas.microsoft.com/office/drawing/2014/main" id="{F555B621-92B3-14D7-C163-E9F1BA0F646C}"/>
              </a:ext>
            </a:extLst>
          </p:cNvPr>
          <p:cNvCxnSpPr/>
          <p:nvPr/>
        </p:nvCxnSpPr>
        <p:spPr>
          <a:xfrm flipH="1" flipV="1">
            <a:off x="6380221" y="4743129"/>
            <a:ext cx="1285499" cy="2493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Rechte verbindingslijn 85">
            <a:extLst>
              <a:ext uri="{FF2B5EF4-FFF2-40B4-BE49-F238E27FC236}">
                <a16:creationId xmlns:a16="http://schemas.microsoft.com/office/drawing/2014/main" id="{7454C356-423B-5818-EB5A-0BF41CFD67B8}"/>
              </a:ext>
            </a:extLst>
          </p:cNvPr>
          <p:cNvCxnSpPr/>
          <p:nvPr/>
        </p:nvCxnSpPr>
        <p:spPr>
          <a:xfrm flipH="1" flipV="1">
            <a:off x="6400798" y="4786583"/>
            <a:ext cx="1264922" cy="3532281"/>
          </a:xfrm>
          <a:prstGeom prst="line">
            <a:avLst/>
          </a:prstGeom>
        </p:spPr>
        <p:style>
          <a:lnRef idx="1">
            <a:schemeClr val="accent1"/>
          </a:lnRef>
          <a:fillRef idx="0">
            <a:schemeClr val="accent1"/>
          </a:fillRef>
          <a:effectRef idx="0">
            <a:schemeClr val="accent1"/>
          </a:effectRef>
          <a:fontRef idx="minor">
            <a:schemeClr val="tx1"/>
          </a:fontRef>
        </p:style>
      </p:cxnSp>
      <p:sp>
        <p:nvSpPr>
          <p:cNvPr id="5" name="Ster: 12 punten 4">
            <a:extLst>
              <a:ext uri="{FF2B5EF4-FFF2-40B4-BE49-F238E27FC236}">
                <a16:creationId xmlns:a16="http://schemas.microsoft.com/office/drawing/2014/main" id="{A89B40EB-523F-38CC-B4BA-4A4E2DA712AC}"/>
              </a:ext>
            </a:extLst>
          </p:cNvPr>
          <p:cNvSpPr/>
          <p:nvPr/>
        </p:nvSpPr>
        <p:spPr>
          <a:xfrm>
            <a:off x="5498931" y="4027118"/>
            <a:ext cx="1803738" cy="1546964"/>
          </a:xfrm>
          <a:prstGeom prst="star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dirty="0"/>
              <a:t>Top Event</a:t>
            </a:r>
          </a:p>
          <a:p>
            <a:pPr algn="ctr"/>
            <a:r>
              <a:rPr lang="nl-NL" sz="1200" dirty="0"/>
              <a:t>Verlies van Integriteit</a:t>
            </a:r>
          </a:p>
        </p:txBody>
      </p:sp>
      <p:sp>
        <p:nvSpPr>
          <p:cNvPr id="2" name="Tekstvak 1">
            <a:extLst>
              <a:ext uri="{FF2B5EF4-FFF2-40B4-BE49-F238E27FC236}">
                <a16:creationId xmlns:a16="http://schemas.microsoft.com/office/drawing/2014/main" id="{BD967CAD-F67F-4C22-CC8E-6ECC6C7C3479}"/>
              </a:ext>
            </a:extLst>
          </p:cNvPr>
          <p:cNvSpPr txBox="1"/>
          <p:nvPr/>
        </p:nvSpPr>
        <p:spPr>
          <a:xfrm>
            <a:off x="237577" y="815820"/>
            <a:ext cx="2255520" cy="369332"/>
          </a:xfrm>
          <a:prstGeom prst="rect">
            <a:avLst/>
          </a:prstGeom>
          <a:noFill/>
        </p:spPr>
        <p:txBody>
          <a:bodyPr wrap="square">
            <a:spAutoFit/>
          </a:bodyPr>
          <a:lstStyle/>
          <a:p>
            <a:pPr algn="ctr"/>
            <a:r>
              <a:rPr lang="nl-NL" dirty="0"/>
              <a:t>Bedreigingen</a:t>
            </a:r>
          </a:p>
        </p:txBody>
      </p:sp>
      <p:sp>
        <p:nvSpPr>
          <p:cNvPr id="3" name="Tekstvak 2">
            <a:extLst>
              <a:ext uri="{FF2B5EF4-FFF2-40B4-BE49-F238E27FC236}">
                <a16:creationId xmlns:a16="http://schemas.microsoft.com/office/drawing/2014/main" id="{CA0BBCC0-DA71-1698-AA0D-BB9F4A79BD55}"/>
              </a:ext>
            </a:extLst>
          </p:cNvPr>
          <p:cNvSpPr txBox="1"/>
          <p:nvPr/>
        </p:nvSpPr>
        <p:spPr>
          <a:xfrm>
            <a:off x="2535263" y="815820"/>
            <a:ext cx="2963668" cy="369332"/>
          </a:xfrm>
          <a:prstGeom prst="rect">
            <a:avLst/>
          </a:prstGeom>
          <a:noFill/>
        </p:spPr>
        <p:txBody>
          <a:bodyPr wrap="square">
            <a:spAutoFit/>
          </a:bodyPr>
          <a:lstStyle/>
          <a:p>
            <a:pPr algn="ctr"/>
            <a:r>
              <a:rPr lang="nl-NL" dirty="0"/>
              <a:t>Preventieve maatregelen</a:t>
            </a:r>
          </a:p>
        </p:txBody>
      </p:sp>
      <p:sp>
        <p:nvSpPr>
          <p:cNvPr id="6" name="Tekstvak 5">
            <a:extLst>
              <a:ext uri="{FF2B5EF4-FFF2-40B4-BE49-F238E27FC236}">
                <a16:creationId xmlns:a16="http://schemas.microsoft.com/office/drawing/2014/main" id="{C7CBDB53-204C-6C8C-CDFE-0404231E2163}"/>
              </a:ext>
            </a:extLst>
          </p:cNvPr>
          <p:cNvSpPr txBox="1"/>
          <p:nvPr/>
        </p:nvSpPr>
        <p:spPr>
          <a:xfrm>
            <a:off x="10387417" y="815820"/>
            <a:ext cx="2255520" cy="369332"/>
          </a:xfrm>
          <a:prstGeom prst="rect">
            <a:avLst/>
          </a:prstGeom>
          <a:noFill/>
        </p:spPr>
        <p:txBody>
          <a:bodyPr wrap="square">
            <a:spAutoFit/>
          </a:bodyPr>
          <a:lstStyle/>
          <a:p>
            <a:pPr algn="ctr"/>
            <a:r>
              <a:rPr lang="nl-NL" dirty="0"/>
              <a:t>Consequenties</a:t>
            </a:r>
          </a:p>
        </p:txBody>
      </p:sp>
      <p:sp>
        <p:nvSpPr>
          <p:cNvPr id="9" name="Tekstvak 8">
            <a:extLst>
              <a:ext uri="{FF2B5EF4-FFF2-40B4-BE49-F238E27FC236}">
                <a16:creationId xmlns:a16="http://schemas.microsoft.com/office/drawing/2014/main" id="{20272512-941A-424C-E8BE-1CCC0223BE12}"/>
              </a:ext>
            </a:extLst>
          </p:cNvPr>
          <p:cNvSpPr txBox="1"/>
          <p:nvPr/>
        </p:nvSpPr>
        <p:spPr>
          <a:xfrm>
            <a:off x="7423749" y="815820"/>
            <a:ext cx="2963668" cy="369332"/>
          </a:xfrm>
          <a:prstGeom prst="rect">
            <a:avLst/>
          </a:prstGeom>
          <a:noFill/>
        </p:spPr>
        <p:txBody>
          <a:bodyPr wrap="square">
            <a:spAutoFit/>
          </a:bodyPr>
          <a:lstStyle/>
          <a:p>
            <a:pPr algn="ctr"/>
            <a:r>
              <a:rPr lang="nl-NL" dirty="0"/>
              <a:t>Correctieve maatregelen</a:t>
            </a:r>
          </a:p>
        </p:txBody>
      </p:sp>
    </p:spTree>
    <p:extLst>
      <p:ext uri="{BB962C8B-B14F-4D97-AF65-F5344CB8AC3E}">
        <p14:creationId xmlns:p14="http://schemas.microsoft.com/office/powerpoint/2010/main" val="3483613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CC5318B9-836D-0058-460B-D018D7B80608}"/>
              </a:ext>
            </a:extLst>
          </p:cNvPr>
          <p:cNvSpPr/>
          <p:nvPr/>
        </p:nvSpPr>
        <p:spPr>
          <a:xfrm>
            <a:off x="5667076" y="2156611"/>
            <a:ext cx="1467448" cy="722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dirty="0"/>
              <a:t>EPD Systeem</a:t>
            </a:r>
          </a:p>
        </p:txBody>
      </p:sp>
      <p:cxnSp>
        <p:nvCxnSpPr>
          <p:cNvPr id="7" name="Rechte verbindingslijn 6">
            <a:extLst>
              <a:ext uri="{FF2B5EF4-FFF2-40B4-BE49-F238E27FC236}">
                <a16:creationId xmlns:a16="http://schemas.microsoft.com/office/drawing/2014/main" id="{641E400A-85B2-1AF6-79DB-8B4F71E4D870}"/>
              </a:ext>
            </a:extLst>
          </p:cNvPr>
          <p:cNvCxnSpPr>
            <a:cxnSpLocks/>
            <a:stCxn id="4" idx="2"/>
            <a:endCxn id="5" idx="10"/>
          </p:cNvCxnSpPr>
          <p:nvPr/>
        </p:nvCxnSpPr>
        <p:spPr>
          <a:xfrm>
            <a:off x="6400800" y="2878853"/>
            <a:ext cx="0" cy="1148265"/>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8" name="Rechthoek 7">
            <a:extLst>
              <a:ext uri="{FF2B5EF4-FFF2-40B4-BE49-F238E27FC236}">
                <a16:creationId xmlns:a16="http://schemas.microsoft.com/office/drawing/2014/main" id="{45768A74-F0F6-E04A-7A0A-D04FD9451724}"/>
              </a:ext>
            </a:extLst>
          </p:cNvPr>
          <p:cNvSpPr/>
          <p:nvPr/>
        </p:nvSpPr>
        <p:spPr>
          <a:xfrm>
            <a:off x="568540" y="132776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dirty="0"/>
              <a:t>Bedreiging</a:t>
            </a:r>
          </a:p>
        </p:txBody>
      </p:sp>
      <p:sp>
        <p:nvSpPr>
          <p:cNvPr id="13" name="Rechthoek 12">
            <a:extLst>
              <a:ext uri="{FF2B5EF4-FFF2-40B4-BE49-F238E27FC236}">
                <a16:creationId xmlns:a16="http://schemas.microsoft.com/office/drawing/2014/main" id="{3C065792-9293-F819-4F90-36EA66D9D889}"/>
              </a:ext>
            </a:extLst>
          </p:cNvPr>
          <p:cNvSpPr/>
          <p:nvPr/>
        </p:nvSpPr>
        <p:spPr>
          <a:xfrm>
            <a:off x="10726037" y="132776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dirty="0"/>
              <a:t>Consequentie</a:t>
            </a:r>
          </a:p>
        </p:txBody>
      </p:sp>
      <p:sp>
        <p:nvSpPr>
          <p:cNvPr id="18" name="Rechthoek 17">
            <a:extLst>
              <a:ext uri="{FF2B5EF4-FFF2-40B4-BE49-F238E27FC236}">
                <a16:creationId xmlns:a16="http://schemas.microsoft.com/office/drawing/2014/main" id="{0FC9159E-6817-2E6F-C493-FCC40DCE6B65}"/>
              </a:ext>
            </a:extLst>
          </p:cNvPr>
          <p:cNvSpPr/>
          <p:nvPr/>
        </p:nvSpPr>
        <p:spPr>
          <a:xfrm>
            <a:off x="576197" y="2420432"/>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DDoS </a:t>
            </a:r>
            <a:r>
              <a:rPr lang="en-US" sz="1200" dirty="0" err="1"/>
              <a:t>aanval</a:t>
            </a:r>
            <a:endParaRPr lang="nl-NL" sz="1200" dirty="0"/>
          </a:p>
        </p:txBody>
      </p:sp>
      <p:sp>
        <p:nvSpPr>
          <p:cNvPr id="19" name="Rechthoek 18">
            <a:extLst>
              <a:ext uri="{FF2B5EF4-FFF2-40B4-BE49-F238E27FC236}">
                <a16:creationId xmlns:a16="http://schemas.microsoft.com/office/drawing/2014/main" id="{78690AE5-AD53-136D-77DC-54143458D6F1}"/>
              </a:ext>
            </a:extLst>
          </p:cNvPr>
          <p:cNvSpPr/>
          <p:nvPr/>
        </p:nvSpPr>
        <p:spPr>
          <a:xfrm>
            <a:off x="10726037" y="2420432"/>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Geen </a:t>
            </a:r>
            <a:r>
              <a:rPr lang="en-US" sz="1200" dirty="0" err="1"/>
              <a:t>toegang</a:t>
            </a:r>
            <a:r>
              <a:rPr lang="en-US" sz="1200" dirty="0"/>
              <a:t> tot </a:t>
            </a:r>
            <a:r>
              <a:rPr lang="en-US" sz="1200" dirty="0" err="1"/>
              <a:t>patientgegevens</a:t>
            </a:r>
            <a:endParaRPr lang="nl-NL" sz="1200" dirty="0"/>
          </a:p>
        </p:txBody>
      </p:sp>
      <p:sp>
        <p:nvSpPr>
          <p:cNvPr id="21" name="Rechthoek 20">
            <a:extLst>
              <a:ext uri="{FF2B5EF4-FFF2-40B4-BE49-F238E27FC236}">
                <a16:creationId xmlns:a16="http://schemas.microsoft.com/office/drawing/2014/main" id="{7DAAEE54-F243-83E5-E4B8-75B99ED9E9CF}"/>
              </a:ext>
            </a:extLst>
          </p:cNvPr>
          <p:cNvSpPr/>
          <p:nvPr/>
        </p:nvSpPr>
        <p:spPr>
          <a:xfrm>
            <a:off x="576197" y="3513104"/>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Server/hardware storing</a:t>
            </a:r>
            <a:endParaRPr lang="nl-NL" sz="1200" dirty="0"/>
          </a:p>
        </p:txBody>
      </p:sp>
      <p:sp>
        <p:nvSpPr>
          <p:cNvPr id="22" name="Rechthoek 21">
            <a:extLst>
              <a:ext uri="{FF2B5EF4-FFF2-40B4-BE49-F238E27FC236}">
                <a16:creationId xmlns:a16="http://schemas.microsoft.com/office/drawing/2014/main" id="{330F8F20-A99F-3480-6156-48C9A6AE62AD}"/>
              </a:ext>
            </a:extLst>
          </p:cNvPr>
          <p:cNvSpPr/>
          <p:nvPr/>
        </p:nvSpPr>
        <p:spPr>
          <a:xfrm>
            <a:off x="10726037" y="3513104"/>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Afspraken</a:t>
            </a:r>
            <a:r>
              <a:rPr lang="en-US" sz="1200" dirty="0"/>
              <a:t> </a:t>
            </a:r>
            <a:r>
              <a:rPr lang="en-US" sz="1200" dirty="0" err="1"/>
              <a:t>kunnen</a:t>
            </a:r>
            <a:r>
              <a:rPr lang="en-US" sz="1200" dirty="0"/>
              <a:t> </a:t>
            </a:r>
            <a:r>
              <a:rPr lang="en-US" sz="1200" dirty="0" err="1"/>
              <a:t>niet</a:t>
            </a:r>
            <a:r>
              <a:rPr lang="en-US" sz="1200" dirty="0"/>
              <a:t> </a:t>
            </a:r>
            <a:r>
              <a:rPr lang="en-US" sz="1200" dirty="0" err="1"/>
              <a:t>doorgaan</a:t>
            </a:r>
            <a:endParaRPr lang="nl-NL" sz="1200" dirty="0"/>
          </a:p>
        </p:txBody>
      </p:sp>
      <p:sp>
        <p:nvSpPr>
          <p:cNvPr id="24" name="Rechthoek 23">
            <a:extLst>
              <a:ext uri="{FF2B5EF4-FFF2-40B4-BE49-F238E27FC236}">
                <a16:creationId xmlns:a16="http://schemas.microsoft.com/office/drawing/2014/main" id="{B18EF456-1B1A-0A57-F1BF-021C9E3A2C7A}"/>
              </a:ext>
            </a:extLst>
          </p:cNvPr>
          <p:cNvSpPr/>
          <p:nvPr/>
        </p:nvSpPr>
        <p:spPr>
          <a:xfrm>
            <a:off x="576197" y="4605776"/>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Internetverbinding</a:t>
            </a:r>
            <a:r>
              <a:rPr lang="en-US" sz="1200" dirty="0"/>
              <a:t> </a:t>
            </a:r>
            <a:r>
              <a:rPr lang="en-US" sz="1200" dirty="0" err="1"/>
              <a:t>uitval</a:t>
            </a:r>
            <a:endParaRPr lang="nl-NL" sz="1200" dirty="0"/>
          </a:p>
        </p:txBody>
      </p:sp>
      <p:sp>
        <p:nvSpPr>
          <p:cNvPr id="25" name="Rechthoek 24">
            <a:extLst>
              <a:ext uri="{FF2B5EF4-FFF2-40B4-BE49-F238E27FC236}">
                <a16:creationId xmlns:a16="http://schemas.microsoft.com/office/drawing/2014/main" id="{7EE0E25B-D5A3-890D-4FB0-DD3E11C122AD}"/>
              </a:ext>
            </a:extLst>
          </p:cNvPr>
          <p:cNvSpPr/>
          <p:nvPr/>
        </p:nvSpPr>
        <p:spPr>
          <a:xfrm>
            <a:off x="10726037" y="4605776"/>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Vetraging</a:t>
            </a:r>
            <a:r>
              <a:rPr lang="en-US" sz="1200" dirty="0"/>
              <a:t> in </a:t>
            </a:r>
            <a:r>
              <a:rPr lang="en-US" sz="1200" dirty="0" err="1"/>
              <a:t>zorgverlening</a:t>
            </a:r>
            <a:endParaRPr lang="nl-NL" sz="1200" dirty="0"/>
          </a:p>
        </p:txBody>
      </p:sp>
      <p:sp>
        <p:nvSpPr>
          <p:cNvPr id="26" name="Rechthoek 25">
            <a:extLst>
              <a:ext uri="{FF2B5EF4-FFF2-40B4-BE49-F238E27FC236}">
                <a16:creationId xmlns:a16="http://schemas.microsoft.com/office/drawing/2014/main" id="{37546589-B616-9BC0-D435-698EF584CDA2}"/>
              </a:ext>
            </a:extLst>
          </p:cNvPr>
          <p:cNvSpPr/>
          <p:nvPr/>
        </p:nvSpPr>
        <p:spPr>
          <a:xfrm>
            <a:off x="576197" y="5698448"/>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Ransomware </a:t>
            </a:r>
            <a:r>
              <a:rPr lang="en-US" sz="1200" dirty="0" err="1"/>
              <a:t>encryptie</a:t>
            </a:r>
            <a:endParaRPr lang="nl-NL" sz="1200" dirty="0"/>
          </a:p>
        </p:txBody>
      </p:sp>
      <p:sp>
        <p:nvSpPr>
          <p:cNvPr id="27" name="Rechthoek 26">
            <a:extLst>
              <a:ext uri="{FF2B5EF4-FFF2-40B4-BE49-F238E27FC236}">
                <a16:creationId xmlns:a16="http://schemas.microsoft.com/office/drawing/2014/main" id="{68908524-CBD2-F8DF-3FF2-52DBDAF07F16}"/>
              </a:ext>
            </a:extLst>
          </p:cNvPr>
          <p:cNvSpPr/>
          <p:nvPr/>
        </p:nvSpPr>
        <p:spPr>
          <a:xfrm>
            <a:off x="10726037" y="5698448"/>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Omzetverlies</a:t>
            </a:r>
            <a:r>
              <a:rPr lang="en-US" sz="1200" dirty="0"/>
              <a:t> </a:t>
            </a:r>
            <a:r>
              <a:rPr lang="en-US" sz="1200" dirty="0" err="1"/>
              <a:t>praktijk</a:t>
            </a:r>
            <a:endParaRPr lang="nl-NL" sz="1200" dirty="0"/>
          </a:p>
        </p:txBody>
      </p:sp>
      <p:sp>
        <p:nvSpPr>
          <p:cNvPr id="28" name="Rechthoek 27">
            <a:extLst>
              <a:ext uri="{FF2B5EF4-FFF2-40B4-BE49-F238E27FC236}">
                <a16:creationId xmlns:a16="http://schemas.microsoft.com/office/drawing/2014/main" id="{2BF0E3B8-980E-4852-6C21-16B24725C0EA}"/>
              </a:ext>
            </a:extLst>
          </p:cNvPr>
          <p:cNvSpPr/>
          <p:nvPr/>
        </p:nvSpPr>
        <p:spPr>
          <a:xfrm>
            <a:off x="576197" y="679112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Stroomuitval</a:t>
            </a:r>
            <a:r>
              <a:rPr lang="en-US" sz="1200" dirty="0"/>
              <a:t> in </a:t>
            </a:r>
            <a:r>
              <a:rPr lang="en-US" sz="1200" dirty="0" err="1"/>
              <a:t>praktijk</a:t>
            </a:r>
            <a:endParaRPr lang="nl-NL" sz="1200" dirty="0"/>
          </a:p>
        </p:txBody>
      </p:sp>
      <p:sp>
        <p:nvSpPr>
          <p:cNvPr id="29" name="Rechthoek 28">
            <a:extLst>
              <a:ext uri="{FF2B5EF4-FFF2-40B4-BE49-F238E27FC236}">
                <a16:creationId xmlns:a16="http://schemas.microsoft.com/office/drawing/2014/main" id="{0C0B1102-D2C8-A971-80F2-667386CAF260}"/>
              </a:ext>
            </a:extLst>
          </p:cNvPr>
          <p:cNvSpPr/>
          <p:nvPr/>
        </p:nvSpPr>
        <p:spPr>
          <a:xfrm>
            <a:off x="10726037" y="679112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Klachten</a:t>
            </a:r>
            <a:r>
              <a:rPr lang="en-US" sz="1200" dirty="0"/>
              <a:t> van </a:t>
            </a:r>
            <a:r>
              <a:rPr lang="en-US" sz="1200" dirty="0" err="1"/>
              <a:t>patienten</a:t>
            </a:r>
            <a:endParaRPr lang="nl-NL" sz="1200" dirty="0"/>
          </a:p>
        </p:txBody>
      </p:sp>
      <p:sp>
        <p:nvSpPr>
          <p:cNvPr id="30" name="Rechthoek 29">
            <a:extLst>
              <a:ext uri="{FF2B5EF4-FFF2-40B4-BE49-F238E27FC236}">
                <a16:creationId xmlns:a16="http://schemas.microsoft.com/office/drawing/2014/main" id="{252FEF4B-7C6E-3846-82FD-1E9D9C017927}"/>
              </a:ext>
            </a:extLst>
          </p:cNvPr>
          <p:cNvSpPr/>
          <p:nvPr/>
        </p:nvSpPr>
        <p:spPr>
          <a:xfrm>
            <a:off x="576197" y="788379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sp>
        <p:nvSpPr>
          <p:cNvPr id="31" name="Rechthoek 30">
            <a:extLst>
              <a:ext uri="{FF2B5EF4-FFF2-40B4-BE49-F238E27FC236}">
                <a16:creationId xmlns:a16="http://schemas.microsoft.com/office/drawing/2014/main" id="{D4F7ECBE-4D8E-AFE7-F063-9D4C7177BEA1}"/>
              </a:ext>
            </a:extLst>
          </p:cNvPr>
          <p:cNvSpPr/>
          <p:nvPr/>
        </p:nvSpPr>
        <p:spPr>
          <a:xfrm>
            <a:off x="10726037" y="788379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cxnSp>
        <p:nvCxnSpPr>
          <p:cNvPr id="33" name="Rechte verbindingslijn 32">
            <a:extLst>
              <a:ext uri="{FF2B5EF4-FFF2-40B4-BE49-F238E27FC236}">
                <a16:creationId xmlns:a16="http://schemas.microsoft.com/office/drawing/2014/main" id="{81B384F8-2105-EDA1-001E-317331D47302}"/>
              </a:ext>
            </a:extLst>
          </p:cNvPr>
          <p:cNvCxnSpPr>
            <a:stCxn id="8" idx="3"/>
          </p:cNvCxnSpPr>
          <p:nvPr/>
        </p:nvCxnSpPr>
        <p:spPr>
          <a:xfrm>
            <a:off x="2146820" y="179122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6AC71937-9C51-DB92-B6D7-565DC80656E7}"/>
              </a:ext>
            </a:extLst>
          </p:cNvPr>
          <p:cNvCxnSpPr>
            <a:cxnSpLocks/>
          </p:cNvCxnSpPr>
          <p:nvPr/>
        </p:nvCxnSpPr>
        <p:spPr>
          <a:xfrm>
            <a:off x="5115298" y="1798320"/>
            <a:ext cx="1285500" cy="2901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4407EE16-2BE0-0C55-D20B-74C918B0573B}"/>
              </a:ext>
            </a:extLst>
          </p:cNvPr>
          <p:cNvCxnSpPr/>
          <p:nvPr/>
        </p:nvCxnSpPr>
        <p:spPr>
          <a:xfrm>
            <a:off x="2154477" y="287885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8CAB54FC-C8B1-AC29-A6C5-B0882B61A894}"/>
              </a:ext>
            </a:extLst>
          </p:cNvPr>
          <p:cNvCxnSpPr/>
          <p:nvPr/>
        </p:nvCxnSpPr>
        <p:spPr>
          <a:xfrm>
            <a:off x="2154477" y="3976567"/>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8B654201-20AF-6286-046E-1E40FA5D8C4D}"/>
              </a:ext>
            </a:extLst>
          </p:cNvPr>
          <p:cNvCxnSpPr/>
          <p:nvPr/>
        </p:nvCxnSpPr>
        <p:spPr>
          <a:xfrm>
            <a:off x="2154477" y="5062142"/>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Rechte verbindingslijn 38">
            <a:extLst>
              <a:ext uri="{FF2B5EF4-FFF2-40B4-BE49-F238E27FC236}">
                <a16:creationId xmlns:a16="http://schemas.microsoft.com/office/drawing/2014/main" id="{4DC61700-536C-7D6B-9714-AB06CC3F9DD0}"/>
              </a:ext>
            </a:extLst>
          </p:cNvPr>
          <p:cNvCxnSpPr>
            <a:cxnSpLocks/>
            <a:endCxn id="13" idx="1"/>
          </p:cNvCxnSpPr>
          <p:nvPr/>
        </p:nvCxnSpPr>
        <p:spPr>
          <a:xfrm>
            <a:off x="7665722" y="1791223"/>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D4E83FE4-E24C-29CA-7225-1001B9871039}"/>
              </a:ext>
            </a:extLst>
          </p:cNvPr>
          <p:cNvCxnSpPr>
            <a:cxnSpLocks/>
          </p:cNvCxnSpPr>
          <p:nvPr/>
        </p:nvCxnSpPr>
        <p:spPr>
          <a:xfrm flipH="1">
            <a:off x="6438935" y="1798320"/>
            <a:ext cx="1226785" cy="2941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E4BD0E54-F7C0-90E7-CD8D-CC071516653B}"/>
              </a:ext>
            </a:extLst>
          </p:cNvPr>
          <p:cNvCxnSpPr>
            <a:cxnSpLocks/>
          </p:cNvCxnSpPr>
          <p:nvPr/>
        </p:nvCxnSpPr>
        <p:spPr>
          <a:xfrm>
            <a:off x="7665722" y="2885950"/>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0C508631-E18E-F517-C327-3F0E1986CC22}"/>
              </a:ext>
            </a:extLst>
          </p:cNvPr>
          <p:cNvCxnSpPr>
            <a:cxnSpLocks/>
          </p:cNvCxnSpPr>
          <p:nvPr/>
        </p:nvCxnSpPr>
        <p:spPr>
          <a:xfrm>
            <a:off x="7665722" y="3976567"/>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Rechte verbindingslijn 46">
            <a:extLst>
              <a:ext uri="{FF2B5EF4-FFF2-40B4-BE49-F238E27FC236}">
                <a16:creationId xmlns:a16="http://schemas.microsoft.com/office/drawing/2014/main" id="{179DD9C0-F26A-2E63-D40F-A6E2F276F77A}"/>
              </a:ext>
            </a:extLst>
          </p:cNvPr>
          <p:cNvCxnSpPr>
            <a:cxnSpLocks/>
          </p:cNvCxnSpPr>
          <p:nvPr/>
        </p:nvCxnSpPr>
        <p:spPr>
          <a:xfrm>
            <a:off x="7665722" y="5062142"/>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Rechte verbindingslijn 47">
            <a:extLst>
              <a:ext uri="{FF2B5EF4-FFF2-40B4-BE49-F238E27FC236}">
                <a16:creationId xmlns:a16="http://schemas.microsoft.com/office/drawing/2014/main" id="{5A45DD5F-4EA2-895C-9AF3-A5D4F0D0AE7C}"/>
              </a:ext>
            </a:extLst>
          </p:cNvPr>
          <p:cNvCxnSpPr/>
          <p:nvPr/>
        </p:nvCxnSpPr>
        <p:spPr>
          <a:xfrm>
            <a:off x="2154477" y="6154814"/>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Rechte verbindingslijn 48">
            <a:extLst>
              <a:ext uri="{FF2B5EF4-FFF2-40B4-BE49-F238E27FC236}">
                <a16:creationId xmlns:a16="http://schemas.microsoft.com/office/drawing/2014/main" id="{2C334F77-9B9B-B294-BEDE-9F7E317923E1}"/>
              </a:ext>
            </a:extLst>
          </p:cNvPr>
          <p:cNvCxnSpPr>
            <a:cxnSpLocks/>
          </p:cNvCxnSpPr>
          <p:nvPr/>
        </p:nvCxnSpPr>
        <p:spPr>
          <a:xfrm>
            <a:off x="7665722" y="6154814"/>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Rechte verbindingslijn 49">
            <a:extLst>
              <a:ext uri="{FF2B5EF4-FFF2-40B4-BE49-F238E27FC236}">
                <a16:creationId xmlns:a16="http://schemas.microsoft.com/office/drawing/2014/main" id="{5BFB9B04-27A7-7860-10E7-7DEC1EF8F86A}"/>
              </a:ext>
            </a:extLst>
          </p:cNvPr>
          <p:cNvCxnSpPr/>
          <p:nvPr/>
        </p:nvCxnSpPr>
        <p:spPr>
          <a:xfrm>
            <a:off x="2154477" y="7240389"/>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8DB1904F-989C-095A-2A3C-7E3D39D955FD}"/>
              </a:ext>
            </a:extLst>
          </p:cNvPr>
          <p:cNvCxnSpPr>
            <a:cxnSpLocks/>
          </p:cNvCxnSpPr>
          <p:nvPr/>
        </p:nvCxnSpPr>
        <p:spPr>
          <a:xfrm>
            <a:off x="7665722" y="7240389"/>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BD90562D-BDF1-BF22-6D42-8AC176EE304C}"/>
              </a:ext>
            </a:extLst>
          </p:cNvPr>
          <p:cNvCxnSpPr/>
          <p:nvPr/>
        </p:nvCxnSpPr>
        <p:spPr>
          <a:xfrm>
            <a:off x="2154477" y="8322415"/>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AB9EEC4-3519-0EFA-E880-A919CF8F3706}"/>
              </a:ext>
            </a:extLst>
          </p:cNvPr>
          <p:cNvCxnSpPr>
            <a:cxnSpLocks/>
          </p:cNvCxnSpPr>
          <p:nvPr/>
        </p:nvCxnSpPr>
        <p:spPr>
          <a:xfrm>
            <a:off x="7665722" y="8322415"/>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Rechte verbindingslijn 53">
            <a:extLst>
              <a:ext uri="{FF2B5EF4-FFF2-40B4-BE49-F238E27FC236}">
                <a16:creationId xmlns:a16="http://schemas.microsoft.com/office/drawing/2014/main" id="{2F7BEAB5-6313-EA04-AE20-31F104A58079}"/>
              </a:ext>
            </a:extLst>
          </p:cNvPr>
          <p:cNvCxnSpPr>
            <a:cxnSpLocks/>
          </p:cNvCxnSpPr>
          <p:nvPr/>
        </p:nvCxnSpPr>
        <p:spPr>
          <a:xfrm>
            <a:off x="5115301" y="2885950"/>
            <a:ext cx="1323637" cy="1966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Rechte verbindingslijn 59">
            <a:extLst>
              <a:ext uri="{FF2B5EF4-FFF2-40B4-BE49-F238E27FC236}">
                <a16:creationId xmlns:a16="http://schemas.microsoft.com/office/drawing/2014/main" id="{7C927640-9397-A493-96E6-911BDADE7B31}"/>
              </a:ext>
            </a:extLst>
          </p:cNvPr>
          <p:cNvCxnSpPr>
            <a:cxnSpLocks/>
          </p:cNvCxnSpPr>
          <p:nvPr/>
        </p:nvCxnSpPr>
        <p:spPr>
          <a:xfrm>
            <a:off x="5135878" y="3990761"/>
            <a:ext cx="1226785" cy="797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Rechte verbindingslijn 63">
            <a:extLst>
              <a:ext uri="{FF2B5EF4-FFF2-40B4-BE49-F238E27FC236}">
                <a16:creationId xmlns:a16="http://schemas.microsoft.com/office/drawing/2014/main" id="{9386EC04-DA7D-9363-E1E2-25839E57DB6C}"/>
              </a:ext>
            </a:extLst>
          </p:cNvPr>
          <p:cNvCxnSpPr/>
          <p:nvPr/>
        </p:nvCxnSpPr>
        <p:spPr>
          <a:xfrm flipV="1">
            <a:off x="5135880" y="4739640"/>
            <a:ext cx="1303058" cy="322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Rechte verbindingslijn 66">
            <a:extLst>
              <a:ext uri="{FF2B5EF4-FFF2-40B4-BE49-F238E27FC236}">
                <a16:creationId xmlns:a16="http://schemas.microsoft.com/office/drawing/2014/main" id="{803DFEFA-757F-991E-9FD3-A81F99744B89}"/>
              </a:ext>
            </a:extLst>
          </p:cNvPr>
          <p:cNvCxnSpPr/>
          <p:nvPr/>
        </p:nvCxnSpPr>
        <p:spPr>
          <a:xfrm flipV="1">
            <a:off x="5135878" y="4699676"/>
            <a:ext cx="1226785" cy="1462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A96B85ED-1B97-2C1F-566A-4F9A3EA92D5A}"/>
              </a:ext>
            </a:extLst>
          </p:cNvPr>
          <p:cNvCxnSpPr/>
          <p:nvPr/>
        </p:nvCxnSpPr>
        <p:spPr>
          <a:xfrm flipV="1">
            <a:off x="5135876" y="4736033"/>
            <a:ext cx="1247364" cy="251145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0887B23D-2EB7-7254-30BD-903F263712C9}"/>
              </a:ext>
            </a:extLst>
          </p:cNvPr>
          <p:cNvCxnSpPr/>
          <p:nvPr/>
        </p:nvCxnSpPr>
        <p:spPr>
          <a:xfrm flipV="1">
            <a:off x="5135876" y="4736033"/>
            <a:ext cx="1247364" cy="3593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Rechte verbindingslijn 72">
            <a:extLst>
              <a:ext uri="{FF2B5EF4-FFF2-40B4-BE49-F238E27FC236}">
                <a16:creationId xmlns:a16="http://schemas.microsoft.com/office/drawing/2014/main" id="{5F1141DF-12D4-26EE-D16B-4A62FA8D4D81}"/>
              </a:ext>
            </a:extLst>
          </p:cNvPr>
          <p:cNvCxnSpPr/>
          <p:nvPr/>
        </p:nvCxnSpPr>
        <p:spPr>
          <a:xfrm flipH="1">
            <a:off x="6438938" y="2893047"/>
            <a:ext cx="1226782" cy="1842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Rechte verbindingslijn 75">
            <a:extLst>
              <a:ext uri="{FF2B5EF4-FFF2-40B4-BE49-F238E27FC236}">
                <a16:creationId xmlns:a16="http://schemas.microsoft.com/office/drawing/2014/main" id="{1CA01030-8BF8-A724-1635-440AC76B1310}"/>
              </a:ext>
            </a:extLst>
          </p:cNvPr>
          <p:cNvCxnSpPr>
            <a:cxnSpLocks/>
          </p:cNvCxnSpPr>
          <p:nvPr/>
        </p:nvCxnSpPr>
        <p:spPr>
          <a:xfrm flipH="1">
            <a:off x="6456493" y="3976566"/>
            <a:ext cx="1209227" cy="759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Rechte verbindingslijn 77">
            <a:extLst>
              <a:ext uri="{FF2B5EF4-FFF2-40B4-BE49-F238E27FC236}">
                <a16:creationId xmlns:a16="http://schemas.microsoft.com/office/drawing/2014/main" id="{387247B4-E4BA-F49B-2ECB-01CF01919560}"/>
              </a:ext>
            </a:extLst>
          </p:cNvPr>
          <p:cNvCxnSpPr/>
          <p:nvPr/>
        </p:nvCxnSpPr>
        <p:spPr>
          <a:xfrm flipH="1" flipV="1">
            <a:off x="6456493" y="4772390"/>
            <a:ext cx="1209227" cy="289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Rechte verbindingslijn 81">
            <a:extLst>
              <a:ext uri="{FF2B5EF4-FFF2-40B4-BE49-F238E27FC236}">
                <a16:creationId xmlns:a16="http://schemas.microsoft.com/office/drawing/2014/main" id="{617C70C2-1182-7940-DB47-910712E5FBD1}"/>
              </a:ext>
            </a:extLst>
          </p:cNvPr>
          <p:cNvCxnSpPr/>
          <p:nvPr/>
        </p:nvCxnSpPr>
        <p:spPr>
          <a:xfrm flipH="1" flipV="1">
            <a:off x="6400798" y="4736033"/>
            <a:ext cx="1264922" cy="1418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Rechte verbindingslijn 83">
            <a:extLst>
              <a:ext uri="{FF2B5EF4-FFF2-40B4-BE49-F238E27FC236}">
                <a16:creationId xmlns:a16="http://schemas.microsoft.com/office/drawing/2014/main" id="{F555B621-92B3-14D7-C163-E9F1BA0F646C}"/>
              </a:ext>
            </a:extLst>
          </p:cNvPr>
          <p:cNvCxnSpPr/>
          <p:nvPr/>
        </p:nvCxnSpPr>
        <p:spPr>
          <a:xfrm flipH="1" flipV="1">
            <a:off x="6380221" y="4743129"/>
            <a:ext cx="1285499" cy="2493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Rechte verbindingslijn 85">
            <a:extLst>
              <a:ext uri="{FF2B5EF4-FFF2-40B4-BE49-F238E27FC236}">
                <a16:creationId xmlns:a16="http://schemas.microsoft.com/office/drawing/2014/main" id="{7454C356-423B-5818-EB5A-0BF41CFD67B8}"/>
              </a:ext>
            </a:extLst>
          </p:cNvPr>
          <p:cNvCxnSpPr/>
          <p:nvPr/>
        </p:nvCxnSpPr>
        <p:spPr>
          <a:xfrm flipH="1" flipV="1">
            <a:off x="6400798" y="4786583"/>
            <a:ext cx="1264922" cy="3532281"/>
          </a:xfrm>
          <a:prstGeom prst="line">
            <a:avLst/>
          </a:prstGeom>
        </p:spPr>
        <p:style>
          <a:lnRef idx="1">
            <a:schemeClr val="accent1"/>
          </a:lnRef>
          <a:fillRef idx="0">
            <a:schemeClr val="accent1"/>
          </a:fillRef>
          <a:effectRef idx="0">
            <a:schemeClr val="accent1"/>
          </a:effectRef>
          <a:fontRef idx="minor">
            <a:schemeClr val="tx1"/>
          </a:fontRef>
        </p:style>
      </p:cxnSp>
      <p:sp>
        <p:nvSpPr>
          <p:cNvPr id="5" name="Ster: 12 punten 4">
            <a:extLst>
              <a:ext uri="{FF2B5EF4-FFF2-40B4-BE49-F238E27FC236}">
                <a16:creationId xmlns:a16="http://schemas.microsoft.com/office/drawing/2014/main" id="{A89B40EB-523F-38CC-B4BA-4A4E2DA712AC}"/>
              </a:ext>
            </a:extLst>
          </p:cNvPr>
          <p:cNvSpPr/>
          <p:nvPr/>
        </p:nvSpPr>
        <p:spPr>
          <a:xfrm>
            <a:off x="5498931" y="4027118"/>
            <a:ext cx="1803738" cy="1546964"/>
          </a:xfrm>
          <a:prstGeom prst="star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dirty="0"/>
              <a:t>Top Event</a:t>
            </a:r>
          </a:p>
          <a:p>
            <a:pPr algn="ctr"/>
            <a:r>
              <a:rPr lang="nl-NL" sz="1200" dirty="0"/>
              <a:t>Verlies van beschikbaarheid</a:t>
            </a:r>
          </a:p>
        </p:txBody>
      </p:sp>
      <p:sp>
        <p:nvSpPr>
          <p:cNvPr id="2" name="Tekstvak 1">
            <a:extLst>
              <a:ext uri="{FF2B5EF4-FFF2-40B4-BE49-F238E27FC236}">
                <a16:creationId xmlns:a16="http://schemas.microsoft.com/office/drawing/2014/main" id="{E0CD0E86-CA72-06C9-2BEB-E37376E896CC}"/>
              </a:ext>
            </a:extLst>
          </p:cNvPr>
          <p:cNvSpPr txBox="1"/>
          <p:nvPr/>
        </p:nvSpPr>
        <p:spPr>
          <a:xfrm>
            <a:off x="237577" y="815820"/>
            <a:ext cx="2255520" cy="369332"/>
          </a:xfrm>
          <a:prstGeom prst="rect">
            <a:avLst/>
          </a:prstGeom>
          <a:noFill/>
        </p:spPr>
        <p:txBody>
          <a:bodyPr wrap="square">
            <a:spAutoFit/>
          </a:bodyPr>
          <a:lstStyle/>
          <a:p>
            <a:pPr algn="ctr"/>
            <a:r>
              <a:rPr lang="nl-NL" dirty="0"/>
              <a:t>Bedreigingen</a:t>
            </a:r>
          </a:p>
        </p:txBody>
      </p:sp>
      <p:sp>
        <p:nvSpPr>
          <p:cNvPr id="3" name="Tekstvak 2">
            <a:extLst>
              <a:ext uri="{FF2B5EF4-FFF2-40B4-BE49-F238E27FC236}">
                <a16:creationId xmlns:a16="http://schemas.microsoft.com/office/drawing/2014/main" id="{C0B9834C-35F8-C4C7-4F41-B037CF3482D1}"/>
              </a:ext>
            </a:extLst>
          </p:cNvPr>
          <p:cNvSpPr txBox="1"/>
          <p:nvPr/>
        </p:nvSpPr>
        <p:spPr>
          <a:xfrm>
            <a:off x="2535263" y="815820"/>
            <a:ext cx="2963668" cy="369332"/>
          </a:xfrm>
          <a:prstGeom prst="rect">
            <a:avLst/>
          </a:prstGeom>
          <a:noFill/>
        </p:spPr>
        <p:txBody>
          <a:bodyPr wrap="square">
            <a:spAutoFit/>
          </a:bodyPr>
          <a:lstStyle/>
          <a:p>
            <a:pPr algn="ctr"/>
            <a:r>
              <a:rPr lang="nl-NL" dirty="0"/>
              <a:t>Preventieve maatregelen</a:t>
            </a:r>
          </a:p>
        </p:txBody>
      </p:sp>
      <p:sp>
        <p:nvSpPr>
          <p:cNvPr id="6" name="Tekstvak 5">
            <a:extLst>
              <a:ext uri="{FF2B5EF4-FFF2-40B4-BE49-F238E27FC236}">
                <a16:creationId xmlns:a16="http://schemas.microsoft.com/office/drawing/2014/main" id="{D4288B03-35EB-AA58-4DD0-6838C8434CA1}"/>
              </a:ext>
            </a:extLst>
          </p:cNvPr>
          <p:cNvSpPr txBox="1"/>
          <p:nvPr/>
        </p:nvSpPr>
        <p:spPr>
          <a:xfrm>
            <a:off x="10387417" y="815820"/>
            <a:ext cx="2255520" cy="369332"/>
          </a:xfrm>
          <a:prstGeom prst="rect">
            <a:avLst/>
          </a:prstGeom>
          <a:noFill/>
        </p:spPr>
        <p:txBody>
          <a:bodyPr wrap="square">
            <a:spAutoFit/>
          </a:bodyPr>
          <a:lstStyle/>
          <a:p>
            <a:pPr algn="ctr"/>
            <a:r>
              <a:rPr lang="nl-NL" dirty="0"/>
              <a:t>Consequenties</a:t>
            </a:r>
          </a:p>
        </p:txBody>
      </p:sp>
      <p:sp>
        <p:nvSpPr>
          <p:cNvPr id="9" name="Tekstvak 8">
            <a:extLst>
              <a:ext uri="{FF2B5EF4-FFF2-40B4-BE49-F238E27FC236}">
                <a16:creationId xmlns:a16="http://schemas.microsoft.com/office/drawing/2014/main" id="{0749591C-19A6-0CB1-F00C-49C0F6F17938}"/>
              </a:ext>
            </a:extLst>
          </p:cNvPr>
          <p:cNvSpPr txBox="1"/>
          <p:nvPr/>
        </p:nvSpPr>
        <p:spPr>
          <a:xfrm>
            <a:off x="7423749" y="815820"/>
            <a:ext cx="2963668" cy="369332"/>
          </a:xfrm>
          <a:prstGeom prst="rect">
            <a:avLst/>
          </a:prstGeom>
          <a:noFill/>
        </p:spPr>
        <p:txBody>
          <a:bodyPr wrap="square">
            <a:spAutoFit/>
          </a:bodyPr>
          <a:lstStyle/>
          <a:p>
            <a:pPr algn="ctr"/>
            <a:r>
              <a:rPr lang="nl-NL" dirty="0"/>
              <a:t>Correctieve maatregelen</a:t>
            </a:r>
          </a:p>
        </p:txBody>
      </p:sp>
    </p:spTree>
    <p:extLst>
      <p:ext uri="{BB962C8B-B14F-4D97-AF65-F5344CB8AC3E}">
        <p14:creationId xmlns:p14="http://schemas.microsoft.com/office/powerpoint/2010/main" val="4080956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hoek 3">
            <a:extLst>
              <a:ext uri="{FF2B5EF4-FFF2-40B4-BE49-F238E27FC236}">
                <a16:creationId xmlns:a16="http://schemas.microsoft.com/office/drawing/2014/main" id="{CC5318B9-836D-0058-460B-D018D7B80608}"/>
              </a:ext>
            </a:extLst>
          </p:cNvPr>
          <p:cNvSpPr/>
          <p:nvPr/>
        </p:nvSpPr>
        <p:spPr>
          <a:xfrm>
            <a:off x="5667076" y="2156611"/>
            <a:ext cx="1467448" cy="7222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dirty="0"/>
              <a:t>Hazard</a:t>
            </a:r>
          </a:p>
        </p:txBody>
      </p:sp>
      <p:cxnSp>
        <p:nvCxnSpPr>
          <p:cNvPr id="7" name="Rechte verbindingslijn 6">
            <a:extLst>
              <a:ext uri="{FF2B5EF4-FFF2-40B4-BE49-F238E27FC236}">
                <a16:creationId xmlns:a16="http://schemas.microsoft.com/office/drawing/2014/main" id="{641E400A-85B2-1AF6-79DB-8B4F71E4D870}"/>
              </a:ext>
            </a:extLst>
          </p:cNvPr>
          <p:cNvCxnSpPr>
            <a:cxnSpLocks/>
            <a:stCxn id="4" idx="2"/>
            <a:endCxn id="5" idx="10"/>
          </p:cNvCxnSpPr>
          <p:nvPr/>
        </p:nvCxnSpPr>
        <p:spPr>
          <a:xfrm>
            <a:off x="6400800" y="2878853"/>
            <a:ext cx="0" cy="1148265"/>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8" name="Rechthoek 7">
            <a:extLst>
              <a:ext uri="{FF2B5EF4-FFF2-40B4-BE49-F238E27FC236}">
                <a16:creationId xmlns:a16="http://schemas.microsoft.com/office/drawing/2014/main" id="{45768A74-F0F6-E04A-7A0A-D04FD9451724}"/>
              </a:ext>
            </a:extLst>
          </p:cNvPr>
          <p:cNvSpPr/>
          <p:nvPr/>
        </p:nvSpPr>
        <p:spPr>
          <a:xfrm>
            <a:off x="568540" y="132776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dirty="0"/>
              <a:t>Bedreiging</a:t>
            </a:r>
          </a:p>
        </p:txBody>
      </p:sp>
      <p:sp>
        <p:nvSpPr>
          <p:cNvPr id="11" name="Tekstvak 10">
            <a:extLst>
              <a:ext uri="{FF2B5EF4-FFF2-40B4-BE49-F238E27FC236}">
                <a16:creationId xmlns:a16="http://schemas.microsoft.com/office/drawing/2014/main" id="{27EDF29A-F533-F72E-8F4B-378D29E41064}"/>
              </a:ext>
            </a:extLst>
          </p:cNvPr>
          <p:cNvSpPr txBox="1"/>
          <p:nvPr/>
        </p:nvSpPr>
        <p:spPr>
          <a:xfrm>
            <a:off x="237577" y="815820"/>
            <a:ext cx="2255520" cy="369332"/>
          </a:xfrm>
          <a:prstGeom prst="rect">
            <a:avLst/>
          </a:prstGeom>
          <a:noFill/>
        </p:spPr>
        <p:txBody>
          <a:bodyPr wrap="square">
            <a:spAutoFit/>
          </a:bodyPr>
          <a:lstStyle/>
          <a:p>
            <a:pPr algn="ctr"/>
            <a:r>
              <a:rPr lang="nl-NL" dirty="0"/>
              <a:t>Bedreigingen</a:t>
            </a:r>
          </a:p>
        </p:txBody>
      </p:sp>
      <p:sp>
        <p:nvSpPr>
          <p:cNvPr id="12" name="Tekstvak 11">
            <a:extLst>
              <a:ext uri="{FF2B5EF4-FFF2-40B4-BE49-F238E27FC236}">
                <a16:creationId xmlns:a16="http://schemas.microsoft.com/office/drawing/2014/main" id="{53E84FEE-6C76-EE30-7CE1-A07BF04DCCD9}"/>
              </a:ext>
            </a:extLst>
          </p:cNvPr>
          <p:cNvSpPr txBox="1"/>
          <p:nvPr/>
        </p:nvSpPr>
        <p:spPr>
          <a:xfrm>
            <a:off x="2535263" y="815820"/>
            <a:ext cx="2963668" cy="369332"/>
          </a:xfrm>
          <a:prstGeom prst="rect">
            <a:avLst/>
          </a:prstGeom>
          <a:noFill/>
        </p:spPr>
        <p:txBody>
          <a:bodyPr wrap="square">
            <a:spAutoFit/>
          </a:bodyPr>
          <a:lstStyle/>
          <a:p>
            <a:pPr algn="ctr"/>
            <a:r>
              <a:rPr lang="nl-NL" dirty="0"/>
              <a:t>Preventieve maatregelen</a:t>
            </a:r>
          </a:p>
        </p:txBody>
      </p:sp>
      <p:sp>
        <p:nvSpPr>
          <p:cNvPr id="13" name="Rechthoek 12">
            <a:extLst>
              <a:ext uri="{FF2B5EF4-FFF2-40B4-BE49-F238E27FC236}">
                <a16:creationId xmlns:a16="http://schemas.microsoft.com/office/drawing/2014/main" id="{3C065792-9293-F819-4F90-36EA66D9D889}"/>
              </a:ext>
            </a:extLst>
          </p:cNvPr>
          <p:cNvSpPr/>
          <p:nvPr/>
        </p:nvSpPr>
        <p:spPr>
          <a:xfrm>
            <a:off x="10726037" y="132776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dirty="0"/>
              <a:t>Consequentie</a:t>
            </a:r>
          </a:p>
        </p:txBody>
      </p:sp>
      <p:sp>
        <p:nvSpPr>
          <p:cNvPr id="14" name="Tekstvak 13">
            <a:extLst>
              <a:ext uri="{FF2B5EF4-FFF2-40B4-BE49-F238E27FC236}">
                <a16:creationId xmlns:a16="http://schemas.microsoft.com/office/drawing/2014/main" id="{0BB44810-8CA3-377E-5C8E-58A6771DF960}"/>
              </a:ext>
            </a:extLst>
          </p:cNvPr>
          <p:cNvSpPr txBox="1"/>
          <p:nvPr/>
        </p:nvSpPr>
        <p:spPr>
          <a:xfrm>
            <a:off x="10387417" y="815820"/>
            <a:ext cx="2255520" cy="369332"/>
          </a:xfrm>
          <a:prstGeom prst="rect">
            <a:avLst/>
          </a:prstGeom>
          <a:noFill/>
        </p:spPr>
        <p:txBody>
          <a:bodyPr wrap="square">
            <a:spAutoFit/>
          </a:bodyPr>
          <a:lstStyle/>
          <a:p>
            <a:pPr algn="ctr"/>
            <a:r>
              <a:rPr lang="nl-NL" dirty="0"/>
              <a:t>Consequenties</a:t>
            </a:r>
          </a:p>
        </p:txBody>
      </p:sp>
      <p:sp>
        <p:nvSpPr>
          <p:cNvPr id="15" name="Tekstvak 14">
            <a:extLst>
              <a:ext uri="{FF2B5EF4-FFF2-40B4-BE49-F238E27FC236}">
                <a16:creationId xmlns:a16="http://schemas.microsoft.com/office/drawing/2014/main" id="{5DA22DA4-388C-233D-BF87-518D031652CF}"/>
              </a:ext>
            </a:extLst>
          </p:cNvPr>
          <p:cNvSpPr txBox="1"/>
          <p:nvPr/>
        </p:nvSpPr>
        <p:spPr>
          <a:xfrm>
            <a:off x="7423749" y="815820"/>
            <a:ext cx="2963668" cy="369332"/>
          </a:xfrm>
          <a:prstGeom prst="rect">
            <a:avLst/>
          </a:prstGeom>
          <a:noFill/>
        </p:spPr>
        <p:txBody>
          <a:bodyPr wrap="square">
            <a:spAutoFit/>
          </a:bodyPr>
          <a:lstStyle/>
          <a:p>
            <a:pPr algn="ctr"/>
            <a:r>
              <a:rPr lang="nl-NL" dirty="0"/>
              <a:t>Correctieve maatregelen</a:t>
            </a:r>
          </a:p>
        </p:txBody>
      </p:sp>
      <p:sp>
        <p:nvSpPr>
          <p:cNvPr id="18" name="Rechthoek 17">
            <a:extLst>
              <a:ext uri="{FF2B5EF4-FFF2-40B4-BE49-F238E27FC236}">
                <a16:creationId xmlns:a16="http://schemas.microsoft.com/office/drawing/2014/main" id="{0FC9159E-6817-2E6F-C493-FCC40DCE6B65}"/>
              </a:ext>
            </a:extLst>
          </p:cNvPr>
          <p:cNvSpPr/>
          <p:nvPr/>
        </p:nvSpPr>
        <p:spPr>
          <a:xfrm>
            <a:off x="576197" y="2420432"/>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Phishing/social engineering</a:t>
            </a:r>
            <a:endParaRPr lang="nl-NL" sz="1200" dirty="0"/>
          </a:p>
        </p:txBody>
      </p:sp>
      <p:sp>
        <p:nvSpPr>
          <p:cNvPr id="19" name="Rechthoek 18">
            <a:extLst>
              <a:ext uri="{FF2B5EF4-FFF2-40B4-BE49-F238E27FC236}">
                <a16:creationId xmlns:a16="http://schemas.microsoft.com/office/drawing/2014/main" id="{78690AE5-AD53-136D-77DC-54143458D6F1}"/>
              </a:ext>
            </a:extLst>
          </p:cNvPr>
          <p:cNvSpPr/>
          <p:nvPr/>
        </p:nvSpPr>
        <p:spPr>
          <a:xfrm>
            <a:off x="10726037" y="2420432"/>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AVG </a:t>
            </a:r>
            <a:r>
              <a:rPr lang="en-US" sz="1200" dirty="0" err="1"/>
              <a:t>boetes</a:t>
            </a:r>
            <a:endParaRPr lang="nl-NL" sz="1200" dirty="0"/>
          </a:p>
        </p:txBody>
      </p:sp>
      <p:sp>
        <p:nvSpPr>
          <p:cNvPr id="21" name="Rechthoek 20">
            <a:extLst>
              <a:ext uri="{FF2B5EF4-FFF2-40B4-BE49-F238E27FC236}">
                <a16:creationId xmlns:a16="http://schemas.microsoft.com/office/drawing/2014/main" id="{7DAAEE54-F243-83E5-E4B8-75B99ED9E9CF}"/>
              </a:ext>
            </a:extLst>
          </p:cNvPr>
          <p:cNvSpPr/>
          <p:nvPr/>
        </p:nvSpPr>
        <p:spPr>
          <a:xfrm>
            <a:off x="576197" y="3513104"/>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Zwakke</a:t>
            </a:r>
            <a:r>
              <a:rPr lang="en-US" sz="1200" dirty="0"/>
              <a:t> </a:t>
            </a:r>
            <a:r>
              <a:rPr lang="en-US" sz="1200" dirty="0" err="1"/>
              <a:t>wachtwoorden</a:t>
            </a:r>
            <a:endParaRPr lang="nl-NL" sz="1200" dirty="0"/>
          </a:p>
        </p:txBody>
      </p:sp>
      <p:sp>
        <p:nvSpPr>
          <p:cNvPr id="22" name="Rechthoek 21">
            <a:extLst>
              <a:ext uri="{FF2B5EF4-FFF2-40B4-BE49-F238E27FC236}">
                <a16:creationId xmlns:a16="http://schemas.microsoft.com/office/drawing/2014/main" id="{330F8F20-A99F-3480-6156-48C9A6AE62AD}"/>
              </a:ext>
            </a:extLst>
          </p:cNvPr>
          <p:cNvSpPr/>
          <p:nvPr/>
        </p:nvSpPr>
        <p:spPr>
          <a:xfrm>
            <a:off x="10726037" y="3513104"/>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Reputatieschade</a:t>
            </a:r>
            <a:r>
              <a:rPr lang="en-US" sz="1200" dirty="0"/>
              <a:t> </a:t>
            </a:r>
            <a:r>
              <a:rPr lang="en-US" sz="1200" dirty="0" err="1"/>
              <a:t>praktijk</a:t>
            </a:r>
            <a:endParaRPr lang="nl-NL" sz="1200" dirty="0"/>
          </a:p>
        </p:txBody>
      </p:sp>
      <p:sp>
        <p:nvSpPr>
          <p:cNvPr id="24" name="Rechthoek 23">
            <a:extLst>
              <a:ext uri="{FF2B5EF4-FFF2-40B4-BE49-F238E27FC236}">
                <a16:creationId xmlns:a16="http://schemas.microsoft.com/office/drawing/2014/main" id="{B18EF456-1B1A-0A57-F1BF-021C9E3A2C7A}"/>
              </a:ext>
            </a:extLst>
          </p:cNvPr>
          <p:cNvSpPr/>
          <p:nvPr/>
        </p:nvSpPr>
        <p:spPr>
          <a:xfrm>
            <a:off x="576197" y="4605776"/>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Onbeveiligde</a:t>
            </a:r>
            <a:r>
              <a:rPr lang="en-US" sz="1200" dirty="0"/>
              <a:t> </a:t>
            </a:r>
            <a:r>
              <a:rPr lang="en-US" sz="1200" dirty="0" err="1"/>
              <a:t>netwerken</a:t>
            </a:r>
            <a:r>
              <a:rPr lang="en-US" sz="1200" dirty="0"/>
              <a:t> (</a:t>
            </a:r>
            <a:r>
              <a:rPr lang="en-US" sz="1200" dirty="0" err="1"/>
              <a:t>wifi</a:t>
            </a:r>
            <a:r>
              <a:rPr lang="en-US" sz="1200" dirty="0"/>
              <a:t>)</a:t>
            </a:r>
            <a:endParaRPr lang="nl-NL" sz="1200" dirty="0"/>
          </a:p>
        </p:txBody>
      </p:sp>
      <p:sp>
        <p:nvSpPr>
          <p:cNvPr id="25" name="Rechthoek 24">
            <a:extLst>
              <a:ext uri="{FF2B5EF4-FFF2-40B4-BE49-F238E27FC236}">
                <a16:creationId xmlns:a16="http://schemas.microsoft.com/office/drawing/2014/main" id="{7EE0E25B-D5A3-890D-4FB0-DD3E11C122AD}"/>
              </a:ext>
            </a:extLst>
          </p:cNvPr>
          <p:cNvSpPr/>
          <p:nvPr/>
        </p:nvSpPr>
        <p:spPr>
          <a:xfrm>
            <a:off x="10726037" y="4605776"/>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Identiteitsfraude</a:t>
            </a:r>
            <a:endParaRPr lang="nl-NL" sz="1200" dirty="0"/>
          </a:p>
        </p:txBody>
      </p:sp>
      <p:sp>
        <p:nvSpPr>
          <p:cNvPr id="26" name="Rechthoek 25">
            <a:extLst>
              <a:ext uri="{FF2B5EF4-FFF2-40B4-BE49-F238E27FC236}">
                <a16:creationId xmlns:a16="http://schemas.microsoft.com/office/drawing/2014/main" id="{37546589-B616-9BC0-D435-698EF584CDA2}"/>
              </a:ext>
            </a:extLst>
          </p:cNvPr>
          <p:cNvSpPr/>
          <p:nvPr/>
        </p:nvSpPr>
        <p:spPr>
          <a:xfrm>
            <a:off x="576197" y="5698448"/>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Insider threats (</a:t>
            </a:r>
            <a:r>
              <a:rPr lang="en-US" sz="1200" dirty="0" err="1"/>
              <a:t>nieuwschierigheid</a:t>
            </a:r>
            <a:r>
              <a:rPr lang="en-US" sz="1200" dirty="0"/>
              <a:t>)</a:t>
            </a:r>
            <a:endParaRPr lang="nl-NL" sz="1200" dirty="0"/>
          </a:p>
        </p:txBody>
      </p:sp>
      <p:sp>
        <p:nvSpPr>
          <p:cNvPr id="27" name="Rechthoek 26">
            <a:extLst>
              <a:ext uri="{FF2B5EF4-FFF2-40B4-BE49-F238E27FC236}">
                <a16:creationId xmlns:a16="http://schemas.microsoft.com/office/drawing/2014/main" id="{68908524-CBD2-F8DF-3FF2-52DBDAF07F16}"/>
              </a:ext>
            </a:extLst>
          </p:cNvPr>
          <p:cNvSpPr/>
          <p:nvPr/>
        </p:nvSpPr>
        <p:spPr>
          <a:xfrm>
            <a:off x="10726037" y="5698448"/>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Verlies</a:t>
            </a:r>
            <a:r>
              <a:rPr lang="en-US" sz="1200" dirty="0"/>
              <a:t> </a:t>
            </a:r>
            <a:r>
              <a:rPr lang="en-US" sz="1200" dirty="0" err="1"/>
              <a:t>patientbestand</a:t>
            </a:r>
            <a:endParaRPr lang="nl-NL" sz="1200" dirty="0"/>
          </a:p>
        </p:txBody>
      </p:sp>
      <p:sp>
        <p:nvSpPr>
          <p:cNvPr id="28" name="Rechthoek 27">
            <a:extLst>
              <a:ext uri="{FF2B5EF4-FFF2-40B4-BE49-F238E27FC236}">
                <a16:creationId xmlns:a16="http://schemas.microsoft.com/office/drawing/2014/main" id="{2BF0E3B8-980E-4852-6C21-16B24725C0EA}"/>
              </a:ext>
            </a:extLst>
          </p:cNvPr>
          <p:cNvSpPr/>
          <p:nvPr/>
        </p:nvSpPr>
        <p:spPr>
          <a:xfrm>
            <a:off x="576197" y="679112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err="1"/>
              <a:t>Datalek</a:t>
            </a:r>
            <a:r>
              <a:rPr lang="en-US" sz="1200" dirty="0"/>
              <a:t> door </a:t>
            </a:r>
            <a:r>
              <a:rPr lang="en-US" sz="1200" dirty="0" err="1"/>
              <a:t>verkeerde</a:t>
            </a:r>
            <a:r>
              <a:rPr lang="en-US" sz="1200" dirty="0"/>
              <a:t> </a:t>
            </a:r>
            <a:r>
              <a:rPr lang="en-US" sz="1200" dirty="0" err="1"/>
              <a:t>ontvanger</a:t>
            </a:r>
            <a:endParaRPr lang="nl-NL" sz="1200" dirty="0"/>
          </a:p>
        </p:txBody>
      </p:sp>
      <p:sp>
        <p:nvSpPr>
          <p:cNvPr id="29" name="Rechthoek 28">
            <a:extLst>
              <a:ext uri="{FF2B5EF4-FFF2-40B4-BE49-F238E27FC236}">
                <a16:creationId xmlns:a16="http://schemas.microsoft.com/office/drawing/2014/main" id="{0C0B1102-D2C8-A971-80F2-667386CAF260}"/>
              </a:ext>
            </a:extLst>
          </p:cNvPr>
          <p:cNvSpPr/>
          <p:nvPr/>
        </p:nvSpPr>
        <p:spPr>
          <a:xfrm>
            <a:off x="10726037" y="679112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sp>
        <p:nvSpPr>
          <p:cNvPr id="30" name="Rechthoek 29">
            <a:extLst>
              <a:ext uri="{FF2B5EF4-FFF2-40B4-BE49-F238E27FC236}">
                <a16:creationId xmlns:a16="http://schemas.microsoft.com/office/drawing/2014/main" id="{252FEF4B-7C6E-3846-82FD-1E9D9C017927}"/>
              </a:ext>
            </a:extLst>
          </p:cNvPr>
          <p:cNvSpPr/>
          <p:nvPr/>
        </p:nvSpPr>
        <p:spPr>
          <a:xfrm>
            <a:off x="576197" y="7883790"/>
            <a:ext cx="1578280" cy="926926"/>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sp>
        <p:nvSpPr>
          <p:cNvPr id="31" name="Rechthoek 30">
            <a:extLst>
              <a:ext uri="{FF2B5EF4-FFF2-40B4-BE49-F238E27FC236}">
                <a16:creationId xmlns:a16="http://schemas.microsoft.com/office/drawing/2014/main" id="{D4F7ECBE-4D8E-AFE7-F063-9D4C7177BEA1}"/>
              </a:ext>
            </a:extLst>
          </p:cNvPr>
          <p:cNvSpPr/>
          <p:nvPr/>
        </p:nvSpPr>
        <p:spPr>
          <a:xfrm>
            <a:off x="10726037" y="7883790"/>
            <a:ext cx="1578280" cy="926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200"/>
          </a:p>
        </p:txBody>
      </p:sp>
      <p:cxnSp>
        <p:nvCxnSpPr>
          <p:cNvPr id="33" name="Rechte verbindingslijn 32">
            <a:extLst>
              <a:ext uri="{FF2B5EF4-FFF2-40B4-BE49-F238E27FC236}">
                <a16:creationId xmlns:a16="http://schemas.microsoft.com/office/drawing/2014/main" id="{81B384F8-2105-EDA1-001E-317331D47302}"/>
              </a:ext>
            </a:extLst>
          </p:cNvPr>
          <p:cNvCxnSpPr>
            <a:stCxn id="8" idx="3"/>
          </p:cNvCxnSpPr>
          <p:nvPr/>
        </p:nvCxnSpPr>
        <p:spPr>
          <a:xfrm>
            <a:off x="2146820" y="179122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6AC71937-9C51-DB92-B6D7-565DC80656E7}"/>
              </a:ext>
            </a:extLst>
          </p:cNvPr>
          <p:cNvCxnSpPr>
            <a:cxnSpLocks/>
          </p:cNvCxnSpPr>
          <p:nvPr/>
        </p:nvCxnSpPr>
        <p:spPr>
          <a:xfrm>
            <a:off x="5115298" y="1798320"/>
            <a:ext cx="1285500" cy="2901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4407EE16-2BE0-0C55-D20B-74C918B0573B}"/>
              </a:ext>
            </a:extLst>
          </p:cNvPr>
          <p:cNvCxnSpPr/>
          <p:nvPr/>
        </p:nvCxnSpPr>
        <p:spPr>
          <a:xfrm>
            <a:off x="2154477" y="2878853"/>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8CAB54FC-C8B1-AC29-A6C5-B0882B61A894}"/>
              </a:ext>
            </a:extLst>
          </p:cNvPr>
          <p:cNvCxnSpPr/>
          <p:nvPr/>
        </p:nvCxnSpPr>
        <p:spPr>
          <a:xfrm>
            <a:off x="2154477" y="3976567"/>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8B654201-20AF-6286-046E-1E40FA5D8C4D}"/>
              </a:ext>
            </a:extLst>
          </p:cNvPr>
          <p:cNvCxnSpPr/>
          <p:nvPr/>
        </p:nvCxnSpPr>
        <p:spPr>
          <a:xfrm>
            <a:off x="2154477" y="5062142"/>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Rechte verbindingslijn 38">
            <a:extLst>
              <a:ext uri="{FF2B5EF4-FFF2-40B4-BE49-F238E27FC236}">
                <a16:creationId xmlns:a16="http://schemas.microsoft.com/office/drawing/2014/main" id="{4DC61700-536C-7D6B-9714-AB06CC3F9DD0}"/>
              </a:ext>
            </a:extLst>
          </p:cNvPr>
          <p:cNvCxnSpPr>
            <a:cxnSpLocks/>
            <a:endCxn id="13" idx="1"/>
          </p:cNvCxnSpPr>
          <p:nvPr/>
        </p:nvCxnSpPr>
        <p:spPr>
          <a:xfrm>
            <a:off x="7665722" y="1791223"/>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D4E83FE4-E24C-29CA-7225-1001B9871039}"/>
              </a:ext>
            </a:extLst>
          </p:cNvPr>
          <p:cNvCxnSpPr>
            <a:cxnSpLocks/>
          </p:cNvCxnSpPr>
          <p:nvPr/>
        </p:nvCxnSpPr>
        <p:spPr>
          <a:xfrm flipH="1">
            <a:off x="6438935" y="1798320"/>
            <a:ext cx="1226785" cy="2941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E4BD0E54-F7C0-90E7-CD8D-CC071516653B}"/>
              </a:ext>
            </a:extLst>
          </p:cNvPr>
          <p:cNvCxnSpPr>
            <a:cxnSpLocks/>
          </p:cNvCxnSpPr>
          <p:nvPr/>
        </p:nvCxnSpPr>
        <p:spPr>
          <a:xfrm>
            <a:off x="7665722" y="2885950"/>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0C508631-E18E-F517-C327-3F0E1986CC22}"/>
              </a:ext>
            </a:extLst>
          </p:cNvPr>
          <p:cNvCxnSpPr>
            <a:cxnSpLocks/>
          </p:cNvCxnSpPr>
          <p:nvPr/>
        </p:nvCxnSpPr>
        <p:spPr>
          <a:xfrm>
            <a:off x="7665722" y="3976567"/>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Rechte verbindingslijn 46">
            <a:extLst>
              <a:ext uri="{FF2B5EF4-FFF2-40B4-BE49-F238E27FC236}">
                <a16:creationId xmlns:a16="http://schemas.microsoft.com/office/drawing/2014/main" id="{179DD9C0-F26A-2E63-D40F-A6E2F276F77A}"/>
              </a:ext>
            </a:extLst>
          </p:cNvPr>
          <p:cNvCxnSpPr>
            <a:cxnSpLocks/>
          </p:cNvCxnSpPr>
          <p:nvPr/>
        </p:nvCxnSpPr>
        <p:spPr>
          <a:xfrm>
            <a:off x="7665722" y="5062142"/>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Rechte verbindingslijn 47">
            <a:extLst>
              <a:ext uri="{FF2B5EF4-FFF2-40B4-BE49-F238E27FC236}">
                <a16:creationId xmlns:a16="http://schemas.microsoft.com/office/drawing/2014/main" id="{5A45DD5F-4EA2-895C-9AF3-A5D4F0D0AE7C}"/>
              </a:ext>
            </a:extLst>
          </p:cNvPr>
          <p:cNvCxnSpPr/>
          <p:nvPr/>
        </p:nvCxnSpPr>
        <p:spPr>
          <a:xfrm>
            <a:off x="2154477" y="6154814"/>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Rechte verbindingslijn 48">
            <a:extLst>
              <a:ext uri="{FF2B5EF4-FFF2-40B4-BE49-F238E27FC236}">
                <a16:creationId xmlns:a16="http://schemas.microsoft.com/office/drawing/2014/main" id="{2C334F77-9B9B-B294-BEDE-9F7E317923E1}"/>
              </a:ext>
            </a:extLst>
          </p:cNvPr>
          <p:cNvCxnSpPr>
            <a:cxnSpLocks/>
          </p:cNvCxnSpPr>
          <p:nvPr/>
        </p:nvCxnSpPr>
        <p:spPr>
          <a:xfrm>
            <a:off x="7665722" y="6154814"/>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Rechte verbindingslijn 49">
            <a:extLst>
              <a:ext uri="{FF2B5EF4-FFF2-40B4-BE49-F238E27FC236}">
                <a16:creationId xmlns:a16="http://schemas.microsoft.com/office/drawing/2014/main" id="{5BFB9B04-27A7-7860-10E7-7DEC1EF8F86A}"/>
              </a:ext>
            </a:extLst>
          </p:cNvPr>
          <p:cNvCxnSpPr/>
          <p:nvPr/>
        </p:nvCxnSpPr>
        <p:spPr>
          <a:xfrm>
            <a:off x="2154477" y="7240389"/>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8DB1904F-989C-095A-2A3C-7E3D39D955FD}"/>
              </a:ext>
            </a:extLst>
          </p:cNvPr>
          <p:cNvCxnSpPr>
            <a:cxnSpLocks/>
          </p:cNvCxnSpPr>
          <p:nvPr/>
        </p:nvCxnSpPr>
        <p:spPr>
          <a:xfrm>
            <a:off x="7665722" y="7240389"/>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BD90562D-BDF1-BF22-6D42-8AC176EE304C}"/>
              </a:ext>
            </a:extLst>
          </p:cNvPr>
          <p:cNvCxnSpPr/>
          <p:nvPr/>
        </p:nvCxnSpPr>
        <p:spPr>
          <a:xfrm>
            <a:off x="2154477" y="8322415"/>
            <a:ext cx="2981403" cy="7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AB9EEC4-3519-0EFA-E880-A919CF8F3706}"/>
              </a:ext>
            </a:extLst>
          </p:cNvPr>
          <p:cNvCxnSpPr>
            <a:cxnSpLocks/>
          </p:cNvCxnSpPr>
          <p:nvPr/>
        </p:nvCxnSpPr>
        <p:spPr>
          <a:xfrm>
            <a:off x="7665722" y="8322415"/>
            <a:ext cx="30603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Rechte verbindingslijn 53">
            <a:extLst>
              <a:ext uri="{FF2B5EF4-FFF2-40B4-BE49-F238E27FC236}">
                <a16:creationId xmlns:a16="http://schemas.microsoft.com/office/drawing/2014/main" id="{2F7BEAB5-6313-EA04-AE20-31F104A58079}"/>
              </a:ext>
            </a:extLst>
          </p:cNvPr>
          <p:cNvCxnSpPr>
            <a:cxnSpLocks/>
          </p:cNvCxnSpPr>
          <p:nvPr/>
        </p:nvCxnSpPr>
        <p:spPr>
          <a:xfrm>
            <a:off x="5115301" y="2885950"/>
            <a:ext cx="1323637" cy="1966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Rechte verbindingslijn 59">
            <a:extLst>
              <a:ext uri="{FF2B5EF4-FFF2-40B4-BE49-F238E27FC236}">
                <a16:creationId xmlns:a16="http://schemas.microsoft.com/office/drawing/2014/main" id="{7C927640-9397-A493-96E6-911BDADE7B31}"/>
              </a:ext>
            </a:extLst>
          </p:cNvPr>
          <p:cNvCxnSpPr>
            <a:cxnSpLocks/>
          </p:cNvCxnSpPr>
          <p:nvPr/>
        </p:nvCxnSpPr>
        <p:spPr>
          <a:xfrm>
            <a:off x="5135878" y="3990761"/>
            <a:ext cx="1226785" cy="797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Rechte verbindingslijn 63">
            <a:extLst>
              <a:ext uri="{FF2B5EF4-FFF2-40B4-BE49-F238E27FC236}">
                <a16:creationId xmlns:a16="http://schemas.microsoft.com/office/drawing/2014/main" id="{9386EC04-DA7D-9363-E1E2-25839E57DB6C}"/>
              </a:ext>
            </a:extLst>
          </p:cNvPr>
          <p:cNvCxnSpPr/>
          <p:nvPr/>
        </p:nvCxnSpPr>
        <p:spPr>
          <a:xfrm flipV="1">
            <a:off x="5135880" y="4739640"/>
            <a:ext cx="1303058" cy="322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Rechte verbindingslijn 66">
            <a:extLst>
              <a:ext uri="{FF2B5EF4-FFF2-40B4-BE49-F238E27FC236}">
                <a16:creationId xmlns:a16="http://schemas.microsoft.com/office/drawing/2014/main" id="{803DFEFA-757F-991E-9FD3-A81F99744B89}"/>
              </a:ext>
            </a:extLst>
          </p:cNvPr>
          <p:cNvCxnSpPr/>
          <p:nvPr/>
        </p:nvCxnSpPr>
        <p:spPr>
          <a:xfrm flipV="1">
            <a:off x="5135878" y="4699676"/>
            <a:ext cx="1226785" cy="1462235"/>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A96B85ED-1B97-2C1F-566A-4F9A3EA92D5A}"/>
              </a:ext>
            </a:extLst>
          </p:cNvPr>
          <p:cNvCxnSpPr/>
          <p:nvPr/>
        </p:nvCxnSpPr>
        <p:spPr>
          <a:xfrm flipV="1">
            <a:off x="5135876" y="4736033"/>
            <a:ext cx="1247364" cy="251145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0887B23D-2EB7-7254-30BD-903F263712C9}"/>
              </a:ext>
            </a:extLst>
          </p:cNvPr>
          <p:cNvCxnSpPr/>
          <p:nvPr/>
        </p:nvCxnSpPr>
        <p:spPr>
          <a:xfrm flipV="1">
            <a:off x="5135876" y="4736033"/>
            <a:ext cx="1247364" cy="3593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Rechte verbindingslijn 72">
            <a:extLst>
              <a:ext uri="{FF2B5EF4-FFF2-40B4-BE49-F238E27FC236}">
                <a16:creationId xmlns:a16="http://schemas.microsoft.com/office/drawing/2014/main" id="{5F1141DF-12D4-26EE-D16B-4A62FA8D4D81}"/>
              </a:ext>
            </a:extLst>
          </p:cNvPr>
          <p:cNvCxnSpPr/>
          <p:nvPr/>
        </p:nvCxnSpPr>
        <p:spPr>
          <a:xfrm flipH="1">
            <a:off x="6438938" y="2893047"/>
            <a:ext cx="1226782" cy="1842986"/>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Rechte verbindingslijn 75">
            <a:extLst>
              <a:ext uri="{FF2B5EF4-FFF2-40B4-BE49-F238E27FC236}">
                <a16:creationId xmlns:a16="http://schemas.microsoft.com/office/drawing/2014/main" id="{1CA01030-8BF8-A724-1635-440AC76B1310}"/>
              </a:ext>
            </a:extLst>
          </p:cNvPr>
          <p:cNvCxnSpPr>
            <a:cxnSpLocks/>
          </p:cNvCxnSpPr>
          <p:nvPr/>
        </p:nvCxnSpPr>
        <p:spPr>
          <a:xfrm flipH="1">
            <a:off x="6456493" y="3976566"/>
            <a:ext cx="1209227" cy="759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Rechte verbindingslijn 77">
            <a:extLst>
              <a:ext uri="{FF2B5EF4-FFF2-40B4-BE49-F238E27FC236}">
                <a16:creationId xmlns:a16="http://schemas.microsoft.com/office/drawing/2014/main" id="{387247B4-E4BA-F49B-2ECB-01CF01919560}"/>
              </a:ext>
            </a:extLst>
          </p:cNvPr>
          <p:cNvCxnSpPr/>
          <p:nvPr/>
        </p:nvCxnSpPr>
        <p:spPr>
          <a:xfrm flipH="1" flipV="1">
            <a:off x="6456493" y="4772390"/>
            <a:ext cx="1209227" cy="289752"/>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Rechte verbindingslijn 81">
            <a:extLst>
              <a:ext uri="{FF2B5EF4-FFF2-40B4-BE49-F238E27FC236}">
                <a16:creationId xmlns:a16="http://schemas.microsoft.com/office/drawing/2014/main" id="{617C70C2-1182-7940-DB47-910712E5FBD1}"/>
              </a:ext>
            </a:extLst>
          </p:cNvPr>
          <p:cNvCxnSpPr/>
          <p:nvPr/>
        </p:nvCxnSpPr>
        <p:spPr>
          <a:xfrm flipH="1" flipV="1">
            <a:off x="6400798" y="4736033"/>
            <a:ext cx="1264922" cy="1418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Rechte verbindingslijn 83">
            <a:extLst>
              <a:ext uri="{FF2B5EF4-FFF2-40B4-BE49-F238E27FC236}">
                <a16:creationId xmlns:a16="http://schemas.microsoft.com/office/drawing/2014/main" id="{F555B621-92B3-14D7-C163-E9F1BA0F646C}"/>
              </a:ext>
            </a:extLst>
          </p:cNvPr>
          <p:cNvCxnSpPr/>
          <p:nvPr/>
        </p:nvCxnSpPr>
        <p:spPr>
          <a:xfrm flipH="1" flipV="1">
            <a:off x="6380221" y="4743129"/>
            <a:ext cx="1285499" cy="2493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Rechte verbindingslijn 85">
            <a:extLst>
              <a:ext uri="{FF2B5EF4-FFF2-40B4-BE49-F238E27FC236}">
                <a16:creationId xmlns:a16="http://schemas.microsoft.com/office/drawing/2014/main" id="{7454C356-423B-5818-EB5A-0BF41CFD67B8}"/>
              </a:ext>
            </a:extLst>
          </p:cNvPr>
          <p:cNvCxnSpPr/>
          <p:nvPr/>
        </p:nvCxnSpPr>
        <p:spPr>
          <a:xfrm flipH="1" flipV="1">
            <a:off x="6400798" y="4786583"/>
            <a:ext cx="1264922" cy="3532281"/>
          </a:xfrm>
          <a:prstGeom prst="line">
            <a:avLst/>
          </a:prstGeom>
        </p:spPr>
        <p:style>
          <a:lnRef idx="1">
            <a:schemeClr val="accent1"/>
          </a:lnRef>
          <a:fillRef idx="0">
            <a:schemeClr val="accent1"/>
          </a:fillRef>
          <a:effectRef idx="0">
            <a:schemeClr val="accent1"/>
          </a:effectRef>
          <a:fontRef idx="minor">
            <a:schemeClr val="tx1"/>
          </a:fontRef>
        </p:style>
      </p:cxnSp>
      <p:sp>
        <p:nvSpPr>
          <p:cNvPr id="5" name="Ster: 12 punten 4">
            <a:extLst>
              <a:ext uri="{FF2B5EF4-FFF2-40B4-BE49-F238E27FC236}">
                <a16:creationId xmlns:a16="http://schemas.microsoft.com/office/drawing/2014/main" id="{A89B40EB-523F-38CC-B4BA-4A4E2DA712AC}"/>
              </a:ext>
            </a:extLst>
          </p:cNvPr>
          <p:cNvSpPr/>
          <p:nvPr/>
        </p:nvSpPr>
        <p:spPr>
          <a:xfrm>
            <a:off x="5498931" y="4027118"/>
            <a:ext cx="1803738" cy="1546964"/>
          </a:xfrm>
          <a:prstGeom prst="star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200" b="1" dirty="0"/>
              <a:t>Top Event</a:t>
            </a:r>
          </a:p>
          <a:p>
            <a:pPr algn="ctr"/>
            <a:r>
              <a:rPr lang="nl-NL" sz="1200" dirty="0"/>
              <a:t>Verlies van Vertrouwelijkheid</a:t>
            </a:r>
          </a:p>
        </p:txBody>
      </p:sp>
    </p:spTree>
    <p:extLst>
      <p:ext uri="{BB962C8B-B14F-4D97-AF65-F5344CB8AC3E}">
        <p14:creationId xmlns:p14="http://schemas.microsoft.com/office/powerpoint/2010/main" val="1549811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5F6B1B-4361-C699-FE2F-D72CB6910FF5}"/>
              </a:ext>
            </a:extLst>
          </p:cNvPr>
          <p:cNvSpPr>
            <a:spLocks noGrp="1"/>
          </p:cNvSpPr>
          <p:nvPr>
            <p:ph type="title"/>
          </p:nvPr>
        </p:nvSpPr>
        <p:spPr>
          <a:xfrm>
            <a:off x="880110" y="293914"/>
            <a:ext cx="11041380" cy="1045029"/>
          </a:xfrm>
        </p:spPr>
        <p:txBody>
          <a:bodyPr>
            <a:normAutofit/>
          </a:bodyPr>
          <a:lstStyle/>
          <a:p>
            <a:r>
              <a:rPr lang="nl-NL" dirty="0"/>
              <a:t>Assetlijst project/applicatie</a:t>
            </a:r>
          </a:p>
        </p:txBody>
      </p:sp>
      <p:graphicFrame>
        <p:nvGraphicFramePr>
          <p:cNvPr id="3" name="Tabel 3">
            <a:extLst>
              <a:ext uri="{FF2B5EF4-FFF2-40B4-BE49-F238E27FC236}">
                <a16:creationId xmlns:a16="http://schemas.microsoft.com/office/drawing/2014/main" id="{A268E146-024F-59F8-0AAF-E6DFB1723238}"/>
              </a:ext>
            </a:extLst>
          </p:cNvPr>
          <p:cNvGraphicFramePr>
            <a:graphicFrameLocks noGrp="1"/>
          </p:cNvGraphicFramePr>
          <p:nvPr>
            <p:extLst>
              <p:ext uri="{D42A27DB-BD31-4B8C-83A1-F6EECF244321}">
                <p14:modId xmlns:p14="http://schemas.microsoft.com/office/powerpoint/2010/main" val="1536216840"/>
              </p:ext>
            </p:extLst>
          </p:nvPr>
        </p:nvGraphicFramePr>
        <p:xfrm>
          <a:off x="432708" y="1473273"/>
          <a:ext cx="11936184" cy="7086600"/>
        </p:xfrm>
        <a:graphic>
          <a:graphicData uri="http://schemas.openxmlformats.org/drawingml/2006/table">
            <a:tbl>
              <a:tblPr firstRow="1" bandRow="1">
                <a:tableStyleId>{5C22544A-7EE6-4342-B048-85BDC9FD1C3A}</a:tableStyleId>
              </a:tblPr>
              <a:tblGrid>
                <a:gridCol w="4261758">
                  <a:extLst>
                    <a:ext uri="{9D8B030D-6E8A-4147-A177-3AD203B41FA5}">
                      <a16:colId xmlns:a16="http://schemas.microsoft.com/office/drawing/2014/main" val="3444733089"/>
                    </a:ext>
                  </a:extLst>
                </a:gridCol>
                <a:gridCol w="5453742">
                  <a:extLst>
                    <a:ext uri="{9D8B030D-6E8A-4147-A177-3AD203B41FA5}">
                      <a16:colId xmlns:a16="http://schemas.microsoft.com/office/drawing/2014/main" val="3235139065"/>
                    </a:ext>
                  </a:extLst>
                </a:gridCol>
                <a:gridCol w="740228">
                  <a:extLst>
                    <a:ext uri="{9D8B030D-6E8A-4147-A177-3AD203B41FA5}">
                      <a16:colId xmlns:a16="http://schemas.microsoft.com/office/drawing/2014/main" val="1079222483"/>
                    </a:ext>
                  </a:extLst>
                </a:gridCol>
                <a:gridCol w="740228">
                  <a:extLst>
                    <a:ext uri="{9D8B030D-6E8A-4147-A177-3AD203B41FA5}">
                      <a16:colId xmlns:a16="http://schemas.microsoft.com/office/drawing/2014/main" val="806683181"/>
                    </a:ext>
                  </a:extLst>
                </a:gridCol>
                <a:gridCol w="740228">
                  <a:extLst>
                    <a:ext uri="{9D8B030D-6E8A-4147-A177-3AD203B41FA5}">
                      <a16:colId xmlns:a16="http://schemas.microsoft.com/office/drawing/2014/main" val="3882315516"/>
                    </a:ext>
                  </a:extLst>
                </a:gridCol>
              </a:tblGrid>
              <a:tr h="142240">
                <a:tc>
                  <a:txBody>
                    <a:bodyPr/>
                    <a:lstStyle/>
                    <a:p>
                      <a:r>
                        <a:rPr lang="nl-NL" sz="1800" dirty="0"/>
                        <a:t>Asset</a:t>
                      </a:r>
                    </a:p>
                  </a:txBody>
                  <a:tcPr/>
                </a:tc>
                <a:tc>
                  <a:txBody>
                    <a:bodyPr/>
                    <a:lstStyle/>
                    <a:p>
                      <a:r>
                        <a:rPr lang="nl-NL" sz="1800" dirty="0"/>
                        <a:t>Functie</a:t>
                      </a:r>
                    </a:p>
                  </a:txBody>
                  <a:tcPr/>
                </a:tc>
                <a:tc>
                  <a:txBody>
                    <a:bodyPr/>
                    <a:lstStyle/>
                    <a:p>
                      <a:pPr algn="ctr"/>
                      <a:r>
                        <a:rPr lang="nl-NL" sz="1800" dirty="0"/>
                        <a:t>C</a:t>
                      </a:r>
                    </a:p>
                  </a:txBody>
                  <a:tcPr/>
                </a:tc>
                <a:tc>
                  <a:txBody>
                    <a:bodyPr/>
                    <a:lstStyle/>
                    <a:p>
                      <a:pPr algn="ctr"/>
                      <a:r>
                        <a:rPr lang="nl-NL" sz="1800" dirty="0"/>
                        <a:t>I</a:t>
                      </a:r>
                    </a:p>
                  </a:txBody>
                  <a:tcPr/>
                </a:tc>
                <a:tc>
                  <a:txBody>
                    <a:bodyPr/>
                    <a:lstStyle/>
                    <a:p>
                      <a:pPr algn="ctr"/>
                      <a:r>
                        <a:rPr lang="nl-NL" sz="1800" dirty="0"/>
                        <a:t>A</a:t>
                      </a:r>
                    </a:p>
                  </a:txBody>
                  <a:tcPr/>
                </a:tc>
                <a:extLst>
                  <a:ext uri="{0D108BD9-81ED-4DB2-BD59-A6C34878D82A}">
                    <a16:rowId xmlns:a16="http://schemas.microsoft.com/office/drawing/2014/main" val="3166258184"/>
                  </a:ext>
                </a:extLst>
              </a:tr>
              <a:tr h="370840">
                <a:tc>
                  <a:txBody>
                    <a:bodyPr/>
                    <a:lstStyle/>
                    <a:p>
                      <a:r>
                        <a:rPr lang="en-US" sz="1200" u="none" dirty="0">
                          <a:solidFill>
                            <a:srgbClr val="1E3A5F"/>
                          </a:solidFill>
                          <a:latin typeface="+mn-lt"/>
                          <a:ea typeface="微软雅黑" pitchFamily="34" charset="-122"/>
                          <a:cs typeface="微软雅黑" pitchFamily="34" charset="-120"/>
                        </a:rPr>
                        <a:t>Patientgegevens (BSN, naam, adres)</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Identificatie en contactgegevens van patienten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406782538"/>
                  </a:ext>
                </a:extLst>
              </a:tr>
              <a:tr h="370840">
                <a:tc>
                  <a:txBody>
                    <a:bodyPr/>
                    <a:lstStyle/>
                    <a:p>
                      <a:r>
                        <a:rPr lang="en-US" sz="1200" u="none" dirty="0">
                          <a:solidFill>
                            <a:srgbClr val="1E3A5F"/>
                          </a:solidFill>
                          <a:latin typeface="+mn-lt"/>
                          <a:ea typeface="微软雅黑" pitchFamily="34" charset="-122"/>
                          <a:cs typeface="微软雅黑" pitchFamily="34" charset="-120"/>
                        </a:rPr>
                        <a:t>Medische dossiers (diagnoses, behandelingen)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Medische historie en behandelinformatie</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1857532889"/>
                  </a:ext>
                </a:extLst>
              </a:tr>
              <a:tr h="370840">
                <a:tc>
                  <a:txBody>
                    <a:bodyPr/>
                    <a:lstStyle/>
                    <a:p>
                      <a:r>
                        <a:rPr lang="en-US" sz="1200" u="none" dirty="0">
                          <a:solidFill>
                            <a:srgbClr val="1E3A5F"/>
                          </a:solidFill>
                          <a:latin typeface="+mn-lt"/>
                          <a:ea typeface="微软雅黑" pitchFamily="34" charset="-122"/>
                          <a:cs typeface="微软雅黑" pitchFamily="34" charset="-120"/>
                        </a:rPr>
                        <a:t>Medicatievoorschriften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Huidige en historische medicatiegegevens</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823617231"/>
                  </a:ext>
                </a:extLst>
              </a:tr>
              <a:tr h="370840">
                <a:tc>
                  <a:txBody>
                    <a:bodyPr/>
                    <a:lstStyle/>
                    <a:p>
                      <a:r>
                        <a:rPr lang="en-US" sz="1200" u="none" dirty="0">
                          <a:solidFill>
                            <a:srgbClr val="1E3A5F"/>
                          </a:solidFill>
                          <a:latin typeface="+mn-lt"/>
                          <a:ea typeface="微软雅黑" pitchFamily="34" charset="-122"/>
                          <a:cs typeface="微软雅黑" pitchFamily="34" charset="-120"/>
                        </a:rPr>
                        <a:t>Afsprakenkalender</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Planning en beheer van patientafspraken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1</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3853048918"/>
                  </a:ext>
                </a:extLst>
              </a:tr>
              <a:tr h="370840">
                <a:tc>
                  <a:txBody>
                    <a:bodyPr/>
                    <a:lstStyle/>
                    <a:p>
                      <a:r>
                        <a:rPr lang="en-US" sz="1200" u="none" dirty="0">
                          <a:solidFill>
                            <a:srgbClr val="1E3A5F"/>
                          </a:solidFill>
                          <a:latin typeface="+mn-lt"/>
                          <a:ea typeface="微软雅黑" pitchFamily="34" charset="-122"/>
                          <a:cs typeface="微软雅黑" pitchFamily="34" charset="-120"/>
                        </a:rPr>
                        <a:t>Vital signs &amp; metingen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Bloeddruk, gewicht, labuitslagen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1510065712"/>
                  </a:ext>
                </a:extLst>
              </a:tr>
              <a:tr h="370840">
                <a:tc>
                  <a:txBody>
                    <a:bodyPr/>
                    <a:lstStyle/>
                    <a:p>
                      <a:r>
                        <a:rPr lang="en-US" sz="1200" u="none" dirty="0">
                          <a:solidFill>
                            <a:srgbClr val="1E3A5F"/>
                          </a:solidFill>
                          <a:latin typeface="+mn-lt"/>
                          <a:ea typeface="微软雅黑" pitchFamily="34" charset="-122"/>
                          <a:cs typeface="微软雅黑" pitchFamily="34" charset="-120"/>
                        </a:rPr>
                        <a:t>EPD Applicatie (cloud)</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Software platform voor dossierbeheer</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909622728"/>
                  </a:ext>
                </a:extLst>
              </a:tr>
              <a:tr h="370840">
                <a:tc>
                  <a:txBody>
                    <a:bodyPr/>
                    <a:lstStyle/>
                    <a:p>
                      <a:r>
                        <a:rPr lang="en-US" sz="1200" u="none" dirty="0">
                          <a:solidFill>
                            <a:srgbClr val="1E3A5F"/>
                          </a:solidFill>
                          <a:latin typeface="+mn-lt"/>
                          <a:ea typeface="微软雅黑" pitchFamily="34" charset="-122"/>
                          <a:cs typeface="微软雅黑" pitchFamily="34" charset="-120"/>
                        </a:rPr>
                        <a:t>Database server (extern)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Opslag van alle patientdata</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3709941770"/>
                  </a:ext>
                </a:extLst>
              </a:tr>
              <a:tr h="370840">
                <a:tc>
                  <a:txBody>
                    <a:bodyPr/>
                    <a:lstStyle/>
                    <a:p>
                      <a:r>
                        <a:rPr lang="en-US" sz="1200" u="none" dirty="0">
                          <a:solidFill>
                            <a:srgbClr val="1E3A5F"/>
                          </a:solidFill>
                          <a:latin typeface="+mn-lt"/>
                          <a:ea typeface="微软雅黑" pitchFamily="34" charset="-122"/>
                          <a:cs typeface="微软雅黑" pitchFamily="34" charset="-120"/>
                        </a:rPr>
                        <a:t>Gebruikersaccounts (artsen/assistenten)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Toegangsbeheer tot het systeem</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195355293"/>
                  </a:ext>
                </a:extLst>
              </a:tr>
              <a:tr h="370840">
                <a:tc>
                  <a:txBody>
                    <a:bodyPr/>
                    <a:lstStyle/>
                    <a:p>
                      <a:r>
                        <a:rPr lang="en-US" sz="1200" u="none" dirty="0">
                          <a:solidFill>
                            <a:srgbClr val="1E3A5F"/>
                          </a:solidFill>
                          <a:latin typeface="+mn-lt"/>
                          <a:ea typeface="微软雅黑" pitchFamily="34" charset="-122"/>
                          <a:cs typeface="微软雅黑" pitchFamily="34" charset="-120"/>
                        </a:rPr>
                        <a:t>Internetverbinding</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Connectiviteit naar cloud EPD</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1</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1</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397355870"/>
                  </a:ext>
                </a:extLst>
              </a:tr>
              <a:tr h="370840">
                <a:tc>
                  <a:txBody>
                    <a:bodyPr/>
                    <a:lstStyle/>
                    <a:p>
                      <a:r>
                        <a:rPr lang="en-US" sz="1200" u="none" dirty="0">
                          <a:solidFill>
                            <a:srgbClr val="1E3A5F"/>
                          </a:solidFill>
                          <a:latin typeface="+mn-lt"/>
                          <a:ea typeface="微软雅黑" pitchFamily="34" charset="-122"/>
                          <a:cs typeface="微软雅黑" pitchFamily="34" charset="-120"/>
                        </a:rPr>
                        <a:t>Back-up systemen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Herstel van data bij incidenten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173788315"/>
                  </a:ext>
                </a:extLst>
              </a:tr>
              <a:tr h="370840">
                <a:tc>
                  <a:txBody>
                    <a:bodyPr/>
                    <a:lstStyle/>
                    <a:p>
                      <a:r>
                        <a:rPr lang="en-US" sz="1200" u="none" dirty="0">
                          <a:solidFill>
                            <a:srgbClr val="1E3A5F"/>
                          </a:solidFill>
                          <a:latin typeface="+mn-lt"/>
                          <a:ea typeface="微软雅黑" pitchFamily="34" charset="-122"/>
                          <a:cs typeface="微软雅黑" pitchFamily="34" charset="-120"/>
                        </a:rPr>
                        <a:t>Patientgegevens (BSN, naam, adres)</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Identificatie en contactgegevens van patienten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649904813"/>
                  </a:ext>
                </a:extLst>
              </a:tr>
              <a:tr h="370840">
                <a:tc>
                  <a:txBody>
                    <a:bodyPr/>
                    <a:lstStyle/>
                    <a:p>
                      <a:r>
                        <a:rPr lang="en-US" sz="1200" u="none" dirty="0">
                          <a:solidFill>
                            <a:srgbClr val="1E3A5F"/>
                          </a:solidFill>
                          <a:latin typeface="+mn-lt"/>
                          <a:ea typeface="微软雅黑" pitchFamily="34" charset="-122"/>
                          <a:cs typeface="微软雅黑" pitchFamily="34" charset="-120"/>
                        </a:rPr>
                        <a:t>Medische dossiers (diagnoses, behandelingen)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Medische historie en behandelinformatie</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1564140973"/>
                  </a:ext>
                </a:extLst>
              </a:tr>
              <a:tr h="370840">
                <a:tc>
                  <a:txBody>
                    <a:bodyPr/>
                    <a:lstStyle/>
                    <a:p>
                      <a:r>
                        <a:rPr lang="en-US" sz="1200" u="none" dirty="0">
                          <a:solidFill>
                            <a:srgbClr val="1E3A5F"/>
                          </a:solidFill>
                          <a:latin typeface="+mn-lt"/>
                          <a:ea typeface="微软雅黑" pitchFamily="34" charset="-122"/>
                          <a:cs typeface="微软雅黑" pitchFamily="34" charset="-120"/>
                        </a:rPr>
                        <a:t>Medicatievoorschriften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Huidige en historische medicatiegegevens</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455570207"/>
                  </a:ext>
                </a:extLst>
              </a:tr>
              <a:tr h="370840">
                <a:tc>
                  <a:txBody>
                    <a:bodyPr/>
                    <a:lstStyle/>
                    <a:p>
                      <a:r>
                        <a:rPr lang="en-US" sz="1200" u="none" dirty="0">
                          <a:solidFill>
                            <a:srgbClr val="1E3A5F"/>
                          </a:solidFill>
                          <a:latin typeface="+mn-lt"/>
                          <a:ea typeface="微软雅黑" pitchFamily="34" charset="-122"/>
                          <a:cs typeface="微软雅黑" pitchFamily="34" charset="-120"/>
                        </a:rPr>
                        <a:t>Afsprakenkalender</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Planning en beheer van patientafspraken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1</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2316313471"/>
                  </a:ext>
                </a:extLst>
              </a:tr>
              <a:tr h="370840">
                <a:tc>
                  <a:txBody>
                    <a:bodyPr/>
                    <a:lstStyle/>
                    <a:p>
                      <a:r>
                        <a:rPr lang="en-US" sz="1200" u="none" dirty="0">
                          <a:solidFill>
                            <a:srgbClr val="1E3A5F"/>
                          </a:solidFill>
                          <a:latin typeface="+mn-lt"/>
                          <a:ea typeface="微软雅黑" pitchFamily="34" charset="-122"/>
                          <a:cs typeface="微软雅黑" pitchFamily="34" charset="-120"/>
                        </a:rPr>
                        <a:t>Vital signs &amp; metingen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Bloeddruk, gewicht, labuitslagen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3598699770"/>
                  </a:ext>
                </a:extLst>
              </a:tr>
              <a:tr h="370840">
                <a:tc>
                  <a:txBody>
                    <a:bodyPr/>
                    <a:lstStyle/>
                    <a:p>
                      <a:r>
                        <a:rPr lang="en-US" sz="1200" u="none" dirty="0">
                          <a:solidFill>
                            <a:srgbClr val="1E3A5F"/>
                          </a:solidFill>
                          <a:latin typeface="+mn-lt"/>
                          <a:ea typeface="微软雅黑" pitchFamily="34" charset="-122"/>
                          <a:cs typeface="微软雅黑" pitchFamily="34" charset="-120"/>
                        </a:rPr>
                        <a:t>EPD Applicatie (cloud)</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Software platform voor dossierbeheer</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1094345863"/>
                  </a:ext>
                </a:extLst>
              </a:tr>
              <a:tr h="370840">
                <a:tc>
                  <a:txBody>
                    <a:bodyPr/>
                    <a:lstStyle/>
                    <a:p>
                      <a:r>
                        <a:rPr lang="en-US" sz="1200" u="none" dirty="0">
                          <a:solidFill>
                            <a:srgbClr val="1E3A5F"/>
                          </a:solidFill>
                          <a:latin typeface="+mn-lt"/>
                          <a:ea typeface="微软雅黑" pitchFamily="34" charset="-122"/>
                          <a:cs typeface="微软雅黑" pitchFamily="34" charset="-120"/>
                        </a:rPr>
                        <a:t>Database server (extern)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Opslag van alle patientdata</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1582140628"/>
                  </a:ext>
                </a:extLst>
              </a:tr>
              <a:tr h="370840">
                <a:tc>
                  <a:txBody>
                    <a:bodyPr/>
                    <a:lstStyle/>
                    <a:p>
                      <a:r>
                        <a:rPr lang="en-US" sz="1200" u="none" dirty="0">
                          <a:solidFill>
                            <a:srgbClr val="1E3A5F"/>
                          </a:solidFill>
                          <a:latin typeface="+mn-lt"/>
                          <a:ea typeface="微软雅黑" pitchFamily="34" charset="-122"/>
                          <a:cs typeface="微软雅黑" pitchFamily="34" charset="-120"/>
                        </a:rPr>
                        <a:t>Gebruikersaccounts (artsen/assistenten)</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Toegangsbeheer tot het systeem</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tc>
                  <a:txBody>
                    <a:bodyPr/>
                    <a:lstStyle/>
                    <a:p>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114300" marR="114300" marT="95250" marB="95250" anchor="ctr"/>
                </a:tc>
                <a:extLst>
                  <a:ext uri="{0D108BD9-81ED-4DB2-BD59-A6C34878D82A}">
                    <a16:rowId xmlns:a16="http://schemas.microsoft.com/office/drawing/2014/main" val="1046007451"/>
                  </a:ext>
                </a:extLst>
              </a:tr>
            </a:tbl>
          </a:graphicData>
        </a:graphic>
      </p:graphicFrame>
      <p:sp>
        <p:nvSpPr>
          <p:cNvPr id="5" name="Tekstvak 4">
            <a:extLst>
              <a:ext uri="{FF2B5EF4-FFF2-40B4-BE49-F238E27FC236}">
                <a16:creationId xmlns:a16="http://schemas.microsoft.com/office/drawing/2014/main" id="{EDA5E2A3-F33A-93A1-0636-48774625393C}"/>
              </a:ext>
            </a:extLst>
          </p:cNvPr>
          <p:cNvSpPr txBox="1"/>
          <p:nvPr/>
        </p:nvSpPr>
        <p:spPr>
          <a:xfrm>
            <a:off x="8164286" y="1103941"/>
            <a:ext cx="4392385" cy="369332"/>
          </a:xfrm>
          <a:prstGeom prst="rect">
            <a:avLst/>
          </a:prstGeom>
          <a:noFill/>
        </p:spPr>
        <p:txBody>
          <a:bodyPr wrap="square">
            <a:spAutoFit/>
          </a:bodyPr>
          <a:lstStyle/>
          <a:p>
            <a:r>
              <a:rPr lang="nl-NL" dirty="0"/>
              <a:t>C/I/A belang: 1 – 3 (1-laag, 2-middel, 3-hoog)</a:t>
            </a:r>
          </a:p>
        </p:txBody>
      </p:sp>
    </p:spTree>
    <p:extLst>
      <p:ext uri="{BB962C8B-B14F-4D97-AF65-F5344CB8AC3E}">
        <p14:creationId xmlns:p14="http://schemas.microsoft.com/office/powerpoint/2010/main" val="2068642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CEDE7C-4938-BCD0-0B05-D935AF63A752}"/>
              </a:ext>
            </a:extLst>
          </p:cNvPr>
          <p:cNvSpPr>
            <a:spLocks noGrp="1"/>
          </p:cNvSpPr>
          <p:nvPr>
            <p:ph type="title"/>
          </p:nvPr>
        </p:nvSpPr>
        <p:spPr>
          <a:xfrm>
            <a:off x="880110" y="511177"/>
            <a:ext cx="11041380" cy="555623"/>
          </a:xfrm>
        </p:spPr>
        <p:txBody>
          <a:bodyPr>
            <a:normAutofit fontScale="90000"/>
          </a:bodyPr>
          <a:lstStyle/>
          <a:p>
            <a:r>
              <a:rPr lang="nl-NL" dirty="0"/>
              <a:t>Preventief control register</a:t>
            </a:r>
          </a:p>
        </p:txBody>
      </p:sp>
      <p:graphicFrame>
        <p:nvGraphicFramePr>
          <p:cNvPr id="4" name="Tabel 4">
            <a:extLst>
              <a:ext uri="{FF2B5EF4-FFF2-40B4-BE49-F238E27FC236}">
                <a16:creationId xmlns:a16="http://schemas.microsoft.com/office/drawing/2014/main" id="{3AC2F889-F1D0-BE25-9487-FA69147427AC}"/>
              </a:ext>
            </a:extLst>
          </p:cNvPr>
          <p:cNvGraphicFramePr>
            <a:graphicFrameLocks noGrp="1"/>
          </p:cNvGraphicFramePr>
          <p:nvPr>
            <p:extLst>
              <p:ext uri="{D42A27DB-BD31-4B8C-83A1-F6EECF244321}">
                <p14:modId xmlns:p14="http://schemas.microsoft.com/office/powerpoint/2010/main" val="3733777443"/>
              </p:ext>
            </p:extLst>
          </p:nvPr>
        </p:nvGraphicFramePr>
        <p:xfrm>
          <a:off x="294640" y="1153160"/>
          <a:ext cx="12090400" cy="8263128"/>
        </p:xfrm>
        <a:graphic>
          <a:graphicData uri="http://schemas.openxmlformats.org/drawingml/2006/table">
            <a:tbl>
              <a:tblPr firstRow="1" bandRow="1">
                <a:tableStyleId>{5C22544A-7EE6-4342-B048-85BDC9FD1C3A}</a:tableStyleId>
              </a:tblPr>
              <a:tblGrid>
                <a:gridCol w="4582160">
                  <a:extLst>
                    <a:ext uri="{9D8B030D-6E8A-4147-A177-3AD203B41FA5}">
                      <a16:colId xmlns:a16="http://schemas.microsoft.com/office/drawing/2014/main" val="4098882641"/>
                    </a:ext>
                  </a:extLst>
                </a:gridCol>
                <a:gridCol w="7508240">
                  <a:extLst>
                    <a:ext uri="{9D8B030D-6E8A-4147-A177-3AD203B41FA5}">
                      <a16:colId xmlns:a16="http://schemas.microsoft.com/office/drawing/2014/main" val="3294450837"/>
                    </a:ext>
                  </a:extLst>
                </a:gridCol>
              </a:tblGrid>
              <a:tr h="370840">
                <a:tc>
                  <a:txBody>
                    <a:bodyPr/>
                    <a:lstStyle/>
                    <a:p>
                      <a:r>
                        <a:rPr lang="nl-NL" dirty="0"/>
                        <a:t>Control</a:t>
                      </a:r>
                    </a:p>
                  </a:txBody>
                  <a:tcPr/>
                </a:tc>
                <a:tc>
                  <a:txBody>
                    <a:bodyPr/>
                    <a:lstStyle/>
                    <a:p>
                      <a:r>
                        <a:rPr lang="nl-NL" dirty="0"/>
                        <a:t>Beschrijving</a:t>
                      </a:r>
                    </a:p>
                  </a:txBody>
                  <a:tcPr/>
                </a:tc>
                <a:extLst>
                  <a:ext uri="{0D108BD9-81ED-4DB2-BD59-A6C34878D82A}">
                    <a16:rowId xmlns:a16="http://schemas.microsoft.com/office/drawing/2014/main" val="3707535035"/>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157405719"/>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130094611"/>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427949709"/>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764551466"/>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781572765"/>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866182659"/>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426927083"/>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637852762"/>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160380506"/>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721314551"/>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669313067"/>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673380896"/>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561709491"/>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130077503"/>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965430780"/>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177239109"/>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478436017"/>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447039156"/>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530537912"/>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07484453"/>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226002756"/>
                  </a:ext>
                </a:extLst>
              </a:tr>
            </a:tbl>
          </a:graphicData>
        </a:graphic>
      </p:graphicFrame>
    </p:spTree>
    <p:extLst>
      <p:ext uri="{BB962C8B-B14F-4D97-AF65-F5344CB8AC3E}">
        <p14:creationId xmlns:p14="http://schemas.microsoft.com/office/powerpoint/2010/main" val="13585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CEDE7C-4938-BCD0-0B05-D935AF63A752}"/>
              </a:ext>
            </a:extLst>
          </p:cNvPr>
          <p:cNvSpPr>
            <a:spLocks noGrp="1"/>
          </p:cNvSpPr>
          <p:nvPr>
            <p:ph type="title"/>
          </p:nvPr>
        </p:nvSpPr>
        <p:spPr>
          <a:xfrm>
            <a:off x="880110" y="511177"/>
            <a:ext cx="11041380" cy="555623"/>
          </a:xfrm>
        </p:spPr>
        <p:txBody>
          <a:bodyPr>
            <a:normAutofit fontScale="90000"/>
          </a:bodyPr>
          <a:lstStyle/>
          <a:p>
            <a:r>
              <a:rPr lang="nl-NL" dirty="0"/>
              <a:t>Correctief control register</a:t>
            </a:r>
          </a:p>
        </p:txBody>
      </p:sp>
      <p:graphicFrame>
        <p:nvGraphicFramePr>
          <p:cNvPr id="4" name="Tabel 4">
            <a:extLst>
              <a:ext uri="{FF2B5EF4-FFF2-40B4-BE49-F238E27FC236}">
                <a16:creationId xmlns:a16="http://schemas.microsoft.com/office/drawing/2014/main" id="{AAA2A683-9CE1-1CC0-AD6E-5B051BED663D}"/>
              </a:ext>
            </a:extLst>
          </p:cNvPr>
          <p:cNvGraphicFramePr>
            <a:graphicFrameLocks noGrp="1"/>
          </p:cNvGraphicFramePr>
          <p:nvPr>
            <p:extLst>
              <p:ext uri="{D42A27DB-BD31-4B8C-83A1-F6EECF244321}">
                <p14:modId xmlns:p14="http://schemas.microsoft.com/office/powerpoint/2010/main" val="1546596148"/>
              </p:ext>
            </p:extLst>
          </p:nvPr>
        </p:nvGraphicFramePr>
        <p:xfrm>
          <a:off x="294640" y="1153160"/>
          <a:ext cx="12090400" cy="8263128"/>
        </p:xfrm>
        <a:graphic>
          <a:graphicData uri="http://schemas.openxmlformats.org/drawingml/2006/table">
            <a:tbl>
              <a:tblPr firstRow="1" bandRow="1">
                <a:tableStyleId>{5C22544A-7EE6-4342-B048-85BDC9FD1C3A}</a:tableStyleId>
              </a:tblPr>
              <a:tblGrid>
                <a:gridCol w="4582160">
                  <a:extLst>
                    <a:ext uri="{9D8B030D-6E8A-4147-A177-3AD203B41FA5}">
                      <a16:colId xmlns:a16="http://schemas.microsoft.com/office/drawing/2014/main" val="4098882641"/>
                    </a:ext>
                  </a:extLst>
                </a:gridCol>
                <a:gridCol w="7508240">
                  <a:extLst>
                    <a:ext uri="{9D8B030D-6E8A-4147-A177-3AD203B41FA5}">
                      <a16:colId xmlns:a16="http://schemas.microsoft.com/office/drawing/2014/main" val="3294450837"/>
                    </a:ext>
                  </a:extLst>
                </a:gridCol>
              </a:tblGrid>
              <a:tr h="370840">
                <a:tc>
                  <a:txBody>
                    <a:bodyPr/>
                    <a:lstStyle/>
                    <a:p>
                      <a:r>
                        <a:rPr lang="nl-NL" dirty="0"/>
                        <a:t>Control</a:t>
                      </a:r>
                    </a:p>
                  </a:txBody>
                  <a:tcPr/>
                </a:tc>
                <a:tc>
                  <a:txBody>
                    <a:bodyPr/>
                    <a:lstStyle/>
                    <a:p>
                      <a:r>
                        <a:rPr lang="nl-NL" dirty="0"/>
                        <a:t>Beschrijving</a:t>
                      </a:r>
                    </a:p>
                  </a:txBody>
                  <a:tcPr/>
                </a:tc>
                <a:extLst>
                  <a:ext uri="{0D108BD9-81ED-4DB2-BD59-A6C34878D82A}">
                    <a16:rowId xmlns:a16="http://schemas.microsoft.com/office/drawing/2014/main" val="3707535035"/>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157405719"/>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130094611"/>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427949709"/>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764551466"/>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781572765"/>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866182659"/>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426927083"/>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637852762"/>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160380506"/>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721314551"/>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669313067"/>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673380896"/>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561709491"/>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130077503"/>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1965430780"/>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2177239109"/>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478436017"/>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447039156"/>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530537912"/>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07484453"/>
                  </a:ext>
                </a:extLst>
              </a:tr>
              <a:tr h="370840">
                <a:tc>
                  <a:txBody>
                    <a:bodyPr/>
                    <a:lstStyle/>
                    <a:p>
                      <a:endParaRPr lang="nl-NL" sz="1200" dirty="0"/>
                    </a:p>
                  </a:txBody>
                  <a:tcPr/>
                </a:tc>
                <a:tc>
                  <a:txBody>
                    <a:bodyPr/>
                    <a:lstStyle/>
                    <a:p>
                      <a:endParaRPr lang="nl-NL" sz="1200" dirty="0"/>
                    </a:p>
                  </a:txBody>
                  <a:tcPr/>
                </a:tc>
                <a:extLst>
                  <a:ext uri="{0D108BD9-81ED-4DB2-BD59-A6C34878D82A}">
                    <a16:rowId xmlns:a16="http://schemas.microsoft.com/office/drawing/2014/main" val="3226002756"/>
                  </a:ext>
                </a:extLst>
              </a:tr>
            </a:tbl>
          </a:graphicData>
        </a:graphic>
      </p:graphicFrame>
    </p:spTree>
    <p:extLst>
      <p:ext uri="{BB962C8B-B14F-4D97-AF65-F5344CB8AC3E}">
        <p14:creationId xmlns:p14="http://schemas.microsoft.com/office/powerpoint/2010/main" val="778551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CEDE7C-4938-BCD0-0B05-D935AF63A752}"/>
              </a:ext>
            </a:extLst>
          </p:cNvPr>
          <p:cNvSpPr>
            <a:spLocks noGrp="1"/>
          </p:cNvSpPr>
          <p:nvPr>
            <p:ph type="title"/>
          </p:nvPr>
        </p:nvSpPr>
        <p:spPr>
          <a:xfrm>
            <a:off x="880110" y="511177"/>
            <a:ext cx="11041380" cy="555623"/>
          </a:xfrm>
        </p:spPr>
        <p:txBody>
          <a:bodyPr>
            <a:normAutofit fontScale="90000"/>
          </a:bodyPr>
          <a:lstStyle/>
          <a:p>
            <a:r>
              <a:rPr lang="nl-NL" dirty="0"/>
              <a:t>Riskregister</a:t>
            </a:r>
          </a:p>
        </p:txBody>
      </p:sp>
      <p:graphicFrame>
        <p:nvGraphicFramePr>
          <p:cNvPr id="3" name="Tabel 7">
            <a:extLst>
              <a:ext uri="{FF2B5EF4-FFF2-40B4-BE49-F238E27FC236}">
                <a16:creationId xmlns:a16="http://schemas.microsoft.com/office/drawing/2014/main" id="{4BF9CD44-0E48-7DDA-4B73-EBD3BEF9A8C9}"/>
              </a:ext>
            </a:extLst>
          </p:cNvPr>
          <p:cNvGraphicFramePr>
            <a:graphicFrameLocks noGrp="1"/>
          </p:cNvGraphicFramePr>
          <p:nvPr>
            <p:extLst>
              <p:ext uri="{D42A27DB-BD31-4B8C-83A1-F6EECF244321}">
                <p14:modId xmlns:p14="http://schemas.microsoft.com/office/powerpoint/2010/main" val="2825730315"/>
              </p:ext>
            </p:extLst>
          </p:nvPr>
        </p:nvGraphicFramePr>
        <p:xfrm>
          <a:off x="380999" y="1253091"/>
          <a:ext cx="12048160" cy="4584192"/>
        </p:xfrm>
        <a:graphic>
          <a:graphicData uri="http://schemas.openxmlformats.org/drawingml/2006/table">
            <a:tbl>
              <a:tblPr firstRow="1" bandRow="1">
                <a:tableStyleId>{5C22544A-7EE6-4342-B048-85BDC9FD1C3A}</a:tableStyleId>
              </a:tblPr>
              <a:tblGrid>
                <a:gridCol w="8612425">
                  <a:extLst>
                    <a:ext uri="{9D8B030D-6E8A-4147-A177-3AD203B41FA5}">
                      <a16:colId xmlns:a16="http://schemas.microsoft.com/office/drawing/2014/main" val="2349626216"/>
                    </a:ext>
                  </a:extLst>
                </a:gridCol>
                <a:gridCol w="571196">
                  <a:extLst>
                    <a:ext uri="{9D8B030D-6E8A-4147-A177-3AD203B41FA5}">
                      <a16:colId xmlns:a16="http://schemas.microsoft.com/office/drawing/2014/main" val="2688311207"/>
                    </a:ext>
                  </a:extLst>
                </a:gridCol>
                <a:gridCol w="571196">
                  <a:extLst>
                    <a:ext uri="{9D8B030D-6E8A-4147-A177-3AD203B41FA5}">
                      <a16:colId xmlns:a16="http://schemas.microsoft.com/office/drawing/2014/main" val="1266571470"/>
                    </a:ext>
                  </a:extLst>
                </a:gridCol>
                <a:gridCol w="579755">
                  <a:extLst>
                    <a:ext uri="{9D8B030D-6E8A-4147-A177-3AD203B41FA5}">
                      <a16:colId xmlns:a16="http://schemas.microsoft.com/office/drawing/2014/main" val="3441426309"/>
                    </a:ext>
                  </a:extLst>
                </a:gridCol>
                <a:gridCol w="571196">
                  <a:extLst>
                    <a:ext uri="{9D8B030D-6E8A-4147-A177-3AD203B41FA5}">
                      <a16:colId xmlns:a16="http://schemas.microsoft.com/office/drawing/2014/main" val="2437836713"/>
                    </a:ext>
                  </a:extLst>
                </a:gridCol>
                <a:gridCol w="571196">
                  <a:extLst>
                    <a:ext uri="{9D8B030D-6E8A-4147-A177-3AD203B41FA5}">
                      <a16:colId xmlns:a16="http://schemas.microsoft.com/office/drawing/2014/main" val="1427511535"/>
                    </a:ext>
                  </a:extLst>
                </a:gridCol>
                <a:gridCol w="571196">
                  <a:extLst>
                    <a:ext uri="{9D8B030D-6E8A-4147-A177-3AD203B41FA5}">
                      <a16:colId xmlns:a16="http://schemas.microsoft.com/office/drawing/2014/main" val="3959563736"/>
                    </a:ext>
                  </a:extLst>
                </a:gridCol>
              </a:tblGrid>
              <a:tr h="185420">
                <a:tc rowSpan="2">
                  <a:txBody>
                    <a:bodyPr/>
                    <a:lstStyle/>
                    <a:p>
                      <a:r>
                        <a:rPr lang="nl-NL" dirty="0"/>
                        <a:t>Risico</a:t>
                      </a:r>
                    </a:p>
                  </a:txBody>
                  <a:tcPr anchor="ctr"/>
                </a:tc>
                <a:tc gridSpan="3">
                  <a:txBody>
                    <a:bodyPr/>
                    <a:lstStyle/>
                    <a:p>
                      <a:pPr algn="ctr"/>
                      <a:r>
                        <a:rPr lang="nl-NL" sz="1400" dirty="0"/>
                        <a:t>Actueel</a:t>
                      </a:r>
                    </a:p>
                  </a:txBody>
                  <a:tcPr/>
                </a:tc>
                <a:tc hMerge="1">
                  <a:txBody>
                    <a:bodyPr/>
                    <a:lstStyle/>
                    <a:p>
                      <a:pPr algn="ctr"/>
                      <a:endParaRPr lang="nl-NL" dirty="0"/>
                    </a:p>
                  </a:txBody>
                  <a:tcPr/>
                </a:tc>
                <a:tc hMerge="1">
                  <a:txBody>
                    <a:bodyPr/>
                    <a:lstStyle/>
                    <a:p>
                      <a:pPr algn="ctr"/>
                      <a:endParaRPr lang="nl-NL" dirty="0"/>
                    </a:p>
                  </a:txBody>
                  <a:tcPr/>
                </a:tc>
                <a:tc gridSpan="3">
                  <a:txBody>
                    <a:bodyPr/>
                    <a:lstStyle/>
                    <a:p>
                      <a:pPr algn="ctr"/>
                      <a:r>
                        <a:rPr lang="nl-NL" sz="1400" dirty="0"/>
                        <a:t>Uiteindelijk</a:t>
                      </a:r>
                    </a:p>
                  </a:txBody>
                  <a:tcPr/>
                </a:tc>
                <a:tc hMerge="1">
                  <a:txBody>
                    <a:bodyPr/>
                    <a:lstStyle/>
                    <a:p>
                      <a:pPr algn="ctr"/>
                      <a:endParaRPr lang="nl-NL" dirty="0"/>
                    </a:p>
                  </a:txBody>
                  <a:tcPr/>
                </a:tc>
                <a:tc hMerge="1">
                  <a:txBody>
                    <a:bodyPr/>
                    <a:lstStyle/>
                    <a:p>
                      <a:pPr algn="ctr"/>
                      <a:endParaRPr lang="nl-NL" dirty="0"/>
                    </a:p>
                  </a:txBody>
                  <a:tcPr/>
                </a:tc>
                <a:extLst>
                  <a:ext uri="{0D108BD9-81ED-4DB2-BD59-A6C34878D82A}">
                    <a16:rowId xmlns:a16="http://schemas.microsoft.com/office/drawing/2014/main" val="356060632"/>
                  </a:ext>
                </a:extLst>
              </a:tr>
              <a:tr h="185420">
                <a:tc vMerge="1">
                  <a:txBody>
                    <a:bodyPr/>
                    <a:lstStyle/>
                    <a:p>
                      <a:endParaRPr lang="nl-NL"/>
                    </a:p>
                  </a:txBody>
                  <a:tcPr/>
                </a:tc>
                <a:tc>
                  <a:txBody>
                    <a:bodyPr/>
                    <a:lstStyle/>
                    <a:p>
                      <a:pPr algn="ctr"/>
                      <a:r>
                        <a:rPr lang="nl-NL" dirty="0"/>
                        <a:t>K</a:t>
                      </a:r>
                    </a:p>
                  </a:txBody>
                  <a:tcPr/>
                </a:tc>
                <a:tc>
                  <a:txBody>
                    <a:bodyPr/>
                    <a:lstStyle/>
                    <a:p>
                      <a:pPr algn="ctr"/>
                      <a:r>
                        <a:rPr lang="nl-NL" dirty="0"/>
                        <a:t>I</a:t>
                      </a:r>
                    </a:p>
                  </a:txBody>
                  <a:tcPr/>
                </a:tc>
                <a:tc>
                  <a:txBody>
                    <a:bodyPr/>
                    <a:lstStyle/>
                    <a:p>
                      <a:pPr algn="ctr"/>
                      <a:r>
                        <a:rPr lang="nl-NL" dirty="0"/>
                        <a:t>R</a:t>
                      </a:r>
                    </a:p>
                  </a:txBody>
                  <a:tcPr/>
                </a:tc>
                <a:tc>
                  <a:txBody>
                    <a:bodyPr/>
                    <a:lstStyle/>
                    <a:p>
                      <a:pPr algn="ctr"/>
                      <a:r>
                        <a:rPr lang="nl-NL" dirty="0"/>
                        <a:t>K</a:t>
                      </a:r>
                    </a:p>
                  </a:txBody>
                  <a:tcPr/>
                </a:tc>
                <a:tc>
                  <a:txBody>
                    <a:bodyPr/>
                    <a:lstStyle/>
                    <a:p>
                      <a:pPr algn="ctr"/>
                      <a:r>
                        <a:rPr lang="nl-NL" dirty="0"/>
                        <a:t>I</a:t>
                      </a:r>
                    </a:p>
                  </a:txBody>
                  <a:tcPr/>
                </a:tc>
                <a:tc>
                  <a:txBody>
                    <a:bodyPr/>
                    <a:lstStyle/>
                    <a:p>
                      <a:pPr algn="ctr"/>
                      <a:r>
                        <a:rPr lang="nl-NL" dirty="0"/>
                        <a:t>R</a:t>
                      </a:r>
                    </a:p>
                  </a:txBody>
                  <a:tcPr/>
                </a:tc>
                <a:extLst>
                  <a:ext uri="{0D108BD9-81ED-4DB2-BD59-A6C34878D82A}">
                    <a16:rowId xmlns:a16="http://schemas.microsoft.com/office/drawing/2014/main" val="2933214801"/>
                  </a:ext>
                </a:extLst>
              </a:tr>
              <a:tr h="370840">
                <a:tc>
                  <a:txBody>
                    <a:bodyPr/>
                    <a:lstStyle/>
                    <a:p>
                      <a:pPr algn="l"/>
                      <a:r>
                        <a:rPr lang="en-US" sz="1200" u="none" dirty="0">
                          <a:solidFill>
                            <a:srgbClr val="1E3A5F"/>
                          </a:solidFill>
                          <a:latin typeface="+mn-lt"/>
                          <a:ea typeface="微软雅黑" pitchFamily="34" charset="-122"/>
                          <a:cs typeface="微软雅黑" pitchFamily="34" charset="-120"/>
                        </a:rPr>
                        <a:t>R1: Datalek patientgegevens(vertrouwelijkheid)</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5</a:t>
                      </a:r>
                      <a:endParaRPr lang="en-US" sz="1200" dirty="0">
                        <a:latin typeface="+mn-lt"/>
                        <a:ea typeface="微软雅黑" charset="0"/>
                        <a:cs typeface="微软雅黑" charset="0"/>
                      </a:endParaRPr>
                    </a:p>
                  </a:txBody>
                  <a:tcPr marL="76200" marR="76200" marT="76200" marB="76200" anchor="ctr"/>
                </a:tc>
                <a:tc>
                  <a:txBody>
                    <a:bodyPr/>
                    <a:lstStyle/>
                    <a:p>
                      <a:pPr algn="ctr"/>
                      <a:r>
                        <a:rPr lang="en-US" dirty="0"/>
                        <a:t>15</a:t>
                      </a:r>
                      <a:endParaRPr lang="nl-NL" dirty="0"/>
                    </a:p>
                  </a:txBody>
                  <a:tcPr>
                    <a:solidFill>
                      <a:srgbClr val="FF0000"/>
                    </a:solidFill>
                  </a:tcPr>
                </a:tc>
                <a:tc>
                  <a:txBody>
                    <a:bodyPr/>
                    <a:lstStyle/>
                    <a:p>
                      <a:pPr algn="ctr"/>
                      <a:endParaRPr lang="nl-NL" dirty="0"/>
                    </a:p>
                  </a:txBody>
                  <a:tcPr/>
                </a:tc>
                <a:tc>
                  <a:txBody>
                    <a:bodyPr/>
                    <a:lstStyle/>
                    <a:p>
                      <a:pPr algn="ctr"/>
                      <a:endParaRPr lang="nl-NL" dirty="0"/>
                    </a:p>
                  </a:txBody>
                  <a:tcPr/>
                </a:tc>
                <a:tc>
                  <a:txBody>
                    <a:bodyPr/>
                    <a:lstStyle/>
                    <a:p>
                      <a:pPr algn="ctr"/>
                      <a:endParaRPr lang="nl-NL" dirty="0"/>
                    </a:p>
                  </a:txBody>
                  <a:tcPr/>
                </a:tc>
                <a:extLst>
                  <a:ext uri="{0D108BD9-81ED-4DB2-BD59-A6C34878D82A}">
                    <a16:rowId xmlns:a16="http://schemas.microsoft.com/office/drawing/2014/main" val="1934121331"/>
                  </a:ext>
                </a:extLst>
              </a:tr>
              <a:tr h="370840">
                <a:tc>
                  <a:txBody>
                    <a:bodyPr/>
                    <a:lstStyle/>
                    <a:p>
                      <a:pPr algn="l"/>
                      <a:r>
                        <a:rPr lang="en-US" sz="1200" u="none" dirty="0">
                          <a:solidFill>
                            <a:srgbClr val="1E3A5F"/>
                          </a:solidFill>
                          <a:latin typeface="+mn-lt"/>
                          <a:ea typeface="微软雅黑" pitchFamily="34" charset="-122"/>
                          <a:cs typeface="微软雅黑" pitchFamily="34" charset="-120"/>
                        </a:rPr>
                        <a:t>R2: Corruptie medische data(integriteit)</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5</a:t>
                      </a:r>
                      <a:endParaRPr lang="en-US" sz="1200" dirty="0">
                        <a:latin typeface="+mn-lt"/>
                        <a:ea typeface="微软雅黑" charset="0"/>
                        <a:cs typeface="微软雅黑" charset="0"/>
                      </a:endParaRPr>
                    </a:p>
                  </a:txBody>
                  <a:tcPr marL="76200" marR="76200" marT="76200" marB="76200" anchor="ctr"/>
                </a:tc>
                <a:tc>
                  <a:txBody>
                    <a:bodyPr/>
                    <a:lstStyle/>
                    <a:p>
                      <a:pPr algn="ctr"/>
                      <a:r>
                        <a:rPr lang="en-US" dirty="0"/>
                        <a:t>10</a:t>
                      </a:r>
                      <a:endParaRPr lang="nl-NL" dirty="0"/>
                    </a:p>
                  </a:txBody>
                  <a:tcPr>
                    <a:solidFill>
                      <a:srgbClr val="FFC000"/>
                    </a:solidFill>
                  </a:tcPr>
                </a:tc>
                <a:tc>
                  <a:txBody>
                    <a:bodyPr/>
                    <a:lstStyle/>
                    <a:p>
                      <a:pPr algn="ctr"/>
                      <a:endParaRPr lang="nl-NL" dirty="0"/>
                    </a:p>
                  </a:txBody>
                  <a:tcPr/>
                </a:tc>
                <a:tc>
                  <a:txBody>
                    <a:bodyPr/>
                    <a:lstStyle/>
                    <a:p>
                      <a:pPr algn="ctr"/>
                      <a:endParaRPr lang="nl-NL" dirty="0"/>
                    </a:p>
                  </a:txBody>
                  <a:tcPr/>
                </a:tc>
                <a:tc>
                  <a:txBody>
                    <a:bodyPr/>
                    <a:lstStyle/>
                    <a:p>
                      <a:pPr algn="ctr"/>
                      <a:endParaRPr lang="nl-NL" dirty="0"/>
                    </a:p>
                  </a:txBody>
                  <a:tcPr/>
                </a:tc>
                <a:extLst>
                  <a:ext uri="{0D108BD9-81ED-4DB2-BD59-A6C34878D82A}">
                    <a16:rowId xmlns:a16="http://schemas.microsoft.com/office/drawing/2014/main" val="1693219777"/>
                  </a:ext>
                </a:extLst>
              </a:tr>
              <a:tr h="370840">
                <a:tc>
                  <a:txBody>
                    <a:bodyPr/>
                    <a:lstStyle/>
                    <a:p>
                      <a:pPr algn="l"/>
                      <a:r>
                        <a:rPr lang="en-US" sz="1200" u="none" dirty="0">
                          <a:solidFill>
                            <a:srgbClr val="1E3A5F"/>
                          </a:solidFill>
                          <a:latin typeface="+mn-lt"/>
                          <a:ea typeface="微软雅黑" pitchFamily="34" charset="-122"/>
                          <a:cs typeface="微软雅黑" pitchFamily="34" charset="-120"/>
                        </a:rPr>
                        <a:t>R3: Systeem niet beschikbaar(beschikbaarheid)</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4</a:t>
                      </a:r>
                      <a:endParaRPr lang="en-US" sz="1200" dirty="0">
                        <a:latin typeface="+mn-lt"/>
                        <a:ea typeface="微软雅黑" charset="0"/>
                        <a:cs typeface="微软雅黑" charset="0"/>
                      </a:endParaRPr>
                    </a:p>
                  </a:txBody>
                  <a:tcPr marL="76200" marR="76200" marT="76200" marB="76200" anchor="ctr"/>
                </a:tc>
                <a:tc>
                  <a:txBody>
                    <a:bodyPr/>
                    <a:lstStyle/>
                    <a:p>
                      <a:pPr algn="ctr"/>
                      <a:r>
                        <a:rPr lang="en-US" dirty="0"/>
                        <a:t>12</a:t>
                      </a:r>
                      <a:endParaRPr lang="nl-NL" dirty="0"/>
                    </a:p>
                  </a:txBody>
                  <a:tcPr>
                    <a:solidFill>
                      <a:srgbClr val="FFC000"/>
                    </a:solidFill>
                  </a:tcPr>
                </a:tc>
                <a:tc>
                  <a:txBody>
                    <a:bodyPr/>
                    <a:lstStyle/>
                    <a:p>
                      <a:pPr algn="ctr"/>
                      <a:endParaRPr lang="nl-NL" dirty="0"/>
                    </a:p>
                  </a:txBody>
                  <a:tcPr/>
                </a:tc>
                <a:tc>
                  <a:txBody>
                    <a:bodyPr/>
                    <a:lstStyle/>
                    <a:p>
                      <a:pPr algn="ctr"/>
                      <a:endParaRPr lang="nl-NL" dirty="0"/>
                    </a:p>
                  </a:txBody>
                  <a:tcPr/>
                </a:tc>
                <a:tc>
                  <a:txBody>
                    <a:bodyPr/>
                    <a:lstStyle/>
                    <a:p>
                      <a:pPr algn="ctr"/>
                      <a:endParaRPr lang="nl-NL" dirty="0"/>
                    </a:p>
                  </a:txBody>
                  <a:tcPr/>
                </a:tc>
                <a:extLst>
                  <a:ext uri="{0D108BD9-81ED-4DB2-BD59-A6C34878D82A}">
                    <a16:rowId xmlns:a16="http://schemas.microsoft.com/office/drawing/2014/main" val="1207224924"/>
                  </a:ext>
                </a:extLst>
              </a:tr>
              <a:tr h="370840">
                <a:tc>
                  <a:txBody>
                    <a:bodyPr/>
                    <a:lstStyle/>
                    <a:p>
                      <a:pPr algn="l"/>
                      <a:r>
                        <a:rPr lang="en-US" sz="1200" u="none" dirty="0">
                          <a:solidFill>
                            <a:srgbClr val="1E3A5F"/>
                          </a:solidFill>
                          <a:latin typeface="+mn-lt"/>
                          <a:ea typeface="微软雅黑" pitchFamily="34" charset="-122"/>
                          <a:cs typeface="微软雅黑" pitchFamily="34" charset="-120"/>
                        </a:rPr>
                        <a:t>R4: Ransomware infectie</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5</a:t>
                      </a:r>
                      <a:endParaRPr lang="en-US" sz="1200" dirty="0">
                        <a:latin typeface="+mn-lt"/>
                        <a:ea typeface="微软雅黑" charset="0"/>
                        <a:cs typeface="微软雅黑" charset="0"/>
                      </a:endParaRPr>
                    </a:p>
                  </a:txBody>
                  <a:tcPr marL="76200" marR="76200" marT="76200" marB="76200" anchor="ctr"/>
                </a:tc>
                <a:tc>
                  <a:txBody>
                    <a:bodyPr/>
                    <a:lstStyle/>
                    <a:p>
                      <a:pPr algn="ctr"/>
                      <a:r>
                        <a:rPr lang="en-US" dirty="0"/>
                        <a:t>15</a:t>
                      </a:r>
                      <a:endParaRPr lang="nl-NL" dirty="0"/>
                    </a:p>
                  </a:txBody>
                  <a:tcPr>
                    <a:solidFill>
                      <a:srgbClr val="FF0000"/>
                    </a:solidFill>
                  </a:tcPr>
                </a:tc>
                <a:tc>
                  <a:txBody>
                    <a:bodyPr/>
                    <a:lstStyle/>
                    <a:p>
                      <a:pPr algn="ctr"/>
                      <a:endParaRPr lang="nl-NL" dirty="0"/>
                    </a:p>
                  </a:txBody>
                  <a:tcPr/>
                </a:tc>
                <a:tc>
                  <a:txBody>
                    <a:bodyPr/>
                    <a:lstStyle/>
                    <a:p>
                      <a:pPr algn="ctr"/>
                      <a:endParaRPr lang="nl-NL" dirty="0"/>
                    </a:p>
                  </a:txBody>
                  <a:tcPr/>
                </a:tc>
                <a:tc>
                  <a:txBody>
                    <a:bodyPr/>
                    <a:lstStyle/>
                    <a:p>
                      <a:pPr algn="ctr"/>
                      <a:endParaRPr lang="nl-NL" dirty="0"/>
                    </a:p>
                  </a:txBody>
                  <a:tcPr/>
                </a:tc>
                <a:extLst>
                  <a:ext uri="{0D108BD9-81ED-4DB2-BD59-A6C34878D82A}">
                    <a16:rowId xmlns:a16="http://schemas.microsoft.com/office/drawing/2014/main" val="473353528"/>
                  </a:ext>
                </a:extLst>
              </a:tr>
              <a:tr h="370840">
                <a:tc>
                  <a:txBody>
                    <a:bodyPr/>
                    <a:lstStyle/>
                    <a:p>
                      <a:pPr algn="l"/>
                      <a:r>
                        <a:rPr lang="en-US" sz="1200" u="none" dirty="0">
                          <a:solidFill>
                            <a:srgbClr val="1E3A5F"/>
                          </a:solidFill>
                          <a:latin typeface="+mn-lt"/>
                          <a:ea typeface="微软雅黑" pitchFamily="34" charset="-122"/>
                          <a:cs typeface="微软雅黑" pitchFamily="34" charset="-120"/>
                        </a:rPr>
                        <a:t>R5: Ongeautoriseerde toegang insider</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4</a:t>
                      </a:r>
                      <a:endParaRPr lang="en-US" sz="1200" dirty="0">
                        <a:latin typeface="+mn-lt"/>
                        <a:ea typeface="微软雅黑" charset="0"/>
                        <a:cs typeface="微软雅黑" charset="0"/>
                      </a:endParaRPr>
                    </a:p>
                  </a:txBody>
                  <a:tcPr marL="76200" marR="76200" marT="76200" marB="76200" anchor="ctr"/>
                </a:tc>
                <a:tc>
                  <a:txBody>
                    <a:bodyPr/>
                    <a:lstStyle/>
                    <a:p>
                      <a:pPr algn="ctr"/>
                      <a:r>
                        <a:rPr lang="en-US" dirty="0"/>
                        <a:t>12</a:t>
                      </a:r>
                      <a:endParaRPr lang="nl-NL" dirty="0"/>
                    </a:p>
                  </a:txBody>
                  <a:tcPr>
                    <a:solidFill>
                      <a:srgbClr val="FFC000"/>
                    </a:solidFill>
                  </a:tcPr>
                </a:tc>
                <a:tc>
                  <a:txBody>
                    <a:bodyPr/>
                    <a:lstStyle/>
                    <a:p>
                      <a:pPr algn="ctr"/>
                      <a:endParaRPr lang="nl-NL" dirty="0"/>
                    </a:p>
                  </a:txBody>
                  <a:tcPr/>
                </a:tc>
                <a:tc>
                  <a:txBody>
                    <a:bodyPr/>
                    <a:lstStyle/>
                    <a:p>
                      <a:pPr algn="ctr"/>
                      <a:endParaRPr lang="nl-NL" dirty="0"/>
                    </a:p>
                  </a:txBody>
                  <a:tcPr/>
                </a:tc>
                <a:tc>
                  <a:txBody>
                    <a:bodyPr/>
                    <a:lstStyle/>
                    <a:p>
                      <a:pPr algn="ctr"/>
                      <a:endParaRPr lang="nl-NL" dirty="0"/>
                    </a:p>
                  </a:txBody>
                  <a:tcPr/>
                </a:tc>
                <a:extLst>
                  <a:ext uri="{0D108BD9-81ED-4DB2-BD59-A6C34878D82A}">
                    <a16:rowId xmlns:a16="http://schemas.microsoft.com/office/drawing/2014/main" val="2147703487"/>
                  </a:ext>
                </a:extLst>
              </a:tr>
              <a:tr h="370840">
                <a:tc>
                  <a:txBody>
                    <a:bodyPr/>
                    <a:lstStyle/>
                    <a:p>
                      <a:pPr algn="l"/>
                      <a:r>
                        <a:rPr lang="en-US" sz="1200" u="none" dirty="0">
                          <a:solidFill>
                            <a:srgbClr val="1E3A5F"/>
                          </a:solidFill>
                          <a:latin typeface="+mn-lt"/>
                          <a:ea typeface="微软雅黑" pitchFamily="34" charset="-122"/>
                          <a:cs typeface="微软雅黑" pitchFamily="34" charset="-120"/>
                        </a:rPr>
                        <a:t>R6: Phishing succesvol</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4</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4</a:t>
                      </a:r>
                      <a:endParaRPr lang="en-US" sz="1200" dirty="0">
                        <a:latin typeface="+mn-lt"/>
                        <a:ea typeface="微软雅黑" charset="0"/>
                        <a:cs typeface="微软雅黑" charset="0"/>
                      </a:endParaRPr>
                    </a:p>
                  </a:txBody>
                  <a:tcPr marL="76200" marR="76200" marT="76200" marB="76200" anchor="ctr"/>
                </a:tc>
                <a:tc>
                  <a:txBody>
                    <a:bodyPr/>
                    <a:lstStyle/>
                    <a:p>
                      <a:pPr algn="ctr"/>
                      <a:r>
                        <a:rPr lang="en-US" dirty="0"/>
                        <a:t>16</a:t>
                      </a:r>
                      <a:endParaRPr lang="nl-NL" dirty="0"/>
                    </a:p>
                  </a:txBody>
                  <a:tcPr>
                    <a:solidFill>
                      <a:srgbClr val="FF0000"/>
                    </a:solidFill>
                  </a:tcPr>
                </a:tc>
                <a:tc>
                  <a:txBody>
                    <a:bodyPr/>
                    <a:lstStyle/>
                    <a:p>
                      <a:pPr algn="ctr"/>
                      <a:endParaRPr lang="nl-NL" dirty="0"/>
                    </a:p>
                  </a:txBody>
                  <a:tcPr/>
                </a:tc>
                <a:tc>
                  <a:txBody>
                    <a:bodyPr/>
                    <a:lstStyle/>
                    <a:p>
                      <a:pPr algn="ctr"/>
                      <a:endParaRPr lang="nl-NL" dirty="0"/>
                    </a:p>
                  </a:txBody>
                  <a:tcPr/>
                </a:tc>
                <a:tc>
                  <a:txBody>
                    <a:bodyPr/>
                    <a:lstStyle/>
                    <a:p>
                      <a:pPr algn="ctr"/>
                      <a:endParaRPr lang="nl-NL" dirty="0"/>
                    </a:p>
                  </a:txBody>
                  <a:tcPr/>
                </a:tc>
                <a:extLst>
                  <a:ext uri="{0D108BD9-81ED-4DB2-BD59-A6C34878D82A}">
                    <a16:rowId xmlns:a16="http://schemas.microsoft.com/office/drawing/2014/main" val="3837230589"/>
                  </a:ext>
                </a:extLst>
              </a:tr>
              <a:tr h="370840">
                <a:tc>
                  <a:txBody>
                    <a:bodyPr/>
                    <a:lstStyle/>
                    <a:p>
                      <a:pPr algn="l"/>
                      <a:r>
                        <a:rPr lang="en-US" sz="1200" u="none" dirty="0">
                          <a:solidFill>
                            <a:srgbClr val="1E3A5F"/>
                          </a:solidFill>
                          <a:latin typeface="+mn-lt"/>
                          <a:ea typeface="微软雅黑" pitchFamily="34" charset="-122"/>
                          <a:cs typeface="微软雅黑" pitchFamily="34" charset="-120"/>
                        </a:rPr>
                        <a:t>R7: Internet uitval langdurig</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3</a:t>
                      </a:r>
                      <a:endParaRPr lang="en-US" sz="1200" dirty="0">
                        <a:latin typeface="+mn-lt"/>
                        <a:ea typeface="微软雅黑" charset="0"/>
                        <a:cs typeface="微软雅黑" charset="0"/>
                      </a:endParaRPr>
                    </a:p>
                  </a:txBody>
                  <a:tcPr marL="76200" marR="76200" marT="76200" marB="76200" anchor="ctr"/>
                </a:tc>
                <a:tc>
                  <a:txBody>
                    <a:bodyPr/>
                    <a:lstStyle/>
                    <a:p>
                      <a:pPr algn="ctr"/>
                      <a:r>
                        <a:rPr lang="en-US" dirty="0"/>
                        <a:t>6</a:t>
                      </a:r>
                      <a:endParaRPr lang="nl-NL" dirty="0"/>
                    </a:p>
                  </a:txBody>
                  <a:tcPr>
                    <a:solidFill>
                      <a:srgbClr val="FFC000"/>
                    </a:solidFill>
                  </a:tcPr>
                </a:tc>
                <a:tc>
                  <a:txBody>
                    <a:bodyPr/>
                    <a:lstStyle/>
                    <a:p>
                      <a:pPr algn="ctr"/>
                      <a:endParaRPr lang="nl-NL" dirty="0"/>
                    </a:p>
                  </a:txBody>
                  <a:tcPr/>
                </a:tc>
                <a:tc>
                  <a:txBody>
                    <a:bodyPr/>
                    <a:lstStyle/>
                    <a:p>
                      <a:pPr algn="ctr"/>
                      <a:endParaRPr lang="nl-NL" dirty="0"/>
                    </a:p>
                  </a:txBody>
                  <a:tcPr/>
                </a:tc>
                <a:tc>
                  <a:txBody>
                    <a:bodyPr/>
                    <a:lstStyle/>
                    <a:p>
                      <a:pPr algn="ctr"/>
                      <a:endParaRPr lang="nl-NL" dirty="0"/>
                    </a:p>
                  </a:txBody>
                  <a:tcPr/>
                </a:tc>
                <a:extLst>
                  <a:ext uri="{0D108BD9-81ED-4DB2-BD59-A6C34878D82A}">
                    <a16:rowId xmlns:a16="http://schemas.microsoft.com/office/drawing/2014/main" val="1720373518"/>
                  </a:ext>
                </a:extLst>
              </a:tr>
              <a:tr h="370840">
                <a:tc>
                  <a:txBody>
                    <a:bodyPr/>
                    <a:lstStyle/>
                    <a:p>
                      <a:pPr algn="l"/>
                      <a:r>
                        <a:rPr lang="en-US" sz="1200" u="none" dirty="0">
                          <a:solidFill>
                            <a:srgbClr val="1E3A5F"/>
                          </a:solidFill>
                          <a:latin typeface="+mn-lt"/>
                          <a:ea typeface="微软雅黑" pitchFamily="34" charset="-122"/>
                          <a:cs typeface="微软雅黑" pitchFamily="34" charset="-120"/>
                        </a:rPr>
                        <a:t>R8: Server storing cloud provider</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2</a:t>
                      </a:r>
                      <a:endParaRPr lang="en-US" sz="1200" dirty="0">
                        <a:latin typeface="+mn-lt"/>
                        <a:ea typeface="微软雅黑" charset="0"/>
                        <a:cs typeface="微软雅黑" charset="0"/>
                      </a:endParaRPr>
                    </a:p>
                  </a:txBody>
                  <a:tcPr marL="76200" marR="76200" marT="76200" marB="76200" anchor="ctr"/>
                </a:tc>
                <a:tc>
                  <a:txBody>
                    <a:bodyPr/>
                    <a:lstStyle/>
                    <a:p>
                      <a:pPr algn="ctr"/>
                      <a:r>
                        <a:rPr lang="en-US" sz="1200" u="none" dirty="0">
                          <a:solidFill>
                            <a:srgbClr val="1E3A5F"/>
                          </a:solidFill>
                          <a:latin typeface="+mn-lt"/>
                          <a:ea typeface="微软雅黑" pitchFamily="34" charset="-122"/>
                          <a:cs typeface="微软雅黑" pitchFamily="34" charset="-120"/>
                        </a:rPr>
                        <a:t>4</a:t>
                      </a:r>
                      <a:endParaRPr lang="en-US" sz="1200" dirty="0">
                        <a:latin typeface="+mn-lt"/>
                        <a:ea typeface="微软雅黑" charset="0"/>
                        <a:cs typeface="微软雅黑" charset="0"/>
                      </a:endParaRPr>
                    </a:p>
                  </a:txBody>
                  <a:tcPr marL="76200" marR="76200" marT="76200" marB="76200" anchor="ctr"/>
                </a:tc>
                <a:tc>
                  <a:txBody>
                    <a:bodyPr/>
                    <a:lstStyle/>
                    <a:p>
                      <a:pPr algn="ctr"/>
                      <a:r>
                        <a:rPr lang="en-US" dirty="0"/>
                        <a:t>8</a:t>
                      </a:r>
                      <a:endParaRPr lang="nl-NL" dirty="0"/>
                    </a:p>
                  </a:txBody>
                  <a:tcPr>
                    <a:solidFill>
                      <a:srgbClr val="FFC000"/>
                    </a:solidFill>
                  </a:tcPr>
                </a:tc>
                <a:tc>
                  <a:txBody>
                    <a:bodyPr/>
                    <a:lstStyle/>
                    <a:p>
                      <a:pPr algn="ctr"/>
                      <a:endParaRPr lang="nl-NL" dirty="0"/>
                    </a:p>
                  </a:txBody>
                  <a:tcPr/>
                </a:tc>
                <a:tc>
                  <a:txBody>
                    <a:bodyPr/>
                    <a:lstStyle/>
                    <a:p>
                      <a:pPr algn="ctr"/>
                      <a:endParaRPr lang="nl-NL" dirty="0"/>
                    </a:p>
                  </a:txBody>
                  <a:tcPr/>
                </a:tc>
                <a:tc>
                  <a:txBody>
                    <a:bodyPr/>
                    <a:lstStyle/>
                    <a:p>
                      <a:pPr algn="ctr"/>
                      <a:endParaRPr lang="nl-NL" dirty="0"/>
                    </a:p>
                  </a:txBody>
                  <a:tcPr/>
                </a:tc>
                <a:extLst>
                  <a:ext uri="{0D108BD9-81ED-4DB2-BD59-A6C34878D82A}">
                    <a16:rowId xmlns:a16="http://schemas.microsoft.com/office/drawing/2014/main" val="2399202734"/>
                  </a:ext>
                </a:extLst>
              </a:tr>
            </a:tbl>
          </a:graphicData>
        </a:graphic>
      </p:graphicFrame>
      <p:sp>
        <p:nvSpPr>
          <p:cNvPr id="6" name="Tekstvak 5">
            <a:extLst>
              <a:ext uri="{FF2B5EF4-FFF2-40B4-BE49-F238E27FC236}">
                <a16:creationId xmlns:a16="http://schemas.microsoft.com/office/drawing/2014/main" id="{F7419E97-D9A1-249B-57C5-D77EF1D3BCC4}"/>
              </a:ext>
            </a:extLst>
          </p:cNvPr>
          <p:cNvSpPr txBox="1"/>
          <p:nvPr/>
        </p:nvSpPr>
        <p:spPr>
          <a:xfrm>
            <a:off x="8940711" y="882134"/>
            <a:ext cx="2155371" cy="369332"/>
          </a:xfrm>
          <a:prstGeom prst="rect">
            <a:avLst/>
          </a:prstGeom>
          <a:noFill/>
        </p:spPr>
        <p:txBody>
          <a:bodyPr wrap="square">
            <a:spAutoFit/>
          </a:bodyPr>
          <a:lstStyle/>
          <a:p>
            <a:r>
              <a:rPr lang="nl-NL" b="1" dirty="0"/>
              <a:t>K</a:t>
            </a:r>
            <a:r>
              <a:rPr lang="nl-NL" b="0" dirty="0"/>
              <a:t>ans, </a:t>
            </a:r>
            <a:r>
              <a:rPr lang="nl-NL" b="1" i="0" dirty="0"/>
              <a:t>I</a:t>
            </a:r>
            <a:r>
              <a:rPr lang="nl-NL" b="0" i="0" dirty="0"/>
              <a:t>mpact, </a:t>
            </a:r>
            <a:r>
              <a:rPr lang="nl-NL" b="1" i="0" dirty="0"/>
              <a:t>R</a:t>
            </a:r>
            <a:r>
              <a:rPr lang="nl-NL" b="0" i="0" dirty="0"/>
              <a:t>isico</a:t>
            </a:r>
            <a:endParaRPr lang="nl-NL" b="1" dirty="0"/>
          </a:p>
        </p:txBody>
      </p:sp>
    </p:spTree>
    <p:extLst>
      <p:ext uri="{BB962C8B-B14F-4D97-AF65-F5344CB8AC3E}">
        <p14:creationId xmlns:p14="http://schemas.microsoft.com/office/powerpoint/2010/main" val="3090660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1">
            <a:extLst>
              <a:ext uri="{FF2B5EF4-FFF2-40B4-BE49-F238E27FC236}">
                <a16:creationId xmlns:a16="http://schemas.microsoft.com/office/drawing/2014/main" id="{B81FEEEB-26D1-B624-122D-D458DA9D6725}"/>
              </a:ext>
            </a:extLst>
          </p:cNvPr>
          <p:cNvSpPr>
            <a:spLocks noGrp="1"/>
          </p:cNvSpPr>
          <p:nvPr>
            <p:ph type="title"/>
          </p:nvPr>
        </p:nvSpPr>
        <p:spPr>
          <a:xfrm>
            <a:off x="880110" y="511177"/>
            <a:ext cx="11041380" cy="1855788"/>
          </a:xfrm>
        </p:spPr>
        <p:txBody>
          <a:bodyPr anchor="ctr">
            <a:normAutofit/>
          </a:bodyPr>
          <a:lstStyle/>
          <a:p>
            <a:r>
              <a:rPr lang="nl-NL" dirty="0"/>
              <a:t>Matrix</a:t>
            </a:r>
          </a:p>
        </p:txBody>
      </p:sp>
      <p:pic>
        <p:nvPicPr>
          <p:cNvPr id="6" name="Picture 5">
            <a:extLst>
              <a:ext uri="{FF2B5EF4-FFF2-40B4-BE49-F238E27FC236}">
                <a16:creationId xmlns:a16="http://schemas.microsoft.com/office/drawing/2014/main" id="{C2543BF6-3D02-7F53-6AB9-8D7A8D2241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110" y="3333034"/>
            <a:ext cx="11041380" cy="4537554"/>
          </a:xfrm>
          <a:prstGeom prst="rect">
            <a:avLst/>
          </a:prstGeom>
          <a:noFill/>
        </p:spPr>
      </p:pic>
    </p:spTree>
    <p:extLst>
      <p:ext uri="{BB962C8B-B14F-4D97-AF65-F5344CB8AC3E}">
        <p14:creationId xmlns:p14="http://schemas.microsoft.com/office/powerpoint/2010/main" val="2254201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CEDE7C-4938-BCD0-0B05-D935AF63A752}"/>
              </a:ext>
            </a:extLst>
          </p:cNvPr>
          <p:cNvSpPr>
            <a:spLocks noGrp="1"/>
          </p:cNvSpPr>
          <p:nvPr>
            <p:ph type="title"/>
          </p:nvPr>
        </p:nvSpPr>
        <p:spPr>
          <a:xfrm>
            <a:off x="469106" y="613722"/>
            <a:ext cx="11041380" cy="555623"/>
          </a:xfrm>
        </p:spPr>
        <p:txBody>
          <a:bodyPr>
            <a:normAutofit fontScale="90000"/>
          </a:bodyPr>
          <a:lstStyle/>
          <a:p>
            <a:r>
              <a:rPr lang="nl-NL" dirty="0"/>
              <a:t>Reflectie</a:t>
            </a:r>
          </a:p>
        </p:txBody>
      </p:sp>
      <p:sp>
        <p:nvSpPr>
          <p:cNvPr id="8" name="TextBox 7">
            <a:extLst>
              <a:ext uri="{FF2B5EF4-FFF2-40B4-BE49-F238E27FC236}">
                <a16:creationId xmlns:a16="http://schemas.microsoft.com/office/drawing/2014/main" id="{BDED3019-122C-8957-BE97-606A7F8B4C13}"/>
              </a:ext>
            </a:extLst>
          </p:cNvPr>
          <p:cNvSpPr txBox="1"/>
          <p:nvPr/>
        </p:nvSpPr>
        <p:spPr>
          <a:xfrm>
            <a:off x="466344" y="1389537"/>
            <a:ext cx="6400800" cy="463075"/>
          </a:xfrm>
          <a:prstGeom prst="rect">
            <a:avLst/>
          </a:prstGeom>
          <a:noFill/>
        </p:spPr>
        <p:txBody>
          <a:bodyPr wrap="square">
            <a:spAutoFit/>
          </a:bodyPr>
          <a:lstStyle/>
          <a:p>
            <a:pPr>
              <a:lnSpc>
                <a:spcPct val="150000"/>
              </a:lnSpc>
            </a:pPr>
            <a:r>
              <a:rPr lang="en-US" sz="1800" b="1" dirty="0" err="1">
                <a:ea typeface="MiSans" pitchFamily="34" charset="-122"/>
                <a:cs typeface="MiSans" pitchFamily="34" charset="-120"/>
              </a:rPr>
              <a:t>Analyse</a:t>
            </a:r>
            <a:r>
              <a:rPr lang="en-US" sz="1800" b="1" dirty="0">
                <a:ea typeface="MiSans" pitchFamily="34" charset="-122"/>
                <a:cs typeface="MiSans" pitchFamily="34" charset="-120"/>
              </a:rPr>
              <a:t> van de </a:t>
            </a:r>
            <a:r>
              <a:rPr lang="en-US" sz="1800" b="1" dirty="0" err="1">
                <a:ea typeface="MiSans" pitchFamily="34" charset="-122"/>
                <a:cs typeface="MiSans" pitchFamily="34" charset="-120"/>
              </a:rPr>
              <a:t>risico's</a:t>
            </a:r>
            <a:r>
              <a:rPr lang="en-US" sz="1800" b="1" dirty="0">
                <a:ea typeface="MiSans" pitchFamily="34" charset="-122"/>
                <a:cs typeface="MiSans" pitchFamily="34" charset="-120"/>
              </a:rPr>
              <a:t>:</a:t>
            </a:r>
            <a:endParaRPr lang="en-US" sz="2400" dirty="0"/>
          </a:p>
        </p:txBody>
      </p:sp>
      <p:sp>
        <p:nvSpPr>
          <p:cNvPr id="9" name="Text 4">
            <a:extLst>
              <a:ext uri="{FF2B5EF4-FFF2-40B4-BE49-F238E27FC236}">
                <a16:creationId xmlns:a16="http://schemas.microsoft.com/office/drawing/2014/main" id="{F9EEE8B3-97FE-06D4-68BB-B0EB74D5A920}"/>
              </a:ext>
            </a:extLst>
          </p:cNvPr>
          <p:cNvSpPr/>
          <p:nvPr/>
        </p:nvSpPr>
        <p:spPr>
          <a:xfrm>
            <a:off x="548640" y="2940058"/>
            <a:ext cx="10644188" cy="1074610"/>
          </a:xfrm>
          <a:prstGeom prst="rect">
            <a:avLst/>
          </a:prstGeom>
          <a:noFill/>
          <a:ln/>
        </p:spPr>
        <p:txBody>
          <a:bodyPr wrap="square" lIns="0" tIns="0" rIns="0" bIns="0" rtlCol="0" anchor="ctr"/>
          <a:lstStyle/>
          <a:p>
            <a:r>
              <a:rPr lang="en-US" dirty="0">
                <a:ea typeface="MiSans" pitchFamily="34" charset="-122"/>
                <a:cs typeface="MiSans" pitchFamily="34" charset="-120"/>
              </a:rPr>
              <a:t>Door de </a:t>
            </a:r>
            <a:r>
              <a:rPr lang="en-US" dirty="0" err="1">
                <a:ea typeface="MiSans" pitchFamily="34" charset="-122"/>
                <a:cs typeface="MiSans" pitchFamily="34" charset="-120"/>
              </a:rPr>
              <a:t>implementatie</a:t>
            </a:r>
            <a:r>
              <a:rPr lang="en-US" dirty="0">
                <a:ea typeface="MiSans" pitchFamily="34" charset="-122"/>
                <a:cs typeface="MiSans" pitchFamily="34" charset="-120"/>
              </a:rPr>
              <a:t> van de </a:t>
            </a:r>
            <a:r>
              <a:rPr lang="en-US" dirty="0" err="1">
                <a:ea typeface="MiSans" pitchFamily="34" charset="-122"/>
                <a:cs typeface="MiSans" pitchFamily="34" charset="-120"/>
              </a:rPr>
              <a:t>voorgestelde</a:t>
            </a:r>
            <a:r>
              <a:rPr lang="en-US" dirty="0">
                <a:ea typeface="MiSans" pitchFamily="34" charset="-122"/>
                <a:cs typeface="MiSans" pitchFamily="34" charset="-120"/>
              </a:rPr>
              <a:t> </a:t>
            </a:r>
            <a:r>
              <a:rPr lang="en-US" dirty="0" err="1">
                <a:ea typeface="MiSans" pitchFamily="34" charset="-122"/>
                <a:cs typeface="MiSans" pitchFamily="34" charset="-120"/>
              </a:rPr>
              <a:t>preventieve</a:t>
            </a:r>
            <a:r>
              <a:rPr lang="en-US" dirty="0">
                <a:ea typeface="MiSans" pitchFamily="34" charset="-122"/>
                <a:cs typeface="MiSans" pitchFamily="34" charset="-120"/>
              </a:rPr>
              <a:t> </a:t>
            </a:r>
            <a:r>
              <a:rPr lang="en-US" dirty="0" err="1">
                <a:ea typeface="MiSans" pitchFamily="34" charset="-122"/>
                <a:cs typeface="MiSans" pitchFamily="34" charset="-120"/>
              </a:rPr>
              <a:t>en</a:t>
            </a:r>
            <a:r>
              <a:rPr lang="en-US" dirty="0">
                <a:ea typeface="MiSans" pitchFamily="34" charset="-122"/>
                <a:cs typeface="MiSans" pitchFamily="34" charset="-120"/>
              </a:rPr>
              <a:t> </a:t>
            </a:r>
            <a:r>
              <a:rPr lang="en-US" dirty="0" err="1">
                <a:ea typeface="MiSans" pitchFamily="34" charset="-122"/>
                <a:cs typeface="MiSans" pitchFamily="34" charset="-120"/>
              </a:rPr>
              <a:t>correctieve</a:t>
            </a:r>
            <a:r>
              <a:rPr lang="en-US" dirty="0">
                <a:ea typeface="MiSans" pitchFamily="34" charset="-122"/>
                <a:cs typeface="MiSans" pitchFamily="34" charset="-120"/>
              </a:rPr>
              <a:t> </a:t>
            </a:r>
            <a:r>
              <a:rPr lang="en-US" dirty="0" err="1">
                <a:ea typeface="MiSans" pitchFamily="34" charset="-122"/>
                <a:cs typeface="MiSans" pitchFamily="34" charset="-120"/>
              </a:rPr>
              <a:t>maatregelen</a:t>
            </a:r>
            <a:r>
              <a:rPr lang="en-US" dirty="0">
                <a:ea typeface="MiSans" pitchFamily="34" charset="-122"/>
                <a:cs typeface="MiSans" pitchFamily="34" charset="-120"/>
              </a:rPr>
              <a:t> </a:t>
            </a:r>
            <a:r>
              <a:rPr lang="en-US" dirty="0" err="1">
                <a:ea typeface="MiSans" pitchFamily="34" charset="-122"/>
                <a:cs typeface="MiSans" pitchFamily="34" charset="-120"/>
              </a:rPr>
              <a:t>kan</a:t>
            </a:r>
            <a:r>
              <a:rPr lang="en-US" dirty="0">
                <a:ea typeface="MiSans" pitchFamily="34" charset="-122"/>
                <a:cs typeface="MiSans" pitchFamily="34" charset="-120"/>
              </a:rPr>
              <a:t> het </a:t>
            </a:r>
            <a:r>
              <a:rPr lang="en-US" dirty="0" err="1">
                <a:ea typeface="MiSans" pitchFamily="34" charset="-122"/>
                <a:cs typeface="MiSans" pitchFamily="34" charset="-120"/>
              </a:rPr>
              <a:t>risiconiveau</a:t>
            </a:r>
            <a:r>
              <a:rPr lang="en-US" dirty="0">
                <a:ea typeface="MiSans" pitchFamily="34" charset="-122"/>
                <a:cs typeface="MiSans" pitchFamily="34" charset="-120"/>
              </a:rPr>
              <a:t> significant </a:t>
            </a:r>
            <a:r>
              <a:rPr lang="en-US" dirty="0" err="1">
                <a:ea typeface="MiSans" pitchFamily="34" charset="-122"/>
                <a:cs typeface="MiSans" pitchFamily="34" charset="-120"/>
              </a:rPr>
              <a:t>worden</a:t>
            </a:r>
            <a:r>
              <a:rPr lang="en-US" dirty="0">
                <a:ea typeface="MiSans" pitchFamily="34" charset="-122"/>
                <a:cs typeface="MiSans" pitchFamily="34" charset="-120"/>
              </a:rPr>
              <a:t> </a:t>
            </a:r>
            <a:r>
              <a:rPr lang="en-US" dirty="0" err="1">
                <a:ea typeface="MiSans" pitchFamily="34" charset="-122"/>
                <a:cs typeface="MiSans" pitchFamily="34" charset="-120"/>
              </a:rPr>
              <a:t>teruggebracht</a:t>
            </a:r>
            <a:r>
              <a:rPr lang="en-US" dirty="0">
                <a:ea typeface="MiSans" pitchFamily="34" charset="-122"/>
                <a:cs typeface="MiSans" pitchFamily="34" charset="-120"/>
              </a:rPr>
              <a:t>. De </a:t>
            </a:r>
            <a:r>
              <a:rPr lang="en-US" dirty="0" err="1">
                <a:ea typeface="MiSans" pitchFamily="34" charset="-122"/>
                <a:cs typeface="MiSans" pitchFamily="34" charset="-120"/>
              </a:rPr>
              <a:t>meeste</a:t>
            </a:r>
            <a:r>
              <a:rPr lang="en-US" dirty="0">
                <a:ea typeface="MiSans" pitchFamily="34" charset="-122"/>
                <a:cs typeface="MiSans" pitchFamily="34" charset="-120"/>
              </a:rPr>
              <a:t> </a:t>
            </a:r>
            <a:r>
              <a:rPr lang="en-US" dirty="0" err="1">
                <a:ea typeface="MiSans" pitchFamily="34" charset="-122"/>
                <a:cs typeface="MiSans" pitchFamily="34" charset="-120"/>
              </a:rPr>
              <a:t>risico's</a:t>
            </a:r>
            <a:r>
              <a:rPr lang="en-US" dirty="0">
                <a:ea typeface="MiSans" pitchFamily="34" charset="-122"/>
                <a:cs typeface="MiSans" pitchFamily="34" charset="-120"/>
              </a:rPr>
              <a:t> </a:t>
            </a:r>
            <a:r>
              <a:rPr lang="en-US" dirty="0" err="1">
                <a:ea typeface="MiSans" pitchFamily="34" charset="-122"/>
                <a:cs typeface="MiSans" pitchFamily="34" charset="-120"/>
              </a:rPr>
              <a:t>kunnen</a:t>
            </a:r>
            <a:r>
              <a:rPr lang="en-US" dirty="0">
                <a:ea typeface="MiSans" pitchFamily="34" charset="-122"/>
                <a:cs typeface="MiSans" pitchFamily="34" charset="-120"/>
              </a:rPr>
              <a:t> </a:t>
            </a:r>
            <a:r>
              <a:rPr lang="en-US" dirty="0" err="1">
                <a:ea typeface="MiSans" pitchFamily="34" charset="-122"/>
                <a:cs typeface="MiSans" pitchFamily="34" charset="-120"/>
              </a:rPr>
              <a:t>worden</a:t>
            </a:r>
            <a:r>
              <a:rPr lang="en-US" dirty="0">
                <a:ea typeface="MiSans" pitchFamily="34" charset="-122"/>
                <a:cs typeface="MiSans" pitchFamily="34" charset="-120"/>
              </a:rPr>
              <a:t> </a:t>
            </a:r>
            <a:r>
              <a:rPr lang="en-US" dirty="0" err="1">
                <a:ea typeface="MiSans" pitchFamily="34" charset="-122"/>
                <a:cs typeface="MiSans" pitchFamily="34" charset="-120"/>
              </a:rPr>
              <a:t>gereduceerd</a:t>
            </a:r>
            <a:r>
              <a:rPr lang="en-US" dirty="0">
                <a:ea typeface="MiSans" pitchFamily="34" charset="-122"/>
                <a:cs typeface="MiSans" pitchFamily="34" charset="-120"/>
              </a:rPr>
              <a:t> </a:t>
            </a:r>
            <a:r>
              <a:rPr lang="en-US" dirty="0" err="1">
                <a:ea typeface="MiSans" pitchFamily="34" charset="-122"/>
                <a:cs typeface="MiSans" pitchFamily="34" charset="-120"/>
              </a:rPr>
              <a:t>naar</a:t>
            </a:r>
            <a:r>
              <a:rPr lang="en-US" dirty="0">
                <a:ea typeface="MiSans" pitchFamily="34" charset="-122"/>
                <a:cs typeface="MiSans" pitchFamily="34" charset="-120"/>
              </a:rPr>
              <a:t> </a:t>
            </a:r>
            <a:r>
              <a:rPr lang="en-US" dirty="0" err="1">
                <a:ea typeface="MiSans" pitchFamily="34" charset="-122"/>
                <a:cs typeface="MiSans" pitchFamily="34" charset="-120"/>
              </a:rPr>
              <a:t>een</a:t>
            </a:r>
            <a:r>
              <a:rPr lang="en-US" dirty="0">
                <a:ea typeface="MiSans" pitchFamily="34" charset="-122"/>
                <a:cs typeface="MiSans" pitchFamily="34" charset="-120"/>
              </a:rPr>
              <a:t> </a:t>
            </a:r>
            <a:r>
              <a:rPr lang="en-US" dirty="0" err="1">
                <a:ea typeface="MiSans" pitchFamily="34" charset="-122"/>
                <a:cs typeface="MiSans" pitchFamily="34" charset="-120"/>
              </a:rPr>
              <a:t>acceptabel</a:t>
            </a:r>
            <a:r>
              <a:rPr lang="en-US" dirty="0">
                <a:ea typeface="MiSans" pitchFamily="34" charset="-122"/>
                <a:cs typeface="MiSans" pitchFamily="34" charset="-120"/>
              </a:rPr>
              <a:t> </a:t>
            </a:r>
            <a:r>
              <a:rPr lang="en-US" dirty="0" err="1">
                <a:ea typeface="MiSans" pitchFamily="34" charset="-122"/>
                <a:cs typeface="MiSans" pitchFamily="34" charset="-120"/>
              </a:rPr>
              <a:t>niveau</a:t>
            </a:r>
            <a:r>
              <a:rPr lang="en-US" dirty="0">
                <a:ea typeface="MiSans" pitchFamily="34" charset="-122"/>
                <a:cs typeface="MiSans" pitchFamily="34" charset="-120"/>
              </a:rPr>
              <a:t> (</a:t>
            </a:r>
            <a:r>
              <a:rPr lang="en-US" dirty="0" err="1">
                <a:ea typeface="MiSans" pitchFamily="34" charset="-122"/>
                <a:cs typeface="MiSans" pitchFamily="34" charset="-120"/>
              </a:rPr>
              <a:t>risicoscore</a:t>
            </a:r>
            <a:r>
              <a:rPr lang="en-US" dirty="0">
                <a:ea typeface="MiSans" pitchFamily="34" charset="-122"/>
                <a:cs typeface="MiSans" pitchFamily="34" charset="-120"/>
              </a:rPr>
              <a:t> 3-5). Met name MFA, awareness training </a:t>
            </a:r>
            <a:r>
              <a:rPr lang="en-US" dirty="0" err="1">
                <a:ea typeface="MiSans" pitchFamily="34" charset="-122"/>
                <a:cs typeface="MiSans" pitchFamily="34" charset="-120"/>
              </a:rPr>
              <a:t>en</a:t>
            </a:r>
            <a:r>
              <a:rPr lang="en-US" dirty="0">
                <a:ea typeface="MiSans" pitchFamily="34" charset="-122"/>
                <a:cs typeface="MiSans" pitchFamily="34" charset="-120"/>
              </a:rPr>
              <a:t> </a:t>
            </a:r>
            <a:r>
              <a:rPr lang="en-US" dirty="0" err="1">
                <a:ea typeface="MiSans" pitchFamily="34" charset="-122"/>
                <a:cs typeface="MiSans" pitchFamily="34" charset="-120"/>
              </a:rPr>
              <a:t>een</a:t>
            </a:r>
            <a:r>
              <a:rPr lang="en-US" dirty="0">
                <a:ea typeface="MiSans" pitchFamily="34" charset="-122"/>
                <a:cs typeface="MiSans" pitchFamily="34" charset="-120"/>
              </a:rPr>
              <a:t> </a:t>
            </a:r>
            <a:r>
              <a:rPr lang="en-US" dirty="0" err="1">
                <a:ea typeface="MiSans" pitchFamily="34" charset="-122"/>
                <a:cs typeface="MiSans" pitchFamily="34" charset="-120"/>
              </a:rPr>
              <a:t>goed</a:t>
            </a:r>
            <a:r>
              <a:rPr lang="en-US" dirty="0">
                <a:ea typeface="MiSans" pitchFamily="34" charset="-122"/>
                <a:cs typeface="MiSans" pitchFamily="34" charset="-120"/>
              </a:rPr>
              <a:t> incident response plan </a:t>
            </a:r>
            <a:r>
              <a:rPr lang="en-US" dirty="0" err="1">
                <a:ea typeface="MiSans" pitchFamily="34" charset="-122"/>
                <a:cs typeface="MiSans" pitchFamily="34" charset="-120"/>
              </a:rPr>
              <a:t>zijn</a:t>
            </a:r>
            <a:r>
              <a:rPr lang="en-US" dirty="0">
                <a:ea typeface="MiSans" pitchFamily="34" charset="-122"/>
                <a:cs typeface="MiSans" pitchFamily="34" charset="-120"/>
              </a:rPr>
              <a:t> </a:t>
            </a:r>
            <a:r>
              <a:rPr lang="en-US" dirty="0" err="1">
                <a:ea typeface="MiSans" pitchFamily="34" charset="-122"/>
                <a:cs typeface="MiSans" pitchFamily="34" charset="-120"/>
              </a:rPr>
              <a:t>kritieke</a:t>
            </a:r>
            <a:r>
              <a:rPr lang="en-US" dirty="0">
                <a:ea typeface="MiSans" pitchFamily="34" charset="-122"/>
                <a:cs typeface="MiSans" pitchFamily="34" charset="-120"/>
              </a:rPr>
              <a:t> </a:t>
            </a:r>
            <a:r>
              <a:rPr lang="en-US" dirty="0" err="1">
                <a:ea typeface="MiSans" pitchFamily="34" charset="-122"/>
                <a:cs typeface="MiSans" pitchFamily="34" charset="-120"/>
              </a:rPr>
              <a:t>succesfactoren</a:t>
            </a:r>
            <a:r>
              <a:rPr lang="en-US" dirty="0">
                <a:ea typeface="MiSans" pitchFamily="34" charset="-122"/>
                <a:cs typeface="MiSans" pitchFamily="34" charset="-120"/>
              </a:rPr>
              <a:t>.</a:t>
            </a:r>
            <a:endParaRPr lang="en-US" dirty="0"/>
          </a:p>
        </p:txBody>
      </p:sp>
      <p:sp>
        <p:nvSpPr>
          <p:cNvPr id="10" name="Text 4">
            <a:extLst>
              <a:ext uri="{FF2B5EF4-FFF2-40B4-BE49-F238E27FC236}">
                <a16:creationId xmlns:a16="http://schemas.microsoft.com/office/drawing/2014/main" id="{2BD7D46D-6621-F353-3509-DBEDB06FE963}"/>
              </a:ext>
            </a:extLst>
          </p:cNvPr>
          <p:cNvSpPr/>
          <p:nvPr/>
        </p:nvSpPr>
        <p:spPr>
          <a:xfrm>
            <a:off x="548640" y="1822594"/>
            <a:ext cx="10644188" cy="1074610"/>
          </a:xfrm>
          <a:prstGeom prst="rect">
            <a:avLst/>
          </a:prstGeom>
          <a:noFill/>
          <a:ln/>
        </p:spPr>
        <p:txBody>
          <a:bodyPr wrap="square" lIns="0" tIns="0" rIns="0" bIns="0" rtlCol="0" anchor="ctr"/>
          <a:lstStyle/>
          <a:p>
            <a:r>
              <a:rPr lang="en-US" dirty="0">
                <a:ea typeface="MiSans" pitchFamily="34" charset="-122"/>
                <a:cs typeface="MiSans" pitchFamily="34" charset="-120"/>
              </a:rPr>
              <a:t>De bow-tie analyse voor het EPD systeem van de huisartsenpraktijk laat zien dat de drie CIA-pijlers (Vertrouwelijkheid, Integriteit, </a:t>
            </a:r>
            <a:r>
              <a:rPr lang="en-US" dirty="0" err="1">
                <a:ea typeface="MiSans" pitchFamily="34" charset="-122"/>
                <a:cs typeface="MiSans" pitchFamily="34" charset="-120"/>
              </a:rPr>
              <a:t>Beschikbaarheid</a:t>
            </a:r>
            <a:r>
              <a:rPr lang="en-US" dirty="0">
                <a:ea typeface="MiSans" pitchFamily="34" charset="-122"/>
                <a:cs typeface="MiSans" pitchFamily="34" charset="-120"/>
              </a:rPr>
              <a:t>) elk specifieke bedreigingen en maatregelen kennen. De hoogste risico's zijn geidentificeerd bij phishing (R6) en datalekken/ransomware (R1, R4), met risicoscores van 15-16 in de huidige situatie.</a:t>
            </a:r>
            <a:endParaRPr lang="en-US" dirty="0"/>
          </a:p>
        </p:txBody>
      </p:sp>
      <p:sp>
        <p:nvSpPr>
          <p:cNvPr id="11" name="Text 6">
            <a:extLst>
              <a:ext uri="{FF2B5EF4-FFF2-40B4-BE49-F238E27FC236}">
                <a16:creationId xmlns:a16="http://schemas.microsoft.com/office/drawing/2014/main" id="{B5CF0158-5945-2B80-097D-6DB5DCF40C3A}"/>
              </a:ext>
            </a:extLst>
          </p:cNvPr>
          <p:cNvSpPr/>
          <p:nvPr/>
        </p:nvSpPr>
        <p:spPr>
          <a:xfrm>
            <a:off x="548640" y="4116314"/>
            <a:ext cx="2761488" cy="237092"/>
          </a:xfrm>
          <a:prstGeom prst="rect">
            <a:avLst/>
          </a:prstGeom>
          <a:noFill/>
          <a:ln/>
        </p:spPr>
        <p:txBody>
          <a:bodyPr wrap="square" lIns="0" tIns="0" rIns="0" bIns="0" rtlCol="0" anchor="ctr"/>
          <a:lstStyle/>
          <a:p>
            <a:pPr>
              <a:lnSpc>
                <a:spcPct val="150000"/>
              </a:lnSpc>
            </a:pPr>
            <a:r>
              <a:rPr lang="en-US" b="1" dirty="0">
                <a:ea typeface="MiSans" pitchFamily="34" charset="-122"/>
                <a:cs typeface="MiSans" pitchFamily="34" charset="-120"/>
              </a:rPr>
              <a:t>Belangrijkste inzichten:</a:t>
            </a:r>
            <a:endParaRPr lang="en-US" dirty="0"/>
          </a:p>
        </p:txBody>
      </p:sp>
      <p:sp>
        <p:nvSpPr>
          <p:cNvPr id="13" name="Text 7">
            <a:extLst>
              <a:ext uri="{FF2B5EF4-FFF2-40B4-BE49-F238E27FC236}">
                <a16:creationId xmlns:a16="http://schemas.microsoft.com/office/drawing/2014/main" id="{37E4B5DD-4EC0-88ED-3AF4-EA245DC742E5}"/>
              </a:ext>
            </a:extLst>
          </p:cNvPr>
          <p:cNvSpPr/>
          <p:nvPr/>
        </p:nvSpPr>
        <p:spPr>
          <a:xfrm>
            <a:off x="786765" y="4455052"/>
            <a:ext cx="10406063" cy="1666875"/>
          </a:xfrm>
          <a:prstGeom prst="rect">
            <a:avLst/>
          </a:prstGeom>
          <a:noFill/>
          <a:ln/>
        </p:spPr>
        <p:txBody>
          <a:bodyPr wrap="square" lIns="0" tIns="0" rIns="0" bIns="0" rtlCol="0" anchor="ctr"/>
          <a:lstStyle/>
          <a:p>
            <a:pPr marL="254000" indent="-254000">
              <a:lnSpc>
                <a:spcPct val="150000"/>
              </a:lnSpc>
              <a:spcBef>
                <a:spcPts val="10"/>
              </a:spcBef>
              <a:buSzPct val="100000"/>
              <a:buChar char="•"/>
            </a:pPr>
            <a:r>
              <a:rPr lang="en-US" dirty="0">
                <a:ea typeface="MiSans" pitchFamily="34" charset="-122"/>
                <a:cs typeface="MiSans" pitchFamily="34" charset="-120"/>
              </a:rPr>
              <a:t>De menselijke factor (phishing, insider threats) vormt het grootste risico</a:t>
            </a:r>
            <a:endParaRPr lang="en-US" dirty="0"/>
          </a:p>
          <a:p>
            <a:pPr marL="254000" indent="-254000">
              <a:lnSpc>
                <a:spcPct val="150000"/>
              </a:lnSpc>
              <a:spcBef>
                <a:spcPts val="10"/>
              </a:spcBef>
              <a:buSzPct val="100000"/>
              <a:buChar char="•"/>
            </a:pPr>
            <a:r>
              <a:rPr lang="en-US" dirty="0">
                <a:ea typeface="MiSans" pitchFamily="34" charset="-122"/>
                <a:cs typeface="MiSans" pitchFamily="34" charset="-120"/>
              </a:rPr>
              <a:t>Cloud-afhankelijkheid introduceert nieuwe risico's maar ook professionele beveiliging</a:t>
            </a:r>
            <a:endParaRPr lang="en-US" dirty="0"/>
          </a:p>
          <a:p>
            <a:pPr marL="254000" indent="-254000">
              <a:spcBef>
                <a:spcPts val="10"/>
              </a:spcBef>
              <a:buSzPct val="100000"/>
              <a:buChar char="•"/>
            </a:pPr>
            <a:r>
              <a:rPr lang="en-US" dirty="0">
                <a:ea typeface="MiSans" pitchFamily="34" charset="-122"/>
                <a:cs typeface="MiSans" pitchFamily="34" charset="-120"/>
              </a:rPr>
              <a:t>AVG-compliance vereist proactieve maatregelen en snelle meldprocedures</a:t>
            </a:r>
            <a:endParaRPr lang="en-US" dirty="0"/>
          </a:p>
          <a:p>
            <a:pPr marL="254000" indent="-254000">
              <a:lnSpc>
                <a:spcPct val="150000"/>
              </a:lnSpc>
              <a:spcBef>
                <a:spcPts val="10"/>
              </a:spcBef>
              <a:buSzPct val="100000"/>
              <a:buChar char="•"/>
            </a:pPr>
            <a:r>
              <a:rPr lang="en-US" dirty="0">
                <a:ea typeface="MiSans" pitchFamily="34" charset="-122"/>
                <a:cs typeface="MiSans" pitchFamily="34" charset="-120"/>
              </a:rPr>
              <a:t>Patientveiligheid staat central - integriteit en beschikbaarheid zijn levensbelangrijk</a:t>
            </a:r>
            <a:endParaRPr lang="en-US" dirty="0"/>
          </a:p>
          <a:p>
            <a:pPr marL="254000" indent="-254000">
              <a:lnSpc>
                <a:spcPct val="150000"/>
              </a:lnSpc>
              <a:spcBef>
                <a:spcPts val="10"/>
              </a:spcBef>
              <a:buSzPct val="100000"/>
              <a:buChar char="•"/>
            </a:pPr>
            <a:r>
              <a:rPr lang="en-US" dirty="0">
                <a:ea typeface="MiSans" pitchFamily="34" charset="-122"/>
                <a:cs typeface="MiSans" pitchFamily="34" charset="-120"/>
              </a:rPr>
              <a:t>Regelmatige testing van back-up en herstelprocedures is essentieel</a:t>
            </a:r>
            <a:endParaRPr lang="en-US" dirty="0"/>
          </a:p>
        </p:txBody>
      </p:sp>
    </p:spTree>
    <p:extLst>
      <p:ext uri="{BB962C8B-B14F-4D97-AF65-F5344CB8AC3E}">
        <p14:creationId xmlns:p14="http://schemas.microsoft.com/office/powerpoint/2010/main" val="29227230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YPE" val="Logo"/>
  <p:tag name="ORIGINELEAFMETINGEN" val="742,677185058594;51,0236206054688;903,4169921875;99,2126007080078"/>
</p:tagLst>
</file>

<file path=ppt/theme/theme1.xml><?xml version="1.0" encoding="utf-8"?>
<a:theme xmlns:a="http://schemas.openxmlformats.org/drawingml/2006/main" name="Kantoorthema">
  <a:themeElements>
    <a:clrScheme name="Kantoorthem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84AD865079C64FB2A1609C0E278A07" ma:contentTypeVersion="7" ma:contentTypeDescription="Create a new document." ma:contentTypeScope="" ma:versionID="91fa03448562fdbea9b0ae1a14f286af">
  <xsd:schema xmlns:xsd="http://www.w3.org/2001/XMLSchema" xmlns:xs="http://www.w3.org/2001/XMLSchema" xmlns:p="http://schemas.microsoft.com/office/2006/metadata/properties" xmlns:ns2="81db8cb5-9360-48f0-9784-c515b20ec4ce" targetNamespace="http://schemas.microsoft.com/office/2006/metadata/properties" ma:root="true" ma:fieldsID="17f8da44ab0c7a55e015626253a485f6" ns2:_="">
    <xsd:import namespace="81db8cb5-9360-48f0-9784-c515b20ec4c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b8cb5-9360-48f0-9784-c515b20ec4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BEEE4A1-87A1-4E39-AB67-EBBC4CB5D077}"/>
</file>

<file path=customXml/itemProps2.xml><?xml version="1.0" encoding="utf-8"?>
<ds:datastoreItem xmlns:ds="http://schemas.openxmlformats.org/officeDocument/2006/customXml" ds:itemID="{D0142579-657F-4D7D-9393-D6F51192A152}">
  <ds:schemaRefs>
    <ds:schemaRef ds:uri="http://schemas.microsoft.com/sharepoint/v3/contenttype/forms"/>
  </ds:schemaRefs>
</ds:datastoreItem>
</file>

<file path=customXml/itemProps3.xml><?xml version="1.0" encoding="utf-8"?>
<ds:datastoreItem xmlns:ds="http://schemas.openxmlformats.org/officeDocument/2006/customXml" ds:itemID="{D4B5BE88-FF13-473D-BBD1-415DE45FB4A1}"/>
</file>

<file path=docProps/app.xml><?xml version="1.0" encoding="utf-8"?>
<Properties xmlns="http://schemas.openxmlformats.org/officeDocument/2006/extended-properties" xmlns:vt="http://schemas.openxmlformats.org/officeDocument/2006/docPropsVTypes">
  <Template>Office Theme 2013 - 2022</Template>
  <TotalTime>0</TotalTime>
  <Words>887</Words>
  <Application>Microsoft Office PowerPoint</Application>
  <PresentationFormat>A3 Paper (297x420 mm)</PresentationFormat>
  <Paragraphs>229</Paragraphs>
  <Slides>10</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MiSans</vt:lpstr>
      <vt:lpstr>Verdana</vt:lpstr>
      <vt:lpstr>Kantoorthema</vt:lpstr>
      <vt:lpstr>PowerPoint Presentation</vt:lpstr>
      <vt:lpstr>PowerPoint Presentation</vt:lpstr>
      <vt:lpstr>PowerPoint Presentation</vt:lpstr>
      <vt:lpstr>PowerPoint Presentation</vt:lpstr>
      <vt:lpstr>Assetlijst project/applicatie</vt:lpstr>
      <vt:lpstr>Preventief control register</vt:lpstr>
      <vt:lpstr>Correctief control register</vt:lpstr>
      <vt:lpstr>Riskregister</vt:lpstr>
      <vt:lpstr>Matrix</vt:lpstr>
      <vt:lpstr>Reflectie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Maurice Snoeren</dc:creator>
  <cp:lastModifiedBy>Jonas Clein</cp:lastModifiedBy>
  <cp:revision>3</cp:revision>
  <dcterms:created xsi:type="dcterms:W3CDTF">2023-04-25T14:00:36Z</dcterms:created>
  <dcterms:modified xsi:type="dcterms:W3CDTF">2026-02-10T13:47:48Z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0x0101008184AD865079C64FB2A1609C0E278A07</vt:lpwstr>
  </property>
</Properties>
</file>