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7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15" autoAdjust="0"/>
    <p:restoredTop sz="87653" autoAdjust="0"/>
  </p:normalViewPr>
  <p:slideViewPr>
    <p:cSldViewPr snapToGrid="0" snapToObjects="1">
      <p:cViewPr varScale="1">
        <p:scale>
          <a:sx n="75" d="100"/>
          <a:sy n="75" d="100"/>
        </p:scale>
        <p:origin x="648" y="2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avli Armanyous" userId="2614e947-2a9c-4f9a-b146-f5ffa7aca4cc" providerId="ADAL" clId="{F9025844-0D46-4D37-8C74-FC46BD0E6BF2}"/>
    <pc:docChg chg="modSld">
      <pc:chgData name="Bavli Armanyous" userId="2614e947-2a9c-4f9a-b146-f5ffa7aca4cc" providerId="ADAL" clId="{F9025844-0D46-4D37-8C74-FC46BD0E6BF2}" dt="2026-03-21T22:40:46.221" v="19" actId="20577"/>
      <pc:docMkLst>
        <pc:docMk/>
      </pc:docMkLst>
      <pc:sldChg chg="modSp mod">
        <pc:chgData name="Bavli Armanyous" userId="2614e947-2a9c-4f9a-b146-f5ffa7aca4cc" providerId="ADAL" clId="{F9025844-0D46-4D37-8C74-FC46BD0E6BF2}" dt="2026-03-21T22:40:02.407" v="3" actId="108"/>
        <pc:sldMkLst>
          <pc:docMk/>
          <pc:sldMk cId="0" sldId="258"/>
        </pc:sldMkLst>
        <pc:spChg chg="mod">
          <ac:chgData name="Bavli Armanyous" userId="2614e947-2a9c-4f9a-b146-f5ffa7aca4cc" providerId="ADAL" clId="{F9025844-0D46-4D37-8C74-FC46BD0E6BF2}" dt="2026-03-21T22:39:55.938" v="1" actId="108"/>
          <ac:spMkLst>
            <pc:docMk/>
            <pc:sldMk cId="0" sldId="258"/>
            <ac:spMk id="10" creationId="{00000000-0000-0000-0000-000000000000}"/>
          </ac:spMkLst>
        </pc:spChg>
        <pc:spChg chg="mod">
          <ac:chgData name="Bavli Armanyous" userId="2614e947-2a9c-4f9a-b146-f5ffa7aca4cc" providerId="ADAL" clId="{F9025844-0D46-4D37-8C74-FC46BD0E6BF2}" dt="2026-03-21T22:39:34.765" v="0" actId="207"/>
          <ac:spMkLst>
            <pc:docMk/>
            <pc:sldMk cId="0" sldId="258"/>
            <ac:spMk id="12" creationId="{00000000-0000-0000-0000-000000000000}"/>
          </ac:spMkLst>
        </pc:spChg>
        <pc:spChg chg="mod">
          <ac:chgData name="Bavli Armanyous" userId="2614e947-2a9c-4f9a-b146-f5ffa7aca4cc" providerId="ADAL" clId="{F9025844-0D46-4D37-8C74-FC46BD0E6BF2}" dt="2026-03-21T22:39:34.765" v="0" actId="207"/>
          <ac:spMkLst>
            <pc:docMk/>
            <pc:sldMk cId="0" sldId="258"/>
            <ac:spMk id="14" creationId="{00000000-0000-0000-0000-000000000000}"/>
          </ac:spMkLst>
        </pc:spChg>
        <pc:spChg chg="mod">
          <ac:chgData name="Bavli Armanyous" userId="2614e947-2a9c-4f9a-b146-f5ffa7aca4cc" providerId="ADAL" clId="{F9025844-0D46-4D37-8C74-FC46BD0E6BF2}" dt="2026-03-21T22:39:34.765" v="0" actId="207"/>
          <ac:spMkLst>
            <pc:docMk/>
            <pc:sldMk cId="0" sldId="258"/>
            <ac:spMk id="16" creationId="{00000000-0000-0000-0000-000000000000}"/>
          </ac:spMkLst>
        </pc:spChg>
        <pc:spChg chg="mod">
          <ac:chgData name="Bavli Armanyous" userId="2614e947-2a9c-4f9a-b146-f5ffa7aca4cc" providerId="ADAL" clId="{F9025844-0D46-4D37-8C74-FC46BD0E6BF2}" dt="2026-03-21T22:39:34.765" v="0" actId="207"/>
          <ac:spMkLst>
            <pc:docMk/>
            <pc:sldMk cId="0" sldId="258"/>
            <ac:spMk id="18" creationId="{00000000-0000-0000-0000-000000000000}"/>
          </ac:spMkLst>
        </pc:spChg>
        <pc:spChg chg="mod">
          <ac:chgData name="Bavli Armanyous" userId="2614e947-2a9c-4f9a-b146-f5ffa7aca4cc" providerId="ADAL" clId="{F9025844-0D46-4D37-8C74-FC46BD0E6BF2}" dt="2026-03-21T22:40:02.407" v="3" actId="108"/>
          <ac:spMkLst>
            <pc:docMk/>
            <pc:sldMk cId="0" sldId="258"/>
            <ac:spMk id="20" creationId="{00000000-0000-0000-0000-000000000000}"/>
          </ac:spMkLst>
        </pc:spChg>
        <pc:spChg chg="mod">
          <ac:chgData name="Bavli Armanyous" userId="2614e947-2a9c-4f9a-b146-f5ffa7aca4cc" providerId="ADAL" clId="{F9025844-0D46-4D37-8C74-FC46BD0E6BF2}" dt="2026-03-21T22:39:34.765" v="0" actId="207"/>
          <ac:spMkLst>
            <pc:docMk/>
            <pc:sldMk cId="0" sldId="258"/>
            <ac:spMk id="22" creationId="{00000000-0000-0000-0000-000000000000}"/>
          </ac:spMkLst>
        </pc:spChg>
        <pc:spChg chg="mod">
          <ac:chgData name="Bavli Armanyous" userId="2614e947-2a9c-4f9a-b146-f5ffa7aca4cc" providerId="ADAL" clId="{F9025844-0D46-4D37-8C74-FC46BD0E6BF2}" dt="2026-03-21T22:39:34.765" v="0" actId="207"/>
          <ac:spMkLst>
            <pc:docMk/>
            <pc:sldMk cId="0" sldId="258"/>
            <ac:spMk id="24" creationId="{00000000-0000-0000-0000-000000000000}"/>
          </ac:spMkLst>
        </pc:spChg>
        <pc:spChg chg="mod">
          <ac:chgData name="Bavli Armanyous" userId="2614e947-2a9c-4f9a-b146-f5ffa7aca4cc" providerId="ADAL" clId="{F9025844-0D46-4D37-8C74-FC46BD0E6BF2}" dt="2026-03-21T22:39:34.765" v="0" actId="207"/>
          <ac:spMkLst>
            <pc:docMk/>
            <pc:sldMk cId="0" sldId="258"/>
            <ac:spMk id="26" creationId="{00000000-0000-0000-0000-000000000000}"/>
          </ac:spMkLst>
        </pc:spChg>
        <pc:spChg chg="mod">
          <ac:chgData name="Bavli Armanyous" userId="2614e947-2a9c-4f9a-b146-f5ffa7aca4cc" providerId="ADAL" clId="{F9025844-0D46-4D37-8C74-FC46BD0E6BF2}" dt="2026-03-21T22:39:34.765" v="0" actId="207"/>
          <ac:spMkLst>
            <pc:docMk/>
            <pc:sldMk cId="0" sldId="258"/>
            <ac:spMk id="28" creationId="{00000000-0000-0000-0000-000000000000}"/>
          </ac:spMkLst>
        </pc:spChg>
      </pc:sldChg>
      <pc:sldChg chg="modSp mod">
        <pc:chgData name="Bavli Armanyous" userId="2614e947-2a9c-4f9a-b146-f5ffa7aca4cc" providerId="ADAL" clId="{F9025844-0D46-4D37-8C74-FC46BD0E6BF2}" dt="2026-03-21T22:40:46.221" v="19" actId="20577"/>
        <pc:sldMkLst>
          <pc:docMk/>
          <pc:sldMk cId="0" sldId="267"/>
        </pc:sldMkLst>
        <pc:spChg chg="mod">
          <ac:chgData name="Bavli Armanyous" userId="2614e947-2a9c-4f9a-b146-f5ffa7aca4cc" providerId="ADAL" clId="{F9025844-0D46-4D37-8C74-FC46BD0E6BF2}" dt="2026-03-21T22:40:34.241" v="5" actId="207"/>
          <ac:spMkLst>
            <pc:docMk/>
            <pc:sldMk cId="0" sldId="267"/>
            <ac:spMk id="24" creationId="{00000000-0000-0000-0000-000000000000}"/>
          </ac:spMkLst>
        </pc:spChg>
        <pc:spChg chg="mod">
          <ac:chgData name="Bavli Armanyous" userId="2614e947-2a9c-4f9a-b146-f5ffa7aca4cc" providerId="ADAL" clId="{F9025844-0D46-4D37-8C74-FC46BD0E6BF2}" dt="2026-03-21T22:40:46.221" v="19" actId="20577"/>
          <ac:spMkLst>
            <pc:docMk/>
            <pc:sldMk cId="0" sldId="267"/>
            <ac:spMk id="2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59441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3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D9D9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>
            <a:extLst>
              <a:ext uri="{FF2B5EF4-FFF2-40B4-BE49-F238E27FC236}">
                <a16:creationId xmlns:a16="http://schemas.microsoft.com/office/drawing/2014/main" id="{FC71FE0F-CDF9-0A6C-ADFA-6524865C748E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0">
                <a:srgbClr val="002060">
                  <a:lumMod val="98000"/>
                </a:srgbClr>
              </a:gs>
              <a:gs pos="74000">
                <a:schemeClr val="accent1">
                  <a:lumMod val="75000"/>
                </a:schemeClr>
              </a:gs>
              <a:gs pos="83000">
                <a:srgbClr val="0070C0"/>
              </a:gs>
              <a:gs pos="100000">
                <a:schemeClr val="accent4"/>
              </a:gs>
            </a:gsLst>
            <a:lin ang="5400000" scaled="1"/>
            <a:tileRect/>
          </a:gradFill>
          <a:ln w="12700">
            <a:solidFill>
              <a:srgbClr val="041B3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" name="Shape 0"/>
          <p:cNvSpPr/>
          <p:nvPr/>
        </p:nvSpPr>
        <p:spPr>
          <a:xfrm>
            <a:off x="4736592" y="0"/>
            <a:ext cx="7333488" cy="6309360"/>
          </a:xfrm>
          <a:prstGeom prst="ellipse">
            <a:avLst/>
          </a:prstGeom>
          <a:solidFill>
            <a:srgbClr val="041B34"/>
          </a:solidFill>
          <a:ln w="12700">
            <a:solidFill>
              <a:srgbClr val="C79B2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" name="Shape 1"/>
          <p:cNvSpPr/>
          <p:nvPr/>
        </p:nvSpPr>
        <p:spPr>
          <a:xfrm>
            <a:off x="5285232" y="137160"/>
            <a:ext cx="6629400" cy="5989320"/>
          </a:xfrm>
          <a:prstGeom prst="ellipse">
            <a:avLst/>
          </a:prstGeom>
          <a:solidFill>
            <a:srgbClr val="163554">
              <a:alpha val="75000"/>
            </a:srgbClr>
          </a:solidFill>
          <a:ln w="12700">
            <a:solidFill>
              <a:srgbClr val="16355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4" name="Text 2"/>
          <p:cNvSpPr/>
          <p:nvPr/>
        </p:nvSpPr>
        <p:spPr>
          <a:xfrm>
            <a:off x="640080" y="475488"/>
            <a:ext cx="42062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F4C757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TECHNISCH EN</a:t>
            </a:r>
            <a:endParaRPr lang="en-US" sz="3000" dirty="0"/>
          </a:p>
          <a:p>
            <a:pPr marL="0" indent="0">
              <a:buNone/>
            </a:pPr>
            <a:r>
              <a:rPr lang="en-US" sz="3000" dirty="0">
                <a:solidFill>
                  <a:srgbClr val="F4C757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ORGANISATORISCH</a:t>
            </a:r>
            <a:endParaRPr lang="en-US" sz="3000" dirty="0"/>
          </a:p>
          <a:p>
            <a:pPr marL="0" indent="0">
              <a:buNone/>
            </a:pPr>
            <a:r>
              <a:rPr lang="en-US" sz="3000" dirty="0">
                <a:solidFill>
                  <a:srgbClr val="F4C757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VERBETERPLAN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24688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i="1" dirty="0">
                <a:ln>
                  <a:solidFill>
                    <a:schemeClr val="tx2">
                      <a:lumMod val="60000"/>
                      <a:lumOff val="40000"/>
                    </a:schemeClr>
                  </a:solidFill>
                </a:ln>
                <a:solidFill>
                  <a:schemeClr val="accent4">
                    <a:lumMod val="40000"/>
                    <a:lumOff val="60000"/>
                  </a:schemeClr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Billy Bonka B.V.</a:t>
            </a:r>
            <a:endParaRPr lang="en-US" sz="1900" b="1" dirty="0"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" y="52578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22222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Groep 10 – Firewall Force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40080" y="553212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22222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Bavli, Jonas, Lucas, Vo</a:t>
            </a:r>
            <a:endParaRPr lang="en-US" sz="1700" dirty="0"/>
          </a:p>
        </p:txBody>
      </p:sp>
      <p:pic>
        <p:nvPicPr>
          <p:cNvPr id="8" name="Image 0" descr="/tmp/oai_slides/template/ppt/media/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0" y="914400"/>
            <a:ext cx="3977640" cy="3977640"/>
          </a:xfrm>
          <a:prstGeom prst="rect">
            <a:avLst/>
          </a:prstGeom>
        </p:spPr>
      </p:pic>
      <p:pic>
        <p:nvPicPr>
          <p:cNvPr id="9" name="Image 1" descr="/tmp/oai_slides/template/ppt/media/image1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199632"/>
            <a:ext cx="12191695" cy="65836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D9D9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0">
            <a:extLst>
              <a:ext uri="{FF2B5EF4-FFF2-40B4-BE49-F238E27FC236}">
                <a16:creationId xmlns:a16="http://schemas.microsoft.com/office/drawing/2014/main" id="{9469F3A2-9911-1580-C371-84F5BDEAEA9F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0">
                <a:srgbClr val="002060">
                  <a:lumMod val="98000"/>
                </a:srgbClr>
              </a:gs>
              <a:gs pos="74000">
                <a:schemeClr val="accent1">
                  <a:lumMod val="75000"/>
                </a:schemeClr>
              </a:gs>
              <a:gs pos="83000">
                <a:srgbClr val="0070C0"/>
              </a:gs>
              <a:gs pos="100000">
                <a:schemeClr val="accent4"/>
              </a:gs>
            </a:gsLst>
            <a:lin ang="5400000" scaled="1"/>
            <a:tileRect/>
          </a:gradFill>
          <a:ln w="12700">
            <a:solidFill>
              <a:srgbClr val="041B3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pic>
        <p:nvPicPr>
          <p:cNvPr id="5" name="Image 0" descr="/tmp/oai_slides/template/ppt/media/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99632"/>
            <a:ext cx="12191695" cy="65836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02920" y="310896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AGENDA</a:t>
            </a:r>
            <a:endParaRPr lang="en-US" sz="2800" dirty="0"/>
          </a:p>
        </p:txBody>
      </p:sp>
      <p:sp>
        <p:nvSpPr>
          <p:cNvPr id="8" name="Shape 4"/>
          <p:cNvSpPr/>
          <p:nvPr/>
        </p:nvSpPr>
        <p:spPr>
          <a:xfrm>
            <a:off x="1325880" y="1609344"/>
            <a:ext cx="64008" cy="64008"/>
          </a:xfrm>
          <a:prstGeom prst="ellipse">
            <a:avLst/>
          </a:prstGeom>
          <a:solidFill>
            <a:srgbClr val="F4C757"/>
          </a:solidFill>
          <a:ln w="12700">
            <a:solidFill>
              <a:srgbClr val="F4C75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9" name="Text 5"/>
          <p:cNvSpPr/>
          <p:nvPr/>
        </p:nvSpPr>
        <p:spPr>
          <a:xfrm>
            <a:off x="1481328" y="1508760"/>
            <a:ext cx="4069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Threat Model &amp; Attack Surface Analysis</a:t>
            </a:r>
            <a:endParaRPr lang="en-US" sz="1800" dirty="0"/>
          </a:p>
        </p:txBody>
      </p:sp>
      <p:sp>
        <p:nvSpPr>
          <p:cNvPr id="10" name="Shape 6"/>
          <p:cNvSpPr/>
          <p:nvPr/>
        </p:nvSpPr>
        <p:spPr>
          <a:xfrm>
            <a:off x="1325880" y="2267712"/>
            <a:ext cx="64008" cy="64008"/>
          </a:xfrm>
          <a:prstGeom prst="ellipse">
            <a:avLst/>
          </a:prstGeom>
          <a:solidFill>
            <a:srgbClr val="F4C757"/>
          </a:solidFill>
          <a:ln w="12700">
            <a:solidFill>
              <a:srgbClr val="F4C75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1" name="Text 7"/>
          <p:cNvSpPr/>
          <p:nvPr/>
        </p:nvSpPr>
        <p:spPr>
          <a:xfrm>
            <a:off x="1481328" y="2167128"/>
            <a:ext cx="4069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Risk Analysis &amp; prioritering</a:t>
            </a:r>
            <a:endParaRPr lang="en-US" sz="1800" dirty="0"/>
          </a:p>
        </p:txBody>
      </p:sp>
      <p:sp>
        <p:nvSpPr>
          <p:cNvPr id="12" name="Shape 8"/>
          <p:cNvSpPr/>
          <p:nvPr/>
        </p:nvSpPr>
        <p:spPr>
          <a:xfrm>
            <a:off x="1325880" y="2926080"/>
            <a:ext cx="64008" cy="64008"/>
          </a:xfrm>
          <a:prstGeom prst="ellipse">
            <a:avLst/>
          </a:prstGeom>
          <a:solidFill>
            <a:srgbClr val="F4C757"/>
          </a:solidFill>
          <a:ln w="12700">
            <a:solidFill>
              <a:srgbClr val="F4C75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3" name="Text 9"/>
          <p:cNvSpPr/>
          <p:nvPr/>
        </p:nvSpPr>
        <p:spPr>
          <a:xfrm>
            <a:off x="1481328" y="2825496"/>
            <a:ext cx="4069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Volwassenheid (CMMI-model)</a:t>
            </a:r>
            <a:endParaRPr lang="en-US" sz="1800" dirty="0"/>
          </a:p>
        </p:txBody>
      </p:sp>
      <p:sp>
        <p:nvSpPr>
          <p:cNvPr id="14" name="Shape 10"/>
          <p:cNvSpPr/>
          <p:nvPr/>
        </p:nvSpPr>
        <p:spPr>
          <a:xfrm>
            <a:off x="1325880" y="3584448"/>
            <a:ext cx="64008" cy="64008"/>
          </a:xfrm>
          <a:prstGeom prst="ellipse">
            <a:avLst/>
          </a:prstGeom>
          <a:solidFill>
            <a:srgbClr val="F4C757"/>
          </a:solidFill>
          <a:ln w="12700">
            <a:solidFill>
              <a:srgbClr val="F4C75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5" name="Text 11"/>
          <p:cNvSpPr/>
          <p:nvPr/>
        </p:nvSpPr>
        <p:spPr>
          <a:xfrm>
            <a:off x="1481328" y="3483864"/>
            <a:ext cx="4069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Nieuwe netwerkarchitectuur</a:t>
            </a:r>
            <a:endParaRPr lang="en-US" sz="1800" dirty="0"/>
          </a:p>
        </p:txBody>
      </p:sp>
      <p:sp>
        <p:nvSpPr>
          <p:cNvPr id="16" name="Shape 12"/>
          <p:cNvSpPr/>
          <p:nvPr/>
        </p:nvSpPr>
        <p:spPr>
          <a:xfrm>
            <a:off x="6583680" y="1609344"/>
            <a:ext cx="64008" cy="64008"/>
          </a:xfrm>
          <a:prstGeom prst="ellipse">
            <a:avLst/>
          </a:prstGeom>
          <a:solidFill>
            <a:srgbClr val="F4C757"/>
          </a:solidFill>
          <a:ln w="12700">
            <a:solidFill>
              <a:srgbClr val="F4C75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7" name="Text 13"/>
          <p:cNvSpPr/>
          <p:nvPr/>
        </p:nvSpPr>
        <p:spPr>
          <a:xfrm>
            <a:off x="6739128" y="1508760"/>
            <a:ext cx="4160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Concrete technische verbeteringen</a:t>
            </a:r>
            <a:endParaRPr lang="en-US" sz="1800" dirty="0"/>
          </a:p>
        </p:txBody>
      </p:sp>
      <p:sp>
        <p:nvSpPr>
          <p:cNvPr id="18" name="Shape 14"/>
          <p:cNvSpPr/>
          <p:nvPr/>
        </p:nvSpPr>
        <p:spPr>
          <a:xfrm>
            <a:off x="6583680" y="2267712"/>
            <a:ext cx="64008" cy="64008"/>
          </a:xfrm>
          <a:prstGeom prst="ellipse">
            <a:avLst/>
          </a:prstGeom>
          <a:solidFill>
            <a:srgbClr val="F4C757"/>
          </a:solidFill>
          <a:ln w="12700">
            <a:solidFill>
              <a:srgbClr val="F4C75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9" name="Text 15"/>
          <p:cNvSpPr/>
          <p:nvPr/>
        </p:nvSpPr>
        <p:spPr>
          <a:xfrm>
            <a:off x="6739128" y="2167128"/>
            <a:ext cx="4160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Organisatorische voorstellen</a:t>
            </a:r>
            <a:endParaRPr lang="en-US" sz="1800" dirty="0"/>
          </a:p>
        </p:txBody>
      </p:sp>
      <p:sp>
        <p:nvSpPr>
          <p:cNvPr id="20" name="Shape 16"/>
          <p:cNvSpPr/>
          <p:nvPr/>
        </p:nvSpPr>
        <p:spPr>
          <a:xfrm>
            <a:off x="6583680" y="2926080"/>
            <a:ext cx="64008" cy="64008"/>
          </a:xfrm>
          <a:prstGeom prst="ellipse">
            <a:avLst/>
          </a:prstGeom>
          <a:solidFill>
            <a:srgbClr val="F4C757"/>
          </a:solidFill>
          <a:ln w="12700">
            <a:solidFill>
              <a:srgbClr val="F4C75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1" name="Text 17"/>
          <p:cNvSpPr/>
          <p:nvPr/>
        </p:nvSpPr>
        <p:spPr>
          <a:xfrm>
            <a:off x="6739128" y="2825496"/>
            <a:ext cx="4160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Projectvoorstel &amp; fasering</a:t>
            </a:r>
            <a:endParaRPr lang="en-US" sz="1800" dirty="0"/>
          </a:p>
        </p:txBody>
      </p:sp>
      <p:sp>
        <p:nvSpPr>
          <p:cNvPr id="22" name="Shape 18"/>
          <p:cNvSpPr/>
          <p:nvPr/>
        </p:nvSpPr>
        <p:spPr>
          <a:xfrm>
            <a:off x="6583680" y="3584448"/>
            <a:ext cx="64008" cy="64008"/>
          </a:xfrm>
          <a:prstGeom prst="ellipse">
            <a:avLst/>
          </a:prstGeom>
          <a:solidFill>
            <a:srgbClr val="F4C757"/>
          </a:solidFill>
          <a:ln w="12700">
            <a:solidFill>
              <a:srgbClr val="F4C75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3" name="Text 19"/>
          <p:cNvSpPr/>
          <p:nvPr/>
        </p:nvSpPr>
        <p:spPr>
          <a:xfrm>
            <a:off x="6739128" y="3483864"/>
            <a:ext cx="4160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Secure development &amp; interviewplan</a:t>
            </a:r>
            <a:endParaRPr lang="en-US" sz="1800" dirty="0"/>
          </a:p>
        </p:txBody>
      </p:sp>
      <p:pic>
        <p:nvPicPr>
          <p:cNvPr id="26" name="Image 1" descr="/tmp/oai_slides/template/ppt/media/image3.png">
            <a:extLst>
              <a:ext uri="{FF2B5EF4-FFF2-40B4-BE49-F238E27FC236}">
                <a16:creationId xmlns:a16="http://schemas.microsoft.com/office/drawing/2014/main" id="{0852165C-FE6D-177D-D587-4573E0892B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0415" y="146303"/>
            <a:ext cx="1278497" cy="127849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D9D9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0">
            <a:extLst>
              <a:ext uri="{FF2B5EF4-FFF2-40B4-BE49-F238E27FC236}">
                <a16:creationId xmlns:a16="http://schemas.microsoft.com/office/drawing/2014/main" id="{EC7052A1-4BB0-9B3F-5307-F513337FF699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0">
                <a:srgbClr val="002060">
                  <a:lumMod val="98000"/>
                </a:srgbClr>
              </a:gs>
              <a:gs pos="74000">
                <a:schemeClr val="accent1">
                  <a:lumMod val="75000"/>
                </a:schemeClr>
              </a:gs>
              <a:gs pos="83000">
                <a:srgbClr val="0070C0"/>
              </a:gs>
              <a:gs pos="100000">
                <a:schemeClr val="accent4"/>
              </a:gs>
            </a:gsLst>
            <a:lin ang="5400000" scaled="1"/>
            <a:tileRect/>
          </a:gradFill>
          <a:ln w="12700">
            <a:solidFill>
              <a:srgbClr val="041B3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pic>
        <p:nvPicPr>
          <p:cNvPr id="5" name="Image 0" descr="/tmp/oai_slides/template/ppt/media/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99632"/>
            <a:ext cx="12191695" cy="65836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02920" y="310896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SECURITY-ANALYSE &amp; ONTWERP</a:t>
            </a:r>
            <a:endParaRPr lang="en-US" sz="2600" dirty="0"/>
          </a:p>
        </p:txBody>
      </p:sp>
      <p:sp>
        <p:nvSpPr>
          <p:cNvPr id="8" name="Text 4"/>
          <p:cNvSpPr/>
          <p:nvPr/>
        </p:nvSpPr>
        <p:spPr>
          <a:xfrm>
            <a:off x="502920" y="786384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4C757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Threat Model &amp; Attack Surface Analysis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685800" y="1207008"/>
            <a:ext cx="2103120" cy="292608"/>
          </a:xfrm>
          <a:prstGeom prst="roundRect">
            <a:avLst/>
          </a:prstGeom>
          <a:solidFill>
            <a:srgbClr val="F4C757">
              <a:alpha val="14000"/>
            </a:srgbClr>
          </a:solidFill>
          <a:ln w="12700">
            <a:solidFill>
              <a:srgbClr val="F4C757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0" name="Text 6"/>
          <p:cNvSpPr/>
          <p:nvPr/>
        </p:nvSpPr>
        <p:spPr>
          <a:xfrm>
            <a:off x="777240" y="124358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 err="1">
                <a:solidFill>
                  <a:srgbClr val="C79B2E"/>
                </a:solidFill>
                <a:latin typeface="Gill Sans MT" pitchFamily="34" charset="0"/>
              </a:rPr>
              <a:t>Aanvalsoppervlakken</a:t>
            </a:r>
            <a:endParaRPr lang="en-US" sz="1300" b="1" dirty="0">
              <a:solidFill>
                <a:srgbClr val="C79B2E"/>
              </a:solidFill>
              <a:latin typeface="Gill Sans MT" pitchFamily="34" charset="0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713232" y="1655064"/>
            <a:ext cx="64008" cy="64008"/>
          </a:xfrm>
          <a:prstGeom prst="ellipse">
            <a:avLst/>
          </a:prstGeom>
          <a:solidFill>
            <a:srgbClr val="F4C757"/>
          </a:solidFill>
          <a:ln w="12700">
            <a:solidFill>
              <a:srgbClr val="F4C75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2" name="Text 8"/>
          <p:cNvSpPr/>
          <p:nvPr/>
        </p:nvSpPr>
        <p:spPr>
          <a:xfrm>
            <a:off x="868680" y="1554480"/>
            <a:ext cx="46634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70" b="1" dirty="0">
                <a:solidFill>
                  <a:schemeClr val="bg1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Gateway, internet en leveranciersverbindingen</a:t>
            </a:r>
            <a:endParaRPr lang="en-US" sz="1570" dirty="0">
              <a:solidFill>
                <a:schemeClr val="bg1"/>
              </a:solidFill>
            </a:endParaRPr>
          </a:p>
        </p:txBody>
      </p:sp>
      <p:sp>
        <p:nvSpPr>
          <p:cNvPr id="13" name="Shape 9"/>
          <p:cNvSpPr/>
          <p:nvPr/>
        </p:nvSpPr>
        <p:spPr>
          <a:xfrm>
            <a:off x="713232" y="2176272"/>
            <a:ext cx="64008" cy="64008"/>
          </a:xfrm>
          <a:prstGeom prst="ellipse">
            <a:avLst/>
          </a:prstGeom>
          <a:solidFill>
            <a:srgbClr val="F4C757"/>
          </a:solidFill>
          <a:ln w="12700">
            <a:solidFill>
              <a:srgbClr val="F4C75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4" name="Text 10"/>
          <p:cNvSpPr/>
          <p:nvPr/>
        </p:nvSpPr>
        <p:spPr>
          <a:xfrm>
            <a:off x="868680" y="2075688"/>
            <a:ext cx="46634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70" b="1" dirty="0">
                <a:solidFill>
                  <a:schemeClr val="bg1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Kantoornetwerk met laptops, wifi en accounts</a:t>
            </a:r>
            <a:endParaRPr lang="en-US" sz="1570" dirty="0">
              <a:solidFill>
                <a:schemeClr val="bg1"/>
              </a:solidFill>
            </a:endParaRPr>
          </a:p>
        </p:txBody>
      </p:sp>
      <p:sp>
        <p:nvSpPr>
          <p:cNvPr id="15" name="Shape 11"/>
          <p:cNvSpPr/>
          <p:nvPr/>
        </p:nvSpPr>
        <p:spPr>
          <a:xfrm>
            <a:off x="713232" y="2697480"/>
            <a:ext cx="64008" cy="64008"/>
          </a:xfrm>
          <a:prstGeom prst="ellipse">
            <a:avLst/>
          </a:prstGeom>
          <a:solidFill>
            <a:srgbClr val="F4C757"/>
          </a:solidFill>
          <a:ln w="12700">
            <a:solidFill>
              <a:srgbClr val="F4C75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6" name="Text 12"/>
          <p:cNvSpPr/>
          <p:nvPr/>
        </p:nvSpPr>
        <p:spPr>
          <a:xfrm>
            <a:off x="868680" y="2596896"/>
            <a:ext cx="46634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70" b="1" dirty="0">
                <a:solidFill>
                  <a:schemeClr val="bg1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Authentication Server, B-/M-schijf en back-up</a:t>
            </a:r>
            <a:endParaRPr lang="en-US" sz="1570" dirty="0">
              <a:solidFill>
                <a:schemeClr val="bg1"/>
              </a:solidFill>
            </a:endParaRPr>
          </a:p>
        </p:txBody>
      </p:sp>
      <p:sp>
        <p:nvSpPr>
          <p:cNvPr id="17" name="Shape 13"/>
          <p:cNvSpPr/>
          <p:nvPr/>
        </p:nvSpPr>
        <p:spPr>
          <a:xfrm>
            <a:off x="713232" y="3218688"/>
            <a:ext cx="64008" cy="64008"/>
          </a:xfrm>
          <a:prstGeom prst="ellipse">
            <a:avLst/>
          </a:prstGeom>
          <a:solidFill>
            <a:srgbClr val="F4C757"/>
          </a:solidFill>
          <a:ln w="12700">
            <a:solidFill>
              <a:srgbClr val="F4C75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8" name="Text 14"/>
          <p:cNvSpPr/>
          <p:nvPr/>
        </p:nvSpPr>
        <p:spPr>
          <a:xfrm>
            <a:off x="868680" y="3118104"/>
            <a:ext cx="46634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70" b="1" dirty="0">
                <a:solidFill>
                  <a:schemeClr val="bg1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OT-netwerk met PLC’s, HMI’s en engineering</a:t>
            </a:r>
            <a:endParaRPr lang="en-US" sz="1570" dirty="0">
              <a:solidFill>
                <a:schemeClr val="bg1"/>
              </a:solidFill>
            </a:endParaRPr>
          </a:p>
        </p:txBody>
      </p:sp>
      <p:sp>
        <p:nvSpPr>
          <p:cNvPr id="19" name="Shape 15"/>
          <p:cNvSpPr/>
          <p:nvPr/>
        </p:nvSpPr>
        <p:spPr>
          <a:xfrm>
            <a:off x="685800" y="3794760"/>
            <a:ext cx="2057400" cy="292608"/>
          </a:xfrm>
          <a:prstGeom prst="roundRect">
            <a:avLst/>
          </a:prstGeom>
          <a:solidFill>
            <a:srgbClr val="F4C757">
              <a:alpha val="14000"/>
            </a:srgbClr>
          </a:solidFill>
          <a:ln w="12700">
            <a:solidFill>
              <a:srgbClr val="F4C757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0" name="Text 16"/>
          <p:cNvSpPr/>
          <p:nvPr/>
        </p:nvSpPr>
        <p:spPr>
          <a:xfrm>
            <a:off x="777240" y="3831336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 err="1">
                <a:solidFill>
                  <a:srgbClr val="C79B2E"/>
                </a:solidFill>
                <a:latin typeface="Gill Sans MT" pitchFamily="34" charset="0"/>
              </a:rPr>
              <a:t>Belangrijkste</a:t>
            </a:r>
            <a:r>
              <a:rPr lang="en-US" sz="1250" b="1" dirty="0">
                <a:solidFill>
                  <a:srgbClr val="041B34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 </a:t>
            </a:r>
            <a:r>
              <a:rPr lang="en-US" sz="1300" b="1" dirty="0" err="1">
                <a:solidFill>
                  <a:srgbClr val="C79B2E"/>
                </a:solidFill>
                <a:latin typeface="Gill Sans MT" pitchFamily="34" charset="0"/>
              </a:rPr>
              <a:t>dreigers</a:t>
            </a:r>
            <a:endParaRPr lang="en-US" sz="1300" b="1" dirty="0">
              <a:solidFill>
                <a:srgbClr val="C79B2E"/>
              </a:solidFill>
              <a:latin typeface="Gill Sans MT" pitchFamily="34" charset="0"/>
            </a:endParaRPr>
          </a:p>
        </p:txBody>
      </p:sp>
      <p:sp>
        <p:nvSpPr>
          <p:cNvPr id="21" name="Shape 17"/>
          <p:cNvSpPr/>
          <p:nvPr/>
        </p:nvSpPr>
        <p:spPr>
          <a:xfrm>
            <a:off x="713232" y="4233672"/>
            <a:ext cx="64008" cy="64008"/>
          </a:xfrm>
          <a:prstGeom prst="ellipse">
            <a:avLst/>
          </a:prstGeom>
          <a:solidFill>
            <a:srgbClr val="F4C757"/>
          </a:solidFill>
          <a:ln w="12700">
            <a:solidFill>
              <a:srgbClr val="F4C75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2" name="Text 18"/>
          <p:cNvSpPr/>
          <p:nvPr/>
        </p:nvSpPr>
        <p:spPr>
          <a:xfrm>
            <a:off x="868680" y="4133088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chemeClr val="bg1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Cybercriminelen: phishing, malware en ransomware</a:t>
            </a:r>
            <a:endParaRPr lang="en-US" sz="1550" dirty="0">
              <a:solidFill>
                <a:schemeClr val="bg1"/>
              </a:solidFill>
            </a:endParaRPr>
          </a:p>
        </p:txBody>
      </p:sp>
      <p:sp>
        <p:nvSpPr>
          <p:cNvPr id="23" name="Shape 19"/>
          <p:cNvSpPr/>
          <p:nvPr/>
        </p:nvSpPr>
        <p:spPr>
          <a:xfrm>
            <a:off x="713232" y="4690872"/>
            <a:ext cx="64008" cy="64008"/>
          </a:xfrm>
          <a:prstGeom prst="ellipse">
            <a:avLst/>
          </a:prstGeom>
          <a:solidFill>
            <a:srgbClr val="F4C757"/>
          </a:solidFill>
          <a:ln w="12700">
            <a:solidFill>
              <a:srgbClr val="F4C75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4" name="Text 20"/>
          <p:cNvSpPr/>
          <p:nvPr/>
        </p:nvSpPr>
        <p:spPr>
          <a:xfrm>
            <a:off x="868680" y="4590288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chemeClr val="bg1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Insiders met te ruime rechten</a:t>
            </a:r>
            <a:endParaRPr lang="en-US" sz="1550" dirty="0">
              <a:solidFill>
                <a:schemeClr val="bg1"/>
              </a:solidFill>
            </a:endParaRPr>
          </a:p>
        </p:txBody>
      </p:sp>
      <p:sp>
        <p:nvSpPr>
          <p:cNvPr id="25" name="Shape 21"/>
          <p:cNvSpPr/>
          <p:nvPr/>
        </p:nvSpPr>
        <p:spPr>
          <a:xfrm>
            <a:off x="713232" y="5148072"/>
            <a:ext cx="64008" cy="64008"/>
          </a:xfrm>
          <a:prstGeom prst="ellipse">
            <a:avLst/>
          </a:prstGeom>
          <a:solidFill>
            <a:srgbClr val="F4C757"/>
          </a:solidFill>
          <a:ln w="12700">
            <a:solidFill>
              <a:srgbClr val="F4C75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6" name="Text 22"/>
          <p:cNvSpPr/>
          <p:nvPr/>
        </p:nvSpPr>
        <p:spPr>
          <a:xfrm>
            <a:off x="868680" y="5047488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chemeClr val="bg1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Onzorgvuldige medewerkers</a:t>
            </a:r>
            <a:endParaRPr lang="en-US" sz="1550" dirty="0">
              <a:solidFill>
                <a:schemeClr val="bg1"/>
              </a:solidFill>
            </a:endParaRPr>
          </a:p>
        </p:txBody>
      </p:sp>
      <p:sp>
        <p:nvSpPr>
          <p:cNvPr id="27" name="Shape 23"/>
          <p:cNvSpPr/>
          <p:nvPr/>
        </p:nvSpPr>
        <p:spPr>
          <a:xfrm>
            <a:off x="713232" y="5605272"/>
            <a:ext cx="64008" cy="64008"/>
          </a:xfrm>
          <a:prstGeom prst="ellipse">
            <a:avLst/>
          </a:prstGeom>
          <a:solidFill>
            <a:srgbClr val="F4C757"/>
          </a:solidFill>
          <a:ln w="12700">
            <a:solidFill>
              <a:srgbClr val="F4C75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8" name="Text 24"/>
          <p:cNvSpPr/>
          <p:nvPr/>
        </p:nvSpPr>
        <p:spPr>
          <a:xfrm>
            <a:off x="868680" y="5504688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chemeClr val="bg1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Misbruik van leveranciersaccounts</a:t>
            </a:r>
            <a:endParaRPr lang="en-US" sz="1550" dirty="0">
              <a:solidFill>
                <a:schemeClr val="bg1"/>
              </a:solidFill>
            </a:endParaRPr>
          </a:p>
        </p:txBody>
      </p:sp>
      <p:sp>
        <p:nvSpPr>
          <p:cNvPr id="29" name="Shape 25"/>
          <p:cNvSpPr/>
          <p:nvPr/>
        </p:nvSpPr>
        <p:spPr>
          <a:xfrm>
            <a:off x="7095744" y="2139696"/>
            <a:ext cx="0" cy="365760"/>
          </a:xfrm>
          <a:prstGeom prst="line">
            <a:avLst/>
          </a:prstGeom>
          <a:noFill/>
          <a:ln w="12700">
            <a:solidFill>
              <a:srgbClr val="C79B2E"/>
            </a:solidFill>
            <a:prstDash val="solid"/>
            <a:tailEnd type="triangle"/>
          </a:ln>
        </p:spPr>
        <p:txBody>
          <a:bodyPr/>
          <a:lstStyle/>
          <a:p>
            <a:endParaRPr lang="nl-NL"/>
          </a:p>
        </p:txBody>
      </p:sp>
      <p:sp>
        <p:nvSpPr>
          <p:cNvPr id="30" name="Shape 26"/>
          <p:cNvSpPr/>
          <p:nvPr/>
        </p:nvSpPr>
        <p:spPr>
          <a:xfrm>
            <a:off x="7095744" y="3072384"/>
            <a:ext cx="0" cy="365760"/>
          </a:xfrm>
          <a:prstGeom prst="line">
            <a:avLst/>
          </a:prstGeom>
          <a:noFill/>
          <a:ln w="12700">
            <a:solidFill>
              <a:srgbClr val="C79B2E"/>
            </a:solidFill>
            <a:prstDash val="solid"/>
            <a:tailEnd type="triangle"/>
          </a:ln>
        </p:spPr>
        <p:txBody>
          <a:bodyPr/>
          <a:lstStyle/>
          <a:p>
            <a:endParaRPr lang="nl-NL"/>
          </a:p>
        </p:txBody>
      </p:sp>
      <p:sp>
        <p:nvSpPr>
          <p:cNvPr id="31" name="Shape 27"/>
          <p:cNvSpPr/>
          <p:nvPr/>
        </p:nvSpPr>
        <p:spPr>
          <a:xfrm>
            <a:off x="7095744" y="4005072"/>
            <a:ext cx="0" cy="365760"/>
          </a:xfrm>
          <a:prstGeom prst="line">
            <a:avLst/>
          </a:prstGeom>
          <a:noFill/>
          <a:ln w="12700">
            <a:solidFill>
              <a:srgbClr val="C79B2E"/>
            </a:solidFill>
            <a:prstDash val="solid"/>
            <a:tailEnd type="triangle"/>
          </a:ln>
        </p:spPr>
        <p:txBody>
          <a:bodyPr/>
          <a:lstStyle/>
          <a:p>
            <a:endParaRPr lang="nl-NL"/>
          </a:p>
        </p:txBody>
      </p:sp>
      <p:sp>
        <p:nvSpPr>
          <p:cNvPr id="32" name="Shape 28"/>
          <p:cNvSpPr/>
          <p:nvPr/>
        </p:nvSpPr>
        <p:spPr>
          <a:xfrm>
            <a:off x="7095744" y="4937760"/>
            <a:ext cx="0" cy="365760"/>
          </a:xfrm>
          <a:prstGeom prst="line">
            <a:avLst/>
          </a:prstGeom>
          <a:noFill/>
          <a:ln w="12700">
            <a:solidFill>
              <a:srgbClr val="C79B2E"/>
            </a:solidFill>
            <a:prstDash val="solid"/>
            <a:tailEnd type="triangle"/>
          </a:ln>
        </p:spPr>
        <p:txBody>
          <a:bodyPr/>
          <a:lstStyle/>
          <a:p>
            <a:endParaRPr lang="nl-NL"/>
          </a:p>
        </p:txBody>
      </p:sp>
      <p:sp>
        <p:nvSpPr>
          <p:cNvPr id="33" name="Shape 29"/>
          <p:cNvSpPr/>
          <p:nvPr/>
        </p:nvSpPr>
        <p:spPr>
          <a:xfrm>
            <a:off x="6144768" y="1572768"/>
            <a:ext cx="1901952" cy="566928"/>
          </a:xfrm>
          <a:prstGeom prst="roundRect">
            <a:avLst/>
          </a:prstGeom>
          <a:solidFill>
            <a:srgbClr val="EEF2F5"/>
          </a:solidFill>
          <a:ln w="12700">
            <a:solidFill>
              <a:srgbClr val="163554"/>
            </a:solidFill>
            <a:prstDash val="solid"/>
          </a:ln>
          <a:effectLst>
            <a:outerShdw blurRad="15240" dist="127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34" name="Shape 30"/>
          <p:cNvSpPr/>
          <p:nvPr/>
        </p:nvSpPr>
        <p:spPr>
          <a:xfrm>
            <a:off x="6163056" y="1645920"/>
            <a:ext cx="73152" cy="420624"/>
          </a:xfrm>
          <a:prstGeom prst="rect">
            <a:avLst/>
          </a:prstGeom>
          <a:solidFill>
            <a:srgbClr val="F4C757"/>
          </a:solidFill>
          <a:ln w="12700">
            <a:solidFill>
              <a:srgbClr val="F4C75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5" name="Text 31"/>
          <p:cNvSpPr/>
          <p:nvPr/>
        </p:nvSpPr>
        <p:spPr>
          <a:xfrm>
            <a:off x="6309360" y="1664208"/>
            <a:ext cx="1627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0" b="1" dirty="0">
                <a:solidFill>
                  <a:srgbClr val="041B34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1. Phishingmail</a:t>
            </a:r>
            <a:endParaRPr lang="en-US" sz="1360" dirty="0"/>
          </a:p>
        </p:txBody>
      </p:sp>
      <p:sp>
        <p:nvSpPr>
          <p:cNvPr id="36" name="Text 32"/>
          <p:cNvSpPr/>
          <p:nvPr/>
        </p:nvSpPr>
        <p:spPr>
          <a:xfrm>
            <a:off x="6309360" y="1883664"/>
            <a:ext cx="1627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222222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Medewerker klikt</a:t>
            </a:r>
            <a:endParaRPr lang="en-US" sz="980" dirty="0"/>
          </a:p>
        </p:txBody>
      </p:sp>
      <p:sp>
        <p:nvSpPr>
          <p:cNvPr id="37" name="Shape 33"/>
          <p:cNvSpPr/>
          <p:nvPr/>
        </p:nvSpPr>
        <p:spPr>
          <a:xfrm>
            <a:off x="6144768" y="2505456"/>
            <a:ext cx="1901952" cy="566928"/>
          </a:xfrm>
          <a:prstGeom prst="roundRect">
            <a:avLst/>
          </a:prstGeom>
          <a:solidFill>
            <a:srgbClr val="EEF2F5"/>
          </a:solidFill>
          <a:ln w="12700">
            <a:solidFill>
              <a:srgbClr val="163554"/>
            </a:solidFill>
            <a:prstDash val="solid"/>
          </a:ln>
          <a:effectLst>
            <a:outerShdw blurRad="193548000" dist="161290000"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38" name="Shape 34"/>
          <p:cNvSpPr/>
          <p:nvPr/>
        </p:nvSpPr>
        <p:spPr>
          <a:xfrm>
            <a:off x="6163056" y="2578608"/>
            <a:ext cx="73152" cy="420624"/>
          </a:xfrm>
          <a:prstGeom prst="rect">
            <a:avLst/>
          </a:prstGeom>
          <a:solidFill>
            <a:srgbClr val="F4C757"/>
          </a:solidFill>
          <a:ln w="12700">
            <a:solidFill>
              <a:srgbClr val="F4C75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9" name="Text 35"/>
          <p:cNvSpPr/>
          <p:nvPr/>
        </p:nvSpPr>
        <p:spPr>
          <a:xfrm>
            <a:off x="6309360" y="2596896"/>
            <a:ext cx="1627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0" b="1" dirty="0">
                <a:solidFill>
                  <a:srgbClr val="041B34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2. Accounttoegang</a:t>
            </a:r>
            <a:endParaRPr lang="en-US" sz="1360" dirty="0"/>
          </a:p>
        </p:txBody>
      </p:sp>
      <p:sp>
        <p:nvSpPr>
          <p:cNvPr id="40" name="Text 36"/>
          <p:cNvSpPr/>
          <p:nvPr/>
        </p:nvSpPr>
        <p:spPr>
          <a:xfrm>
            <a:off x="6309360" y="2816352"/>
            <a:ext cx="1627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222222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Mailbox of endpoint</a:t>
            </a:r>
            <a:endParaRPr lang="en-US" sz="980" dirty="0"/>
          </a:p>
        </p:txBody>
      </p:sp>
      <p:sp>
        <p:nvSpPr>
          <p:cNvPr id="41" name="Shape 37"/>
          <p:cNvSpPr/>
          <p:nvPr/>
        </p:nvSpPr>
        <p:spPr>
          <a:xfrm>
            <a:off x="6144768" y="3438144"/>
            <a:ext cx="1901952" cy="566928"/>
          </a:xfrm>
          <a:prstGeom prst="roundRect">
            <a:avLst/>
          </a:prstGeom>
          <a:solidFill>
            <a:srgbClr val="EEF2F5"/>
          </a:solidFill>
          <a:ln w="12700">
            <a:solidFill>
              <a:srgbClr val="163554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42" name="Shape 38"/>
          <p:cNvSpPr/>
          <p:nvPr/>
        </p:nvSpPr>
        <p:spPr>
          <a:xfrm>
            <a:off x="6163056" y="3511296"/>
            <a:ext cx="73152" cy="420624"/>
          </a:xfrm>
          <a:prstGeom prst="rect">
            <a:avLst/>
          </a:prstGeom>
          <a:solidFill>
            <a:srgbClr val="F4C757"/>
          </a:solidFill>
          <a:ln w="12700">
            <a:solidFill>
              <a:srgbClr val="F4C75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43" name="Text 39"/>
          <p:cNvSpPr/>
          <p:nvPr/>
        </p:nvSpPr>
        <p:spPr>
          <a:xfrm>
            <a:off x="6309360" y="3529584"/>
            <a:ext cx="1627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360" b="1" dirty="0">
                <a:solidFill>
                  <a:srgbClr val="041B34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3. Laterale beweging</a:t>
            </a:r>
            <a:endParaRPr lang="en-US" sz="1360" dirty="0"/>
          </a:p>
        </p:txBody>
      </p:sp>
      <p:sp>
        <p:nvSpPr>
          <p:cNvPr id="44" name="Text 40"/>
          <p:cNvSpPr/>
          <p:nvPr/>
        </p:nvSpPr>
        <p:spPr>
          <a:xfrm>
            <a:off x="6309360" y="3749040"/>
            <a:ext cx="1627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222222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Zwakke segmentatie</a:t>
            </a:r>
            <a:endParaRPr lang="en-US" sz="980" dirty="0"/>
          </a:p>
        </p:txBody>
      </p:sp>
      <p:sp>
        <p:nvSpPr>
          <p:cNvPr id="45" name="Shape 41"/>
          <p:cNvSpPr/>
          <p:nvPr/>
        </p:nvSpPr>
        <p:spPr>
          <a:xfrm>
            <a:off x="6144768" y="4370832"/>
            <a:ext cx="1901952" cy="566928"/>
          </a:xfrm>
          <a:prstGeom prst="roundRect">
            <a:avLst/>
          </a:prstGeom>
          <a:solidFill>
            <a:srgbClr val="EEF2F5"/>
          </a:solidFill>
          <a:ln w="12700">
            <a:solidFill>
              <a:srgbClr val="163554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46" name="Shape 42"/>
          <p:cNvSpPr/>
          <p:nvPr/>
        </p:nvSpPr>
        <p:spPr>
          <a:xfrm>
            <a:off x="6163056" y="4443984"/>
            <a:ext cx="73152" cy="420624"/>
          </a:xfrm>
          <a:prstGeom prst="rect">
            <a:avLst/>
          </a:prstGeom>
          <a:solidFill>
            <a:srgbClr val="F4C757"/>
          </a:solidFill>
          <a:ln w="12700">
            <a:solidFill>
              <a:srgbClr val="F4C75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47" name="Text 43"/>
          <p:cNvSpPr/>
          <p:nvPr/>
        </p:nvSpPr>
        <p:spPr>
          <a:xfrm>
            <a:off x="6309360" y="4462272"/>
            <a:ext cx="1627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0" b="1" dirty="0">
                <a:solidFill>
                  <a:srgbClr val="041B34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4. Fileshares / AD</a:t>
            </a:r>
            <a:endParaRPr lang="en-US" sz="1360" dirty="0"/>
          </a:p>
        </p:txBody>
      </p:sp>
      <p:sp>
        <p:nvSpPr>
          <p:cNvPr id="48" name="Text 44"/>
          <p:cNvSpPr/>
          <p:nvPr/>
        </p:nvSpPr>
        <p:spPr>
          <a:xfrm>
            <a:off x="6309360" y="4681728"/>
            <a:ext cx="1627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222222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Centrale rechten misbruikt</a:t>
            </a:r>
            <a:endParaRPr lang="en-US" sz="980" dirty="0"/>
          </a:p>
        </p:txBody>
      </p:sp>
      <p:sp>
        <p:nvSpPr>
          <p:cNvPr id="49" name="Shape 45"/>
          <p:cNvSpPr/>
          <p:nvPr/>
        </p:nvSpPr>
        <p:spPr>
          <a:xfrm>
            <a:off x="6144768" y="5303520"/>
            <a:ext cx="1901952" cy="566928"/>
          </a:xfrm>
          <a:prstGeom prst="roundRect">
            <a:avLst/>
          </a:prstGeom>
          <a:solidFill>
            <a:srgbClr val="EEF2F5"/>
          </a:solidFill>
          <a:ln w="12700">
            <a:solidFill>
              <a:srgbClr val="163554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50" name="Shape 46"/>
          <p:cNvSpPr/>
          <p:nvPr/>
        </p:nvSpPr>
        <p:spPr>
          <a:xfrm>
            <a:off x="6163056" y="5376672"/>
            <a:ext cx="73152" cy="420624"/>
          </a:xfrm>
          <a:prstGeom prst="rect">
            <a:avLst/>
          </a:prstGeom>
          <a:solidFill>
            <a:srgbClr val="F4C757"/>
          </a:solidFill>
          <a:ln w="12700">
            <a:solidFill>
              <a:srgbClr val="F4C75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51" name="Text 47"/>
          <p:cNvSpPr/>
          <p:nvPr/>
        </p:nvSpPr>
        <p:spPr>
          <a:xfrm>
            <a:off x="6309360" y="5394960"/>
            <a:ext cx="1627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0" b="1" dirty="0">
                <a:solidFill>
                  <a:srgbClr val="041B34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5. OT / productie</a:t>
            </a:r>
            <a:endParaRPr lang="en-US" sz="1360" dirty="0"/>
          </a:p>
        </p:txBody>
      </p:sp>
      <p:sp>
        <p:nvSpPr>
          <p:cNvPr id="52" name="Text 48"/>
          <p:cNvSpPr/>
          <p:nvPr/>
        </p:nvSpPr>
        <p:spPr>
          <a:xfrm>
            <a:off x="6309360" y="5614416"/>
            <a:ext cx="1627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222222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Fabriek valt stil</a:t>
            </a:r>
            <a:endParaRPr lang="en-US" sz="980" dirty="0"/>
          </a:p>
        </p:txBody>
      </p:sp>
      <p:sp>
        <p:nvSpPr>
          <p:cNvPr id="53" name="Shape 49"/>
          <p:cNvSpPr/>
          <p:nvPr/>
        </p:nvSpPr>
        <p:spPr>
          <a:xfrm>
            <a:off x="8339328" y="2057400"/>
            <a:ext cx="2999232" cy="1965960"/>
          </a:xfrm>
          <a:prstGeom prst="roundRect">
            <a:avLst/>
          </a:prstGeom>
          <a:solidFill>
            <a:srgbClr val="EEF2F5"/>
          </a:solidFill>
          <a:ln w="12700">
            <a:solidFill>
              <a:srgbClr val="163554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54" name="Shape 50"/>
          <p:cNvSpPr/>
          <p:nvPr/>
        </p:nvSpPr>
        <p:spPr>
          <a:xfrm>
            <a:off x="8357616" y="2130552"/>
            <a:ext cx="73152" cy="1819656"/>
          </a:xfrm>
          <a:prstGeom prst="rect">
            <a:avLst/>
          </a:prstGeom>
          <a:solidFill>
            <a:srgbClr val="163554"/>
          </a:solidFill>
          <a:ln w="12700">
            <a:solidFill>
              <a:srgbClr val="16355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55" name="Text 51"/>
          <p:cNvSpPr/>
          <p:nvPr/>
        </p:nvSpPr>
        <p:spPr>
          <a:xfrm>
            <a:off x="8503920" y="2148840"/>
            <a:ext cx="2724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750" b="1" dirty="0">
                <a:solidFill>
                  <a:srgbClr val="041B34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Kernpunt</a:t>
            </a:r>
            <a:endParaRPr lang="en-US" sz="1750" dirty="0"/>
          </a:p>
        </p:txBody>
      </p:sp>
      <p:sp>
        <p:nvSpPr>
          <p:cNvPr id="56" name="Text 52"/>
          <p:cNvSpPr/>
          <p:nvPr/>
        </p:nvSpPr>
        <p:spPr>
          <a:xfrm>
            <a:off x="8503920" y="2368296"/>
            <a:ext cx="2724912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222222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Billy Bonka stuurt veel productiesystemen centraal aan vanaf het IT-netwerk. Daardoor kan een IT-incident direct doorwerken naar OT en continuïteit.</a:t>
            </a:r>
            <a:endParaRPr lang="en-US" sz="1350" dirty="0"/>
          </a:p>
        </p:txBody>
      </p:sp>
      <p:sp>
        <p:nvSpPr>
          <p:cNvPr id="57" name="Text 53"/>
          <p:cNvSpPr/>
          <p:nvPr/>
        </p:nvSpPr>
        <p:spPr>
          <a:xfrm>
            <a:off x="6254496" y="117043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79B2E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Waarschijnlijk aanvalspad</a:t>
            </a:r>
            <a:endParaRPr lang="en-US" sz="1300" dirty="0"/>
          </a:p>
        </p:txBody>
      </p:sp>
      <p:pic>
        <p:nvPicPr>
          <p:cNvPr id="59" name="Image 1" descr="/tmp/oai_slides/template/ppt/media/image3.png">
            <a:extLst>
              <a:ext uri="{FF2B5EF4-FFF2-40B4-BE49-F238E27FC236}">
                <a16:creationId xmlns:a16="http://schemas.microsoft.com/office/drawing/2014/main" id="{8B36E760-787D-4B4B-558A-EC30EA2DAD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8475373">
            <a:off x="10590415" y="146303"/>
            <a:ext cx="1278497" cy="127849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D9D9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Shape 0">
            <a:extLst>
              <a:ext uri="{FF2B5EF4-FFF2-40B4-BE49-F238E27FC236}">
                <a16:creationId xmlns:a16="http://schemas.microsoft.com/office/drawing/2014/main" id="{2E722A94-8DFC-F70F-8E1A-8EA087873584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0">
                <a:srgbClr val="002060">
                  <a:lumMod val="98000"/>
                </a:srgbClr>
              </a:gs>
              <a:gs pos="74000">
                <a:schemeClr val="accent1">
                  <a:lumMod val="75000"/>
                </a:schemeClr>
              </a:gs>
              <a:gs pos="83000">
                <a:srgbClr val="0070C0"/>
              </a:gs>
              <a:gs pos="100000">
                <a:schemeClr val="accent4"/>
              </a:gs>
            </a:gsLst>
            <a:lin ang="5400000" scaled="1"/>
            <a:tileRect/>
          </a:gradFill>
          <a:ln w="12700">
            <a:solidFill>
              <a:srgbClr val="041B3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pic>
        <p:nvPicPr>
          <p:cNvPr id="5" name="Image 0" descr="/tmp/oai_slides/template/ppt/media/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99632"/>
            <a:ext cx="12191695" cy="65836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02920" y="310896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RISK ANALYSIS &amp; PRIORITERING</a:t>
            </a:r>
            <a:endParaRPr lang="en-US" sz="2600" dirty="0"/>
          </a:p>
        </p:txBody>
      </p:sp>
      <p:sp>
        <p:nvSpPr>
          <p:cNvPr id="8" name="Shape 4"/>
          <p:cNvSpPr/>
          <p:nvPr/>
        </p:nvSpPr>
        <p:spPr>
          <a:xfrm>
            <a:off x="658368" y="1298448"/>
            <a:ext cx="5257800" cy="713232"/>
          </a:xfrm>
          <a:prstGeom prst="roundRect">
            <a:avLst/>
          </a:prstGeom>
          <a:solidFill>
            <a:srgbClr val="EEF2F5"/>
          </a:solidFill>
          <a:ln w="12700">
            <a:solidFill>
              <a:srgbClr val="163554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9" name="Shape 5"/>
          <p:cNvSpPr/>
          <p:nvPr/>
        </p:nvSpPr>
        <p:spPr>
          <a:xfrm>
            <a:off x="804672" y="1444752"/>
            <a:ext cx="310896" cy="310896"/>
          </a:xfrm>
          <a:prstGeom prst="ellipse">
            <a:avLst/>
          </a:prstGeom>
          <a:solidFill>
            <a:srgbClr val="F4C757"/>
          </a:solidFill>
          <a:ln w="12700">
            <a:solidFill>
              <a:srgbClr val="F4C75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0" name="Text 6"/>
          <p:cNvSpPr/>
          <p:nvPr/>
        </p:nvSpPr>
        <p:spPr>
          <a:xfrm>
            <a:off x="804672" y="14264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41B34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225296" y="1371600"/>
            <a:ext cx="452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41B34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Ransomware via phishing</a:t>
            </a:r>
            <a:endParaRPr lang="en-US" sz="1550" dirty="0"/>
          </a:p>
        </p:txBody>
      </p:sp>
      <p:sp>
        <p:nvSpPr>
          <p:cNvPr id="12" name="Text 8"/>
          <p:cNvSpPr/>
          <p:nvPr/>
        </p:nvSpPr>
        <p:spPr>
          <a:xfrm>
            <a:off x="1225296" y="1609344"/>
            <a:ext cx="4526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222222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Kans hoog · impact hoog · directe verstoring van productie en logistiek</a:t>
            </a:r>
            <a:endParaRPr lang="en-US" sz="1180" dirty="0"/>
          </a:p>
        </p:txBody>
      </p:sp>
      <p:sp>
        <p:nvSpPr>
          <p:cNvPr id="13" name="Shape 9"/>
          <p:cNvSpPr/>
          <p:nvPr/>
        </p:nvSpPr>
        <p:spPr>
          <a:xfrm>
            <a:off x="658368" y="2112264"/>
            <a:ext cx="5257800" cy="713232"/>
          </a:xfrm>
          <a:prstGeom prst="roundRect">
            <a:avLst/>
          </a:prstGeom>
          <a:solidFill>
            <a:srgbClr val="EEF2F5"/>
          </a:solidFill>
          <a:ln w="12700">
            <a:solidFill>
              <a:srgbClr val="163554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14" name="Shape 10"/>
          <p:cNvSpPr/>
          <p:nvPr/>
        </p:nvSpPr>
        <p:spPr>
          <a:xfrm>
            <a:off x="804672" y="2258568"/>
            <a:ext cx="310896" cy="310896"/>
          </a:xfrm>
          <a:prstGeom prst="ellipse">
            <a:avLst/>
          </a:prstGeom>
          <a:solidFill>
            <a:srgbClr val="F4C757"/>
          </a:solidFill>
          <a:ln w="12700">
            <a:solidFill>
              <a:srgbClr val="F4C75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5" name="Text 11"/>
          <p:cNvSpPr/>
          <p:nvPr/>
        </p:nvSpPr>
        <p:spPr>
          <a:xfrm>
            <a:off x="804672" y="22402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41B34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1225296" y="2185416"/>
            <a:ext cx="452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41B34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Datalek bedrijfs- en personeelsgegevens</a:t>
            </a:r>
            <a:endParaRPr lang="en-US" sz="1550" dirty="0"/>
          </a:p>
        </p:txBody>
      </p:sp>
      <p:sp>
        <p:nvSpPr>
          <p:cNvPr id="17" name="Text 13"/>
          <p:cNvSpPr/>
          <p:nvPr/>
        </p:nvSpPr>
        <p:spPr>
          <a:xfrm>
            <a:off x="1225296" y="2423160"/>
            <a:ext cx="4526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222222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Kans hoog · impact hoog · reputatieschade en meldplicht AP</a:t>
            </a:r>
            <a:endParaRPr lang="en-US" sz="1180" dirty="0"/>
          </a:p>
        </p:txBody>
      </p:sp>
      <p:sp>
        <p:nvSpPr>
          <p:cNvPr id="18" name="Shape 14"/>
          <p:cNvSpPr/>
          <p:nvPr/>
        </p:nvSpPr>
        <p:spPr>
          <a:xfrm>
            <a:off x="658368" y="2926080"/>
            <a:ext cx="5257800" cy="713232"/>
          </a:xfrm>
          <a:prstGeom prst="roundRect">
            <a:avLst/>
          </a:prstGeom>
          <a:solidFill>
            <a:srgbClr val="EEF2F5"/>
          </a:solidFill>
          <a:ln w="12700">
            <a:solidFill>
              <a:srgbClr val="163554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19" name="Shape 15"/>
          <p:cNvSpPr/>
          <p:nvPr/>
        </p:nvSpPr>
        <p:spPr>
          <a:xfrm>
            <a:off x="804672" y="3072384"/>
            <a:ext cx="310896" cy="310896"/>
          </a:xfrm>
          <a:prstGeom prst="ellipse">
            <a:avLst/>
          </a:prstGeom>
          <a:solidFill>
            <a:srgbClr val="F4C757"/>
          </a:solidFill>
          <a:ln w="12700">
            <a:solidFill>
              <a:srgbClr val="F4C75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0" name="Text 16"/>
          <p:cNvSpPr/>
          <p:nvPr/>
        </p:nvSpPr>
        <p:spPr>
          <a:xfrm>
            <a:off x="804672" y="30540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41B34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7"/>
          <p:cNvSpPr/>
          <p:nvPr/>
        </p:nvSpPr>
        <p:spPr>
          <a:xfrm>
            <a:off x="1225296" y="2999232"/>
            <a:ext cx="452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41B34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Ongeautoriseerde leveranciers-toegang</a:t>
            </a:r>
            <a:endParaRPr lang="en-US" sz="1550" dirty="0"/>
          </a:p>
        </p:txBody>
      </p:sp>
      <p:sp>
        <p:nvSpPr>
          <p:cNvPr id="22" name="Text 18"/>
          <p:cNvSpPr/>
          <p:nvPr/>
        </p:nvSpPr>
        <p:spPr>
          <a:xfrm>
            <a:off x="1225296" y="3236976"/>
            <a:ext cx="4526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222222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Kans middel/hoog · impact hoog · toegangspoort tot IT en OT</a:t>
            </a:r>
            <a:endParaRPr lang="en-US" sz="1180" dirty="0"/>
          </a:p>
        </p:txBody>
      </p:sp>
      <p:sp>
        <p:nvSpPr>
          <p:cNvPr id="23" name="Shape 19"/>
          <p:cNvSpPr/>
          <p:nvPr/>
        </p:nvSpPr>
        <p:spPr>
          <a:xfrm>
            <a:off x="658368" y="3739896"/>
            <a:ext cx="5257800" cy="713232"/>
          </a:xfrm>
          <a:prstGeom prst="roundRect">
            <a:avLst/>
          </a:prstGeom>
          <a:solidFill>
            <a:srgbClr val="EEF2F5"/>
          </a:solidFill>
          <a:ln w="12700">
            <a:solidFill>
              <a:srgbClr val="163554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24" name="Shape 20"/>
          <p:cNvSpPr/>
          <p:nvPr/>
        </p:nvSpPr>
        <p:spPr>
          <a:xfrm>
            <a:off x="804672" y="3886200"/>
            <a:ext cx="310896" cy="310896"/>
          </a:xfrm>
          <a:prstGeom prst="ellipse">
            <a:avLst/>
          </a:prstGeom>
          <a:solidFill>
            <a:srgbClr val="F4C757"/>
          </a:solidFill>
          <a:ln w="12700">
            <a:solidFill>
              <a:srgbClr val="F4C75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5" name="Text 21"/>
          <p:cNvSpPr/>
          <p:nvPr/>
        </p:nvSpPr>
        <p:spPr>
          <a:xfrm>
            <a:off x="804672" y="38679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41B34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Text 22"/>
          <p:cNvSpPr/>
          <p:nvPr/>
        </p:nvSpPr>
        <p:spPr>
          <a:xfrm>
            <a:off x="1225296" y="3813048"/>
            <a:ext cx="452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41B34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Verstoring van OT-omgeving</a:t>
            </a:r>
            <a:endParaRPr lang="en-US" sz="1550" dirty="0"/>
          </a:p>
        </p:txBody>
      </p:sp>
      <p:sp>
        <p:nvSpPr>
          <p:cNvPr id="27" name="Text 23"/>
          <p:cNvSpPr/>
          <p:nvPr/>
        </p:nvSpPr>
        <p:spPr>
          <a:xfrm>
            <a:off x="1225296" y="4050792"/>
            <a:ext cx="4526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222222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Kans gemiddeld · impact zeer hoog · stilstand of onveilige processen</a:t>
            </a:r>
            <a:endParaRPr lang="en-US" sz="1180" dirty="0"/>
          </a:p>
        </p:txBody>
      </p:sp>
      <p:sp>
        <p:nvSpPr>
          <p:cNvPr id="28" name="Shape 24"/>
          <p:cNvSpPr/>
          <p:nvPr/>
        </p:nvSpPr>
        <p:spPr>
          <a:xfrm>
            <a:off x="658368" y="4553712"/>
            <a:ext cx="5257800" cy="713232"/>
          </a:xfrm>
          <a:prstGeom prst="roundRect">
            <a:avLst/>
          </a:prstGeom>
          <a:solidFill>
            <a:srgbClr val="EEF2F5"/>
          </a:solidFill>
          <a:ln w="12700">
            <a:solidFill>
              <a:srgbClr val="163554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29" name="Shape 25"/>
          <p:cNvSpPr/>
          <p:nvPr/>
        </p:nvSpPr>
        <p:spPr>
          <a:xfrm>
            <a:off x="804672" y="4700016"/>
            <a:ext cx="310896" cy="310896"/>
          </a:xfrm>
          <a:prstGeom prst="ellipse">
            <a:avLst/>
          </a:prstGeom>
          <a:solidFill>
            <a:srgbClr val="F4C757"/>
          </a:solidFill>
          <a:ln w="12700">
            <a:solidFill>
              <a:srgbClr val="F4C75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0" name="Text 26"/>
          <p:cNvSpPr/>
          <p:nvPr/>
        </p:nvSpPr>
        <p:spPr>
          <a:xfrm>
            <a:off x="804672" y="46817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41B34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5</a:t>
            </a:r>
            <a:endParaRPr lang="en-US" sz="1500" dirty="0"/>
          </a:p>
        </p:txBody>
      </p:sp>
      <p:sp>
        <p:nvSpPr>
          <p:cNvPr id="31" name="Text 27"/>
          <p:cNvSpPr/>
          <p:nvPr/>
        </p:nvSpPr>
        <p:spPr>
          <a:xfrm>
            <a:off x="1225296" y="4626864"/>
            <a:ext cx="452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41B34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Onbruikbare back-ups</a:t>
            </a:r>
            <a:endParaRPr lang="en-US" sz="1550" dirty="0"/>
          </a:p>
        </p:txBody>
      </p:sp>
      <p:sp>
        <p:nvSpPr>
          <p:cNvPr id="32" name="Text 28"/>
          <p:cNvSpPr/>
          <p:nvPr/>
        </p:nvSpPr>
        <p:spPr>
          <a:xfrm>
            <a:off x="1225296" y="4864608"/>
            <a:ext cx="4526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222222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Kans gemiddeld · impact hoog · herstel duurt veel langer</a:t>
            </a:r>
            <a:endParaRPr lang="en-US" sz="1180" dirty="0"/>
          </a:p>
        </p:txBody>
      </p:sp>
      <p:sp>
        <p:nvSpPr>
          <p:cNvPr id="33" name="Text 29"/>
          <p:cNvSpPr/>
          <p:nvPr/>
        </p:nvSpPr>
        <p:spPr>
          <a:xfrm>
            <a:off x="7699248" y="126187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9B2E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Risicomatrix</a:t>
            </a:r>
            <a:endParaRPr lang="en-US" sz="1400" dirty="0"/>
          </a:p>
        </p:txBody>
      </p:sp>
      <p:sp>
        <p:nvSpPr>
          <p:cNvPr id="34" name="Shape 30"/>
          <p:cNvSpPr/>
          <p:nvPr/>
        </p:nvSpPr>
        <p:spPr>
          <a:xfrm>
            <a:off x="6812280" y="1737360"/>
            <a:ext cx="1051560" cy="1051560"/>
          </a:xfrm>
          <a:prstGeom prst="rect">
            <a:avLst/>
          </a:prstGeom>
          <a:solidFill>
            <a:srgbClr val="F3F5F6"/>
          </a:solidFill>
          <a:ln w="12700">
            <a:solidFill>
              <a:srgbClr val="163554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5" name="Shape 31"/>
          <p:cNvSpPr/>
          <p:nvPr/>
        </p:nvSpPr>
        <p:spPr>
          <a:xfrm>
            <a:off x="7863840" y="1737360"/>
            <a:ext cx="1051560" cy="1051560"/>
          </a:xfrm>
          <a:prstGeom prst="rect">
            <a:avLst/>
          </a:prstGeom>
          <a:solidFill>
            <a:srgbClr val="F3F5F6"/>
          </a:solidFill>
          <a:ln w="12700">
            <a:solidFill>
              <a:srgbClr val="163554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6" name="Shape 32"/>
          <p:cNvSpPr/>
          <p:nvPr/>
        </p:nvSpPr>
        <p:spPr>
          <a:xfrm>
            <a:off x="8915400" y="1737360"/>
            <a:ext cx="1051560" cy="1051560"/>
          </a:xfrm>
          <a:prstGeom prst="rect">
            <a:avLst/>
          </a:prstGeom>
          <a:solidFill>
            <a:srgbClr val="F3F5F6"/>
          </a:solidFill>
          <a:ln w="12700">
            <a:solidFill>
              <a:srgbClr val="163554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7" name="Shape 33"/>
          <p:cNvSpPr/>
          <p:nvPr/>
        </p:nvSpPr>
        <p:spPr>
          <a:xfrm>
            <a:off x="6812280" y="2788920"/>
            <a:ext cx="1051560" cy="1051560"/>
          </a:xfrm>
          <a:prstGeom prst="rect">
            <a:avLst/>
          </a:prstGeom>
          <a:solidFill>
            <a:srgbClr val="E7EDF2"/>
          </a:solidFill>
          <a:ln w="12700">
            <a:solidFill>
              <a:srgbClr val="163554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8" name="Shape 34"/>
          <p:cNvSpPr/>
          <p:nvPr/>
        </p:nvSpPr>
        <p:spPr>
          <a:xfrm>
            <a:off x="7863840" y="2788920"/>
            <a:ext cx="1051560" cy="1051560"/>
          </a:xfrm>
          <a:prstGeom prst="rect">
            <a:avLst/>
          </a:prstGeom>
          <a:solidFill>
            <a:srgbClr val="E7EDF2"/>
          </a:solidFill>
          <a:ln w="12700">
            <a:solidFill>
              <a:srgbClr val="163554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9" name="Shape 35"/>
          <p:cNvSpPr/>
          <p:nvPr/>
        </p:nvSpPr>
        <p:spPr>
          <a:xfrm>
            <a:off x="8915400" y="2788920"/>
            <a:ext cx="1051560" cy="1051560"/>
          </a:xfrm>
          <a:prstGeom prst="rect">
            <a:avLst/>
          </a:prstGeom>
          <a:solidFill>
            <a:srgbClr val="E7EDF2"/>
          </a:solidFill>
          <a:ln w="12700">
            <a:solidFill>
              <a:srgbClr val="163554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40" name="Shape 36"/>
          <p:cNvSpPr/>
          <p:nvPr/>
        </p:nvSpPr>
        <p:spPr>
          <a:xfrm>
            <a:off x="6812280" y="3840480"/>
            <a:ext cx="1051560" cy="1051560"/>
          </a:xfrm>
          <a:prstGeom prst="rect">
            <a:avLst/>
          </a:prstGeom>
          <a:solidFill>
            <a:srgbClr val="DCE5EC"/>
          </a:solidFill>
          <a:ln w="12700">
            <a:solidFill>
              <a:srgbClr val="163554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41" name="Shape 37"/>
          <p:cNvSpPr/>
          <p:nvPr/>
        </p:nvSpPr>
        <p:spPr>
          <a:xfrm>
            <a:off x="7863840" y="3840480"/>
            <a:ext cx="1051560" cy="1051560"/>
          </a:xfrm>
          <a:prstGeom prst="rect">
            <a:avLst/>
          </a:prstGeom>
          <a:solidFill>
            <a:srgbClr val="DCE5EC"/>
          </a:solidFill>
          <a:ln w="12700">
            <a:solidFill>
              <a:srgbClr val="163554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42" name="Shape 38"/>
          <p:cNvSpPr/>
          <p:nvPr/>
        </p:nvSpPr>
        <p:spPr>
          <a:xfrm>
            <a:off x="8915400" y="3840480"/>
            <a:ext cx="1051560" cy="1051560"/>
          </a:xfrm>
          <a:prstGeom prst="rect">
            <a:avLst/>
          </a:prstGeom>
          <a:solidFill>
            <a:srgbClr val="DCE5EC"/>
          </a:solidFill>
          <a:ln w="12700">
            <a:solidFill>
              <a:srgbClr val="163554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43" name="Text 39"/>
          <p:cNvSpPr/>
          <p:nvPr/>
        </p:nvSpPr>
        <p:spPr>
          <a:xfrm>
            <a:off x="7680960" y="496519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41B34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Impact</a:t>
            </a:r>
            <a:endParaRPr lang="en-US" sz="1300" dirty="0"/>
          </a:p>
        </p:txBody>
      </p:sp>
      <p:sp>
        <p:nvSpPr>
          <p:cNvPr id="44" name="Text 40"/>
          <p:cNvSpPr/>
          <p:nvPr/>
        </p:nvSpPr>
        <p:spPr>
          <a:xfrm rot="16200000">
            <a:off x="6190488" y="2816352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041B34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Kans</a:t>
            </a:r>
            <a:endParaRPr lang="en-US" sz="1220" dirty="0"/>
          </a:p>
        </p:txBody>
      </p:sp>
      <p:sp>
        <p:nvSpPr>
          <p:cNvPr id="45" name="Text 41"/>
          <p:cNvSpPr/>
          <p:nvPr/>
        </p:nvSpPr>
        <p:spPr>
          <a:xfrm>
            <a:off x="6885432" y="4727448"/>
            <a:ext cx="905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dirty="0">
                <a:solidFill>
                  <a:srgbClr val="222222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Laag</a:t>
            </a:r>
            <a:endParaRPr lang="en-US" sz="1120" dirty="0"/>
          </a:p>
        </p:txBody>
      </p:sp>
      <p:sp>
        <p:nvSpPr>
          <p:cNvPr id="46" name="Text 42"/>
          <p:cNvSpPr/>
          <p:nvPr/>
        </p:nvSpPr>
        <p:spPr>
          <a:xfrm>
            <a:off x="7936992" y="4727448"/>
            <a:ext cx="905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dirty="0">
                <a:solidFill>
                  <a:srgbClr val="222222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Gemiddeld</a:t>
            </a:r>
            <a:endParaRPr lang="en-US" sz="1120" dirty="0"/>
          </a:p>
        </p:txBody>
      </p:sp>
      <p:sp>
        <p:nvSpPr>
          <p:cNvPr id="47" name="Text 43"/>
          <p:cNvSpPr/>
          <p:nvPr/>
        </p:nvSpPr>
        <p:spPr>
          <a:xfrm>
            <a:off x="8988552" y="4727448"/>
            <a:ext cx="905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dirty="0">
                <a:solidFill>
                  <a:srgbClr val="222222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Hoog</a:t>
            </a:r>
            <a:endParaRPr lang="en-US" sz="1120" dirty="0"/>
          </a:p>
        </p:txBody>
      </p:sp>
      <p:sp>
        <p:nvSpPr>
          <p:cNvPr id="48" name="Text 44"/>
          <p:cNvSpPr/>
          <p:nvPr/>
        </p:nvSpPr>
        <p:spPr>
          <a:xfrm>
            <a:off x="6153912" y="2139696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80" dirty="0">
                <a:solidFill>
                  <a:srgbClr val="222222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Hoog</a:t>
            </a:r>
            <a:endParaRPr lang="en-US" sz="1080" dirty="0"/>
          </a:p>
        </p:txBody>
      </p:sp>
      <p:sp>
        <p:nvSpPr>
          <p:cNvPr id="49" name="Text 45"/>
          <p:cNvSpPr/>
          <p:nvPr/>
        </p:nvSpPr>
        <p:spPr>
          <a:xfrm>
            <a:off x="6153912" y="3191256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r">
              <a:buNone/>
            </a:pPr>
            <a:r>
              <a:rPr lang="en-US" sz="1080" dirty="0">
                <a:solidFill>
                  <a:srgbClr val="222222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Gemiddeld</a:t>
            </a:r>
            <a:endParaRPr lang="en-US" sz="1080" dirty="0"/>
          </a:p>
        </p:txBody>
      </p:sp>
      <p:sp>
        <p:nvSpPr>
          <p:cNvPr id="50" name="Text 46"/>
          <p:cNvSpPr/>
          <p:nvPr/>
        </p:nvSpPr>
        <p:spPr>
          <a:xfrm>
            <a:off x="6153912" y="4242816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80" dirty="0">
                <a:solidFill>
                  <a:srgbClr val="222222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Laag</a:t>
            </a:r>
            <a:endParaRPr lang="en-US" sz="1080" dirty="0"/>
          </a:p>
        </p:txBody>
      </p:sp>
      <p:sp>
        <p:nvSpPr>
          <p:cNvPr id="51" name="Shape 47"/>
          <p:cNvSpPr/>
          <p:nvPr/>
        </p:nvSpPr>
        <p:spPr>
          <a:xfrm>
            <a:off x="9217152" y="2039112"/>
            <a:ext cx="457200" cy="457200"/>
          </a:xfrm>
          <a:prstGeom prst="ellipse">
            <a:avLst/>
          </a:prstGeom>
          <a:solidFill>
            <a:srgbClr val="F4C757"/>
          </a:solidFill>
          <a:ln w="12700">
            <a:solidFill>
              <a:srgbClr val="C79B2E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52" name="Text 48"/>
          <p:cNvSpPr/>
          <p:nvPr/>
        </p:nvSpPr>
        <p:spPr>
          <a:xfrm>
            <a:off x="9217152" y="2029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41B34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2</a:t>
            </a:r>
            <a:endParaRPr lang="en-US" sz="1500" dirty="0"/>
          </a:p>
        </p:txBody>
      </p:sp>
      <p:sp>
        <p:nvSpPr>
          <p:cNvPr id="53" name="Shape 49"/>
          <p:cNvSpPr/>
          <p:nvPr/>
        </p:nvSpPr>
        <p:spPr>
          <a:xfrm>
            <a:off x="8743950" y="3090672"/>
            <a:ext cx="457200" cy="457200"/>
          </a:xfrm>
          <a:prstGeom prst="ellipse">
            <a:avLst/>
          </a:prstGeom>
          <a:solidFill>
            <a:srgbClr val="F4C757"/>
          </a:solidFill>
          <a:ln w="12700">
            <a:solidFill>
              <a:srgbClr val="C79B2E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54" name="Text 50"/>
          <p:cNvSpPr/>
          <p:nvPr/>
        </p:nvSpPr>
        <p:spPr>
          <a:xfrm>
            <a:off x="8743950" y="3081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41B34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3</a:t>
            </a:r>
            <a:endParaRPr lang="en-US" sz="1500" dirty="0"/>
          </a:p>
        </p:txBody>
      </p:sp>
      <p:sp>
        <p:nvSpPr>
          <p:cNvPr id="55" name="Shape 51"/>
          <p:cNvSpPr/>
          <p:nvPr/>
        </p:nvSpPr>
        <p:spPr>
          <a:xfrm>
            <a:off x="8165592" y="3090672"/>
            <a:ext cx="457200" cy="457200"/>
          </a:xfrm>
          <a:prstGeom prst="ellipse">
            <a:avLst/>
          </a:prstGeom>
          <a:solidFill>
            <a:srgbClr val="F4C757"/>
          </a:solidFill>
          <a:ln w="12700">
            <a:solidFill>
              <a:srgbClr val="C79B2E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56" name="Text 52"/>
          <p:cNvSpPr/>
          <p:nvPr/>
        </p:nvSpPr>
        <p:spPr>
          <a:xfrm>
            <a:off x="8165592" y="3081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41B34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4</a:t>
            </a:r>
            <a:endParaRPr lang="en-US" sz="1500" dirty="0"/>
          </a:p>
        </p:txBody>
      </p:sp>
      <p:sp>
        <p:nvSpPr>
          <p:cNvPr id="57" name="Shape 53"/>
          <p:cNvSpPr/>
          <p:nvPr/>
        </p:nvSpPr>
        <p:spPr>
          <a:xfrm>
            <a:off x="8165592" y="3879342"/>
            <a:ext cx="457200" cy="457200"/>
          </a:xfrm>
          <a:prstGeom prst="ellipse">
            <a:avLst/>
          </a:prstGeom>
          <a:solidFill>
            <a:srgbClr val="F4C757"/>
          </a:solidFill>
          <a:ln w="12700">
            <a:solidFill>
              <a:srgbClr val="C79B2E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58" name="Text 54"/>
          <p:cNvSpPr/>
          <p:nvPr/>
        </p:nvSpPr>
        <p:spPr>
          <a:xfrm>
            <a:off x="8165592" y="387019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41B34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5</a:t>
            </a:r>
            <a:endParaRPr lang="en-US" sz="1500" dirty="0"/>
          </a:p>
        </p:txBody>
      </p:sp>
      <p:sp>
        <p:nvSpPr>
          <p:cNvPr id="59" name="Shape 55"/>
          <p:cNvSpPr/>
          <p:nvPr/>
        </p:nvSpPr>
        <p:spPr>
          <a:xfrm>
            <a:off x="6473952" y="4983480"/>
            <a:ext cx="4315968" cy="713232"/>
          </a:xfrm>
          <a:prstGeom prst="roundRect">
            <a:avLst/>
          </a:prstGeom>
          <a:solidFill>
            <a:srgbClr val="EEF2F5"/>
          </a:solidFill>
          <a:ln w="12700">
            <a:solidFill>
              <a:srgbClr val="163554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60" name="Shape 56"/>
          <p:cNvSpPr/>
          <p:nvPr/>
        </p:nvSpPr>
        <p:spPr>
          <a:xfrm>
            <a:off x="6492240" y="5056632"/>
            <a:ext cx="73152" cy="566928"/>
          </a:xfrm>
          <a:prstGeom prst="rect">
            <a:avLst/>
          </a:prstGeom>
          <a:solidFill>
            <a:srgbClr val="F4C757"/>
          </a:solidFill>
          <a:ln w="12700">
            <a:solidFill>
              <a:srgbClr val="F4C75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61" name="Text 57"/>
          <p:cNvSpPr/>
          <p:nvPr/>
        </p:nvSpPr>
        <p:spPr>
          <a:xfrm>
            <a:off x="6638544" y="5074920"/>
            <a:ext cx="40416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041B34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Prioriteit voor fase 1</a:t>
            </a:r>
            <a:endParaRPr lang="en-US" sz="1550" dirty="0"/>
          </a:p>
        </p:txBody>
      </p:sp>
      <p:sp>
        <p:nvSpPr>
          <p:cNvPr id="62" name="Text 58"/>
          <p:cNvSpPr/>
          <p:nvPr/>
        </p:nvSpPr>
        <p:spPr>
          <a:xfrm>
            <a:off x="6638544" y="5294376"/>
            <a:ext cx="4041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MFA, toegangsrechten, leveranciersaccounts en back-upherstel direct aanpakken.</a:t>
            </a:r>
            <a:endParaRPr lang="en-US" sz="1250" dirty="0"/>
          </a:p>
        </p:txBody>
      </p:sp>
      <p:pic>
        <p:nvPicPr>
          <p:cNvPr id="64" name="Image 1" descr="/tmp/oai_slides/template/ppt/media/image3.png">
            <a:extLst>
              <a:ext uri="{FF2B5EF4-FFF2-40B4-BE49-F238E27FC236}">
                <a16:creationId xmlns:a16="http://schemas.microsoft.com/office/drawing/2014/main" id="{3989AA60-C271-188B-93A0-908E709FB7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0415" y="146303"/>
            <a:ext cx="1278497" cy="127849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D9D9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hape 0">
            <a:extLst>
              <a:ext uri="{FF2B5EF4-FFF2-40B4-BE49-F238E27FC236}">
                <a16:creationId xmlns:a16="http://schemas.microsoft.com/office/drawing/2014/main" id="{094F5D62-E4C1-0C84-7673-4035C3D3B545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0">
                <a:srgbClr val="002060">
                  <a:lumMod val="98000"/>
                </a:srgbClr>
              </a:gs>
              <a:gs pos="74000">
                <a:schemeClr val="accent1">
                  <a:lumMod val="75000"/>
                </a:schemeClr>
              </a:gs>
              <a:gs pos="83000">
                <a:srgbClr val="0070C0"/>
              </a:gs>
              <a:gs pos="100000">
                <a:schemeClr val="accent4"/>
              </a:gs>
            </a:gsLst>
            <a:lin ang="5400000" scaled="1"/>
            <a:tileRect/>
          </a:gradFill>
          <a:ln w="12700">
            <a:solidFill>
              <a:srgbClr val="041B3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pic>
        <p:nvPicPr>
          <p:cNvPr id="5" name="Image 0" descr="/tmp/oai_slides/template/ppt/media/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99632"/>
            <a:ext cx="12191695" cy="65836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02920" y="310896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VOLWASSENHEID (CMMI-MODEL)</a:t>
            </a:r>
            <a:endParaRPr lang="en-US" sz="2600" dirty="0"/>
          </a:p>
        </p:txBody>
      </p:sp>
      <p:sp>
        <p:nvSpPr>
          <p:cNvPr id="8" name="Shape 4"/>
          <p:cNvSpPr/>
          <p:nvPr/>
        </p:nvSpPr>
        <p:spPr>
          <a:xfrm>
            <a:off x="841248" y="1417320"/>
            <a:ext cx="5852160" cy="621792"/>
          </a:xfrm>
          <a:prstGeom prst="roundRect">
            <a:avLst/>
          </a:prstGeom>
          <a:solidFill>
            <a:srgbClr val="EEF2F5"/>
          </a:solidFill>
          <a:ln w="12700">
            <a:solidFill>
              <a:srgbClr val="163554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9" name="Shape 5"/>
          <p:cNvSpPr/>
          <p:nvPr/>
        </p:nvSpPr>
        <p:spPr>
          <a:xfrm>
            <a:off x="987552" y="1527048"/>
            <a:ext cx="384048" cy="384048"/>
          </a:xfrm>
          <a:prstGeom prst="ellipse">
            <a:avLst/>
          </a:prstGeom>
          <a:solidFill>
            <a:srgbClr val="F4C757"/>
          </a:solidFill>
          <a:ln w="12700">
            <a:solidFill>
              <a:srgbClr val="F4C75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0" name="Text 6"/>
          <p:cNvSpPr/>
          <p:nvPr/>
        </p:nvSpPr>
        <p:spPr>
          <a:xfrm>
            <a:off x="987552" y="1527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41B34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5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1481328" y="152704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41B34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Optimizing</a:t>
            </a:r>
            <a:endParaRPr lang="en-US" sz="1650" dirty="0"/>
          </a:p>
        </p:txBody>
      </p:sp>
      <p:sp>
        <p:nvSpPr>
          <p:cNvPr id="12" name="Text 8"/>
          <p:cNvSpPr/>
          <p:nvPr/>
        </p:nvSpPr>
        <p:spPr>
          <a:xfrm>
            <a:off x="1481328" y="1728216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222222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Continue verbetering</a:t>
            </a:r>
            <a:endParaRPr lang="en-US" sz="1180" dirty="0"/>
          </a:p>
        </p:txBody>
      </p:sp>
      <p:sp>
        <p:nvSpPr>
          <p:cNvPr id="13" name="Shape 9"/>
          <p:cNvSpPr/>
          <p:nvPr/>
        </p:nvSpPr>
        <p:spPr>
          <a:xfrm>
            <a:off x="841248" y="2221992"/>
            <a:ext cx="5852160" cy="621792"/>
          </a:xfrm>
          <a:prstGeom prst="roundRect">
            <a:avLst/>
          </a:prstGeom>
          <a:solidFill>
            <a:srgbClr val="EEF2F5"/>
          </a:solidFill>
          <a:ln w="12700">
            <a:solidFill>
              <a:srgbClr val="163554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14" name="Shape 10"/>
          <p:cNvSpPr/>
          <p:nvPr/>
        </p:nvSpPr>
        <p:spPr>
          <a:xfrm>
            <a:off x="987552" y="2331720"/>
            <a:ext cx="384048" cy="384048"/>
          </a:xfrm>
          <a:prstGeom prst="ellipse">
            <a:avLst/>
          </a:prstGeom>
          <a:solidFill>
            <a:srgbClr val="F4C757"/>
          </a:solidFill>
          <a:ln w="12700">
            <a:solidFill>
              <a:srgbClr val="F4C75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5" name="Text 11"/>
          <p:cNvSpPr/>
          <p:nvPr/>
        </p:nvSpPr>
        <p:spPr>
          <a:xfrm>
            <a:off x="987552" y="2331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41B34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4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1481328" y="233172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41B34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Quantitatively Managed</a:t>
            </a:r>
            <a:endParaRPr lang="en-US" sz="1650" dirty="0"/>
          </a:p>
        </p:txBody>
      </p:sp>
      <p:sp>
        <p:nvSpPr>
          <p:cNvPr id="17" name="Text 13"/>
          <p:cNvSpPr/>
          <p:nvPr/>
        </p:nvSpPr>
        <p:spPr>
          <a:xfrm>
            <a:off x="1481328" y="2532888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222222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Statistisch gemeten</a:t>
            </a:r>
            <a:endParaRPr lang="en-US" sz="1180" dirty="0"/>
          </a:p>
        </p:txBody>
      </p:sp>
      <p:sp>
        <p:nvSpPr>
          <p:cNvPr id="18" name="Shape 14"/>
          <p:cNvSpPr/>
          <p:nvPr/>
        </p:nvSpPr>
        <p:spPr>
          <a:xfrm>
            <a:off x="841248" y="3026664"/>
            <a:ext cx="5852160" cy="621792"/>
          </a:xfrm>
          <a:prstGeom prst="roundRect">
            <a:avLst/>
          </a:prstGeom>
          <a:solidFill>
            <a:srgbClr val="F7EAC1"/>
          </a:solidFill>
          <a:ln w="12700">
            <a:solidFill>
              <a:srgbClr val="163554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19" name="Shape 15"/>
          <p:cNvSpPr/>
          <p:nvPr/>
        </p:nvSpPr>
        <p:spPr>
          <a:xfrm>
            <a:off x="987552" y="3136392"/>
            <a:ext cx="384048" cy="384048"/>
          </a:xfrm>
          <a:prstGeom prst="ellipse">
            <a:avLst/>
          </a:prstGeom>
          <a:solidFill>
            <a:srgbClr val="F4C757"/>
          </a:solidFill>
          <a:ln w="12700">
            <a:solidFill>
              <a:srgbClr val="F4C75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0" name="Text 16"/>
          <p:cNvSpPr/>
          <p:nvPr/>
        </p:nvSpPr>
        <p:spPr>
          <a:xfrm>
            <a:off x="987552" y="3136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41B34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3</a:t>
            </a:r>
            <a:endParaRPr lang="en-US" sz="1700" dirty="0"/>
          </a:p>
        </p:txBody>
      </p:sp>
      <p:sp>
        <p:nvSpPr>
          <p:cNvPr id="21" name="Text 17"/>
          <p:cNvSpPr/>
          <p:nvPr/>
        </p:nvSpPr>
        <p:spPr>
          <a:xfrm>
            <a:off x="1481328" y="3136392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41B34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Defined</a:t>
            </a:r>
            <a:endParaRPr lang="en-US" sz="1650" dirty="0"/>
          </a:p>
        </p:txBody>
      </p:sp>
      <p:sp>
        <p:nvSpPr>
          <p:cNvPr id="22" name="Text 18"/>
          <p:cNvSpPr/>
          <p:nvPr/>
        </p:nvSpPr>
        <p:spPr>
          <a:xfrm>
            <a:off x="1481328" y="333756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222222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Formele, herhaalbare processen</a:t>
            </a:r>
            <a:endParaRPr lang="en-US" sz="1180" dirty="0"/>
          </a:p>
        </p:txBody>
      </p:sp>
      <p:sp>
        <p:nvSpPr>
          <p:cNvPr id="23" name="Text 19"/>
          <p:cNvSpPr/>
          <p:nvPr/>
        </p:nvSpPr>
        <p:spPr>
          <a:xfrm>
            <a:off x="4544568" y="3154680"/>
            <a:ext cx="1938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940" b="1" dirty="0">
                <a:solidFill>
                  <a:srgbClr val="041B34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Doel: toegangsbeheer, patching, back-upherstel, monitoring, leveranciersbeheer en incidentrespons</a:t>
            </a:r>
            <a:endParaRPr lang="en-US" sz="940" dirty="0"/>
          </a:p>
        </p:txBody>
      </p:sp>
      <p:sp>
        <p:nvSpPr>
          <p:cNvPr id="24" name="Shape 20"/>
          <p:cNvSpPr/>
          <p:nvPr/>
        </p:nvSpPr>
        <p:spPr>
          <a:xfrm>
            <a:off x="841248" y="3831336"/>
            <a:ext cx="5852160" cy="621792"/>
          </a:xfrm>
          <a:prstGeom prst="roundRect">
            <a:avLst/>
          </a:prstGeom>
          <a:solidFill>
            <a:srgbClr val="EEF2F5"/>
          </a:solidFill>
          <a:ln w="12700">
            <a:solidFill>
              <a:srgbClr val="163554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25" name="Shape 21"/>
          <p:cNvSpPr/>
          <p:nvPr/>
        </p:nvSpPr>
        <p:spPr>
          <a:xfrm>
            <a:off x="987552" y="3941064"/>
            <a:ext cx="384048" cy="384048"/>
          </a:xfrm>
          <a:prstGeom prst="ellipse">
            <a:avLst/>
          </a:prstGeom>
          <a:solidFill>
            <a:srgbClr val="F4C757"/>
          </a:solidFill>
          <a:ln w="12700">
            <a:solidFill>
              <a:srgbClr val="F4C75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6" name="Text 22"/>
          <p:cNvSpPr/>
          <p:nvPr/>
        </p:nvSpPr>
        <p:spPr>
          <a:xfrm>
            <a:off x="987552" y="3941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41B34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2</a:t>
            </a:r>
            <a:endParaRPr lang="en-US" sz="1700" dirty="0"/>
          </a:p>
        </p:txBody>
      </p:sp>
      <p:sp>
        <p:nvSpPr>
          <p:cNvPr id="27" name="Text 23"/>
          <p:cNvSpPr/>
          <p:nvPr/>
        </p:nvSpPr>
        <p:spPr>
          <a:xfrm>
            <a:off x="1481328" y="3941064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41B34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Managed</a:t>
            </a:r>
            <a:endParaRPr lang="en-US" sz="1650" dirty="0"/>
          </a:p>
        </p:txBody>
      </p:sp>
      <p:sp>
        <p:nvSpPr>
          <p:cNvPr id="28" name="Text 24"/>
          <p:cNvSpPr/>
          <p:nvPr/>
        </p:nvSpPr>
        <p:spPr>
          <a:xfrm>
            <a:off x="1481328" y="414223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222222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Projectmatig beheer</a:t>
            </a:r>
            <a:endParaRPr lang="en-US" sz="1180" dirty="0"/>
          </a:p>
        </p:txBody>
      </p:sp>
      <p:sp>
        <p:nvSpPr>
          <p:cNvPr id="29" name="Shape 25"/>
          <p:cNvSpPr/>
          <p:nvPr/>
        </p:nvSpPr>
        <p:spPr>
          <a:xfrm>
            <a:off x="841248" y="4636008"/>
            <a:ext cx="5852160" cy="621792"/>
          </a:xfrm>
          <a:prstGeom prst="roundRect">
            <a:avLst/>
          </a:prstGeom>
          <a:solidFill>
            <a:srgbClr val="FFF3D4"/>
          </a:solidFill>
          <a:ln w="12700">
            <a:solidFill>
              <a:srgbClr val="C79B2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30" name="Shape 26"/>
          <p:cNvSpPr/>
          <p:nvPr/>
        </p:nvSpPr>
        <p:spPr>
          <a:xfrm>
            <a:off x="987552" y="4745736"/>
            <a:ext cx="384048" cy="384048"/>
          </a:xfrm>
          <a:prstGeom prst="ellipse">
            <a:avLst/>
          </a:prstGeom>
          <a:solidFill>
            <a:srgbClr val="F4C757"/>
          </a:solidFill>
          <a:ln w="12700">
            <a:solidFill>
              <a:srgbClr val="F4C75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1" name="Text 27"/>
          <p:cNvSpPr/>
          <p:nvPr/>
        </p:nvSpPr>
        <p:spPr>
          <a:xfrm>
            <a:off x="987552" y="47457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41B34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1</a:t>
            </a:r>
            <a:endParaRPr lang="en-US" sz="1700" dirty="0"/>
          </a:p>
        </p:txBody>
      </p:sp>
      <p:sp>
        <p:nvSpPr>
          <p:cNvPr id="32" name="Text 28"/>
          <p:cNvSpPr/>
          <p:nvPr/>
        </p:nvSpPr>
        <p:spPr>
          <a:xfrm>
            <a:off x="1481328" y="4745736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41B34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Initial / Ad-hoc</a:t>
            </a:r>
            <a:endParaRPr lang="en-US" sz="1650" dirty="0"/>
          </a:p>
        </p:txBody>
      </p:sp>
      <p:sp>
        <p:nvSpPr>
          <p:cNvPr id="33" name="Text 29"/>
          <p:cNvSpPr/>
          <p:nvPr/>
        </p:nvSpPr>
        <p:spPr>
          <a:xfrm>
            <a:off x="1481328" y="4946904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222222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Huidige situatie Billy Bonka</a:t>
            </a:r>
            <a:endParaRPr lang="en-US" sz="1180" dirty="0"/>
          </a:p>
        </p:txBody>
      </p:sp>
      <p:sp>
        <p:nvSpPr>
          <p:cNvPr id="34" name="Shape 30"/>
          <p:cNvSpPr/>
          <p:nvPr/>
        </p:nvSpPr>
        <p:spPr>
          <a:xfrm>
            <a:off x="6903720" y="5029200"/>
            <a:ext cx="822960" cy="0"/>
          </a:xfrm>
          <a:prstGeom prst="line">
            <a:avLst/>
          </a:prstGeom>
          <a:noFill/>
          <a:ln w="12700">
            <a:solidFill>
              <a:srgbClr val="C79B2E"/>
            </a:solidFill>
            <a:prstDash val="solid"/>
            <a:tailEnd type="triangle"/>
          </a:ln>
        </p:spPr>
        <p:txBody>
          <a:bodyPr/>
          <a:lstStyle/>
          <a:p>
            <a:endParaRPr lang="nl-NL"/>
          </a:p>
        </p:txBody>
      </p:sp>
      <p:sp>
        <p:nvSpPr>
          <p:cNvPr id="35" name="Shape 31"/>
          <p:cNvSpPr/>
          <p:nvPr/>
        </p:nvSpPr>
        <p:spPr>
          <a:xfrm>
            <a:off x="7406640" y="1719072"/>
            <a:ext cx="4023360" cy="2743200"/>
          </a:xfrm>
          <a:prstGeom prst="roundRect">
            <a:avLst/>
          </a:prstGeom>
          <a:solidFill>
            <a:srgbClr val="EEF2F5"/>
          </a:solidFill>
          <a:ln w="12700">
            <a:solidFill>
              <a:srgbClr val="163554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36" name="Shape 32"/>
          <p:cNvSpPr/>
          <p:nvPr/>
        </p:nvSpPr>
        <p:spPr>
          <a:xfrm>
            <a:off x="7424928" y="1792224"/>
            <a:ext cx="73152" cy="2596896"/>
          </a:xfrm>
          <a:prstGeom prst="rect">
            <a:avLst/>
          </a:prstGeom>
          <a:solidFill>
            <a:srgbClr val="F4C757"/>
          </a:solidFill>
          <a:ln w="12700">
            <a:solidFill>
              <a:srgbClr val="F4C75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7" name="Text 33"/>
          <p:cNvSpPr/>
          <p:nvPr/>
        </p:nvSpPr>
        <p:spPr>
          <a:xfrm>
            <a:off x="7571232" y="181051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41B34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Huidige situatie</a:t>
            </a:r>
            <a:endParaRPr lang="en-US" sz="1800" dirty="0"/>
          </a:p>
        </p:txBody>
      </p:sp>
      <p:sp>
        <p:nvSpPr>
          <p:cNvPr id="38" name="Text 34"/>
          <p:cNvSpPr/>
          <p:nvPr/>
        </p:nvSpPr>
        <p:spPr>
          <a:xfrm>
            <a:off x="7571232" y="2029968"/>
            <a:ext cx="3749040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Billy Bonka bevindt zich op CMMI-niveau 1: cybersecurity is nog reactief en nog niet structureel ingebed in processen en besluitvorming.</a:t>
            </a:r>
            <a:endParaRPr lang="en-US" sz="1400" dirty="0"/>
          </a:p>
        </p:txBody>
      </p:sp>
      <p:sp>
        <p:nvSpPr>
          <p:cNvPr id="39" name="Shape 35"/>
          <p:cNvSpPr/>
          <p:nvPr/>
        </p:nvSpPr>
        <p:spPr>
          <a:xfrm>
            <a:off x="7498080" y="4617720"/>
            <a:ext cx="2057400" cy="292608"/>
          </a:xfrm>
          <a:prstGeom prst="roundRect">
            <a:avLst/>
          </a:prstGeom>
          <a:solidFill>
            <a:srgbClr val="F4C757">
              <a:alpha val="14000"/>
            </a:srgbClr>
          </a:solidFill>
          <a:ln w="12700">
            <a:solidFill>
              <a:srgbClr val="F4C757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40" name="Text 36"/>
          <p:cNvSpPr/>
          <p:nvPr/>
        </p:nvSpPr>
        <p:spPr>
          <a:xfrm>
            <a:off x="7589520" y="4654296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41B34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Kenmerken niveau 1</a:t>
            </a:r>
            <a:endParaRPr lang="en-US" sz="1250" dirty="0"/>
          </a:p>
        </p:txBody>
      </p:sp>
      <p:sp>
        <p:nvSpPr>
          <p:cNvPr id="41" name="Shape 37"/>
          <p:cNvSpPr/>
          <p:nvPr/>
        </p:nvSpPr>
        <p:spPr>
          <a:xfrm>
            <a:off x="7479792" y="5111496"/>
            <a:ext cx="64008" cy="64008"/>
          </a:xfrm>
          <a:prstGeom prst="ellipse">
            <a:avLst/>
          </a:prstGeom>
          <a:solidFill>
            <a:srgbClr val="F4C757"/>
          </a:solidFill>
          <a:ln w="12700">
            <a:solidFill>
              <a:srgbClr val="F4C75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42" name="Text 38"/>
          <p:cNvSpPr/>
          <p:nvPr/>
        </p:nvSpPr>
        <p:spPr>
          <a:xfrm>
            <a:off x="7635240" y="5010912"/>
            <a:ext cx="3703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222222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Beveiliging vooral reactief</a:t>
            </a:r>
            <a:endParaRPr lang="en-US" sz="1250" dirty="0"/>
          </a:p>
        </p:txBody>
      </p:sp>
      <p:sp>
        <p:nvSpPr>
          <p:cNvPr id="43" name="Shape 39"/>
          <p:cNvSpPr/>
          <p:nvPr/>
        </p:nvSpPr>
        <p:spPr>
          <a:xfrm>
            <a:off x="7479792" y="5358384"/>
            <a:ext cx="64008" cy="64008"/>
          </a:xfrm>
          <a:prstGeom prst="ellipse">
            <a:avLst/>
          </a:prstGeom>
          <a:solidFill>
            <a:srgbClr val="F4C757"/>
          </a:solidFill>
          <a:ln w="12700">
            <a:solidFill>
              <a:srgbClr val="F4C75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44" name="Text 40"/>
          <p:cNvSpPr/>
          <p:nvPr/>
        </p:nvSpPr>
        <p:spPr>
          <a:xfrm>
            <a:off x="7635240" y="5257800"/>
            <a:ext cx="3703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222222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Toegangsrechten onvoldoende beheerst</a:t>
            </a:r>
            <a:endParaRPr lang="en-US" sz="1250" dirty="0"/>
          </a:p>
        </p:txBody>
      </p:sp>
      <p:sp>
        <p:nvSpPr>
          <p:cNvPr id="45" name="Shape 41"/>
          <p:cNvSpPr/>
          <p:nvPr/>
        </p:nvSpPr>
        <p:spPr>
          <a:xfrm>
            <a:off x="7479792" y="5605272"/>
            <a:ext cx="64008" cy="64008"/>
          </a:xfrm>
          <a:prstGeom prst="ellipse">
            <a:avLst/>
          </a:prstGeom>
          <a:solidFill>
            <a:srgbClr val="F4C757"/>
          </a:solidFill>
          <a:ln w="12700">
            <a:solidFill>
              <a:srgbClr val="F4C75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46" name="Text 42"/>
          <p:cNvSpPr/>
          <p:nvPr/>
        </p:nvSpPr>
        <p:spPr>
          <a:xfrm>
            <a:off x="7635240" y="5504688"/>
            <a:ext cx="3703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222222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Security-by-design ontbreekt grotendeels</a:t>
            </a:r>
            <a:endParaRPr lang="en-US" sz="1250" dirty="0"/>
          </a:p>
        </p:txBody>
      </p:sp>
      <p:sp>
        <p:nvSpPr>
          <p:cNvPr id="47" name="Shape 43"/>
          <p:cNvSpPr/>
          <p:nvPr/>
        </p:nvSpPr>
        <p:spPr>
          <a:xfrm>
            <a:off x="7479792" y="5852160"/>
            <a:ext cx="64008" cy="64008"/>
          </a:xfrm>
          <a:prstGeom prst="ellipse">
            <a:avLst/>
          </a:prstGeom>
          <a:solidFill>
            <a:srgbClr val="F4C757"/>
          </a:solidFill>
          <a:ln w="12700">
            <a:solidFill>
              <a:srgbClr val="F4C75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48" name="Text 44"/>
          <p:cNvSpPr/>
          <p:nvPr/>
        </p:nvSpPr>
        <p:spPr>
          <a:xfrm>
            <a:off x="7635240" y="5751576"/>
            <a:ext cx="3703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222222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Awareness en herstelprocessen beperkt</a:t>
            </a:r>
            <a:endParaRPr lang="en-US" sz="1250" dirty="0"/>
          </a:p>
        </p:txBody>
      </p:sp>
      <p:pic>
        <p:nvPicPr>
          <p:cNvPr id="50" name="Image 1" descr="/tmp/oai_slides/template/ppt/media/image3.png">
            <a:extLst>
              <a:ext uri="{FF2B5EF4-FFF2-40B4-BE49-F238E27FC236}">
                <a16:creationId xmlns:a16="http://schemas.microsoft.com/office/drawing/2014/main" id="{D5D1871E-0FB2-013A-367D-AFDE6FFE6E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0415" y="146303"/>
            <a:ext cx="1278497" cy="127849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D9D9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0">
            <a:extLst>
              <a:ext uri="{FF2B5EF4-FFF2-40B4-BE49-F238E27FC236}">
                <a16:creationId xmlns:a16="http://schemas.microsoft.com/office/drawing/2014/main" id="{A22F9002-1FDA-AC82-D17B-D23A998C5E4A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0">
                <a:srgbClr val="002060">
                  <a:lumMod val="98000"/>
                </a:srgbClr>
              </a:gs>
              <a:gs pos="74000">
                <a:schemeClr val="accent1">
                  <a:lumMod val="75000"/>
                </a:schemeClr>
              </a:gs>
              <a:gs pos="83000">
                <a:srgbClr val="0070C0"/>
              </a:gs>
              <a:gs pos="100000">
                <a:schemeClr val="accent4"/>
              </a:gs>
            </a:gsLst>
            <a:lin ang="5400000" scaled="1"/>
            <a:tileRect/>
          </a:gradFill>
          <a:ln w="12700">
            <a:solidFill>
              <a:srgbClr val="041B3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pic>
        <p:nvPicPr>
          <p:cNvPr id="5" name="Image 0" descr="/tmp/oai_slides/template/ppt/media/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99632"/>
            <a:ext cx="12191695" cy="65836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02920" y="310896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NIEUWE NETWERKARCHITECTUUR</a:t>
            </a:r>
            <a:endParaRPr lang="en-US" sz="2600" dirty="0"/>
          </a:p>
        </p:txBody>
      </p:sp>
      <p:sp>
        <p:nvSpPr>
          <p:cNvPr id="8" name="Text 4"/>
          <p:cNvSpPr/>
          <p:nvPr/>
        </p:nvSpPr>
        <p:spPr>
          <a:xfrm>
            <a:off x="502920" y="786384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4C757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Security-by-design met segmentatie en least privilege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2606040" y="2340864"/>
            <a:ext cx="320040" cy="0"/>
          </a:xfrm>
          <a:prstGeom prst="line">
            <a:avLst/>
          </a:prstGeom>
          <a:noFill/>
          <a:ln w="12700">
            <a:solidFill>
              <a:srgbClr val="C79B2E"/>
            </a:solidFill>
            <a:prstDash val="solid"/>
            <a:tailEnd type="triangle"/>
          </a:ln>
        </p:spPr>
        <p:txBody>
          <a:bodyPr/>
          <a:lstStyle/>
          <a:p>
            <a:endParaRPr lang="nl-NL"/>
          </a:p>
        </p:txBody>
      </p:sp>
      <p:sp>
        <p:nvSpPr>
          <p:cNvPr id="10" name="Shape 6"/>
          <p:cNvSpPr/>
          <p:nvPr/>
        </p:nvSpPr>
        <p:spPr>
          <a:xfrm>
            <a:off x="2788920" y="3986784"/>
            <a:ext cx="137160" cy="0"/>
          </a:xfrm>
          <a:prstGeom prst="line">
            <a:avLst/>
          </a:prstGeom>
          <a:noFill/>
          <a:ln w="12700">
            <a:solidFill>
              <a:srgbClr val="C79B2E"/>
            </a:solidFill>
            <a:prstDash val="solid"/>
            <a:tailEnd type="triangle"/>
          </a:ln>
        </p:spPr>
        <p:txBody>
          <a:bodyPr/>
          <a:lstStyle/>
          <a:p>
            <a:endParaRPr lang="nl-NL"/>
          </a:p>
        </p:txBody>
      </p:sp>
      <p:sp>
        <p:nvSpPr>
          <p:cNvPr id="11" name="Shape 7"/>
          <p:cNvSpPr/>
          <p:nvPr/>
        </p:nvSpPr>
        <p:spPr>
          <a:xfrm>
            <a:off x="3858768" y="2176272"/>
            <a:ext cx="0" cy="566928"/>
          </a:xfrm>
          <a:prstGeom prst="line">
            <a:avLst/>
          </a:prstGeom>
          <a:noFill/>
          <a:ln w="12700">
            <a:solidFill>
              <a:srgbClr val="C79B2E"/>
            </a:solidFill>
            <a:prstDash val="solid"/>
            <a:tailEnd type="triangle"/>
          </a:ln>
        </p:spPr>
        <p:txBody>
          <a:bodyPr/>
          <a:lstStyle/>
          <a:p>
            <a:endParaRPr lang="nl-NL"/>
          </a:p>
        </p:txBody>
      </p:sp>
      <p:sp>
        <p:nvSpPr>
          <p:cNvPr id="12" name="Shape 8"/>
          <p:cNvSpPr/>
          <p:nvPr/>
        </p:nvSpPr>
        <p:spPr>
          <a:xfrm>
            <a:off x="3858768" y="3456432"/>
            <a:ext cx="0" cy="1060704"/>
          </a:xfrm>
          <a:prstGeom prst="line">
            <a:avLst/>
          </a:prstGeom>
          <a:noFill/>
          <a:ln w="12700">
            <a:solidFill>
              <a:srgbClr val="C79B2E"/>
            </a:solidFill>
            <a:prstDash val="solid"/>
            <a:tailEnd type="triangle"/>
          </a:ln>
        </p:spPr>
        <p:txBody>
          <a:bodyPr/>
          <a:lstStyle/>
          <a:p>
            <a:endParaRPr lang="nl-NL"/>
          </a:p>
        </p:txBody>
      </p:sp>
      <p:sp>
        <p:nvSpPr>
          <p:cNvPr id="13" name="Shape 9"/>
          <p:cNvSpPr/>
          <p:nvPr/>
        </p:nvSpPr>
        <p:spPr>
          <a:xfrm>
            <a:off x="4800600" y="1828800"/>
            <a:ext cx="640080" cy="164592"/>
          </a:xfrm>
          <a:prstGeom prst="line">
            <a:avLst/>
          </a:prstGeom>
          <a:noFill/>
          <a:ln w="12700">
            <a:solidFill>
              <a:srgbClr val="C79B2E"/>
            </a:solidFill>
            <a:prstDash val="solid"/>
            <a:tailEnd type="triangle"/>
          </a:ln>
        </p:spPr>
        <p:txBody>
          <a:bodyPr/>
          <a:lstStyle/>
          <a:p>
            <a:endParaRPr lang="nl-NL"/>
          </a:p>
        </p:txBody>
      </p:sp>
      <p:sp>
        <p:nvSpPr>
          <p:cNvPr id="14" name="Shape 10"/>
          <p:cNvSpPr/>
          <p:nvPr/>
        </p:nvSpPr>
        <p:spPr>
          <a:xfrm>
            <a:off x="4800600" y="3099816"/>
            <a:ext cx="640080" cy="877824"/>
          </a:xfrm>
          <a:prstGeom prst="line">
            <a:avLst/>
          </a:prstGeom>
          <a:noFill/>
          <a:ln w="12700">
            <a:solidFill>
              <a:srgbClr val="C79B2E"/>
            </a:solidFill>
            <a:prstDash val="solid"/>
            <a:tailEnd type="triangle"/>
          </a:ln>
        </p:spPr>
        <p:txBody>
          <a:bodyPr/>
          <a:lstStyle/>
          <a:p>
            <a:endParaRPr lang="nl-NL"/>
          </a:p>
        </p:txBody>
      </p:sp>
      <p:sp>
        <p:nvSpPr>
          <p:cNvPr id="15" name="Shape 11"/>
          <p:cNvSpPr/>
          <p:nvPr/>
        </p:nvSpPr>
        <p:spPr>
          <a:xfrm>
            <a:off x="6428232" y="2359152"/>
            <a:ext cx="0" cy="1252728"/>
          </a:xfrm>
          <a:prstGeom prst="line">
            <a:avLst/>
          </a:prstGeom>
          <a:noFill/>
          <a:ln w="12700">
            <a:solidFill>
              <a:srgbClr val="C79B2E"/>
            </a:solidFill>
            <a:prstDash val="solid"/>
            <a:tailEnd type="triangle"/>
          </a:ln>
        </p:spPr>
        <p:txBody>
          <a:bodyPr/>
          <a:lstStyle/>
          <a:p>
            <a:endParaRPr lang="nl-NL"/>
          </a:p>
        </p:txBody>
      </p:sp>
      <p:sp>
        <p:nvSpPr>
          <p:cNvPr id="16" name="Shape 12"/>
          <p:cNvSpPr/>
          <p:nvPr/>
        </p:nvSpPr>
        <p:spPr>
          <a:xfrm>
            <a:off x="822960" y="2011680"/>
            <a:ext cx="1783080" cy="658368"/>
          </a:xfrm>
          <a:prstGeom prst="roundRect">
            <a:avLst/>
          </a:prstGeom>
          <a:solidFill>
            <a:srgbClr val="EEF2F5"/>
          </a:solidFill>
          <a:ln w="12700">
            <a:solidFill>
              <a:srgbClr val="163554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17" name="Shape 13"/>
          <p:cNvSpPr/>
          <p:nvPr/>
        </p:nvSpPr>
        <p:spPr>
          <a:xfrm>
            <a:off x="841248" y="2084832"/>
            <a:ext cx="73152" cy="512064"/>
          </a:xfrm>
          <a:prstGeom prst="rect">
            <a:avLst/>
          </a:prstGeom>
          <a:solidFill>
            <a:srgbClr val="163554"/>
          </a:solidFill>
          <a:ln w="12700">
            <a:solidFill>
              <a:srgbClr val="16355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8" name="Text 14"/>
          <p:cNvSpPr/>
          <p:nvPr/>
        </p:nvSpPr>
        <p:spPr>
          <a:xfrm>
            <a:off x="987552" y="210312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340" b="1" dirty="0">
                <a:solidFill>
                  <a:srgbClr val="041B34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Internet &amp; leveranciers</a:t>
            </a:r>
            <a:endParaRPr lang="en-US" sz="1340" dirty="0"/>
          </a:p>
        </p:txBody>
      </p:sp>
      <p:sp>
        <p:nvSpPr>
          <p:cNvPr id="19" name="Shape 15"/>
          <p:cNvSpPr/>
          <p:nvPr/>
        </p:nvSpPr>
        <p:spPr>
          <a:xfrm>
            <a:off x="822960" y="3657600"/>
            <a:ext cx="1965960" cy="658368"/>
          </a:xfrm>
          <a:prstGeom prst="roundRect">
            <a:avLst/>
          </a:prstGeom>
          <a:solidFill>
            <a:srgbClr val="EEF2F5"/>
          </a:solidFill>
          <a:ln w="12700">
            <a:solidFill>
              <a:srgbClr val="163554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20" name="Shape 16"/>
          <p:cNvSpPr/>
          <p:nvPr/>
        </p:nvSpPr>
        <p:spPr>
          <a:xfrm>
            <a:off x="841248" y="3730752"/>
            <a:ext cx="73152" cy="512064"/>
          </a:xfrm>
          <a:prstGeom prst="rect">
            <a:avLst/>
          </a:prstGeom>
          <a:solidFill>
            <a:srgbClr val="163554"/>
          </a:solidFill>
          <a:ln w="12700">
            <a:solidFill>
              <a:srgbClr val="16355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1" name="Text 17"/>
          <p:cNvSpPr/>
          <p:nvPr/>
        </p:nvSpPr>
        <p:spPr>
          <a:xfrm>
            <a:off x="987552" y="374904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40" b="1" dirty="0">
                <a:solidFill>
                  <a:srgbClr val="041B34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Kantoornetwerk</a:t>
            </a:r>
            <a:endParaRPr lang="en-US" sz="1340" dirty="0"/>
          </a:p>
        </p:txBody>
      </p:sp>
      <p:sp>
        <p:nvSpPr>
          <p:cNvPr id="22" name="Shape 18"/>
          <p:cNvSpPr/>
          <p:nvPr/>
        </p:nvSpPr>
        <p:spPr>
          <a:xfrm>
            <a:off x="2926080" y="1463040"/>
            <a:ext cx="1874520" cy="713232"/>
          </a:xfrm>
          <a:prstGeom prst="roundRect">
            <a:avLst/>
          </a:prstGeom>
          <a:solidFill>
            <a:srgbClr val="EEF2F5"/>
          </a:solidFill>
          <a:ln w="12700">
            <a:solidFill>
              <a:srgbClr val="163554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23" name="Shape 19"/>
          <p:cNvSpPr/>
          <p:nvPr/>
        </p:nvSpPr>
        <p:spPr>
          <a:xfrm>
            <a:off x="2944368" y="1536192"/>
            <a:ext cx="73152" cy="566928"/>
          </a:xfrm>
          <a:prstGeom prst="rect">
            <a:avLst/>
          </a:prstGeom>
          <a:solidFill>
            <a:srgbClr val="F4C757"/>
          </a:solidFill>
          <a:ln w="12700">
            <a:solidFill>
              <a:srgbClr val="F4C75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4" name="Text 20"/>
          <p:cNvSpPr/>
          <p:nvPr/>
        </p:nvSpPr>
        <p:spPr>
          <a:xfrm>
            <a:off x="3090672" y="155448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041B34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DMZ / Gateway</a:t>
            </a:r>
            <a:endParaRPr lang="en-US" sz="1550" dirty="0"/>
          </a:p>
        </p:txBody>
      </p:sp>
      <p:sp>
        <p:nvSpPr>
          <p:cNvPr id="25" name="Shape 21"/>
          <p:cNvSpPr/>
          <p:nvPr/>
        </p:nvSpPr>
        <p:spPr>
          <a:xfrm>
            <a:off x="2926080" y="2743200"/>
            <a:ext cx="1874520" cy="713232"/>
          </a:xfrm>
          <a:prstGeom prst="roundRect">
            <a:avLst/>
          </a:prstGeom>
          <a:solidFill>
            <a:srgbClr val="EEF2F5"/>
          </a:solidFill>
          <a:ln w="12700">
            <a:solidFill>
              <a:srgbClr val="163554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26" name="Shape 22"/>
          <p:cNvSpPr/>
          <p:nvPr/>
        </p:nvSpPr>
        <p:spPr>
          <a:xfrm>
            <a:off x="2944368" y="2816352"/>
            <a:ext cx="73152" cy="566928"/>
          </a:xfrm>
          <a:prstGeom prst="rect">
            <a:avLst/>
          </a:prstGeom>
          <a:solidFill>
            <a:srgbClr val="F4C757"/>
          </a:solidFill>
          <a:ln w="12700">
            <a:solidFill>
              <a:srgbClr val="F4C75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7" name="Text 23"/>
          <p:cNvSpPr/>
          <p:nvPr/>
        </p:nvSpPr>
        <p:spPr>
          <a:xfrm>
            <a:off x="3090672" y="283464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041B34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Serversegment</a:t>
            </a:r>
            <a:endParaRPr lang="en-US" sz="1550" dirty="0"/>
          </a:p>
        </p:txBody>
      </p:sp>
      <p:sp>
        <p:nvSpPr>
          <p:cNvPr id="28" name="Text 24"/>
          <p:cNvSpPr/>
          <p:nvPr/>
        </p:nvSpPr>
        <p:spPr>
          <a:xfrm>
            <a:off x="3090672" y="3054096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AD · fileshares</a:t>
            </a:r>
            <a:endParaRPr lang="en-US" sz="1150" dirty="0"/>
          </a:p>
        </p:txBody>
      </p:sp>
      <p:sp>
        <p:nvSpPr>
          <p:cNvPr id="29" name="Shape 25"/>
          <p:cNvSpPr/>
          <p:nvPr/>
        </p:nvSpPr>
        <p:spPr>
          <a:xfrm>
            <a:off x="2926080" y="4526280"/>
            <a:ext cx="1874520" cy="713232"/>
          </a:xfrm>
          <a:prstGeom prst="roundRect">
            <a:avLst/>
          </a:prstGeom>
          <a:solidFill>
            <a:srgbClr val="EEF2F5"/>
          </a:solidFill>
          <a:ln w="12700">
            <a:solidFill>
              <a:srgbClr val="163554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30" name="Shape 26"/>
          <p:cNvSpPr/>
          <p:nvPr/>
        </p:nvSpPr>
        <p:spPr>
          <a:xfrm>
            <a:off x="2944368" y="4599432"/>
            <a:ext cx="73152" cy="566928"/>
          </a:xfrm>
          <a:prstGeom prst="rect">
            <a:avLst/>
          </a:prstGeom>
          <a:solidFill>
            <a:srgbClr val="F4C757"/>
          </a:solidFill>
          <a:ln w="12700">
            <a:solidFill>
              <a:srgbClr val="F4C75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1" name="Text 27"/>
          <p:cNvSpPr/>
          <p:nvPr/>
        </p:nvSpPr>
        <p:spPr>
          <a:xfrm>
            <a:off x="3090672" y="461772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041B34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Backup-segment</a:t>
            </a:r>
            <a:endParaRPr lang="en-US" sz="1550" dirty="0"/>
          </a:p>
        </p:txBody>
      </p:sp>
      <p:sp>
        <p:nvSpPr>
          <p:cNvPr id="32" name="Shape 28"/>
          <p:cNvSpPr/>
          <p:nvPr/>
        </p:nvSpPr>
        <p:spPr>
          <a:xfrm>
            <a:off x="5440680" y="1645920"/>
            <a:ext cx="1965960" cy="713232"/>
          </a:xfrm>
          <a:prstGeom prst="roundRect">
            <a:avLst/>
          </a:prstGeom>
          <a:solidFill>
            <a:srgbClr val="EEF2F5"/>
          </a:solidFill>
          <a:ln w="12700">
            <a:solidFill>
              <a:srgbClr val="163554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33" name="Shape 29"/>
          <p:cNvSpPr/>
          <p:nvPr/>
        </p:nvSpPr>
        <p:spPr>
          <a:xfrm>
            <a:off x="5458968" y="1719072"/>
            <a:ext cx="73152" cy="566928"/>
          </a:xfrm>
          <a:prstGeom prst="rect">
            <a:avLst/>
          </a:prstGeom>
          <a:solidFill>
            <a:srgbClr val="F4C757"/>
          </a:solidFill>
          <a:ln w="12700">
            <a:solidFill>
              <a:srgbClr val="F4C75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4" name="Text 30"/>
          <p:cNvSpPr/>
          <p:nvPr/>
        </p:nvSpPr>
        <p:spPr>
          <a:xfrm>
            <a:off x="5605272" y="173736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041B34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Beheerzone</a:t>
            </a:r>
            <a:endParaRPr lang="en-US" sz="1550" dirty="0"/>
          </a:p>
        </p:txBody>
      </p:sp>
      <p:sp>
        <p:nvSpPr>
          <p:cNvPr id="35" name="Shape 31"/>
          <p:cNvSpPr/>
          <p:nvPr/>
        </p:nvSpPr>
        <p:spPr>
          <a:xfrm>
            <a:off x="5440680" y="3611880"/>
            <a:ext cx="1965960" cy="822960"/>
          </a:xfrm>
          <a:prstGeom prst="roundRect">
            <a:avLst/>
          </a:prstGeom>
          <a:solidFill>
            <a:srgbClr val="EEF2F5"/>
          </a:solidFill>
          <a:ln w="12700">
            <a:solidFill>
              <a:srgbClr val="163554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36" name="Shape 32"/>
          <p:cNvSpPr/>
          <p:nvPr/>
        </p:nvSpPr>
        <p:spPr>
          <a:xfrm>
            <a:off x="5458968" y="3685032"/>
            <a:ext cx="73152" cy="676656"/>
          </a:xfrm>
          <a:prstGeom prst="rect">
            <a:avLst/>
          </a:prstGeom>
          <a:solidFill>
            <a:srgbClr val="F4C757"/>
          </a:solidFill>
          <a:ln w="12700">
            <a:solidFill>
              <a:srgbClr val="F4C75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7" name="Text 33"/>
          <p:cNvSpPr/>
          <p:nvPr/>
        </p:nvSpPr>
        <p:spPr>
          <a:xfrm>
            <a:off x="5605272" y="370332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041B34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OT-segment</a:t>
            </a:r>
            <a:endParaRPr lang="en-US" sz="1550" dirty="0"/>
          </a:p>
        </p:txBody>
      </p:sp>
      <p:sp>
        <p:nvSpPr>
          <p:cNvPr id="38" name="Text 34"/>
          <p:cNvSpPr/>
          <p:nvPr/>
        </p:nvSpPr>
        <p:spPr>
          <a:xfrm>
            <a:off x="5605272" y="3922776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PLC’s · HMI’s · stations</a:t>
            </a:r>
            <a:endParaRPr lang="en-US" sz="1150" dirty="0"/>
          </a:p>
        </p:txBody>
      </p:sp>
      <p:sp>
        <p:nvSpPr>
          <p:cNvPr id="39" name="Shape 35"/>
          <p:cNvSpPr/>
          <p:nvPr/>
        </p:nvSpPr>
        <p:spPr>
          <a:xfrm>
            <a:off x="7818120" y="1463040"/>
            <a:ext cx="3611880" cy="3337560"/>
          </a:xfrm>
          <a:prstGeom prst="roundRect">
            <a:avLst/>
          </a:prstGeom>
          <a:solidFill>
            <a:srgbClr val="EEF2F5"/>
          </a:solidFill>
          <a:ln w="12700">
            <a:solidFill>
              <a:srgbClr val="163554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40" name="Shape 36"/>
          <p:cNvSpPr/>
          <p:nvPr/>
        </p:nvSpPr>
        <p:spPr>
          <a:xfrm>
            <a:off x="7836408" y="1536192"/>
            <a:ext cx="73152" cy="3191256"/>
          </a:xfrm>
          <a:prstGeom prst="rect">
            <a:avLst/>
          </a:prstGeom>
          <a:solidFill>
            <a:srgbClr val="F4C757"/>
          </a:solidFill>
          <a:ln w="12700">
            <a:solidFill>
              <a:srgbClr val="F4C75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41" name="Text 37"/>
          <p:cNvSpPr/>
          <p:nvPr/>
        </p:nvSpPr>
        <p:spPr>
          <a:xfrm>
            <a:off x="8028431" y="1632204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41B34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Ontwerpprincipes</a:t>
            </a:r>
            <a:endParaRPr lang="en-US" sz="1800" dirty="0"/>
          </a:p>
        </p:txBody>
      </p:sp>
      <p:sp>
        <p:nvSpPr>
          <p:cNvPr id="42" name="Text 38"/>
          <p:cNvSpPr/>
          <p:nvPr/>
        </p:nvSpPr>
        <p:spPr>
          <a:xfrm>
            <a:off x="7982712" y="1773936"/>
            <a:ext cx="3337560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• DMZ voor externe toegang en leveranciers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• Alleen strikt noodzakelijke firewallregels tussen segmenten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• Beheerzone gescheiden van OT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• Back-upsegment geïsoleerd van kantoor-IT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• Centrale logging op netwerkverkeer en authenticatie</a:t>
            </a:r>
            <a:endParaRPr lang="en-US" sz="1400" dirty="0"/>
          </a:p>
        </p:txBody>
      </p:sp>
      <p:sp>
        <p:nvSpPr>
          <p:cNvPr id="43" name="Text 39"/>
          <p:cNvSpPr/>
          <p:nvPr/>
        </p:nvSpPr>
        <p:spPr>
          <a:xfrm>
            <a:off x="7909560" y="507492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163554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Incident op kantoorwerkplek mag niet direct kunnen doorzetten naar productie.</a:t>
            </a:r>
            <a:endParaRPr lang="en-US" sz="1400" dirty="0"/>
          </a:p>
        </p:txBody>
      </p:sp>
      <p:pic>
        <p:nvPicPr>
          <p:cNvPr id="45" name="Image 1" descr="/tmp/oai_slides/template/ppt/media/image3.png">
            <a:extLst>
              <a:ext uri="{FF2B5EF4-FFF2-40B4-BE49-F238E27FC236}">
                <a16:creationId xmlns:a16="http://schemas.microsoft.com/office/drawing/2014/main" id="{1AF9E72E-D158-F99A-1EF3-96568F573E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0415" y="146303"/>
            <a:ext cx="1278497" cy="127849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D9D9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0">
                <a:srgbClr val="002060">
                  <a:lumMod val="98000"/>
                </a:srgbClr>
              </a:gs>
              <a:gs pos="74000">
                <a:schemeClr val="accent1">
                  <a:lumMod val="75000"/>
                </a:schemeClr>
              </a:gs>
              <a:gs pos="83000">
                <a:srgbClr val="0070C0"/>
              </a:gs>
              <a:gs pos="100000">
                <a:schemeClr val="accent4"/>
              </a:gs>
            </a:gsLst>
            <a:lin ang="5400000" scaled="1"/>
            <a:tileRect/>
          </a:gradFill>
          <a:ln w="12700">
            <a:solidFill>
              <a:srgbClr val="041B3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pic>
        <p:nvPicPr>
          <p:cNvPr id="5" name="Image 0" descr="/tmp/oai_slides/template/ppt/media/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99632"/>
            <a:ext cx="12191695" cy="65836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02920" y="310896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CONCRETE TECHNISCHE VERBETERINGEN</a:t>
            </a:r>
            <a:endParaRPr lang="en-US" sz="2600" dirty="0"/>
          </a:p>
        </p:txBody>
      </p:sp>
      <p:sp>
        <p:nvSpPr>
          <p:cNvPr id="8" name="Shape 4"/>
          <p:cNvSpPr/>
          <p:nvPr/>
        </p:nvSpPr>
        <p:spPr>
          <a:xfrm>
            <a:off x="713232" y="1325880"/>
            <a:ext cx="5138928" cy="822960"/>
          </a:xfrm>
          <a:prstGeom prst="roundRect">
            <a:avLst/>
          </a:prstGeom>
          <a:solidFill>
            <a:srgbClr val="EEF2F5"/>
          </a:solidFill>
          <a:ln w="12700">
            <a:solidFill>
              <a:srgbClr val="163554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9" name="Shape 5"/>
          <p:cNvSpPr/>
          <p:nvPr/>
        </p:nvSpPr>
        <p:spPr>
          <a:xfrm>
            <a:off x="731520" y="1399032"/>
            <a:ext cx="73152" cy="676656"/>
          </a:xfrm>
          <a:prstGeom prst="rect">
            <a:avLst/>
          </a:prstGeom>
          <a:solidFill>
            <a:srgbClr val="F4C757"/>
          </a:solidFill>
          <a:ln w="12700">
            <a:solidFill>
              <a:srgbClr val="F4C75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0" name="Text 6"/>
          <p:cNvSpPr/>
          <p:nvPr/>
        </p:nvSpPr>
        <p:spPr>
          <a:xfrm>
            <a:off x="877824" y="1417320"/>
            <a:ext cx="4864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20" b="1" dirty="0">
                <a:solidFill>
                  <a:srgbClr val="041B34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Netwerksegmentatie</a:t>
            </a:r>
            <a:endParaRPr lang="en-US" sz="1620" dirty="0"/>
          </a:p>
        </p:txBody>
      </p:sp>
      <p:sp>
        <p:nvSpPr>
          <p:cNvPr id="11" name="Text 7"/>
          <p:cNvSpPr/>
          <p:nvPr/>
        </p:nvSpPr>
        <p:spPr>
          <a:xfrm>
            <a:off x="877824" y="1636776"/>
            <a:ext cx="48646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222222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Scheiding tussen IT, OT, beheer, back-up en externe toegang</a:t>
            </a:r>
            <a:endParaRPr lang="en-US" sz="1260" dirty="0"/>
          </a:p>
        </p:txBody>
      </p:sp>
      <p:sp>
        <p:nvSpPr>
          <p:cNvPr id="12" name="Shape 8"/>
          <p:cNvSpPr/>
          <p:nvPr/>
        </p:nvSpPr>
        <p:spPr>
          <a:xfrm>
            <a:off x="6336792" y="1325880"/>
            <a:ext cx="5138928" cy="822960"/>
          </a:xfrm>
          <a:prstGeom prst="roundRect">
            <a:avLst/>
          </a:prstGeom>
          <a:solidFill>
            <a:srgbClr val="EEF2F5"/>
          </a:solidFill>
          <a:ln w="12700">
            <a:solidFill>
              <a:srgbClr val="163554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13" name="Shape 9"/>
          <p:cNvSpPr/>
          <p:nvPr/>
        </p:nvSpPr>
        <p:spPr>
          <a:xfrm>
            <a:off x="6355080" y="1399032"/>
            <a:ext cx="73152" cy="676656"/>
          </a:xfrm>
          <a:prstGeom prst="rect">
            <a:avLst/>
          </a:prstGeom>
          <a:solidFill>
            <a:srgbClr val="F4C757"/>
          </a:solidFill>
          <a:ln w="12700">
            <a:solidFill>
              <a:srgbClr val="F4C75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4" name="Text 10"/>
          <p:cNvSpPr/>
          <p:nvPr/>
        </p:nvSpPr>
        <p:spPr>
          <a:xfrm>
            <a:off x="6501384" y="1417320"/>
            <a:ext cx="4864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20" b="1" dirty="0">
                <a:solidFill>
                  <a:srgbClr val="041B34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Gateway in DMZ</a:t>
            </a:r>
            <a:endParaRPr lang="en-US" sz="1620" dirty="0"/>
          </a:p>
        </p:txBody>
      </p:sp>
      <p:sp>
        <p:nvSpPr>
          <p:cNvPr id="15" name="Text 11"/>
          <p:cNvSpPr/>
          <p:nvPr/>
        </p:nvSpPr>
        <p:spPr>
          <a:xfrm>
            <a:off x="6501384" y="1636776"/>
            <a:ext cx="48646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222222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Externe toegang en leveranciers via aparte beveiligde zone</a:t>
            </a:r>
            <a:endParaRPr lang="en-US" sz="1260" dirty="0"/>
          </a:p>
        </p:txBody>
      </p:sp>
      <p:sp>
        <p:nvSpPr>
          <p:cNvPr id="16" name="Shape 12"/>
          <p:cNvSpPr/>
          <p:nvPr/>
        </p:nvSpPr>
        <p:spPr>
          <a:xfrm>
            <a:off x="713232" y="2395728"/>
            <a:ext cx="5138928" cy="822960"/>
          </a:xfrm>
          <a:prstGeom prst="roundRect">
            <a:avLst/>
          </a:prstGeom>
          <a:solidFill>
            <a:srgbClr val="EEF2F5"/>
          </a:solidFill>
          <a:ln w="12700">
            <a:solidFill>
              <a:srgbClr val="163554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17" name="Shape 13"/>
          <p:cNvSpPr/>
          <p:nvPr/>
        </p:nvSpPr>
        <p:spPr>
          <a:xfrm>
            <a:off x="731520" y="2468880"/>
            <a:ext cx="73152" cy="676656"/>
          </a:xfrm>
          <a:prstGeom prst="rect">
            <a:avLst/>
          </a:prstGeom>
          <a:solidFill>
            <a:srgbClr val="F4C757"/>
          </a:solidFill>
          <a:ln w="12700">
            <a:solidFill>
              <a:srgbClr val="F4C75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8" name="Text 14"/>
          <p:cNvSpPr/>
          <p:nvPr/>
        </p:nvSpPr>
        <p:spPr>
          <a:xfrm>
            <a:off x="877824" y="2487168"/>
            <a:ext cx="4864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20" b="1" dirty="0">
                <a:solidFill>
                  <a:srgbClr val="041B34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Multi-Factor Authenticatie</a:t>
            </a:r>
            <a:endParaRPr lang="en-US" sz="1620" dirty="0"/>
          </a:p>
        </p:txBody>
      </p:sp>
      <p:sp>
        <p:nvSpPr>
          <p:cNvPr id="19" name="Text 15"/>
          <p:cNvSpPr/>
          <p:nvPr/>
        </p:nvSpPr>
        <p:spPr>
          <a:xfrm>
            <a:off x="877824" y="2706624"/>
            <a:ext cx="48646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222222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Verplicht voor beheerders, externe toegang en kritieke accounts</a:t>
            </a:r>
            <a:endParaRPr lang="en-US" sz="1260" dirty="0"/>
          </a:p>
        </p:txBody>
      </p:sp>
      <p:sp>
        <p:nvSpPr>
          <p:cNvPr id="20" name="Shape 16"/>
          <p:cNvSpPr/>
          <p:nvPr/>
        </p:nvSpPr>
        <p:spPr>
          <a:xfrm>
            <a:off x="6336792" y="2395728"/>
            <a:ext cx="5138928" cy="822960"/>
          </a:xfrm>
          <a:prstGeom prst="roundRect">
            <a:avLst/>
          </a:prstGeom>
          <a:solidFill>
            <a:srgbClr val="EEF2F5"/>
          </a:solidFill>
          <a:ln w="12700">
            <a:solidFill>
              <a:srgbClr val="163554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21" name="Shape 17"/>
          <p:cNvSpPr/>
          <p:nvPr/>
        </p:nvSpPr>
        <p:spPr>
          <a:xfrm>
            <a:off x="6355080" y="2468880"/>
            <a:ext cx="73152" cy="676656"/>
          </a:xfrm>
          <a:prstGeom prst="rect">
            <a:avLst/>
          </a:prstGeom>
          <a:solidFill>
            <a:srgbClr val="F4C757"/>
          </a:solidFill>
          <a:ln w="12700">
            <a:solidFill>
              <a:srgbClr val="F4C75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2" name="Text 18"/>
          <p:cNvSpPr/>
          <p:nvPr/>
        </p:nvSpPr>
        <p:spPr>
          <a:xfrm>
            <a:off x="6501384" y="2487168"/>
            <a:ext cx="4864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20" b="1" dirty="0">
                <a:solidFill>
                  <a:srgbClr val="041B34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Legacy-systemen</a:t>
            </a:r>
            <a:endParaRPr lang="en-US" sz="1620" dirty="0"/>
          </a:p>
        </p:txBody>
      </p:sp>
      <p:sp>
        <p:nvSpPr>
          <p:cNvPr id="23" name="Text 19"/>
          <p:cNvSpPr/>
          <p:nvPr/>
        </p:nvSpPr>
        <p:spPr>
          <a:xfrm>
            <a:off x="6501384" y="2706624"/>
            <a:ext cx="48646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222222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Vervangen of streng isoleren van niet-patchbare systemen</a:t>
            </a:r>
            <a:endParaRPr lang="en-US" sz="1260" dirty="0"/>
          </a:p>
        </p:txBody>
      </p:sp>
      <p:sp>
        <p:nvSpPr>
          <p:cNvPr id="24" name="Shape 20"/>
          <p:cNvSpPr/>
          <p:nvPr/>
        </p:nvSpPr>
        <p:spPr>
          <a:xfrm>
            <a:off x="713232" y="3465576"/>
            <a:ext cx="5138928" cy="822960"/>
          </a:xfrm>
          <a:prstGeom prst="roundRect">
            <a:avLst/>
          </a:prstGeom>
          <a:solidFill>
            <a:srgbClr val="EEF2F5"/>
          </a:solidFill>
          <a:ln w="12700">
            <a:solidFill>
              <a:srgbClr val="163554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25" name="Shape 21"/>
          <p:cNvSpPr/>
          <p:nvPr/>
        </p:nvSpPr>
        <p:spPr>
          <a:xfrm>
            <a:off x="731520" y="3538728"/>
            <a:ext cx="73152" cy="676656"/>
          </a:xfrm>
          <a:prstGeom prst="rect">
            <a:avLst/>
          </a:prstGeom>
          <a:solidFill>
            <a:srgbClr val="F4C757"/>
          </a:solidFill>
          <a:ln w="12700">
            <a:solidFill>
              <a:srgbClr val="F4C75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6" name="Text 22"/>
          <p:cNvSpPr/>
          <p:nvPr/>
        </p:nvSpPr>
        <p:spPr>
          <a:xfrm>
            <a:off x="877824" y="3557016"/>
            <a:ext cx="4864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20" b="1" dirty="0">
                <a:solidFill>
                  <a:srgbClr val="041B34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Hardening</a:t>
            </a:r>
            <a:endParaRPr lang="en-US" sz="1620" dirty="0"/>
          </a:p>
        </p:txBody>
      </p:sp>
      <p:sp>
        <p:nvSpPr>
          <p:cNvPr id="27" name="Text 23"/>
          <p:cNvSpPr/>
          <p:nvPr/>
        </p:nvSpPr>
        <p:spPr>
          <a:xfrm>
            <a:off x="877824" y="3776472"/>
            <a:ext cx="48646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222222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Authentication Server, fileshares en back-upomgeving aanscherpen</a:t>
            </a:r>
            <a:endParaRPr lang="en-US" sz="1260" dirty="0"/>
          </a:p>
        </p:txBody>
      </p:sp>
      <p:sp>
        <p:nvSpPr>
          <p:cNvPr id="28" name="Shape 24"/>
          <p:cNvSpPr/>
          <p:nvPr/>
        </p:nvSpPr>
        <p:spPr>
          <a:xfrm>
            <a:off x="6336792" y="3465576"/>
            <a:ext cx="5138928" cy="822960"/>
          </a:xfrm>
          <a:prstGeom prst="roundRect">
            <a:avLst/>
          </a:prstGeom>
          <a:solidFill>
            <a:srgbClr val="EEF2F5"/>
          </a:solidFill>
          <a:ln w="12700">
            <a:solidFill>
              <a:srgbClr val="163554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29" name="Shape 25"/>
          <p:cNvSpPr/>
          <p:nvPr/>
        </p:nvSpPr>
        <p:spPr>
          <a:xfrm>
            <a:off x="6355080" y="3538728"/>
            <a:ext cx="73152" cy="676656"/>
          </a:xfrm>
          <a:prstGeom prst="rect">
            <a:avLst/>
          </a:prstGeom>
          <a:solidFill>
            <a:srgbClr val="F4C757"/>
          </a:solidFill>
          <a:ln w="12700">
            <a:solidFill>
              <a:srgbClr val="F4C75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0" name="Text 26"/>
          <p:cNvSpPr/>
          <p:nvPr/>
        </p:nvSpPr>
        <p:spPr>
          <a:xfrm>
            <a:off x="6501384" y="3557016"/>
            <a:ext cx="4864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20" b="1" dirty="0">
                <a:solidFill>
                  <a:srgbClr val="041B34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Logging &amp; monitoring</a:t>
            </a:r>
            <a:endParaRPr lang="en-US" sz="1620" dirty="0"/>
          </a:p>
        </p:txBody>
      </p:sp>
      <p:sp>
        <p:nvSpPr>
          <p:cNvPr id="31" name="Text 27"/>
          <p:cNvSpPr/>
          <p:nvPr/>
        </p:nvSpPr>
        <p:spPr>
          <a:xfrm>
            <a:off x="6501384" y="3776472"/>
            <a:ext cx="48646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222222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Centrale logging op netwerkverkeer en beheershandelingen</a:t>
            </a:r>
            <a:endParaRPr lang="en-US" sz="1260" dirty="0"/>
          </a:p>
        </p:txBody>
      </p:sp>
      <p:sp>
        <p:nvSpPr>
          <p:cNvPr id="32" name="Shape 28"/>
          <p:cNvSpPr/>
          <p:nvPr/>
        </p:nvSpPr>
        <p:spPr>
          <a:xfrm>
            <a:off x="713232" y="4535424"/>
            <a:ext cx="5138928" cy="822960"/>
          </a:xfrm>
          <a:prstGeom prst="roundRect">
            <a:avLst/>
          </a:prstGeom>
          <a:solidFill>
            <a:srgbClr val="EEF2F5"/>
          </a:solidFill>
          <a:ln w="12700">
            <a:solidFill>
              <a:srgbClr val="163554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33" name="Shape 29"/>
          <p:cNvSpPr/>
          <p:nvPr/>
        </p:nvSpPr>
        <p:spPr>
          <a:xfrm>
            <a:off x="731520" y="4608576"/>
            <a:ext cx="73152" cy="676656"/>
          </a:xfrm>
          <a:prstGeom prst="rect">
            <a:avLst/>
          </a:prstGeom>
          <a:solidFill>
            <a:srgbClr val="F4C757"/>
          </a:solidFill>
          <a:ln w="12700">
            <a:solidFill>
              <a:srgbClr val="F4C75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4" name="Text 30"/>
          <p:cNvSpPr/>
          <p:nvPr/>
        </p:nvSpPr>
        <p:spPr>
          <a:xfrm>
            <a:off x="877824" y="4626864"/>
            <a:ext cx="4864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20" b="1" dirty="0">
                <a:solidFill>
                  <a:srgbClr val="041B34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Restore procedures</a:t>
            </a:r>
            <a:endParaRPr lang="en-US" sz="1620" dirty="0"/>
          </a:p>
        </p:txBody>
      </p:sp>
      <p:sp>
        <p:nvSpPr>
          <p:cNvPr id="35" name="Text 31"/>
          <p:cNvSpPr/>
          <p:nvPr/>
        </p:nvSpPr>
        <p:spPr>
          <a:xfrm>
            <a:off x="877824" y="4846320"/>
            <a:ext cx="48646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222222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Back-upherstel periodiek testen en documenteren</a:t>
            </a:r>
            <a:endParaRPr lang="en-US" sz="1260" dirty="0"/>
          </a:p>
        </p:txBody>
      </p:sp>
      <p:sp>
        <p:nvSpPr>
          <p:cNvPr id="36" name="Shape 32"/>
          <p:cNvSpPr/>
          <p:nvPr/>
        </p:nvSpPr>
        <p:spPr>
          <a:xfrm>
            <a:off x="6336792" y="4535424"/>
            <a:ext cx="5138928" cy="822960"/>
          </a:xfrm>
          <a:prstGeom prst="roundRect">
            <a:avLst/>
          </a:prstGeom>
          <a:solidFill>
            <a:srgbClr val="EEF2F5"/>
          </a:solidFill>
          <a:ln w="12700">
            <a:solidFill>
              <a:srgbClr val="163554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37" name="Shape 33"/>
          <p:cNvSpPr/>
          <p:nvPr/>
        </p:nvSpPr>
        <p:spPr>
          <a:xfrm>
            <a:off x="6355080" y="4608576"/>
            <a:ext cx="73152" cy="676656"/>
          </a:xfrm>
          <a:prstGeom prst="rect">
            <a:avLst/>
          </a:prstGeom>
          <a:solidFill>
            <a:srgbClr val="F4C757"/>
          </a:solidFill>
          <a:ln w="12700">
            <a:solidFill>
              <a:srgbClr val="F4C75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8" name="Text 34"/>
          <p:cNvSpPr/>
          <p:nvPr/>
        </p:nvSpPr>
        <p:spPr>
          <a:xfrm>
            <a:off x="6501384" y="4626864"/>
            <a:ext cx="4864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20" b="1" dirty="0">
                <a:solidFill>
                  <a:srgbClr val="041B34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Leveranciersbeheer</a:t>
            </a:r>
            <a:endParaRPr lang="en-US" sz="1620" dirty="0"/>
          </a:p>
        </p:txBody>
      </p:sp>
      <p:sp>
        <p:nvSpPr>
          <p:cNvPr id="39" name="Text 35"/>
          <p:cNvSpPr/>
          <p:nvPr/>
        </p:nvSpPr>
        <p:spPr>
          <a:xfrm>
            <a:off x="6501384" y="4846320"/>
            <a:ext cx="48646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222222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Toegang beperken tot noodzakelijke systemen en tijdsvensters</a:t>
            </a:r>
            <a:endParaRPr lang="en-US" sz="1260" dirty="0"/>
          </a:p>
        </p:txBody>
      </p:sp>
      <p:pic>
        <p:nvPicPr>
          <p:cNvPr id="40" name="Image 1" descr="/tmp/oai_slides/template/ppt/media/image3.png">
            <a:extLst>
              <a:ext uri="{FF2B5EF4-FFF2-40B4-BE49-F238E27FC236}">
                <a16:creationId xmlns:a16="http://schemas.microsoft.com/office/drawing/2014/main" id="{070DF57E-6162-3D4C-8DEB-7D502D7DEF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0415" y="146303"/>
            <a:ext cx="1278497" cy="127849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D9D9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0">
            <a:extLst>
              <a:ext uri="{FF2B5EF4-FFF2-40B4-BE49-F238E27FC236}">
                <a16:creationId xmlns:a16="http://schemas.microsoft.com/office/drawing/2014/main" id="{F988047A-34B6-8B71-7212-8D002609A229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0">
                <a:srgbClr val="002060">
                  <a:lumMod val="98000"/>
                </a:srgbClr>
              </a:gs>
              <a:gs pos="74000">
                <a:schemeClr val="accent1">
                  <a:lumMod val="75000"/>
                </a:schemeClr>
              </a:gs>
              <a:gs pos="83000">
                <a:srgbClr val="0070C0"/>
              </a:gs>
              <a:gs pos="100000">
                <a:schemeClr val="accent4"/>
              </a:gs>
            </a:gsLst>
            <a:lin ang="5400000" scaled="1"/>
            <a:tileRect/>
          </a:gradFill>
          <a:ln w="12700">
            <a:solidFill>
              <a:srgbClr val="041B3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pic>
        <p:nvPicPr>
          <p:cNvPr id="5" name="Image 0" descr="/tmp/oai_slides/template/ppt/media/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99632"/>
            <a:ext cx="12191695" cy="65836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02920" y="310896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ORGANISATORISCHE VOORSTELLEN</a:t>
            </a:r>
            <a:endParaRPr lang="en-US" sz="2600" dirty="0"/>
          </a:p>
        </p:txBody>
      </p:sp>
      <p:sp>
        <p:nvSpPr>
          <p:cNvPr id="8" name="Shape 4"/>
          <p:cNvSpPr/>
          <p:nvPr/>
        </p:nvSpPr>
        <p:spPr>
          <a:xfrm>
            <a:off x="713232" y="1325880"/>
            <a:ext cx="5138928" cy="822960"/>
          </a:xfrm>
          <a:prstGeom prst="roundRect">
            <a:avLst/>
          </a:prstGeom>
          <a:solidFill>
            <a:srgbClr val="EEF2F5"/>
          </a:solidFill>
          <a:ln w="12700">
            <a:solidFill>
              <a:srgbClr val="163554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9" name="Shape 5"/>
          <p:cNvSpPr/>
          <p:nvPr/>
        </p:nvSpPr>
        <p:spPr>
          <a:xfrm>
            <a:off x="731520" y="1399032"/>
            <a:ext cx="73152" cy="676656"/>
          </a:xfrm>
          <a:prstGeom prst="rect">
            <a:avLst/>
          </a:prstGeom>
          <a:solidFill>
            <a:srgbClr val="163554"/>
          </a:solidFill>
          <a:ln w="12700">
            <a:solidFill>
              <a:srgbClr val="16355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0" name="Text 6"/>
          <p:cNvSpPr/>
          <p:nvPr/>
        </p:nvSpPr>
        <p:spPr>
          <a:xfrm>
            <a:off x="877824" y="1417320"/>
            <a:ext cx="4864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20" b="1" dirty="0">
                <a:solidFill>
                  <a:srgbClr val="041B34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RBAC en toegangsreviews</a:t>
            </a:r>
            <a:endParaRPr lang="en-US" sz="1620" dirty="0"/>
          </a:p>
        </p:txBody>
      </p:sp>
      <p:sp>
        <p:nvSpPr>
          <p:cNvPr id="11" name="Text 7"/>
          <p:cNvSpPr/>
          <p:nvPr/>
        </p:nvSpPr>
        <p:spPr>
          <a:xfrm>
            <a:off x="877824" y="1636776"/>
            <a:ext cx="48646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222222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Rechten toekennen op basis van rollen en periodiek herbeoordelen</a:t>
            </a:r>
            <a:endParaRPr lang="en-US" sz="1260" dirty="0"/>
          </a:p>
        </p:txBody>
      </p:sp>
      <p:sp>
        <p:nvSpPr>
          <p:cNvPr id="12" name="Shape 8"/>
          <p:cNvSpPr/>
          <p:nvPr/>
        </p:nvSpPr>
        <p:spPr>
          <a:xfrm>
            <a:off x="6336792" y="1325880"/>
            <a:ext cx="5138928" cy="822960"/>
          </a:xfrm>
          <a:prstGeom prst="roundRect">
            <a:avLst/>
          </a:prstGeom>
          <a:solidFill>
            <a:srgbClr val="EEF2F5"/>
          </a:solidFill>
          <a:ln w="12700">
            <a:solidFill>
              <a:srgbClr val="163554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13" name="Shape 9"/>
          <p:cNvSpPr/>
          <p:nvPr/>
        </p:nvSpPr>
        <p:spPr>
          <a:xfrm>
            <a:off x="6355080" y="1399032"/>
            <a:ext cx="73152" cy="676656"/>
          </a:xfrm>
          <a:prstGeom prst="rect">
            <a:avLst/>
          </a:prstGeom>
          <a:solidFill>
            <a:srgbClr val="163554"/>
          </a:solidFill>
          <a:ln w="12700">
            <a:solidFill>
              <a:srgbClr val="16355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4" name="Text 10"/>
          <p:cNvSpPr/>
          <p:nvPr/>
        </p:nvSpPr>
        <p:spPr>
          <a:xfrm>
            <a:off x="6501384" y="1417320"/>
            <a:ext cx="4864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20" b="1" dirty="0">
                <a:solidFill>
                  <a:srgbClr val="041B34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Stop gedeelde accounts</a:t>
            </a:r>
            <a:endParaRPr lang="en-US" sz="1620" dirty="0"/>
          </a:p>
        </p:txBody>
      </p:sp>
      <p:sp>
        <p:nvSpPr>
          <p:cNvPr id="15" name="Text 11"/>
          <p:cNvSpPr/>
          <p:nvPr/>
        </p:nvSpPr>
        <p:spPr>
          <a:xfrm>
            <a:off x="6501384" y="1636776"/>
            <a:ext cx="48646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222222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Gedeelde accounts en wachtwoorden uitfaseren</a:t>
            </a:r>
            <a:endParaRPr lang="en-US" sz="1260" dirty="0"/>
          </a:p>
        </p:txBody>
      </p:sp>
      <p:sp>
        <p:nvSpPr>
          <p:cNvPr id="16" name="Shape 12"/>
          <p:cNvSpPr/>
          <p:nvPr/>
        </p:nvSpPr>
        <p:spPr>
          <a:xfrm>
            <a:off x="713232" y="2395728"/>
            <a:ext cx="5138928" cy="822960"/>
          </a:xfrm>
          <a:prstGeom prst="roundRect">
            <a:avLst/>
          </a:prstGeom>
          <a:solidFill>
            <a:srgbClr val="EEF2F5"/>
          </a:solidFill>
          <a:ln w="12700">
            <a:solidFill>
              <a:srgbClr val="163554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17" name="Shape 13"/>
          <p:cNvSpPr/>
          <p:nvPr/>
        </p:nvSpPr>
        <p:spPr>
          <a:xfrm>
            <a:off x="731520" y="2468880"/>
            <a:ext cx="73152" cy="676656"/>
          </a:xfrm>
          <a:prstGeom prst="rect">
            <a:avLst/>
          </a:prstGeom>
          <a:solidFill>
            <a:srgbClr val="163554"/>
          </a:solidFill>
          <a:ln w="12700">
            <a:solidFill>
              <a:srgbClr val="16355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8" name="Text 14"/>
          <p:cNvSpPr/>
          <p:nvPr/>
        </p:nvSpPr>
        <p:spPr>
          <a:xfrm>
            <a:off x="877824" y="2487168"/>
            <a:ext cx="4864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20" b="1" dirty="0">
                <a:solidFill>
                  <a:srgbClr val="041B34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Security awareness</a:t>
            </a:r>
            <a:endParaRPr lang="en-US" sz="1620" dirty="0"/>
          </a:p>
        </p:txBody>
      </p:sp>
      <p:sp>
        <p:nvSpPr>
          <p:cNvPr id="19" name="Text 15"/>
          <p:cNvSpPr/>
          <p:nvPr/>
        </p:nvSpPr>
        <p:spPr>
          <a:xfrm>
            <a:off x="877824" y="2706624"/>
            <a:ext cx="48646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222222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Programma voor phishing, wachtwoorden en veilig werken</a:t>
            </a:r>
            <a:endParaRPr lang="en-US" sz="1260" dirty="0"/>
          </a:p>
        </p:txBody>
      </p:sp>
      <p:sp>
        <p:nvSpPr>
          <p:cNvPr id="20" name="Shape 16"/>
          <p:cNvSpPr/>
          <p:nvPr/>
        </p:nvSpPr>
        <p:spPr>
          <a:xfrm>
            <a:off x="6336792" y="2395728"/>
            <a:ext cx="5138928" cy="822960"/>
          </a:xfrm>
          <a:prstGeom prst="roundRect">
            <a:avLst/>
          </a:prstGeom>
          <a:solidFill>
            <a:srgbClr val="EEF2F5"/>
          </a:solidFill>
          <a:ln w="12700">
            <a:solidFill>
              <a:srgbClr val="163554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21" name="Shape 17"/>
          <p:cNvSpPr/>
          <p:nvPr/>
        </p:nvSpPr>
        <p:spPr>
          <a:xfrm>
            <a:off x="6355080" y="2468880"/>
            <a:ext cx="73152" cy="676656"/>
          </a:xfrm>
          <a:prstGeom prst="rect">
            <a:avLst/>
          </a:prstGeom>
          <a:solidFill>
            <a:srgbClr val="163554"/>
          </a:solidFill>
          <a:ln w="12700">
            <a:solidFill>
              <a:srgbClr val="16355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2" name="Text 18"/>
          <p:cNvSpPr/>
          <p:nvPr/>
        </p:nvSpPr>
        <p:spPr>
          <a:xfrm>
            <a:off x="6501384" y="2487168"/>
            <a:ext cx="4864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20" b="1" dirty="0">
                <a:solidFill>
                  <a:srgbClr val="041B34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Incident response</a:t>
            </a:r>
            <a:endParaRPr lang="en-US" sz="1620" dirty="0"/>
          </a:p>
        </p:txBody>
      </p:sp>
      <p:sp>
        <p:nvSpPr>
          <p:cNvPr id="23" name="Text 19"/>
          <p:cNvSpPr/>
          <p:nvPr/>
        </p:nvSpPr>
        <p:spPr>
          <a:xfrm>
            <a:off x="6501384" y="2706624"/>
            <a:ext cx="48646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222222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Escalatiestappen, rollen en communicatie vastleggen</a:t>
            </a:r>
            <a:endParaRPr lang="en-US" sz="1260" dirty="0"/>
          </a:p>
        </p:txBody>
      </p:sp>
      <p:sp>
        <p:nvSpPr>
          <p:cNvPr id="24" name="Shape 20"/>
          <p:cNvSpPr/>
          <p:nvPr/>
        </p:nvSpPr>
        <p:spPr>
          <a:xfrm>
            <a:off x="713232" y="3465576"/>
            <a:ext cx="5138928" cy="822960"/>
          </a:xfrm>
          <a:prstGeom prst="roundRect">
            <a:avLst/>
          </a:prstGeom>
          <a:solidFill>
            <a:srgbClr val="EEF2F5"/>
          </a:solidFill>
          <a:ln w="12700">
            <a:solidFill>
              <a:srgbClr val="163554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25" name="Shape 21"/>
          <p:cNvSpPr/>
          <p:nvPr/>
        </p:nvSpPr>
        <p:spPr>
          <a:xfrm>
            <a:off x="731520" y="3538728"/>
            <a:ext cx="73152" cy="676656"/>
          </a:xfrm>
          <a:prstGeom prst="rect">
            <a:avLst/>
          </a:prstGeom>
          <a:solidFill>
            <a:srgbClr val="163554"/>
          </a:solidFill>
          <a:ln w="12700">
            <a:solidFill>
              <a:srgbClr val="16355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6" name="Text 22"/>
          <p:cNvSpPr/>
          <p:nvPr/>
        </p:nvSpPr>
        <p:spPr>
          <a:xfrm>
            <a:off x="877824" y="3557016"/>
            <a:ext cx="4864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20" b="1" dirty="0">
                <a:solidFill>
                  <a:srgbClr val="041B34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Change management</a:t>
            </a:r>
            <a:endParaRPr lang="en-US" sz="1620" dirty="0"/>
          </a:p>
        </p:txBody>
      </p:sp>
      <p:sp>
        <p:nvSpPr>
          <p:cNvPr id="27" name="Text 23"/>
          <p:cNvSpPr/>
          <p:nvPr/>
        </p:nvSpPr>
        <p:spPr>
          <a:xfrm>
            <a:off x="877824" y="3776472"/>
            <a:ext cx="48646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222222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Wijzigingen in IT en OT vooraf beoordelen en testen</a:t>
            </a:r>
            <a:endParaRPr lang="en-US" sz="1260" dirty="0"/>
          </a:p>
        </p:txBody>
      </p:sp>
      <p:sp>
        <p:nvSpPr>
          <p:cNvPr id="28" name="Shape 24"/>
          <p:cNvSpPr/>
          <p:nvPr/>
        </p:nvSpPr>
        <p:spPr>
          <a:xfrm>
            <a:off x="6336792" y="3465576"/>
            <a:ext cx="5138928" cy="822960"/>
          </a:xfrm>
          <a:prstGeom prst="roundRect">
            <a:avLst/>
          </a:prstGeom>
          <a:solidFill>
            <a:srgbClr val="EEF2F5"/>
          </a:solidFill>
          <a:ln w="12700">
            <a:solidFill>
              <a:srgbClr val="163554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29" name="Shape 25"/>
          <p:cNvSpPr/>
          <p:nvPr/>
        </p:nvSpPr>
        <p:spPr>
          <a:xfrm>
            <a:off x="6355080" y="3538728"/>
            <a:ext cx="73152" cy="676656"/>
          </a:xfrm>
          <a:prstGeom prst="rect">
            <a:avLst/>
          </a:prstGeom>
          <a:solidFill>
            <a:srgbClr val="163554"/>
          </a:solidFill>
          <a:ln w="12700">
            <a:solidFill>
              <a:srgbClr val="16355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0" name="Text 26"/>
          <p:cNvSpPr/>
          <p:nvPr/>
        </p:nvSpPr>
        <p:spPr>
          <a:xfrm>
            <a:off x="6501384" y="3557016"/>
            <a:ext cx="4864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20" b="1" dirty="0">
                <a:solidFill>
                  <a:srgbClr val="041B34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Leveranciersbeheer</a:t>
            </a:r>
            <a:endParaRPr lang="en-US" sz="1620" dirty="0"/>
          </a:p>
        </p:txBody>
      </p:sp>
      <p:sp>
        <p:nvSpPr>
          <p:cNvPr id="31" name="Text 27"/>
          <p:cNvSpPr/>
          <p:nvPr/>
        </p:nvSpPr>
        <p:spPr>
          <a:xfrm>
            <a:off x="6501384" y="3776472"/>
            <a:ext cx="48646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222222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Eisen voor externe toegang, logging en tijdsvensters</a:t>
            </a:r>
            <a:endParaRPr lang="en-US" sz="1260" dirty="0"/>
          </a:p>
        </p:txBody>
      </p:sp>
      <p:sp>
        <p:nvSpPr>
          <p:cNvPr id="32" name="Shape 28"/>
          <p:cNvSpPr/>
          <p:nvPr/>
        </p:nvSpPr>
        <p:spPr>
          <a:xfrm>
            <a:off x="713232" y="4535424"/>
            <a:ext cx="5138928" cy="822960"/>
          </a:xfrm>
          <a:prstGeom prst="roundRect">
            <a:avLst/>
          </a:prstGeom>
          <a:solidFill>
            <a:srgbClr val="EEF2F5"/>
          </a:solidFill>
          <a:ln w="12700">
            <a:solidFill>
              <a:srgbClr val="163554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33" name="Shape 29"/>
          <p:cNvSpPr/>
          <p:nvPr/>
        </p:nvSpPr>
        <p:spPr>
          <a:xfrm>
            <a:off x="731520" y="4608576"/>
            <a:ext cx="73152" cy="676656"/>
          </a:xfrm>
          <a:prstGeom prst="rect">
            <a:avLst/>
          </a:prstGeom>
          <a:solidFill>
            <a:srgbClr val="163554"/>
          </a:solidFill>
          <a:ln w="12700">
            <a:solidFill>
              <a:srgbClr val="16355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4" name="Text 30"/>
          <p:cNvSpPr/>
          <p:nvPr/>
        </p:nvSpPr>
        <p:spPr>
          <a:xfrm>
            <a:off x="877824" y="4626864"/>
            <a:ext cx="4864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20" b="1" dirty="0">
                <a:solidFill>
                  <a:srgbClr val="041B34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JML-proces</a:t>
            </a:r>
            <a:endParaRPr lang="en-US" sz="1620" dirty="0"/>
          </a:p>
        </p:txBody>
      </p:sp>
      <p:sp>
        <p:nvSpPr>
          <p:cNvPr id="35" name="Text 31"/>
          <p:cNvSpPr/>
          <p:nvPr/>
        </p:nvSpPr>
        <p:spPr>
          <a:xfrm>
            <a:off x="877824" y="4846320"/>
            <a:ext cx="48646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222222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Joiner / mover / leaver-proces voor accounts en rechten</a:t>
            </a:r>
            <a:endParaRPr lang="en-US" sz="1260" dirty="0"/>
          </a:p>
        </p:txBody>
      </p:sp>
      <p:sp>
        <p:nvSpPr>
          <p:cNvPr id="36" name="Shape 32"/>
          <p:cNvSpPr/>
          <p:nvPr/>
        </p:nvSpPr>
        <p:spPr>
          <a:xfrm>
            <a:off x="6336792" y="4535424"/>
            <a:ext cx="5138928" cy="822960"/>
          </a:xfrm>
          <a:prstGeom prst="roundRect">
            <a:avLst/>
          </a:prstGeom>
          <a:solidFill>
            <a:srgbClr val="EEF2F5"/>
          </a:solidFill>
          <a:ln w="12700">
            <a:solidFill>
              <a:srgbClr val="163554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37" name="Shape 33"/>
          <p:cNvSpPr/>
          <p:nvPr/>
        </p:nvSpPr>
        <p:spPr>
          <a:xfrm>
            <a:off x="6355080" y="4608576"/>
            <a:ext cx="73152" cy="676656"/>
          </a:xfrm>
          <a:prstGeom prst="rect">
            <a:avLst/>
          </a:prstGeom>
          <a:solidFill>
            <a:srgbClr val="163554"/>
          </a:solidFill>
          <a:ln w="12700">
            <a:solidFill>
              <a:srgbClr val="16355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8" name="Text 34"/>
          <p:cNvSpPr/>
          <p:nvPr/>
        </p:nvSpPr>
        <p:spPr>
          <a:xfrm>
            <a:off x="6501384" y="4626864"/>
            <a:ext cx="4864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20" b="1" dirty="0">
                <a:solidFill>
                  <a:srgbClr val="041B34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Directierapportage</a:t>
            </a:r>
            <a:endParaRPr lang="en-US" sz="1620" dirty="0"/>
          </a:p>
        </p:txBody>
      </p:sp>
      <p:sp>
        <p:nvSpPr>
          <p:cNvPr id="39" name="Text 35"/>
          <p:cNvSpPr/>
          <p:nvPr/>
        </p:nvSpPr>
        <p:spPr>
          <a:xfrm>
            <a:off x="6501384" y="4846320"/>
            <a:ext cx="48646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222222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Periodiek rapporteren over risico’s, maatregelen en voortgang</a:t>
            </a:r>
            <a:endParaRPr lang="en-US" sz="1260" dirty="0"/>
          </a:p>
        </p:txBody>
      </p:sp>
      <p:sp>
        <p:nvSpPr>
          <p:cNvPr id="40" name="Text 36"/>
          <p:cNvSpPr/>
          <p:nvPr/>
        </p:nvSpPr>
        <p:spPr>
          <a:xfrm>
            <a:off x="786384" y="5687568"/>
            <a:ext cx="10652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80" b="1" i="1" dirty="0">
                <a:solidFill>
                  <a:srgbClr val="163554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Sluit aan op de rol van de Security &amp; Privacy Officer: risicoanalyses, beleid en toezicht op beveiligingsmaatregelen.</a:t>
            </a:r>
            <a:endParaRPr lang="en-US" sz="1280" b="1" dirty="0"/>
          </a:p>
        </p:txBody>
      </p:sp>
      <p:pic>
        <p:nvPicPr>
          <p:cNvPr id="42" name="Image 1" descr="/tmp/oai_slides/template/ppt/media/image3.png">
            <a:extLst>
              <a:ext uri="{FF2B5EF4-FFF2-40B4-BE49-F238E27FC236}">
                <a16:creationId xmlns:a16="http://schemas.microsoft.com/office/drawing/2014/main" id="{257D143D-4FD5-7543-E5BE-AF4CEFEAD8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0415" y="146303"/>
            <a:ext cx="1278497" cy="127849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D9D9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hape 0">
            <a:extLst>
              <a:ext uri="{FF2B5EF4-FFF2-40B4-BE49-F238E27FC236}">
                <a16:creationId xmlns:a16="http://schemas.microsoft.com/office/drawing/2014/main" id="{E0AB525F-A024-CD53-6AB6-476FEBB2BB40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0">
                <a:srgbClr val="002060">
                  <a:lumMod val="98000"/>
                </a:srgbClr>
              </a:gs>
              <a:gs pos="74000">
                <a:schemeClr val="accent1">
                  <a:lumMod val="75000"/>
                </a:schemeClr>
              </a:gs>
              <a:gs pos="83000">
                <a:srgbClr val="0070C0"/>
              </a:gs>
              <a:gs pos="100000">
                <a:schemeClr val="accent4"/>
              </a:gs>
            </a:gsLst>
            <a:lin ang="5400000" scaled="1"/>
            <a:tileRect/>
          </a:gradFill>
          <a:ln w="12700">
            <a:solidFill>
              <a:srgbClr val="041B3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pic>
        <p:nvPicPr>
          <p:cNvPr id="5" name="Image 0" descr="/tmp/oai_slides/template/ppt/media/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99632"/>
            <a:ext cx="12191695" cy="65836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02920" y="310896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PROJECTVOORSTEL &amp; FASERING</a:t>
            </a:r>
            <a:endParaRPr lang="en-US" sz="2600" dirty="0"/>
          </a:p>
        </p:txBody>
      </p:sp>
      <p:sp>
        <p:nvSpPr>
          <p:cNvPr id="8" name="Shape 4"/>
          <p:cNvSpPr/>
          <p:nvPr/>
        </p:nvSpPr>
        <p:spPr>
          <a:xfrm>
            <a:off x="502920" y="1371600"/>
            <a:ext cx="3611880" cy="3950207"/>
          </a:xfrm>
          <a:prstGeom prst="roundRect">
            <a:avLst/>
          </a:prstGeom>
          <a:solidFill>
            <a:srgbClr val="EEF2F5"/>
          </a:solidFill>
          <a:ln w="12700">
            <a:solidFill>
              <a:srgbClr val="F4C757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9" name="Shape 5"/>
          <p:cNvSpPr/>
          <p:nvPr/>
        </p:nvSpPr>
        <p:spPr>
          <a:xfrm>
            <a:off x="649224" y="1517904"/>
            <a:ext cx="384048" cy="384048"/>
          </a:xfrm>
          <a:prstGeom prst="ellipse">
            <a:avLst/>
          </a:prstGeom>
          <a:solidFill>
            <a:srgbClr val="F4C757"/>
          </a:solidFill>
          <a:ln w="12700">
            <a:solidFill>
              <a:srgbClr val="F4C75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0" name="Text 6"/>
          <p:cNvSpPr/>
          <p:nvPr/>
        </p:nvSpPr>
        <p:spPr>
          <a:xfrm>
            <a:off x="649224" y="1517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41B34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1124712" y="1536192"/>
            <a:ext cx="2843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041B34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Quick wins</a:t>
            </a:r>
            <a:endParaRPr lang="en-US" sz="1750" dirty="0"/>
          </a:p>
        </p:txBody>
      </p:sp>
      <p:sp>
        <p:nvSpPr>
          <p:cNvPr id="12" name="Text 8"/>
          <p:cNvSpPr/>
          <p:nvPr/>
        </p:nvSpPr>
        <p:spPr>
          <a:xfrm>
            <a:off x="667512" y="1901952"/>
            <a:ext cx="3282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i="1" dirty="0">
                <a:solidFill>
                  <a:srgbClr val="C79B2E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Doel: direct de grootste risico’s verlagen</a:t>
            </a:r>
            <a:endParaRPr lang="en-US" sz="1320" dirty="0"/>
          </a:p>
        </p:txBody>
      </p:sp>
      <p:sp>
        <p:nvSpPr>
          <p:cNvPr id="13" name="Shape 9"/>
          <p:cNvSpPr/>
          <p:nvPr/>
        </p:nvSpPr>
        <p:spPr>
          <a:xfrm>
            <a:off x="667512" y="2432304"/>
            <a:ext cx="64008" cy="64008"/>
          </a:xfrm>
          <a:prstGeom prst="ellipse">
            <a:avLst/>
          </a:prstGeom>
          <a:solidFill>
            <a:srgbClr val="F4C757"/>
          </a:solidFill>
          <a:ln w="12700">
            <a:solidFill>
              <a:srgbClr val="F4C75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4" name="Text 10"/>
          <p:cNvSpPr/>
          <p:nvPr/>
        </p:nvSpPr>
        <p:spPr>
          <a:xfrm>
            <a:off x="804672" y="23317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222222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MFA activeren op kritieke accounts</a:t>
            </a:r>
            <a:endParaRPr lang="en-US" sz="1320" dirty="0"/>
          </a:p>
        </p:txBody>
      </p:sp>
      <p:sp>
        <p:nvSpPr>
          <p:cNvPr id="15" name="Shape 11"/>
          <p:cNvSpPr/>
          <p:nvPr/>
        </p:nvSpPr>
        <p:spPr>
          <a:xfrm>
            <a:off x="667512" y="2916936"/>
            <a:ext cx="64008" cy="64008"/>
          </a:xfrm>
          <a:prstGeom prst="ellipse">
            <a:avLst/>
          </a:prstGeom>
          <a:solidFill>
            <a:srgbClr val="F4C757"/>
          </a:solidFill>
          <a:ln w="12700">
            <a:solidFill>
              <a:srgbClr val="F4C75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6" name="Text 12"/>
          <p:cNvSpPr/>
          <p:nvPr/>
        </p:nvSpPr>
        <p:spPr>
          <a:xfrm>
            <a:off x="804672" y="281635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222222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Rechten op B- en M-schijf beperken</a:t>
            </a:r>
            <a:endParaRPr lang="en-US" sz="1320" dirty="0"/>
          </a:p>
        </p:txBody>
      </p:sp>
      <p:sp>
        <p:nvSpPr>
          <p:cNvPr id="17" name="Shape 13"/>
          <p:cNvSpPr/>
          <p:nvPr/>
        </p:nvSpPr>
        <p:spPr>
          <a:xfrm>
            <a:off x="667512" y="3401568"/>
            <a:ext cx="64008" cy="64008"/>
          </a:xfrm>
          <a:prstGeom prst="ellipse">
            <a:avLst/>
          </a:prstGeom>
          <a:solidFill>
            <a:srgbClr val="F4C757"/>
          </a:solidFill>
          <a:ln w="12700">
            <a:solidFill>
              <a:srgbClr val="F4C75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8" name="Text 14"/>
          <p:cNvSpPr/>
          <p:nvPr/>
        </p:nvSpPr>
        <p:spPr>
          <a:xfrm>
            <a:off x="804672" y="3300984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222222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Gedeelde accounts uitfaseren</a:t>
            </a:r>
            <a:endParaRPr lang="en-US" sz="1320" dirty="0"/>
          </a:p>
        </p:txBody>
      </p:sp>
      <p:sp>
        <p:nvSpPr>
          <p:cNvPr id="19" name="Shape 15"/>
          <p:cNvSpPr/>
          <p:nvPr/>
        </p:nvSpPr>
        <p:spPr>
          <a:xfrm>
            <a:off x="667512" y="3886200"/>
            <a:ext cx="64008" cy="64008"/>
          </a:xfrm>
          <a:prstGeom prst="ellipse">
            <a:avLst/>
          </a:prstGeom>
          <a:solidFill>
            <a:srgbClr val="F4C757"/>
          </a:solidFill>
          <a:ln w="12700">
            <a:solidFill>
              <a:srgbClr val="F4C75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0" name="Text 16"/>
          <p:cNvSpPr/>
          <p:nvPr/>
        </p:nvSpPr>
        <p:spPr>
          <a:xfrm>
            <a:off x="804672" y="3785616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222222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Phishing-awareness en basistraining starten</a:t>
            </a:r>
            <a:endParaRPr lang="en-US" sz="1320" dirty="0"/>
          </a:p>
        </p:txBody>
      </p:sp>
      <p:sp>
        <p:nvSpPr>
          <p:cNvPr id="21" name="Shape 17"/>
          <p:cNvSpPr/>
          <p:nvPr/>
        </p:nvSpPr>
        <p:spPr>
          <a:xfrm>
            <a:off x="4233672" y="3584448"/>
            <a:ext cx="384048" cy="0"/>
          </a:xfrm>
          <a:prstGeom prst="line">
            <a:avLst/>
          </a:prstGeom>
          <a:noFill/>
          <a:ln w="12700">
            <a:solidFill>
              <a:srgbClr val="C79B2E"/>
            </a:solidFill>
            <a:prstDash val="solid"/>
            <a:tailEnd type="triangle"/>
          </a:ln>
        </p:spPr>
        <p:txBody>
          <a:bodyPr/>
          <a:lstStyle/>
          <a:p>
            <a:endParaRPr lang="nl-NL"/>
          </a:p>
        </p:txBody>
      </p:sp>
      <p:sp>
        <p:nvSpPr>
          <p:cNvPr id="22" name="Shape 18"/>
          <p:cNvSpPr/>
          <p:nvPr/>
        </p:nvSpPr>
        <p:spPr>
          <a:xfrm>
            <a:off x="4544568" y="1371600"/>
            <a:ext cx="3611880" cy="3950207"/>
          </a:xfrm>
          <a:prstGeom prst="roundRect">
            <a:avLst/>
          </a:prstGeom>
          <a:solidFill>
            <a:srgbClr val="EEF2F5"/>
          </a:solidFill>
          <a:ln w="12700">
            <a:solidFill>
              <a:srgbClr val="F4C757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23" name="Shape 19"/>
          <p:cNvSpPr/>
          <p:nvPr/>
        </p:nvSpPr>
        <p:spPr>
          <a:xfrm>
            <a:off x="4690872" y="1517904"/>
            <a:ext cx="384048" cy="384048"/>
          </a:xfrm>
          <a:prstGeom prst="ellipse">
            <a:avLst/>
          </a:prstGeom>
          <a:solidFill>
            <a:srgbClr val="F4C757"/>
          </a:solidFill>
          <a:ln w="12700">
            <a:solidFill>
              <a:srgbClr val="F4C75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4" name="Text 20"/>
          <p:cNvSpPr/>
          <p:nvPr/>
        </p:nvSpPr>
        <p:spPr>
          <a:xfrm>
            <a:off x="4690872" y="1517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41B34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2</a:t>
            </a:r>
            <a:endParaRPr lang="en-US" sz="1800" dirty="0"/>
          </a:p>
        </p:txBody>
      </p:sp>
      <p:sp>
        <p:nvSpPr>
          <p:cNvPr id="25" name="Text 21"/>
          <p:cNvSpPr/>
          <p:nvPr/>
        </p:nvSpPr>
        <p:spPr>
          <a:xfrm>
            <a:off x="5166360" y="1536192"/>
            <a:ext cx="2843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041B34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Fundament op orde</a:t>
            </a:r>
            <a:endParaRPr lang="en-US" sz="1750" dirty="0"/>
          </a:p>
        </p:txBody>
      </p:sp>
      <p:sp>
        <p:nvSpPr>
          <p:cNvPr id="26" name="Text 22"/>
          <p:cNvSpPr/>
          <p:nvPr/>
        </p:nvSpPr>
        <p:spPr>
          <a:xfrm>
            <a:off x="4709160" y="1901952"/>
            <a:ext cx="3282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i="1" dirty="0">
                <a:solidFill>
                  <a:srgbClr val="C79B2E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Doel: structurele basisbeveiliging neerzetten</a:t>
            </a:r>
            <a:endParaRPr lang="en-US" sz="1320" dirty="0"/>
          </a:p>
        </p:txBody>
      </p:sp>
      <p:sp>
        <p:nvSpPr>
          <p:cNvPr id="27" name="Shape 23"/>
          <p:cNvSpPr/>
          <p:nvPr/>
        </p:nvSpPr>
        <p:spPr>
          <a:xfrm>
            <a:off x="4709160" y="2432304"/>
            <a:ext cx="64008" cy="64008"/>
          </a:xfrm>
          <a:prstGeom prst="ellipse">
            <a:avLst/>
          </a:prstGeom>
          <a:solidFill>
            <a:srgbClr val="F4C757"/>
          </a:solidFill>
          <a:ln w="12700">
            <a:solidFill>
              <a:srgbClr val="F4C75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8" name="Text 24"/>
          <p:cNvSpPr/>
          <p:nvPr/>
        </p:nvSpPr>
        <p:spPr>
          <a:xfrm>
            <a:off x="4846320" y="23317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222222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Netwerksegmentatie tussen IT, OT en beheer</a:t>
            </a:r>
            <a:endParaRPr lang="en-US" sz="1320" dirty="0"/>
          </a:p>
        </p:txBody>
      </p:sp>
      <p:sp>
        <p:nvSpPr>
          <p:cNvPr id="29" name="Shape 25"/>
          <p:cNvSpPr/>
          <p:nvPr/>
        </p:nvSpPr>
        <p:spPr>
          <a:xfrm>
            <a:off x="4709160" y="2916936"/>
            <a:ext cx="64008" cy="64008"/>
          </a:xfrm>
          <a:prstGeom prst="ellipse">
            <a:avLst/>
          </a:prstGeom>
          <a:solidFill>
            <a:srgbClr val="F4C757"/>
          </a:solidFill>
          <a:ln w="12700">
            <a:solidFill>
              <a:srgbClr val="F4C75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0" name="Text 26"/>
          <p:cNvSpPr/>
          <p:nvPr/>
        </p:nvSpPr>
        <p:spPr>
          <a:xfrm>
            <a:off x="4846320" y="281635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222222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Gateway verplaatsen naar DMZ</a:t>
            </a:r>
            <a:endParaRPr lang="en-US" sz="1320" dirty="0"/>
          </a:p>
        </p:txBody>
      </p:sp>
      <p:sp>
        <p:nvSpPr>
          <p:cNvPr id="31" name="Shape 27"/>
          <p:cNvSpPr/>
          <p:nvPr/>
        </p:nvSpPr>
        <p:spPr>
          <a:xfrm>
            <a:off x="4709160" y="3401568"/>
            <a:ext cx="64008" cy="64008"/>
          </a:xfrm>
          <a:prstGeom prst="ellipse">
            <a:avLst/>
          </a:prstGeom>
          <a:solidFill>
            <a:srgbClr val="F4C757"/>
          </a:solidFill>
          <a:ln w="12700">
            <a:solidFill>
              <a:srgbClr val="F4C75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2" name="Text 28"/>
          <p:cNvSpPr/>
          <p:nvPr/>
        </p:nvSpPr>
        <p:spPr>
          <a:xfrm>
            <a:off x="4846320" y="3300984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222222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Back-ups testen en procedures vastleggen</a:t>
            </a:r>
            <a:endParaRPr lang="en-US" sz="1320" dirty="0"/>
          </a:p>
        </p:txBody>
      </p:sp>
      <p:sp>
        <p:nvSpPr>
          <p:cNvPr id="33" name="Shape 29"/>
          <p:cNvSpPr/>
          <p:nvPr/>
        </p:nvSpPr>
        <p:spPr>
          <a:xfrm>
            <a:off x="4709160" y="3886200"/>
            <a:ext cx="64008" cy="64008"/>
          </a:xfrm>
          <a:prstGeom prst="ellipse">
            <a:avLst/>
          </a:prstGeom>
          <a:solidFill>
            <a:srgbClr val="F4C757"/>
          </a:solidFill>
          <a:ln w="12700">
            <a:solidFill>
              <a:srgbClr val="F4C75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4" name="Text 30"/>
          <p:cNvSpPr/>
          <p:nvPr/>
        </p:nvSpPr>
        <p:spPr>
          <a:xfrm>
            <a:off x="4846320" y="3785616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222222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Logging, monitoring en patchbeheer opzetten</a:t>
            </a:r>
            <a:endParaRPr lang="en-US" sz="1320" dirty="0"/>
          </a:p>
        </p:txBody>
      </p:sp>
      <p:sp>
        <p:nvSpPr>
          <p:cNvPr id="35" name="Shape 31"/>
          <p:cNvSpPr/>
          <p:nvPr/>
        </p:nvSpPr>
        <p:spPr>
          <a:xfrm>
            <a:off x="8275320" y="3584448"/>
            <a:ext cx="384048" cy="0"/>
          </a:xfrm>
          <a:prstGeom prst="line">
            <a:avLst/>
          </a:prstGeom>
          <a:noFill/>
          <a:ln w="12700">
            <a:solidFill>
              <a:srgbClr val="C79B2E"/>
            </a:solidFill>
            <a:prstDash val="solid"/>
            <a:tailEnd type="triangle"/>
          </a:ln>
        </p:spPr>
        <p:txBody>
          <a:bodyPr/>
          <a:lstStyle/>
          <a:p>
            <a:endParaRPr lang="nl-NL"/>
          </a:p>
        </p:txBody>
      </p:sp>
      <p:sp>
        <p:nvSpPr>
          <p:cNvPr id="36" name="Shape 32"/>
          <p:cNvSpPr/>
          <p:nvPr/>
        </p:nvSpPr>
        <p:spPr>
          <a:xfrm>
            <a:off x="8586216" y="1371600"/>
            <a:ext cx="3090672" cy="3950207"/>
          </a:xfrm>
          <a:prstGeom prst="roundRect">
            <a:avLst/>
          </a:prstGeom>
          <a:solidFill>
            <a:srgbClr val="EEF2F5"/>
          </a:solidFill>
          <a:ln w="12700">
            <a:solidFill>
              <a:srgbClr val="F4C757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37" name="Shape 33"/>
          <p:cNvSpPr/>
          <p:nvPr/>
        </p:nvSpPr>
        <p:spPr>
          <a:xfrm>
            <a:off x="8732520" y="1517904"/>
            <a:ext cx="384048" cy="384048"/>
          </a:xfrm>
          <a:prstGeom prst="ellipse">
            <a:avLst/>
          </a:prstGeom>
          <a:solidFill>
            <a:srgbClr val="F4C757"/>
          </a:solidFill>
          <a:ln w="12700">
            <a:solidFill>
              <a:srgbClr val="F4C75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8" name="Text 34"/>
          <p:cNvSpPr/>
          <p:nvPr/>
        </p:nvSpPr>
        <p:spPr>
          <a:xfrm>
            <a:off x="8732520" y="1517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41B34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3</a:t>
            </a:r>
            <a:endParaRPr lang="en-US" sz="1800" dirty="0"/>
          </a:p>
        </p:txBody>
      </p:sp>
      <p:sp>
        <p:nvSpPr>
          <p:cNvPr id="39" name="Text 35"/>
          <p:cNvSpPr/>
          <p:nvPr/>
        </p:nvSpPr>
        <p:spPr>
          <a:xfrm>
            <a:off x="9208008" y="1536192"/>
            <a:ext cx="2322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041B34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Volwassenheid verhogen</a:t>
            </a:r>
            <a:endParaRPr lang="en-US" sz="1750" dirty="0"/>
          </a:p>
        </p:txBody>
      </p:sp>
      <p:sp>
        <p:nvSpPr>
          <p:cNvPr id="40" name="Text 36"/>
          <p:cNvSpPr/>
          <p:nvPr/>
        </p:nvSpPr>
        <p:spPr>
          <a:xfrm>
            <a:off x="8750808" y="1901952"/>
            <a:ext cx="2761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i="1" dirty="0">
                <a:solidFill>
                  <a:srgbClr val="C79B2E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Doel: security structureel onderdeel maken</a:t>
            </a:r>
            <a:endParaRPr lang="en-US" sz="1320" dirty="0"/>
          </a:p>
        </p:txBody>
      </p:sp>
      <p:sp>
        <p:nvSpPr>
          <p:cNvPr id="41" name="Shape 37"/>
          <p:cNvSpPr/>
          <p:nvPr/>
        </p:nvSpPr>
        <p:spPr>
          <a:xfrm>
            <a:off x="8750808" y="2432304"/>
            <a:ext cx="64008" cy="64008"/>
          </a:xfrm>
          <a:prstGeom prst="ellipse">
            <a:avLst/>
          </a:prstGeom>
          <a:solidFill>
            <a:srgbClr val="F4C757"/>
          </a:solidFill>
          <a:ln w="12700">
            <a:solidFill>
              <a:srgbClr val="F4C75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42" name="Text 38"/>
          <p:cNvSpPr/>
          <p:nvPr/>
        </p:nvSpPr>
        <p:spPr>
          <a:xfrm>
            <a:off x="8887968" y="2331720"/>
            <a:ext cx="2679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222222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Legacy-systemen vervangen of isoleren</a:t>
            </a:r>
            <a:endParaRPr lang="en-US" sz="1320" dirty="0"/>
          </a:p>
        </p:txBody>
      </p:sp>
      <p:sp>
        <p:nvSpPr>
          <p:cNvPr id="43" name="Shape 39"/>
          <p:cNvSpPr/>
          <p:nvPr/>
        </p:nvSpPr>
        <p:spPr>
          <a:xfrm>
            <a:off x="8750808" y="2916936"/>
            <a:ext cx="64008" cy="64008"/>
          </a:xfrm>
          <a:prstGeom prst="ellipse">
            <a:avLst/>
          </a:prstGeom>
          <a:solidFill>
            <a:srgbClr val="F4C757"/>
          </a:solidFill>
          <a:ln w="12700">
            <a:solidFill>
              <a:srgbClr val="F4C75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44" name="Text 40"/>
          <p:cNvSpPr/>
          <p:nvPr/>
        </p:nvSpPr>
        <p:spPr>
          <a:xfrm>
            <a:off x="8887968" y="2816352"/>
            <a:ext cx="2679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222222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Security reviews en crisisoefeningen herhalen</a:t>
            </a:r>
            <a:endParaRPr lang="en-US" sz="1320" dirty="0"/>
          </a:p>
        </p:txBody>
      </p:sp>
      <p:sp>
        <p:nvSpPr>
          <p:cNvPr id="45" name="Shape 41"/>
          <p:cNvSpPr/>
          <p:nvPr/>
        </p:nvSpPr>
        <p:spPr>
          <a:xfrm>
            <a:off x="8750808" y="3401568"/>
            <a:ext cx="64008" cy="64008"/>
          </a:xfrm>
          <a:prstGeom prst="ellipse">
            <a:avLst/>
          </a:prstGeom>
          <a:solidFill>
            <a:srgbClr val="F4C757"/>
          </a:solidFill>
          <a:ln w="12700">
            <a:solidFill>
              <a:srgbClr val="F4C75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46" name="Text 42"/>
          <p:cNvSpPr/>
          <p:nvPr/>
        </p:nvSpPr>
        <p:spPr>
          <a:xfrm>
            <a:off x="8887968" y="3300984"/>
            <a:ext cx="2679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222222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Leveranciersbeleid formaliseren</a:t>
            </a:r>
            <a:endParaRPr lang="en-US" sz="1320" dirty="0"/>
          </a:p>
        </p:txBody>
      </p:sp>
      <p:sp>
        <p:nvSpPr>
          <p:cNvPr id="47" name="Shape 43"/>
          <p:cNvSpPr/>
          <p:nvPr/>
        </p:nvSpPr>
        <p:spPr>
          <a:xfrm>
            <a:off x="8750808" y="3886200"/>
            <a:ext cx="64008" cy="64008"/>
          </a:xfrm>
          <a:prstGeom prst="ellipse">
            <a:avLst/>
          </a:prstGeom>
          <a:solidFill>
            <a:srgbClr val="F4C757"/>
          </a:solidFill>
          <a:ln w="12700">
            <a:solidFill>
              <a:srgbClr val="F4C75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48" name="Text 44"/>
          <p:cNvSpPr/>
          <p:nvPr/>
        </p:nvSpPr>
        <p:spPr>
          <a:xfrm>
            <a:off x="8887968" y="3785616"/>
            <a:ext cx="2679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222222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Governance en rapportage vast inplannen</a:t>
            </a:r>
            <a:endParaRPr lang="en-US" sz="1320" dirty="0"/>
          </a:p>
        </p:txBody>
      </p:sp>
      <p:sp>
        <p:nvSpPr>
          <p:cNvPr id="49" name="Text 45"/>
          <p:cNvSpPr/>
          <p:nvPr/>
        </p:nvSpPr>
        <p:spPr>
          <a:xfrm>
            <a:off x="777240" y="5870448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80" b="1" i="1" dirty="0">
                <a:solidFill>
                  <a:srgbClr val="163554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Logica: eerst acute risico’s terugdringen, daarna de technische basis op orde brengen en vervolgens verder professionaliseren.</a:t>
            </a:r>
            <a:endParaRPr lang="en-US" sz="1280" b="1" dirty="0"/>
          </a:p>
        </p:txBody>
      </p:sp>
      <p:pic>
        <p:nvPicPr>
          <p:cNvPr id="51" name="Image 1" descr="/tmp/oai_slides/template/ppt/media/image3.png">
            <a:extLst>
              <a:ext uri="{FF2B5EF4-FFF2-40B4-BE49-F238E27FC236}">
                <a16:creationId xmlns:a16="http://schemas.microsoft.com/office/drawing/2014/main" id="{C1EE9E55-C1D2-9D9C-5549-146E440914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0415" y="146303"/>
            <a:ext cx="1278497" cy="127849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D9D9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0">
            <a:extLst>
              <a:ext uri="{FF2B5EF4-FFF2-40B4-BE49-F238E27FC236}">
                <a16:creationId xmlns:a16="http://schemas.microsoft.com/office/drawing/2014/main" id="{88796FB0-4BDA-6631-66C6-E681C24C2A52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0">
                <a:srgbClr val="002060">
                  <a:lumMod val="98000"/>
                </a:srgbClr>
              </a:gs>
              <a:gs pos="74000">
                <a:schemeClr val="accent1">
                  <a:lumMod val="75000"/>
                </a:schemeClr>
              </a:gs>
              <a:gs pos="83000">
                <a:srgbClr val="0070C0"/>
              </a:gs>
              <a:gs pos="100000">
                <a:schemeClr val="accent4"/>
              </a:gs>
            </a:gsLst>
            <a:lin ang="5400000" scaled="1"/>
            <a:tileRect/>
          </a:gradFill>
          <a:ln w="12700">
            <a:solidFill>
              <a:srgbClr val="041B3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pic>
        <p:nvPicPr>
          <p:cNvPr id="5" name="Image 0" descr="/tmp/oai_slides/template/ppt/media/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" y="6208776"/>
            <a:ext cx="12191695" cy="65836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02920" y="310896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SECURE DEVELOPMENT &amp; WEERBAARHEID</a:t>
            </a:r>
            <a:endParaRPr lang="en-US" sz="2600" dirty="0"/>
          </a:p>
        </p:txBody>
      </p:sp>
      <p:sp>
        <p:nvSpPr>
          <p:cNvPr id="8" name="Shape 4"/>
          <p:cNvSpPr/>
          <p:nvPr/>
        </p:nvSpPr>
        <p:spPr>
          <a:xfrm>
            <a:off x="658368" y="1371600"/>
            <a:ext cx="5897880" cy="4526280"/>
          </a:xfrm>
          <a:prstGeom prst="roundRect">
            <a:avLst/>
          </a:prstGeom>
          <a:solidFill>
            <a:srgbClr val="EEF2F5"/>
          </a:solidFill>
          <a:ln w="12700">
            <a:solidFill>
              <a:srgbClr val="163554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9" name="Shape 5"/>
          <p:cNvSpPr/>
          <p:nvPr/>
        </p:nvSpPr>
        <p:spPr>
          <a:xfrm>
            <a:off x="676656" y="1444752"/>
            <a:ext cx="73152" cy="4379976"/>
          </a:xfrm>
          <a:prstGeom prst="rect">
            <a:avLst/>
          </a:prstGeom>
          <a:solidFill>
            <a:srgbClr val="F4C757"/>
          </a:solidFill>
          <a:ln w="12700">
            <a:solidFill>
              <a:srgbClr val="F4C75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0" name="Text 6"/>
          <p:cNvSpPr/>
          <p:nvPr/>
        </p:nvSpPr>
        <p:spPr>
          <a:xfrm>
            <a:off x="1234437" y="1585237"/>
            <a:ext cx="521208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041B34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Veilige softwareontwikkeling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822960" y="1682496"/>
            <a:ext cx="5623560" cy="4142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420" dirty="0"/>
          </a:p>
        </p:txBody>
      </p:sp>
      <p:sp>
        <p:nvSpPr>
          <p:cNvPr id="12" name="Shape 8"/>
          <p:cNvSpPr/>
          <p:nvPr/>
        </p:nvSpPr>
        <p:spPr>
          <a:xfrm>
            <a:off x="877824" y="2185416"/>
            <a:ext cx="64008" cy="64008"/>
          </a:xfrm>
          <a:prstGeom prst="ellipse">
            <a:avLst/>
          </a:prstGeom>
          <a:solidFill>
            <a:srgbClr val="F4C757"/>
          </a:solidFill>
          <a:ln w="12700">
            <a:solidFill>
              <a:srgbClr val="F4C75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3" name="Text 9"/>
          <p:cNvSpPr/>
          <p:nvPr/>
        </p:nvSpPr>
        <p:spPr>
          <a:xfrm>
            <a:off x="1033272" y="2084832"/>
            <a:ext cx="5212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80" b="1" dirty="0">
                <a:solidFill>
                  <a:srgbClr val="222222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Security-eisen vooraf opnemen bij nieuwe software en wijzigingen</a:t>
            </a:r>
            <a:endParaRPr lang="en-US" sz="1480" dirty="0"/>
          </a:p>
        </p:txBody>
      </p:sp>
      <p:sp>
        <p:nvSpPr>
          <p:cNvPr id="14" name="Shape 10"/>
          <p:cNvSpPr/>
          <p:nvPr/>
        </p:nvSpPr>
        <p:spPr>
          <a:xfrm>
            <a:off x="877824" y="2697480"/>
            <a:ext cx="64008" cy="64008"/>
          </a:xfrm>
          <a:prstGeom prst="ellipse">
            <a:avLst/>
          </a:prstGeom>
          <a:solidFill>
            <a:srgbClr val="F4C757"/>
          </a:solidFill>
          <a:ln w="12700">
            <a:solidFill>
              <a:srgbClr val="F4C75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5" name="Text 11"/>
          <p:cNvSpPr/>
          <p:nvPr/>
        </p:nvSpPr>
        <p:spPr>
          <a:xfrm>
            <a:off x="1033272" y="2596896"/>
            <a:ext cx="5212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80" b="1" dirty="0">
                <a:solidFill>
                  <a:srgbClr val="222222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Ontwikkel-, test- en productieomgevingen van elkaar scheiden</a:t>
            </a:r>
            <a:endParaRPr lang="en-US" sz="1480" dirty="0"/>
          </a:p>
        </p:txBody>
      </p:sp>
      <p:sp>
        <p:nvSpPr>
          <p:cNvPr id="16" name="Shape 12"/>
          <p:cNvSpPr/>
          <p:nvPr/>
        </p:nvSpPr>
        <p:spPr>
          <a:xfrm>
            <a:off x="877824" y="3209544"/>
            <a:ext cx="64008" cy="64008"/>
          </a:xfrm>
          <a:prstGeom prst="ellipse">
            <a:avLst/>
          </a:prstGeom>
          <a:solidFill>
            <a:srgbClr val="F4C757"/>
          </a:solidFill>
          <a:ln w="12700">
            <a:solidFill>
              <a:srgbClr val="F4C75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7" name="Text 13"/>
          <p:cNvSpPr/>
          <p:nvPr/>
        </p:nvSpPr>
        <p:spPr>
          <a:xfrm>
            <a:off x="1033272" y="3108960"/>
            <a:ext cx="5212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80" b="1" dirty="0">
                <a:solidFill>
                  <a:srgbClr val="222222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Wijzigingen eerst testen vóór productie</a:t>
            </a:r>
            <a:endParaRPr lang="en-US" sz="1480" dirty="0"/>
          </a:p>
        </p:txBody>
      </p:sp>
      <p:sp>
        <p:nvSpPr>
          <p:cNvPr id="18" name="Shape 14"/>
          <p:cNvSpPr/>
          <p:nvPr/>
        </p:nvSpPr>
        <p:spPr>
          <a:xfrm>
            <a:off x="877824" y="3721608"/>
            <a:ext cx="64008" cy="64008"/>
          </a:xfrm>
          <a:prstGeom prst="ellipse">
            <a:avLst/>
          </a:prstGeom>
          <a:solidFill>
            <a:srgbClr val="F4C757"/>
          </a:solidFill>
          <a:ln w="12700">
            <a:solidFill>
              <a:srgbClr val="F4C75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9" name="Text 15"/>
          <p:cNvSpPr/>
          <p:nvPr/>
        </p:nvSpPr>
        <p:spPr>
          <a:xfrm>
            <a:off x="1033272" y="3621024"/>
            <a:ext cx="5212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80" b="1" dirty="0">
                <a:solidFill>
                  <a:srgbClr val="222222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Vier-</a:t>
            </a:r>
            <a:r>
              <a:rPr lang="en-US" sz="1480" b="1" dirty="0" err="1">
                <a:solidFill>
                  <a:srgbClr val="222222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ogenprincipe</a:t>
            </a:r>
            <a:r>
              <a:rPr lang="en-US" sz="1480" b="1" dirty="0">
                <a:solidFill>
                  <a:srgbClr val="222222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 </a:t>
            </a:r>
            <a:r>
              <a:rPr lang="en-US" sz="1480" b="1" dirty="0" err="1">
                <a:solidFill>
                  <a:srgbClr val="222222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bij</a:t>
            </a:r>
            <a:r>
              <a:rPr lang="en-US" sz="1480" b="1" dirty="0">
                <a:solidFill>
                  <a:srgbClr val="222222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 code en </a:t>
            </a:r>
            <a:r>
              <a:rPr lang="en-US" sz="1480" b="1" dirty="0" err="1">
                <a:solidFill>
                  <a:srgbClr val="222222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configuraties</a:t>
            </a:r>
            <a:endParaRPr lang="en-US" sz="1480" dirty="0"/>
          </a:p>
        </p:txBody>
      </p:sp>
      <p:sp>
        <p:nvSpPr>
          <p:cNvPr id="20" name="Shape 16"/>
          <p:cNvSpPr/>
          <p:nvPr/>
        </p:nvSpPr>
        <p:spPr>
          <a:xfrm>
            <a:off x="877824" y="4233672"/>
            <a:ext cx="64008" cy="64008"/>
          </a:xfrm>
          <a:prstGeom prst="ellipse">
            <a:avLst/>
          </a:prstGeom>
          <a:solidFill>
            <a:srgbClr val="F4C757"/>
          </a:solidFill>
          <a:ln w="12700">
            <a:solidFill>
              <a:srgbClr val="F4C75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1" name="Text 17"/>
          <p:cNvSpPr/>
          <p:nvPr/>
        </p:nvSpPr>
        <p:spPr>
          <a:xfrm>
            <a:off x="1033272" y="4133088"/>
            <a:ext cx="5212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80" b="1" dirty="0">
                <a:solidFill>
                  <a:srgbClr val="222222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Sterke authenticatie en passende toegangsrechten toepassen</a:t>
            </a:r>
            <a:endParaRPr lang="en-US" sz="1480" dirty="0"/>
          </a:p>
        </p:txBody>
      </p:sp>
      <p:sp>
        <p:nvSpPr>
          <p:cNvPr id="22" name="Shape 18"/>
          <p:cNvSpPr/>
          <p:nvPr/>
        </p:nvSpPr>
        <p:spPr>
          <a:xfrm>
            <a:off x="6903720" y="1508760"/>
            <a:ext cx="4389120" cy="1901952"/>
          </a:xfrm>
          <a:prstGeom prst="roundRect">
            <a:avLst/>
          </a:prstGeom>
          <a:solidFill>
            <a:srgbClr val="EEF2F5"/>
          </a:solidFill>
          <a:ln w="12700">
            <a:solidFill>
              <a:srgbClr val="163554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23" name="Shape 19"/>
          <p:cNvSpPr/>
          <p:nvPr/>
        </p:nvSpPr>
        <p:spPr>
          <a:xfrm>
            <a:off x="6922008" y="1581912"/>
            <a:ext cx="73152" cy="1755648"/>
          </a:xfrm>
          <a:prstGeom prst="rect">
            <a:avLst/>
          </a:prstGeom>
          <a:solidFill>
            <a:srgbClr val="163554"/>
          </a:solidFill>
          <a:ln w="12700">
            <a:solidFill>
              <a:srgbClr val="16355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4" name="Text 20"/>
          <p:cNvSpPr/>
          <p:nvPr/>
        </p:nvSpPr>
        <p:spPr>
          <a:xfrm>
            <a:off x="7068312" y="16002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750" b="1" dirty="0">
                <a:solidFill>
                  <a:srgbClr val="041B34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Waarom dit belangrijk is</a:t>
            </a:r>
            <a:endParaRPr lang="en-US" sz="1750" dirty="0"/>
          </a:p>
        </p:txBody>
      </p:sp>
      <p:sp>
        <p:nvSpPr>
          <p:cNvPr id="25" name="Text 21"/>
          <p:cNvSpPr/>
          <p:nvPr/>
        </p:nvSpPr>
        <p:spPr>
          <a:xfrm>
            <a:off x="7068312" y="1819656"/>
            <a:ext cx="411480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30" dirty="0">
                <a:solidFill>
                  <a:srgbClr val="222222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Billy Bonka combineert kantoor-IT met productiesystemen die centraal worden aangestuurd vanaf het IT-netwerk. Een foutieve of onveilige wijziging kan daardoor direct impact hebben op de continuïteit van de fabriek.</a:t>
            </a:r>
            <a:endParaRPr lang="en-US" sz="1330" dirty="0"/>
          </a:p>
        </p:txBody>
      </p:sp>
      <p:sp>
        <p:nvSpPr>
          <p:cNvPr id="26" name="Shape 22"/>
          <p:cNvSpPr/>
          <p:nvPr/>
        </p:nvSpPr>
        <p:spPr>
          <a:xfrm>
            <a:off x="6903720" y="3675888"/>
            <a:ext cx="4389120" cy="1280160"/>
          </a:xfrm>
          <a:prstGeom prst="roundRect">
            <a:avLst/>
          </a:prstGeom>
          <a:solidFill>
            <a:srgbClr val="EEF2F5"/>
          </a:solidFill>
          <a:ln w="12700">
            <a:solidFill>
              <a:srgbClr val="163554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27" name="Shape 23"/>
          <p:cNvSpPr/>
          <p:nvPr/>
        </p:nvSpPr>
        <p:spPr>
          <a:xfrm>
            <a:off x="6922008" y="3749040"/>
            <a:ext cx="73152" cy="1133856"/>
          </a:xfrm>
          <a:prstGeom prst="rect">
            <a:avLst/>
          </a:prstGeom>
          <a:solidFill>
            <a:srgbClr val="F4C757"/>
          </a:solidFill>
          <a:ln w="12700">
            <a:solidFill>
              <a:srgbClr val="F4C75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8" name="Text 24"/>
          <p:cNvSpPr/>
          <p:nvPr/>
        </p:nvSpPr>
        <p:spPr>
          <a:xfrm>
            <a:off x="7068312" y="376732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41B34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Extra maatregelen</a:t>
            </a:r>
            <a:endParaRPr lang="en-US" sz="1700" dirty="0"/>
          </a:p>
        </p:txBody>
      </p:sp>
      <p:sp>
        <p:nvSpPr>
          <p:cNvPr id="29" name="Text 25"/>
          <p:cNvSpPr/>
          <p:nvPr/>
        </p:nvSpPr>
        <p:spPr>
          <a:xfrm>
            <a:off x="7068312" y="3986784"/>
            <a:ext cx="41148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222222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Logging en monitoring op kritieke systemen inschakelen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222222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Leveranciers ook laten voldoen aan security-eisen</a:t>
            </a:r>
            <a:endParaRPr lang="en-US" sz="1320" dirty="0"/>
          </a:p>
        </p:txBody>
      </p:sp>
      <p:pic>
        <p:nvPicPr>
          <p:cNvPr id="30" name="Image 2" descr="/tmp/oai_slides/template/ppt/media/image7.jpeg"/>
          <p:cNvPicPr>
            <a:picLocks noChangeAspect="1"/>
          </p:cNvPicPr>
          <p:nvPr/>
        </p:nvPicPr>
        <p:blipFill>
          <a:blip r:embed="rId4"/>
          <a:srcRect t="22622" b="22622"/>
          <a:stretch/>
        </p:blipFill>
        <p:spPr>
          <a:xfrm>
            <a:off x="7589520" y="4919472"/>
            <a:ext cx="2880360" cy="1051560"/>
          </a:xfrm>
          <a:prstGeom prst="rect">
            <a:avLst/>
          </a:prstGeom>
        </p:spPr>
      </p:pic>
      <p:pic>
        <p:nvPicPr>
          <p:cNvPr id="32" name="Image 1" descr="/tmp/oai_slides/template/ppt/media/image3.png">
            <a:extLst>
              <a:ext uri="{FF2B5EF4-FFF2-40B4-BE49-F238E27FC236}">
                <a16:creationId xmlns:a16="http://schemas.microsoft.com/office/drawing/2014/main" id="{C79BD57D-B41E-0116-9914-76B2111991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90415" y="146303"/>
            <a:ext cx="1278497" cy="127849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D9D9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0">
            <a:extLst>
              <a:ext uri="{FF2B5EF4-FFF2-40B4-BE49-F238E27FC236}">
                <a16:creationId xmlns:a16="http://schemas.microsoft.com/office/drawing/2014/main" id="{AC6260F0-3B1A-FF8E-7247-7F4F97BB05DF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0">
                <a:srgbClr val="002060">
                  <a:lumMod val="98000"/>
                </a:srgbClr>
              </a:gs>
              <a:gs pos="74000">
                <a:schemeClr val="accent1">
                  <a:lumMod val="75000"/>
                </a:schemeClr>
              </a:gs>
              <a:gs pos="83000">
                <a:srgbClr val="0070C0"/>
              </a:gs>
              <a:gs pos="100000">
                <a:schemeClr val="accent4"/>
              </a:gs>
            </a:gsLst>
            <a:lin ang="5400000" scaled="1"/>
            <a:tileRect/>
          </a:gradFill>
          <a:ln w="12700">
            <a:solidFill>
              <a:srgbClr val="041B3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pic>
        <p:nvPicPr>
          <p:cNvPr id="5" name="Image 0" descr="/tmp/oai_slides/template/ppt/media/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99632"/>
            <a:ext cx="12191695" cy="65836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02920" y="310896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INTERVIEWPLAN WEERBAARHEID DIGITALE SYSTEMEN</a:t>
            </a:r>
            <a:endParaRPr lang="en-US" sz="2400" dirty="0"/>
          </a:p>
        </p:txBody>
      </p:sp>
      <p:sp>
        <p:nvSpPr>
          <p:cNvPr id="8" name="Shape 4"/>
          <p:cNvSpPr/>
          <p:nvPr/>
        </p:nvSpPr>
        <p:spPr>
          <a:xfrm>
            <a:off x="658368" y="1298448"/>
            <a:ext cx="3657600" cy="1600200"/>
          </a:xfrm>
          <a:prstGeom prst="roundRect">
            <a:avLst/>
          </a:prstGeom>
          <a:solidFill>
            <a:srgbClr val="EEF2F5"/>
          </a:solidFill>
          <a:ln w="12700">
            <a:solidFill>
              <a:srgbClr val="163554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9" name="Shape 5"/>
          <p:cNvSpPr/>
          <p:nvPr/>
        </p:nvSpPr>
        <p:spPr>
          <a:xfrm>
            <a:off x="676656" y="1371600"/>
            <a:ext cx="73152" cy="1453896"/>
          </a:xfrm>
          <a:prstGeom prst="rect">
            <a:avLst/>
          </a:prstGeom>
          <a:solidFill>
            <a:srgbClr val="F4C757"/>
          </a:solidFill>
          <a:ln w="12700">
            <a:solidFill>
              <a:srgbClr val="F4C75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0" name="Text 6"/>
          <p:cNvSpPr/>
          <p:nvPr/>
        </p:nvSpPr>
        <p:spPr>
          <a:xfrm>
            <a:off x="822960" y="138988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41B34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Doel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822960" y="1609344"/>
            <a:ext cx="338328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0" dirty="0">
                <a:solidFill>
                  <a:srgbClr val="222222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Inzicht krijgen in de huidige werkwijze, zwakke plekken signaleren, weerbaarheid beoordelen en verbetermaatregelen vaststellen.</a:t>
            </a:r>
            <a:endParaRPr lang="en-US" sz="1360" dirty="0"/>
          </a:p>
        </p:txBody>
      </p:sp>
      <p:sp>
        <p:nvSpPr>
          <p:cNvPr id="12" name="Shape 8"/>
          <p:cNvSpPr/>
          <p:nvPr/>
        </p:nvSpPr>
        <p:spPr>
          <a:xfrm>
            <a:off x="658368" y="3127248"/>
            <a:ext cx="3657600" cy="1965960"/>
          </a:xfrm>
          <a:prstGeom prst="roundRect">
            <a:avLst/>
          </a:prstGeom>
          <a:solidFill>
            <a:srgbClr val="EEF2F5"/>
          </a:solidFill>
          <a:ln w="12700">
            <a:solidFill>
              <a:srgbClr val="163554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13" name="Shape 9"/>
          <p:cNvSpPr/>
          <p:nvPr/>
        </p:nvSpPr>
        <p:spPr>
          <a:xfrm>
            <a:off x="676656" y="3200400"/>
            <a:ext cx="73152" cy="1819656"/>
          </a:xfrm>
          <a:prstGeom prst="rect">
            <a:avLst/>
          </a:prstGeom>
          <a:solidFill>
            <a:srgbClr val="163554"/>
          </a:solidFill>
          <a:ln w="12700">
            <a:solidFill>
              <a:srgbClr val="16355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4" name="Text 10"/>
          <p:cNvSpPr/>
          <p:nvPr/>
        </p:nvSpPr>
        <p:spPr>
          <a:xfrm>
            <a:off x="822960" y="321868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41B34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Doelgroep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822960" y="3438144"/>
            <a:ext cx="3383280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222222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• Ontwikkelaars / applicatiebeheerders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222222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• Systeem- en netwerkbeheerders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222222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• OT-beheerders / engineers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222222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• Manager IT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222222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• Security &amp; Privacy Officer</a:t>
            </a:r>
            <a:endParaRPr lang="en-US" sz="1320" dirty="0"/>
          </a:p>
        </p:txBody>
      </p:sp>
      <p:sp>
        <p:nvSpPr>
          <p:cNvPr id="16" name="Shape 12"/>
          <p:cNvSpPr/>
          <p:nvPr/>
        </p:nvSpPr>
        <p:spPr>
          <a:xfrm>
            <a:off x="4572000" y="1298448"/>
            <a:ext cx="6903720" cy="4069080"/>
          </a:xfrm>
          <a:prstGeom prst="roundRect">
            <a:avLst/>
          </a:prstGeom>
          <a:solidFill>
            <a:srgbClr val="EEF2F5"/>
          </a:solidFill>
          <a:ln w="12700">
            <a:solidFill>
              <a:srgbClr val="163554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17" name="Shape 13"/>
          <p:cNvSpPr/>
          <p:nvPr/>
        </p:nvSpPr>
        <p:spPr>
          <a:xfrm>
            <a:off x="4590288" y="1371600"/>
            <a:ext cx="73152" cy="3922776"/>
          </a:xfrm>
          <a:prstGeom prst="rect">
            <a:avLst/>
          </a:prstGeom>
          <a:solidFill>
            <a:srgbClr val="F4C757"/>
          </a:solidFill>
          <a:ln w="12700">
            <a:solidFill>
              <a:srgbClr val="F4C75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8" name="Text 14"/>
          <p:cNvSpPr/>
          <p:nvPr/>
        </p:nvSpPr>
        <p:spPr>
          <a:xfrm>
            <a:off x="4974336" y="1389888"/>
            <a:ext cx="6391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41B34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Voorbeeldvragen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4736592" y="1609344"/>
            <a:ext cx="662940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222222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1. Hoe worden wijzigingen aan systemen of applicaties getest?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222222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2. Wordt security vooraf meegenomen bij nieuwe software of updates?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222222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3. Hoe zijn toegangsrechten geregeld?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222222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4. Worden logs gecontroleerd en afwijkingen opgevolgd?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222222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5. Hoe worden back-ups getest?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222222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6. Welke maatregelen voorkomen dat IT-incidenten doorwerken naar OT?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222222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7. Hoe is externe toegang van leveranciers beveiligd?</a:t>
            </a:r>
            <a:endParaRPr lang="en-US" sz="1320" dirty="0"/>
          </a:p>
        </p:txBody>
      </p:sp>
      <p:sp>
        <p:nvSpPr>
          <p:cNvPr id="20" name="Text 16"/>
          <p:cNvSpPr/>
          <p:nvPr/>
        </p:nvSpPr>
        <p:spPr>
          <a:xfrm>
            <a:off x="868680" y="5504688"/>
            <a:ext cx="10378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i="1" dirty="0">
                <a:solidFill>
                  <a:srgbClr val="163554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Resultaat: de uitkomsten laten zien welke maatregelen al op orde zijn en waar extra verbeteringen nodig zijn.</a:t>
            </a:r>
            <a:endParaRPr lang="en-US" sz="1320" dirty="0"/>
          </a:p>
        </p:txBody>
      </p:sp>
      <p:pic>
        <p:nvPicPr>
          <p:cNvPr id="22" name="Image 1" descr="/tmp/oai_slides/template/ppt/media/image3.png">
            <a:extLst>
              <a:ext uri="{FF2B5EF4-FFF2-40B4-BE49-F238E27FC236}">
                <a16:creationId xmlns:a16="http://schemas.microsoft.com/office/drawing/2014/main" id="{205CA57F-C129-B24A-81B4-3DD3206C38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0415" y="146303"/>
            <a:ext cx="1278497" cy="127849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D9D9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0">
            <a:extLst>
              <a:ext uri="{FF2B5EF4-FFF2-40B4-BE49-F238E27FC236}">
                <a16:creationId xmlns:a16="http://schemas.microsoft.com/office/drawing/2014/main" id="{D43EAAB6-F1C7-335B-638E-04BA3F9865A1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0">
                <a:srgbClr val="002060">
                  <a:lumMod val="98000"/>
                </a:srgbClr>
              </a:gs>
              <a:gs pos="74000">
                <a:schemeClr val="accent1">
                  <a:lumMod val="75000"/>
                </a:schemeClr>
              </a:gs>
              <a:gs pos="83000">
                <a:srgbClr val="0070C0"/>
              </a:gs>
              <a:gs pos="100000">
                <a:schemeClr val="accent4"/>
              </a:gs>
            </a:gsLst>
            <a:lin ang="5400000" scaled="1"/>
            <a:tileRect/>
          </a:gradFill>
          <a:ln w="12700">
            <a:solidFill>
              <a:srgbClr val="041B3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pic>
        <p:nvPicPr>
          <p:cNvPr id="5" name="Image 0" descr="/tmp/oai_slides/template/ppt/media/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99632"/>
            <a:ext cx="12191695" cy="658368"/>
          </a:xfrm>
          <a:prstGeom prst="rect">
            <a:avLst/>
          </a:prstGeom>
        </p:spPr>
      </p:pic>
      <p:pic>
        <p:nvPicPr>
          <p:cNvPr id="6" name="Image 1" descr="/tmp/oai_slides/template/ppt/media/image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0415" y="146303"/>
            <a:ext cx="1278497" cy="127849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02920" y="310896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CONCLUSIE</a:t>
            </a:r>
            <a:endParaRPr lang="en-US" sz="2800" dirty="0"/>
          </a:p>
        </p:txBody>
      </p:sp>
      <p:sp>
        <p:nvSpPr>
          <p:cNvPr id="9" name="Shape 4"/>
          <p:cNvSpPr/>
          <p:nvPr/>
        </p:nvSpPr>
        <p:spPr>
          <a:xfrm>
            <a:off x="868680" y="1572768"/>
            <a:ext cx="7406640" cy="960120"/>
          </a:xfrm>
          <a:prstGeom prst="roundRect">
            <a:avLst/>
          </a:prstGeom>
          <a:solidFill>
            <a:srgbClr val="EEF2F5"/>
          </a:solidFill>
          <a:ln w="12700">
            <a:solidFill>
              <a:srgbClr val="F4C757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10" name="Shape 5"/>
          <p:cNvSpPr/>
          <p:nvPr/>
        </p:nvSpPr>
        <p:spPr>
          <a:xfrm>
            <a:off x="1060704" y="1810512"/>
            <a:ext cx="420624" cy="420624"/>
          </a:xfrm>
          <a:prstGeom prst="ellipse">
            <a:avLst/>
          </a:prstGeom>
          <a:solidFill>
            <a:srgbClr val="F4C757"/>
          </a:solidFill>
          <a:ln w="12700">
            <a:solidFill>
              <a:srgbClr val="F4C75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1" name="Text 6"/>
          <p:cNvSpPr/>
          <p:nvPr/>
        </p:nvSpPr>
        <p:spPr>
          <a:xfrm>
            <a:off x="1060704" y="18105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41B34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7"/>
          <p:cNvSpPr/>
          <p:nvPr/>
        </p:nvSpPr>
        <p:spPr>
          <a:xfrm>
            <a:off x="1664208" y="1719072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41B34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Brede attack surface</a:t>
            </a:r>
            <a:endParaRPr lang="en-US" sz="1700" dirty="0"/>
          </a:p>
        </p:txBody>
      </p:sp>
      <p:sp>
        <p:nvSpPr>
          <p:cNvPr id="13" name="Text 8"/>
          <p:cNvSpPr/>
          <p:nvPr/>
        </p:nvSpPr>
        <p:spPr>
          <a:xfrm>
            <a:off x="1664208" y="1984248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222222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De combinatie van IT en OT, zwakke segmentatie en beperkte security awareness zorgt voor hoge risico’s.</a:t>
            </a:r>
            <a:endParaRPr lang="en-US" sz="1320" dirty="0"/>
          </a:p>
        </p:txBody>
      </p:sp>
      <p:sp>
        <p:nvSpPr>
          <p:cNvPr id="14" name="Shape 9"/>
          <p:cNvSpPr/>
          <p:nvPr/>
        </p:nvSpPr>
        <p:spPr>
          <a:xfrm>
            <a:off x="868680" y="2743200"/>
            <a:ext cx="7406640" cy="960120"/>
          </a:xfrm>
          <a:prstGeom prst="roundRect">
            <a:avLst/>
          </a:prstGeom>
          <a:solidFill>
            <a:srgbClr val="EEF2F5"/>
          </a:solidFill>
          <a:ln w="12700">
            <a:solidFill>
              <a:srgbClr val="F4C757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15" name="Shape 10"/>
          <p:cNvSpPr/>
          <p:nvPr/>
        </p:nvSpPr>
        <p:spPr>
          <a:xfrm>
            <a:off x="1060704" y="2980944"/>
            <a:ext cx="420624" cy="420624"/>
          </a:xfrm>
          <a:prstGeom prst="ellipse">
            <a:avLst/>
          </a:prstGeom>
          <a:solidFill>
            <a:srgbClr val="F4C757"/>
          </a:solidFill>
          <a:ln w="12700">
            <a:solidFill>
              <a:srgbClr val="F4C75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6" name="Text 11"/>
          <p:cNvSpPr/>
          <p:nvPr/>
        </p:nvSpPr>
        <p:spPr>
          <a:xfrm>
            <a:off x="1060704" y="29809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41B34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1664208" y="2889504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41B34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Huidig niveau: CMMI 1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664208" y="3154680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222222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Billy Bonka moet doorgroeien naar minimaal niveau 3 met formele en herhaalbare processen.</a:t>
            </a:r>
            <a:endParaRPr lang="en-US" sz="1320" dirty="0"/>
          </a:p>
        </p:txBody>
      </p:sp>
      <p:sp>
        <p:nvSpPr>
          <p:cNvPr id="19" name="Shape 14"/>
          <p:cNvSpPr/>
          <p:nvPr/>
        </p:nvSpPr>
        <p:spPr>
          <a:xfrm>
            <a:off x="868680" y="3913632"/>
            <a:ext cx="7406640" cy="960120"/>
          </a:xfrm>
          <a:prstGeom prst="roundRect">
            <a:avLst/>
          </a:prstGeom>
          <a:solidFill>
            <a:srgbClr val="EEF2F5"/>
          </a:solidFill>
          <a:ln w="12700">
            <a:solidFill>
              <a:srgbClr val="F4C757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20" name="Shape 15"/>
          <p:cNvSpPr/>
          <p:nvPr/>
        </p:nvSpPr>
        <p:spPr>
          <a:xfrm>
            <a:off x="1060704" y="4151376"/>
            <a:ext cx="420624" cy="420624"/>
          </a:xfrm>
          <a:prstGeom prst="ellipse">
            <a:avLst/>
          </a:prstGeom>
          <a:solidFill>
            <a:srgbClr val="F4C757"/>
          </a:solidFill>
          <a:ln w="12700">
            <a:solidFill>
              <a:srgbClr val="F4C75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1" name="Text 16"/>
          <p:cNvSpPr/>
          <p:nvPr/>
        </p:nvSpPr>
        <p:spPr>
          <a:xfrm>
            <a:off x="1060704" y="41513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41B34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17"/>
          <p:cNvSpPr/>
          <p:nvPr/>
        </p:nvSpPr>
        <p:spPr>
          <a:xfrm>
            <a:off x="1664208" y="4059936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41B34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Gefaseerde aanpak nodig</a:t>
            </a:r>
            <a:endParaRPr lang="en-US" sz="1700" dirty="0"/>
          </a:p>
        </p:txBody>
      </p:sp>
      <p:sp>
        <p:nvSpPr>
          <p:cNvPr id="23" name="Text 18"/>
          <p:cNvSpPr/>
          <p:nvPr/>
        </p:nvSpPr>
        <p:spPr>
          <a:xfrm>
            <a:off x="1664208" y="4325112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222222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Combineer snelle technische verbeteringen met organisatorische borging om digitale weerbaarheid te vergroten.</a:t>
            </a:r>
            <a:endParaRPr lang="en-US" sz="1320" dirty="0"/>
          </a:p>
        </p:txBody>
      </p:sp>
      <p:sp>
        <p:nvSpPr>
          <p:cNvPr id="24" name="Text 19"/>
          <p:cNvSpPr/>
          <p:nvPr/>
        </p:nvSpPr>
        <p:spPr>
          <a:xfrm>
            <a:off x="8321040" y="443484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chemeClr val="bg1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Bedankt voor jullie aandacht</a:t>
            </a:r>
            <a:endParaRPr lang="en-US" sz="2100" dirty="0">
              <a:solidFill>
                <a:schemeClr val="bg1"/>
              </a:solidFill>
            </a:endParaRPr>
          </a:p>
        </p:txBody>
      </p:sp>
      <p:sp>
        <p:nvSpPr>
          <p:cNvPr id="25" name="Text 20"/>
          <p:cNvSpPr/>
          <p:nvPr/>
        </p:nvSpPr>
        <p:spPr>
          <a:xfrm>
            <a:off x="8321040" y="491032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 err="1">
                <a:solidFill>
                  <a:srgbClr val="C79B2E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Zijn</a:t>
            </a:r>
            <a:r>
              <a:rPr lang="en-US" sz="1800" dirty="0">
                <a:solidFill>
                  <a:srgbClr val="C79B2E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 er </a:t>
            </a:r>
            <a:r>
              <a:rPr lang="en-US" sz="1800" dirty="0" err="1">
                <a:solidFill>
                  <a:srgbClr val="C79B2E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nog</a:t>
            </a:r>
            <a:r>
              <a:rPr lang="en-US" sz="1800" dirty="0">
                <a:solidFill>
                  <a:srgbClr val="C79B2E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 </a:t>
            </a:r>
            <a:r>
              <a:rPr lang="en-US" dirty="0" err="1">
                <a:solidFill>
                  <a:srgbClr val="C79B2E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v</a:t>
            </a:r>
            <a:r>
              <a:rPr lang="en-US" sz="1800" dirty="0" err="1">
                <a:solidFill>
                  <a:srgbClr val="C79B2E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ragen</a:t>
            </a:r>
            <a:r>
              <a:rPr lang="en-US" sz="1800" dirty="0">
                <a:solidFill>
                  <a:srgbClr val="C79B2E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ill Sans M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Gill Sans M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184AD865079C64FB2A1609C0E278A07" ma:contentTypeVersion="8" ma:contentTypeDescription="Een nieuw document maken." ma:contentTypeScope="" ma:versionID="007c038766a1c56a306316f999624245">
  <xsd:schema xmlns:xsd="http://www.w3.org/2001/XMLSchema" xmlns:xs="http://www.w3.org/2001/XMLSchema" xmlns:p="http://schemas.microsoft.com/office/2006/metadata/properties" xmlns:ns2="81db8cb5-9360-48f0-9784-c515b20ec4ce" targetNamespace="http://schemas.microsoft.com/office/2006/metadata/properties" ma:root="true" ma:fieldsID="505556352b862a5ce3d16ad6cdefa105" ns2:_="">
    <xsd:import namespace="81db8cb5-9360-48f0-9784-c515b20ec4c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db8cb5-9360-48f0-9784-c515b20ec4c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6BBF668-05B2-43C6-B655-BABD91741CF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469C74B-3107-4A2A-B228-74C9D73E154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1db8cb5-9360-48f0-9784-c515b20ec4c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4B55090-C436-43C5-9363-5D52BCAF8AF5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1007</Words>
  <Application>Microsoft Office PowerPoint</Application>
  <PresentationFormat>Breedbeeld</PresentationFormat>
  <Paragraphs>225</Paragraphs>
  <Slides>12</Slides>
  <Notes>12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2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12</vt:i4>
      </vt:variant>
    </vt:vector>
  </HeadingPairs>
  <TitlesOfParts>
    <vt:vector size="15" baseType="lpstr">
      <vt:lpstr>Arial</vt:lpstr>
      <vt:lpstr>Gill Sans MT</vt:lpstr>
      <vt:lpstr>Office Theme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Technisch en organisatorisch verbeterplan - Billy Bonka B.V.</dc:title>
  <dc:subject>Technisch en organisatorisch verbeterplan</dc:subject>
  <dc:creator>OpenAI</dc:creator>
  <cp:lastModifiedBy>Bavli Armanyous</cp:lastModifiedBy>
  <cp:revision>3</cp:revision>
  <dcterms:created xsi:type="dcterms:W3CDTF">2026-03-18T22:31:37Z</dcterms:created>
  <dcterms:modified xsi:type="dcterms:W3CDTF">2026-03-22T18:34:43Z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0x0101008184AD865079C64FB2A1609C0E278A07</vt:lpwstr>
  </property>
</Properties>
</file>