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B8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288"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vli Armanyous" userId="2614e947-2a9c-4f9a-b146-f5ffa7aca4cc" providerId="ADAL" clId="{F9025844-0D46-4D37-8C74-FC46BD0E6BF2}"/>
    <pc:docChg chg="undo custSel modSld sldOrd">
      <pc:chgData name="Bavli Armanyous" userId="2614e947-2a9c-4f9a-b146-f5ffa7aca4cc" providerId="ADAL" clId="{F9025844-0D46-4D37-8C74-FC46BD0E6BF2}" dt="2026-03-21T23:19:26.586" v="43"/>
      <pc:docMkLst>
        <pc:docMk/>
      </pc:docMkLst>
      <pc:sldChg chg="modSp mod">
        <pc:chgData name="Bavli Armanyous" userId="2614e947-2a9c-4f9a-b146-f5ffa7aca4cc" providerId="ADAL" clId="{F9025844-0D46-4D37-8C74-FC46BD0E6BF2}" dt="2026-03-21T23:14:46.896" v="0" actId="207"/>
        <pc:sldMkLst>
          <pc:docMk/>
          <pc:sldMk cId="0" sldId="256"/>
        </pc:sldMkLst>
        <pc:spChg chg="mod">
          <ac:chgData name="Bavli Armanyous" userId="2614e947-2a9c-4f9a-b146-f5ffa7aca4cc" providerId="ADAL" clId="{F9025844-0D46-4D37-8C74-FC46BD0E6BF2}" dt="2026-03-21T23:14:46.896" v="0" actId="207"/>
          <ac:spMkLst>
            <pc:docMk/>
            <pc:sldMk cId="0" sldId="256"/>
            <ac:spMk id="7" creationId="{00000000-0000-0000-0000-000000000000}"/>
          </ac:spMkLst>
        </pc:spChg>
        <pc:spChg chg="mod">
          <ac:chgData name="Bavli Armanyous" userId="2614e947-2a9c-4f9a-b146-f5ffa7aca4cc" providerId="ADAL" clId="{F9025844-0D46-4D37-8C74-FC46BD0E6BF2}" dt="2026-03-21T23:14:46.896" v="0" actId="207"/>
          <ac:spMkLst>
            <pc:docMk/>
            <pc:sldMk cId="0" sldId="256"/>
            <ac:spMk id="8" creationId="{00000000-0000-0000-0000-000000000000}"/>
          </ac:spMkLst>
        </pc:spChg>
      </pc:sldChg>
      <pc:sldChg chg="modSp mod">
        <pc:chgData name="Bavli Armanyous" userId="2614e947-2a9c-4f9a-b146-f5ffa7aca4cc" providerId="ADAL" clId="{F9025844-0D46-4D37-8C74-FC46BD0E6BF2}" dt="2026-03-21T23:15:18.421" v="4" actId="1076"/>
        <pc:sldMkLst>
          <pc:docMk/>
          <pc:sldMk cId="0" sldId="258"/>
        </pc:sldMkLst>
        <pc:spChg chg="mod">
          <ac:chgData name="Bavli Armanyous" userId="2614e947-2a9c-4f9a-b146-f5ffa7aca4cc" providerId="ADAL" clId="{F9025844-0D46-4D37-8C74-FC46BD0E6BF2}" dt="2026-03-21T23:15:18.421" v="4" actId="1076"/>
          <ac:spMkLst>
            <pc:docMk/>
            <pc:sldMk cId="0" sldId="258"/>
            <ac:spMk id="25" creationId="{00000000-0000-0000-0000-000000000000}"/>
          </ac:spMkLst>
        </pc:spChg>
        <pc:picChg chg="mod">
          <ac:chgData name="Bavli Armanyous" userId="2614e947-2a9c-4f9a-b146-f5ffa7aca4cc" providerId="ADAL" clId="{F9025844-0D46-4D37-8C74-FC46BD0E6BF2}" dt="2026-03-21T23:15:07.013" v="3" actId="34135"/>
          <ac:picMkLst>
            <pc:docMk/>
            <pc:sldMk cId="0" sldId="258"/>
            <ac:picMk id="2" creationId="{00000000-0000-0000-0000-000000000000}"/>
          </ac:picMkLst>
        </pc:picChg>
      </pc:sldChg>
      <pc:sldChg chg="delSp modSp mod">
        <pc:chgData name="Bavli Armanyous" userId="2614e947-2a9c-4f9a-b146-f5ffa7aca4cc" providerId="ADAL" clId="{F9025844-0D46-4D37-8C74-FC46BD0E6BF2}" dt="2026-03-21T23:15:52.064" v="8" actId="478"/>
        <pc:sldMkLst>
          <pc:docMk/>
          <pc:sldMk cId="0" sldId="259"/>
        </pc:sldMkLst>
        <pc:spChg chg="mod">
          <ac:chgData name="Bavli Armanyous" userId="2614e947-2a9c-4f9a-b146-f5ffa7aca4cc" providerId="ADAL" clId="{F9025844-0D46-4D37-8C74-FC46BD0E6BF2}" dt="2026-03-21T23:15:47.055" v="7" actId="34135"/>
          <ac:spMkLst>
            <pc:docMk/>
            <pc:sldMk cId="0" sldId="259"/>
            <ac:spMk id="53" creationId="{00000000-0000-0000-0000-000000000000}"/>
          </ac:spMkLst>
        </pc:spChg>
        <pc:spChg chg="del mod">
          <ac:chgData name="Bavli Armanyous" userId="2614e947-2a9c-4f9a-b146-f5ffa7aca4cc" providerId="ADAL" clId="{F9025844-0D46-4D37-8C74-FC46BD0E6BF2}" dt="2026-03-21T23:15:52.064" v="8" actId="478"/>
          <ac:spMkLst>
            <pc:docMk/>
            <pc:sldMk cId="0" sldId="259"/>
            <ac:spMk id="54" creationId="{00000000-0000-0000-0000-000000000000}"/>
          </ac:spMkLst>
        </pc:spChg>
      </pc:sldChg>
      <pc:sldChg chg="modSp mod">
        <pc:chgData name="Bavli Armanyous" userId="2614e947-2a9c-4f9a-b146-f5ffa7aca4cc" providerId="ADAL" clId="{F9025844-0D46-4D37-8C74-FC46BD0E6BF2}" dt="2026-03-21T23:16:11.188" v="11" actId="34135"/>
        <pc:sldMkLst>
          <pc:docMk/>
          <pc:sldMk cId="0" sldId="260"/>
        </pc:sldMkLst>
        <pc:spChg chg="mod">
          <ac:chgData name="Bavli Armanyous" userId="2614e947-2a9c-4f9a-b146-f5ffa7aca4cc" providerId="ADAL" clId="{F9025844-0D46-4D37-8C74-FC46BD0E6BF2}" dt="2026-03-21T23:16:11.188" v="11" actId="34135"/>
          <ac:spMkLst>
            <pc:docMk/>
            <pc:sldMk cId="0" sldId="260"/>
            <ac:spMk id="44" creationId="{00000000-0000-0000-0000-000000000000}"/>
          </ac:spMkLst>
        </pc:spChg>
        <pc:spChg chg="mod">
          <ac:chgData name="Bavli Armanyous" userId="2614e947-2a9c-4f9a-b146-f5ffa7aca4cc" providerId="ADAL" clId="{F9025844-0D46-4D37-8C74-FC46BD0E6BF2}" dt="2026-03-21T23:16:02.421" v="9" actId="1076"/>
          <ac:spMkLst>
            <pc:docMk/>
            <pc:sldMk cId="0" sldId="260"/>
            <ac:spMk id="45" creationId="{00000000-0000-0000-0000-000000000000}"/>
          </ac:spMkLst>
        </pc:spChg>
      </pc:sldChg>
      <pc:sldChg chg="modSp mod">
        <pc:chgData name="Bavli Armanyous" userId="2614e947-2a9c-4f9a-b146-f5ffa7aca4cc" providerId="ADAL" clId="{F9025844-0D46-4D37-8C74-FC46BD0E6BF2}" dt="2026-03-21T23:17:23.018" v="20" actId="1076"/>
        <pc:sldMkLst>
          <pc:docMk/>
          <pc:sldMk cId="0" sldId="261"/>
        </pc:sldMkLst>
        <pc:spChg chg="mod">
          <ac:chgData name="Bavli Armanyous" userId="2614e947-2a9c-4f9a-b146-f5ffa7aca4cc" providerId="ADAL" clId="{F9025844-0D46-4D37-8C74-FC46BD0E6BF2}" dt="2026-03-21T23:16:59.695" v="15" actId="14100"/>
          <ac:spMkLst>
            <pc:docMk/>
            <pc:sldMk cId="0" sldId="261"/>
            <ac:spMk id="9" creationId="{00000000-0000-0000-0000-000000000000}"/>
          </ac:spMkLst>
        </pc:spChg>
        <pc:spChg chg="mod">
          <ac:chgData name="Bavli Armanyous" userId="2614e947-2a9c-4f9a-b146-f5ffa7aca4cc" providerId="ADAL" clId="{F9025844-0D46-4D37-8C74-FC46BD0E6BF2}" dt="2026-03-21T23:17:14.898" v="19" actId="1076"/>
          <ac:spMkLst>
            <pc:docMk/>
            <pc:sldMk cId="0" sldId="261"/>
            <ac:spMk id="15" creationId="{00000000-0000-0000-0000-000000000000}"/>
          </ac:spMkLst>
        </pc:spChg>
        <pc:spChg chg="mod">
          <ac:chgData name="Bavli Armanyous" userId="2614e947-2a9c-4f9a-b146-f5ffa7aca4cc" providerId="ADAL" clId="{F9025844-0D46-4D37-8C74-FC46BD0E6BF2}" dt="2026-03-21T23:17:23.018" v="20" actId="1076"/>
          <ac:spMkLst>
            <pc:docMk/>
            <pc:sldMk cId="0" sldId="261"/>
            <ac:spMk id="20" creationId="{00000000-0000-0000-0000-000000000000}"/>
          </ac:spMkLst>
        </pc:spChg>
        <pc:spChg chg="mod">
          <ac:chgData name="Bavli Armanyous" userId="2614e947-2a9c-4f9a-b146-f5ffa7aca4cc" providerId="ADAL" clId="{F9025844-0D46-4D37-8C74-FC46BD0E6BF2}" dt="2026-03-21T23:17:05.664" v="16" actId="14100"/>
          <ac:spMkLst>
            <pc:docMk/>
            <pc:sldMk cId="0" sldId="261"/>
            <ac:spMk id="25" creationId="{00000000-0000-0000-0000-000000000000}"/>
          </ac:spMkLst>
        </pc:spChg>
        <pc:spChg chg="mod">
          <ac:chgData name="Bavli Armanyous" userId="2614e947-2a9c-4f9a-b146-f5ffa7aca4cc" providerId="ADAL" clId="{F9025844-0D46-4D37-8C74-FC46BD0E6BF2}" dt="2026-03-21T23:17:09.584" v="17" actId="14100"/>
          <ac:spMkLst>
            <pc:docMk/>
            <pc:sldMk cId="0" sldId="261"/>
            <ac:spMk id="30" creationId="{00000000-0000-0000-0000-000000000000}"/>
          </ac:spMkLst>
        </pc:spChg>
        <pc:spChg chg="mod">
          <ac:chgData name="Bavli Armanyous" userId="2614e947-2a9c-4f9a-b146-f5ffa7aca4cc" providerId="ADAL" clId="{F9025844-0D46-4D37-8C74-FC46BD0E6BF2}" dt="2026-03-21T23:16:48.120" v="14" actId="14100"/>
          <ac:spMkLst>
            <pc:docMk/>
            <pc:sldMk cId="0" sldId="261"/>
            <ac:spMk id="35" creationId="{00000000-0000-0000-0000-000000000000}"/>
          </ac:spMkLst>
        </pc:spChg>
        <pc:spChg chg="mod">
          <ac:chgData name="Bavli Armanyous" userId="2614e947-2a9c-4f9a-b146-f5ffa7aca4cc" providerId="ADAL" clId="{F9025844-0D46-4D37-8C74-FC46BD0E6BF2}" dt="2026-03-21T23:16:24.258" v="12" actId="207"/>
          <ac:spMkLst>
            <pc:docMk/>
            <pc:sldMk cId="0" sldId="261"/>
            <ac:spMk id="37" creationId="{00000000-0000-0000-0000-000000000000}"/>
          </ac:spMkLst>
        </pc:spChg>
      </pc:sldChg>
      <pc:sldChg chg="modSp mod">
        <pc:chgData name="Bavli Armanyous" userId="2614e947-2a9c-4f9a-b146-f5ffa7aca4cc" providerId="ADAL" clId="{F9025844-0D46-4D37-8C74-FC46BD0E6BF2}" dt="2026-03-21T23:18:18.196" v="31" actId="404"/>
        <pc:sldMkLst>
          <pc:docMk/>
          <pc:sldMk cId="0" sldId="262"/>
        </pc:sldMkLst>
        <pc:spChg chg="mod">
          <ac:chgData name="Bavli Armanyous" userId="2614e947-2a9c-4f9a-b146-f5ffa7aca4cc" providerId="ADAL" clId="{F9025844-0D46-4D37-8C74-FC46BD0E6BF2}" dt="2026-03-21T23:18:18.196" v="31" actId="404"/>
          <ac:spMkLst>
            <pc:docMk/>
            <pc:sldMk cId="0" sldId="262"/>
            <ac:spMk id="4" creationId="{00000000-0000-0000-0000-000000000000}"/>
          </ac:spMkLst>
        </pc:spChg>
      </pc:sldChg>
      <pc:sldChg chg="modSp mod ord">
        <pc:chgData name="Bavli Armanyous" userId="2614e947-2a9c-4f9a-b146-f5ffa7aca4cc" providerId="ADAL" clId="{F9025844-0D46-4D37-8C74-FC46BD0E6BF2}" dt="2026-03-21T23:19:26.586" v="43"/>
        <pc:sldMkLst>
          <pc:docMk/>
          <pc:sldMk cId="0" sldId="263"/>
        </pc:sldMkLst>
        <pc:spChg chg="mod">
          <ac:chgData name="Bavli Armanyous" userId="2614e947-2a9c-4f9a-b146-f5ffa7aca4cc" providerId="ADAL" clId="{F9025844-0D46-4D37-8C74-FC46BD0E6BF2}" dt="2026-03-21T23:19:02.215" v="39" actId="14100"/>
          <ac:spMkLst>
            <pc:docMk/>
            <pc:sldMk cId="0" sldId="263"/>
            <ac:spMk id="20" creationId="{00000000-0000-0000-0000-000000000000}"/>
          </ac:spMkLst>
        </pc:spChg>
        <pc:spChg chg="mod">
          <ac:chgData name="Bavli Armanyous" userId="2614e947-2a9c-4f9a-b146-f5ffa7aca4cc" providerId="ADAL" clId="{F9025844-0D46-4D37-8C74-FC46BD0E6BF2}" dt="2026-03-21T23:18:55.370" v="36" actId="207"/>
          <ac:spMkLst>
            <pc:docMk/>
            <pc:sldMk cId="0" sldId="263"/>
            <ac:spMk id="21" creationId="{00000000-0000-0000-0000-000000000000}"/>
          </ac:spMkLst>
        </pc:spChg>
        <pc:spChg chg="mod">
          <ac:chgData name="Bavli Armanyous" userId="2614e947-2a9c-4f9a-b146-f5ffa7aca4cc" providerId="ADAL" clId="{F9025844-0D46-4D37-8C74-FC46BD0E6BF2}" dt="2026-03-21T23:18:34.121" v="33" actId="122"/>
          <ac:spMkLst>
            <pc:docMk/>
            <pc:sldMk cId="0" sldId="263"/>
            <ac:spMk id="22" creationId="{00000000-0000-0000-0000-000000000000}"/>
          </ac:spMkLst>
        </pc:spChg>
        <pc:picChg chg="mod">
          <ac:chgData name="Bavli Armanyous" userId="2614e947-2a9c-4f9a-b146-f5ffa7aca4cc" providerId="ADAL" clId="{F9025844-0D46-4D37-8C74-FC46BD0E6BF2}" dt="2026-03-21T23:19:00.388" v="38" actId="1076"/>
          <ac:picMkLst>
            <pc:docMk/>
            <pc:sldMk cId="0" sldId="263"/>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5301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Visual template adapted from user-provided Technisch_en_organisatorisch_verbeterplan_Billy_Bonka.pptx.
- Content based on user-provided Kick-off opdracht.docx and Hoppenbrouwers/Kaseya case materials.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Question structure from user-provided Kick-off opdracht.docx.
- Visual template adapted from user-provided Technisch_en_organisatorisch_verbeterplan_Billy_Bonka.pptx.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Casus and timeline based on user-provided Kick-off opdracht.docx.
- Incident context cross-checked against user-provided 2022_HACK-ebook.pdf and Hoppenbrouwers guest presentation PDF.
- Visual template adapted from user-provided Technisch_en_organisatorisch_verbeterplan_Billy_Bonka.pptx.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Question 1 answer based on user-provided Kick-off opdracht.docx.
- Roles and crisis-lead framing supported by user-provided Hoppenbrouwers guest presentation notes and HACK ebook.
- Visual template adapted from user-provided Technisch_en_organisatorisch_verbeterplan_Billy_Bonka.pptx.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Question 2 structure based on user-provided Kick-off opdracht.docx.
- Technical/organizational/strategic measures supported by user-provided Hoppenbrouwers guest presentation and 2022_HACK-ebook.pdf.
- Visual template adapted from user-provided Technisch_en_organisatorisch_verbeterplan_Billy_Bonka.pptx.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Question 2 sequencing, management role and RTO/RPO framing based on user-provided Kick-off opdracht.docx.
- RTO/RPO and recovery emphasis supported by user-provided Hoppenbrouwers case materials.
- Visual template adapted from user-provided Technisch_en_organisatorisch_verbeterplan_Billy_Bonka.pptx.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Question 3 answer based on user-provided Kick-off opdracht.docx.
- Improvement ideas aligned with user-provided Hoppenbrouwers guest presentation and HACK ebook.
- Visual template adapted from user-provided Technisch_en_organisatorisch_verbeterplan_Billy_Bonka.pptx.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Conclusion synthesizes answers from user-provided Kick-off opdracht.docx and Hoppenbrouwers case materials.
- Visual template adapted from user-provided Technisch_en_organisatorisch_verbeterplan_Billy_Bonka.pptx.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Source list comes directly from user-provided files uploaded in this conversation.
- Visual template adapted from user-provided Technisch_en_organisatorisch_verbeterplan_Billy_Bonka.pptx.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Technisch_en_organisatorisch_verbeterplan_Billy_Bonka/slide-1.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411480" y="320040"/>
            <a:ext cx="4526280" cy="2377440"/>
          </a:xfrm>
          <a:prstGeom prst="rect">
            <a:avLst/>
          </a:prstGeom>
          <a:solidFill>
            <a:srgbClr val="103781"/>
          </a:solidFill>
          <a:ln w="12700">
            <a:solidFill>
              <a:srgbClr val="103781">
                <a:alpha val="0"/>
              </a:srgbClr>
            </a:solidFill>
            <a:prstDash val="solid"/>
          </a:ln>
        </p:spPr>
        <p:txBody>
          <a:bodyPr/>
          <a:lstStyle/>
          <a:p>
            <a:endParaRPr lang="nl-NL"/>
          </a:p>
        </p:txBody>
      </p:sp>
      <p:sp>
        <p:nvSpPr>
          <p:cNvPr id="4" name="Shape 1"/>
          <p:cNvSpPr/>
          <p:nvPr/>
        </p:nvSpPr>
        <p:spPr>
          <a:xfrm>
            <a:off x="411480" y="5138928"/>
            <a:ext cx="4389120" cy="713232"/>
          </a:xfrm>
          <a:prstGeom prst="rect">
            <a:avLst/>
          </a:prstGeom>
          <a:solidFill>
            <a:srgbClr val="2E5796"/>
          </a:solidFill>
          <a:ln w="12700">
            <a:solidFill>
              <a:srgbClr val="2E5796">
                <a:alpha val="0"/>
              </a:srgbClr>
            </a:solidFill>
            <a:prstDash val="solid"/>
          </a:ln>
        </p:spPr>
        <p:txBody>
          <a:bodyPr/>
          <a:lstStyle/>
          <a:p>
            <a:endParaRPr lang="nl-NL"/>
          </a:p>
        </p:txBody>
      </p:sp>
      <p:sp>
        <p:nvSpPr>
          <p:cNvPr id="5" name="Text 2"/>
          <p:cNvSpPr/>
          <p:nvPr/>
        </p:nvSpPr>
        <p:spPr>
          <a:xfrm>
            <a:off x="640080" y="475488"/>
            <a:ext cx="4206240" cy="1874520"/>
          </a:xfrm>
          <a:prstGeom prst="rect">
            <a:avLst/>
          </a:prstGeom>
          <a:noFill/>
          <a:ln/>
        </p:spPr>
        <p:txBody>
          <a:bodyPr wrap="square" lIns="0" tIns="0" rIns="0" bIns="0" rtlCol="0" anchor="ctr"/>
          <a:lstStyle/>
          <a:p>
            <a:pPr marL="0" indent="0">
              <a:buNone/>
            </a:pPr>
            <a:r>
              <a:rPr lang="en-US" sz="3000" dirty="0">
                <a:solidFill>
                  <a:srgbClr val="F4C757"/>
                </a:solidFill>
                <a:latin typeface="Gill Sans MT" pitchFamily="34" charset="0"/>
                <a:ea typeface="Gill Sans MT" pitchFamily="34" charset="-122"/>
                <a:cs typeface="Gill Sans MT" pitchFamily="34" charset="-120"/>
              </a:rPr>
              <a:t>KICK-OFF</a:t>
            </a:r>
            <a:endParaRPr lang="en-US" sz="3000" dirty="0"/>
          </a:p>
          <a:p>
            <a:pPr marL="0" indent="0">
              <a:buNone/>
            </a:pPr>
            <a:r>
              <a:rPr lang="en-US" sz="3000" dirty="0">
                <a:solidFill>
                  <a:srgbClr val="F4C757"/>
                </a:solidFill>
                <a:latin typeface="Gill Sans MT" pitchFamily="34" charset="0"/>
                <a:ea typeface="Gill Sans MT" pitchFamily="34" charset="-122"/>
                <a:cs typeface="Gill Sans MT" pitchFamily="34" charset="-120"/>
              </a:rPr>
              <a:t>OPDRACHT</a:t>
            </a:r>
            <a:endParaRPr lang="en-US" sz="3000" dirty="0"/>
          </a:p>
          <a:p>
            <a:pPr marL="0" indent="0">
              <a:buNone/>
            </a:pPr>
            <a:r>
              <a:rPr lang="en-US" sz="3000" dirty="0">
                <a:solidFill>
                  <a:srgbClr val="F4C757"/>
                </a:solidFill>
                <a:latin typeface="Gill Sans MT" pitchFamily="34" charset="0"/>
                <a:ea typeface="Gill Sans MT" pitchFamily="34" charset="-122"/>
                <a:cs typeface="Gill Sans MT" pitchFamily="34" charset="-120"/>
              </a:rPr>
              <a:t>M2: WEERBAARHEID</a:t>
            </a:r>
            <a:endParaRPr lang="en-US" sz="3000" dirty="0"/>
          </a:p>
        </p:txBody>
      </p:sp>
      <p:sp>
        <p:nvSpPr>
          <p:cNvPr id="6" name="Text 3"/>
          <p:cNvSpPr/>
          <p:nvPr/>
        </p:nvSpPr>
        <p:spPr>
          <a:xfrm>
            <a:off x="640080" y="2468880"/>
            <a:ext cx="3840480" cy="274320"/>
          </a:xfrm>
          <a:prstGeom prst="rect">
            <a:avLst/>
          </a:prstGeom>
          <a:noFill/>
          <a:ln/>
        </p:spPr>
        <p:txBody>
          <a:bodyPr wrap="square" lIns="0" tIns="0" rIns="0" bIns="0" rtlCol="0" anchor="ctr"/>
          <a:lstStyle/>
          <a:p>
            <a:pPr marL="0" indent="0">
              <a:buNone/>
            </a:pPr>
            <a:r>
              <a:rPr lang="en-US" sz="1850" b="1" i="1" dirty="0">
                <a:solidFill>
                  <a:srgbClr val="F4C757"/>
                </a:solidFill>
                <a:latin typeface="Gill Sans MT" pitchFamily="34" charset="0"/>
                <a:ea typeface="Gill Sans MT" pitchFamily="34" charset="-122"/>
                <a:cs typeface="Gill Sans MT" pitchFamily="34" charset="-120"/>
              </a:rPr>
              <a:t>Casus: Hoppenbrouwers (Kaseya)</a:t>
            </a:r>
            <a:endParaRPr lang="en-US" sz="1850" dirty="0"/>
          </a:p>
        </p:txBody>
      </p:sp>
      <p:sp>
        <p:nvSpPr>
          <p:cNvPr id="7" name="Text 4"/>
          <p:cNvSpPr/>
          <p:nvPr/>
        </p:nvSpPr>
        <p:spPr>
          <a:xfrm>
            <a:off x="640080" y="5257800"/>
            <a:ext cx="3474720" cy="228600"/>
          </a:xfrm>
          <a:prstGeom prst="rect">
            <a:avLst/>
          </a:prstGeom>
          <a:noFill/>
          <a:ln/>
        </p:spPr>
        <p:txBody>
          <a:bodyPr wrap="square" lIns="0" tIns="0" rIns="0" bIns="0" rtlCol="0" anchor="ctr"/>
          <a:lstStyle/>
          <a:p>
            <a:pPr marL="0" indent="0">
              <a:buNone/>
            </a:pPr>
            <a:r>
              <a:rPr lang="en-US" sz="1450" dirty="0">
                <a:solidFill>
                  <a:srgbClr val="E7B84A"/>
                </a:solidFill>
                <a:latin typeface="Gill Sans MT" pitchFamily="34" charset="0"/>
                <a:ea typeface="Gill Sans MT" pitchFamily="34" charset="-122"/>
                <a:cs typeface="Gill Sans MT" pitchFamily="34" charset="-120"/>
              </a:rPr>
              <a:t>Groep 10 – Firewall Force</a:t>
            </a:r>
            <a:endParaRPr lang="en-US" sz="1450" dirty="0">
              <a:solidFill>
                <a:srgbClr val="E7B84A"/>
              </a:solidFill>
            </a:endParaRPr>
          </a:p>
        </p:txBody>
      </p:sp>
      <p:sp>
        <p:nvSpPr>
          <p:cNvPr id="8" name="Text 5"/>
          <p:cNvSpPr/>
          <p:nvPr/>
        </p:nvSpPr>
        <p:spPr>
          <a:xfrm>
            <a:off x="640080" y="5532120"/>
            <a:ext cx="3931920" cy="256032"/>
          </a:xfrm>
          <a:prstGeom prst="rect">
            <a:avLst/>
          </a:prstGeom>
          <a:noFill/>
          <a:ln/>
        </p:spPr>
        <p:txBody>
          <a:bodyPr wrap="square" lIns="0" tIns="0" rIns="0" bIns="0" rtlCol="0" anchor="ctr"/>
          <a:lstStyle/>
          <a:p>
            <a:pPr marL="0" indent="0">
              <a:buNone/>
            </a:pPr>
            <a:r>
              <a:rPr lang="en-US" sz="1700" b="1" dirty="0">
                <a:solidFill>
                  <a:srgbClr val="E7B84A"/>
                </a:solidFill>
                <a:latin typeface="Gill Sans MT" pitchFamily="34" charset="0"/>
                <a:ea typeface="Gill Sans MT" pitchFamily="34" charset="-122"/>
                <a:cs typeface="Gill Sans MT" pitchFamily="34" charset="-120"/>
              </a:rPr>
              <a:t>Bavli, Jonas, Lucas, Vo</a:t>
            </a:r>
            <a:endParaRPr lang="en-US" sz="1700" dirty="0">
              <a:solidFill>
                <a:srgbClr val="E7B84A"/>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Technisch_en_organisatorisch_verbeterplan_Billy_Bonka/slide-2.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1143000" y="1280160"/>
            <a:ext cx="10058400" cy="4251960"/>
          </a:xfrm>
          <a:prstGeom prst="rect">
            <a:avLst/>
          </a:prstGeom>
          <a:solidFill>
            <a:srgbClr val="103781"/>
          </a:solidFill>
          <a:ln w="12700">
            <a:solidFill>
              <a:srgbClr val="103781">
                <a:alpha val="0"/>
              </a:srgbClr>
            </a:solidFill>
            <a:prstDash val="solid"/>
          </a:ln>
        </p:spPr>
        <p:txBody>
          <a:bodyPr/>
          <a:lstStyle/>
          <a:p>
            <a:endParaRPr lang="nl-NL"/>
          </a:p>
        </p:txBody>
      </p:sp>
      <p:sp>
        <p:nvSpPr>
          <p:cNvPr id="4" name="Shape 1"/>
          <p:cNvSpPr/>
          <p:nvPr/>
        </p:nvSpPr>
        <p:spPr>
          <a:xfrm>
            <a:off x="1280160" y="1673352"/>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5" name="Text 2"/>
          <p:cNvSpPr/>
          <p:nvPr/>
        </p:nvSpPr>
        <p:spPr>
          <a:xfrm>
            <a:off x="1481328" y="1600200"/>
            <a:ext cx="4160520" cy="512064"/>
          </a:xfrm>
          <a:prstGeom prst="rect">
            <a:avLst/>
          </a:prstGeom>
          <a:noFill/>
          <a:ln/>
        </p:spPr>
        <p:txBody>
          <a:bodyPr wrap="square" lIns="0" tIns="0" rIns="0" bIns="0" rtlCol="0" anchor="ctr"/>
          <a:lstStyle/>
          <a:p>
            <a:pPr marL="0" indent="0">
              <a:buNone/>
            </a:pPr>
            <a:r>
              <a:rPr lang="en-US" sz="1800" b="1" dirty="0">
                <a:solidFill>
                  <a:srgbClr val="FFFFFF"/>
                </a:solidFill>
                <a:latin typeface="Gill Sans MT" pitchFamily="34" charset="0"/>
                <a:ea typeface="Gill Sans MT" pitchFamily="34" charset="-122"/>
                <a:cs typeface="Gill Sans MT" pitchFamily="34" charset="-120"/>
              </a:rPr>
              <a:t>Casus: Hoppenbrouwers / Kaseya</a:t>
            </a:r>
            <a:endParaRPr lang="en-US" sz="1800" dirty="0"/>
          </a:p>
        </p:txBody>
      </p:sp>
      <p:sp>
        <p:nvSpPr>
          <p:cNvPr id="6" name="Shape 3"/>
          <p:cNvSpPr/>
          <p:nvPr/>
        </p:nvSpPr>
        <p:spPr>
          <a:xfrm>
            <a:off x="1280160" y="2386584"/>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7" name="Text 4"/>
          <p:cNvSpPr/>
          <p:nvPr/>
        </p:nvSpPr>
        <p:spPr>
          <a:xfrm>
            <a:off x="1481328" y="2313432"/>
            <a:ext cx="4160520" cy="512064"/>
          </a:xfrm>
          <a:prstGeom prst="rect">
            <a:avLst/>
          </a:prstGeom>
          <a:noFill/>
          <a:ln/>
        </p:spPr>
        <p:txBody>
          <a:bodyPr wrap="square" lIns="0" tIns="0" rIns="0" bIns="0" rtlCol="0" anchor="ctr"/>
          <a:lstStyle/>
          <a:p>
            <a:pPr marL="0" indent="0">
              <a:buNone/>
            </a:pPr>
            <a:r>
              <a:rPr lang="en-US" sz="1800" b="1" dirty="0">
                <a:solidFill>
                  <a:srgbClr val="FFFFFF"/>
                </a:solidFill>
                <a:latin typeface="Gill Sans MT" pitchFamily="34" charset="0"/>
                <a:ea typeface="Gill Sans MT" pitchFamily="34" charset="-122"/>
                <a:cs typeface="Gill Sans MT" pitchFamily="34" charset="-120"/>
              </a:rPr>
              <a:t>Vraag 1: Cruciale functies buiten IT</a:t>
            </a:r>
            <a:endParaRPr lang="en-US" sz="1800" dirty="0"/>
          </a:p>
        </p:txBody>
      </p:sp>
      <p:sp>
        <p:nvSpPr>
          <p:cNvPr id="8" name="Shape 5"/>
          <p:cNvSpPr/>
          <p:nvPr/>
        </p:nvSpPr>
        <p:spPr>
          <a:xfrm>
            <a:off x="1280160" y="309981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9" name="Text 6"/>
          <p:cNvSpPr/>
          <p:nvPr/>
        </p:nvSpPr>
        <p:spPr>
          <a:xfrm>
            <a:off x="1481328" y="3026664"/>
            <a:ext cx="4160520" cy="512064"/>
          </a:xfrm>
          <a:prstGeom prst="rect">
            <a:avLst/>
          </a:prstGeom>
          <a:noFill/>
          <a:ln/>
        </p:spPr>
        <p:txBody>
          <a:bodyPr wrap="square" lIns="0" tIns="0" rIns="0" bIns="0" rtlCol="0" anchor="ctr"/>
          <a:lstStyle/>
          <a:p>
            <a:pPr marL="0" indent="0">
              <a:buNone/>
            </a:pPr>
            <a:r>
              <a:rPr lang="en-US" sz="1800" b="1" dirty="0">
                <a:solidFill>
                  <a:srgbClr val="FFFFFF"/>
                </a:solidFill>
                <a:latin typeface="Gill Sans MT" pitchFamily="34" charset="0"/>
                <a:ea typeface="Gill Sans MT" pitchFamily="34" charset="-122"/>
                <a:cs typeface="Gill Sans MT" pitchFamily="34" charset="-120"/>
              </a:rPr>
              <a:t>Vraag 1: Wie is “in the lead”?</a:t>
            </a:r>
            <a:endParaRPr lang="en-US" sz="1800" dirty="0"/>
          </a:p>
        </p:txBody>
      </p:sp>
      <p:sp>
        <p:nvSpPr>
          <p:cNvPr id="10" name="Shape 7"/>
          <p:cNvSpPr/>
          <p:nvPr/>
        </p:nvSpPr>
        <p:spPr>
          <a:xfrm>
            <a:off x="1280160" y="3813048"/>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1" name="Text 8"/>
          <p:cNvSpPr/>
          <p:nvPr/>
        </p:nvSpPr>
        <p:spPr>
          <a:xfrm>
            <a:off x="1481328" y="3739896"/>
            <a:ext cx="4160520" cy="512064"/>
          </a:xfrm>
          <a:prstGeom prst="rect">
            <a:avLst/>
          </a:prstGeom>
          <a:noFill/>
          <a:ln/>
        </p:spPr>
        <p:txBody>
          <a:bodyPr wrap="square" lIns="0" tIns="0" rIns="0" bIns="0" rtlCol="0" anchor="ctr"/>
          <a:lstStyle/>
          <a:p>
            <a:pPr marL="0" indent="0">
              <a:buNone/>
            </a:pPr>
            <a:r>
              <a:rPr lang="en-US" sz="1800" b="1" dirty="0">
                <a:solidFill>
                  <a:srgbClr val="FFFFFF"/>
                </a:solidFill>
                <a:latin typeface="Gill Sans MT" pitchFamily="34" charset="0"/>
                <a:ea typeface="Gill Sans MT" pitchFamily="34" charset="-122"/>
                <a:cs typeface="Gill Sans MT" pitchFamily="34" charset="-120"/>
              </a:rPr>
              <a:t>Vraag 2: Voorbereiden in 3 lagen</a:t>
            </a:r>
            <a:endParaRPr lang="en-US" sz="1800" dirty="0"/>
          </a:p>
        </p:txBody>
      </p:sp>
      <p:sp>
        <p:nvSpPr>
          <p:cNvPr id="12" name="Shape 9"/>
          <p:cNvSpPr/>
          <p:nvPr/>
        </p:nvSpPr>
        <p:spPr>
          <a:xfrm>
            <a:off x="6537960" y="1673352"/>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3" name="Text 10"/>
          <p:cNvSpPr/>
          <p:nvPr/>
        </p:nvSpPr>
        <p:spPr>
          <a:xfrm>
            <a:off x="6739128" y="1600200"/>
            <a:ext cx="4343400" cy="512064"/>
          </a:xfrm>
          <a:prstGeom prst="rect">
            <a:avLst/>
          </a:prstGeom>
          <a:noFill/>
          <a:ln/>
        </p:spPr>
        <p:txBody>
          <a:bodyPr wrap="square" lIns="0" tIns="0" rIns="0" bIns="0" rtlCol="0" anchor="ctr"/>
          <a:lstStyle/>
          <a:p>
            <a:pPr marL="0" indent="0">
              <a:buNone/>
            </a:pPr>
            <a:r>
              <a:rPr lang="en-US" sz="1800" b="1" dirty="0">
                <a:solidFill>
                  <a:srgbClr val="FFFFFF"/>
                </a:solidFill>
                <a:latin typeface="Gill Sans MT" pitchFamily="34" charset="0"/>
                <a:ea typeface="Gill Sans MT" pitchFamily="34" charset="-122"/>
                <a:cs typeface="Gill Sans MT" pitchFamily="34" charset="-120"/>
              </a:rPr>
              <a:t>Vraag 2: Waar begin je + rol management</a:t>
            </a:r>
            <a:endParaRPr lang="en-US" sz="1800" dirty="0"/>
          </a:p>
        </p:txBody>
      </p:sp>
      <p:sp>
        <p:nvSpPr>
          <p:cNvPr id="14" name="Shape 11"/>
          <p:cNvSpPr/>
          <p:nvPr/>
        </p:nvSpPr>
        <p:spPr>
          <a:xfrm>
            <a:off x="6537960" y="2386584"/>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5" name="Text 12"/>
          <p:cNvSpPr/>
          <p:nvPr/>
        </p:nvSpPr>
        <p:spPr>
          <a:xfrm>
            <a:off x="6739128" y="2313432"/>
            <a:ext cx="4343400" cy="512064"/>
          </a:xfrm>
          <a:prstGeom prst="rect">
            <a:avLst/>
          </a:prstGeom>
          <a:noFill/>
          <a:ln/>
        </p:spPr>
        <p:txBody>
          <a:bodyPr wrap="square" lIns="0" tIns="0" rIns="0" bIns="0" rtlCol="0" anchor="ctr"/>
          <a:lstStyle/>
          <a:p>
            <a:pPr marL="0" indent="0">
              <a:buNone/>
            </a:pPr>
            <a:r>
              <a:rPr lang="en-US" sz="1800" b="1" dirty="0">
                <a:solidFill>
                  <a:srgbClr val="FFFFFF"/>
                </a:solidFill>
                <a:latin typeface="Gill Sans MT" pitchFamily="34" charset="0"/>
                <a:ea typeface="Gill Sans MT" pitchFamily="34" charset="-122"/>
                <a:cs typeface="Gill Sans MT" pitchFamily="34" charset="-120"/>
              </a:rPr>
              <a:t>Vraag 2: Wanneer is “goed” goed genoeg?</a:t>
            </a:r>
            <a:endParaRPr lang="en-US" sz="1800" dirty="0"/>
          </a:p>
        </p:txBody>
      </p:sp>
      <p:sp>
        <p:nvSpPr>
          <p:cNvPr id="16" name="Shape 13"/>
          <p:cNvSpPr/>
          <p:nvPr/>
        </p:nvSpPr>
        <p:spPr>
          <a:xfrm>
            <a:off x="6537960" y="309981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7" name="Text 14"/>
          <p:cNvSpPr/>
          <p:nvPr/>
        </p:nvSpPr>
        <p:spPr>
          <a:xfrm>
            <a:off x="6739128" y="3026664"/>
            <a:ext cx="4343400" cy="512064"/>
          </a:xfrm>
          <a:prstGeom prst="rect">
            <a:avLst/>
          </a:prstGeom>
          <a:noFill/>
          <a:ln/>
        </p:spPr>
        <p:txBody>
          <a:bodyPr wrap="square" lIns="0" tIns="0" rIns="0" bIns="0" rtlCol="0" anchor="ctr"/>
          <a:lstStyle/>
          <a:p>
            <a:pPr marL="0" indent="0">
              <a:buNone/>
            </a:pPr>
            <a:r>
              <a:rPr lang="en-US" sz="1800" b="1" dirty="0">
                <a:solidFill>
                  <a:srgbClr val="FFFFFF"/>
                </a:solidFill>
                <a:latin typeface="Gill Sans MT" pitchFamily="34" charset="0"/>
                <a:ea typeface="Gill Sans MT" pitchFamily="34" charset="-122"/>
                <a:cs typeface="Gill Sans MT" pitchFamily="34" charset="-120"/>
              </a:rPr>
              <a:t>Vraag 3: Wat kon beter? (preventie &amp; herstel)</a:t>
            </a:r>
            <a:endParaRPr lang="en-US" sz="1800" dirty="0"/>
          </a:p>
        </p:txBody>
      </p:sp>
      <p:sp>
        <p:nvSpPr>
          <p:cNvPr id="18" name="Shape 15"/>
          <p:cNvSpPr/>
          <p:nvPr/>
        </p:nvSpPr>
        <p:spPr>
          <a:xfrm>
            <a:off x="6537960" y="3813048"/>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9" name="Text 16"/>
          <p:cNvSpPr/>
          <p:nvPr/>
        </p:nvSpPr>
        <p:spPr>
          <a:xfrm>
            <a:off x="6739128" y="3739896"/>
            <a:ext cx="4343400" cy="512064"/>
          </a:xfrm>
          <a:prstGeom prst="rect">
            <a:avLst/>
          </a:prstGeom>
          <a:noFill/>
          <a:ln/>
        </p:spPr>
        <p:txBody>
          <a:bodyPr wrap="square" lIns="0" tIns="0" rIns="0" bIns="0" rtlCol="0" anchor="ctr"/>
          <a:lstStyle/>
          <a:p>
            <a:pPr marL="0" indent="0">
              <a:buNone/>
            </a:pPr>
            <a:r>
              <a:rPr lang="en-US" sz="1800" b="1" dirty="0">
                <a:solidFill>
                  <a:srgbClr val="FFFFFF"/>
                </a:solidFill>
                <a:latin typeface="Gill Sans MT" pitchFamily="34" charset="0"/>
                <a:ea typeface="Gill Sans MT" pitchFamily="34" charset="-122"/>
                <a:cs typeface="Gill Sans MT" pitchFamily="34" charset="-120"/>
              </a:rPr>
              <a:t>Conclusie + bronnen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Technisch_en_organisatorisch_verbeterplan_Billy_Bonka/slide-3.png"/>
          <p:cNvPicPr>
            <a:picLocks noGrp="1" noRot="1" noChangeAspect="1" noMove="1" noResize="1" noEditPoints="1" noAdjustHandles="1" noChangeArrowheads="1" noChangeShapeType="1" noCrop="1"/>
          </p:cNvPicPr>
          <p:nvPr/>
        </p:nvPicPr>
        <p:blipFill>
          <a:blip r:embed="rId3"/>
          <a:stretch>
            <a:fillRect/>
          </a:stretch>
        </p:blipFill>
        <p:spPr>
          <a:xfrm>
            <a:off x="0" y="0"/>
            <a:ext cx="12191695" cy="6858000"/>
          </a:xfrm>
          <a:prstGeom prst="rect">
            <a:avLst/>
          </a:prstGeom>
        </p:spPr>
      </p:pic>
      <p:sp>
        <p:nvSpPr>
          <p:cNvPr id="3" name="Shape 0"/>
          <p:cNvSpPr/>
          <p:nvPr/>
        </p:nvSpPr>
        <p:spPr>
          <a:xfrm>
            <a:off x="411480" y="219456"/>
            <a:ext cx="5486400" cy="5577840"/>
          </a:xfrm>
          <a:prstGeom prst="rect">
            <a:avLst/>
          </a:prstGeom>
          <a:solidFill>
            <a:srgbClr val="103781"/>
          </a:solidFill>
          <a:ln w="12700">
            <a:solidFill>
              <a:srgbClr val="103781">
                <a:alpha val="0"/>
              </a:srgbClr>
            </a:solidFill>
            <a:prstDash val="solid"/>
          </a:ln>
        </p:spPr>
        <p:txBody>
          <a:bodyPr/>
          <a:lstStyle/>
          <a:p>
            <a:endParaRPr lang="nl-NL"/>
          </a:p>
        </p:txBody>
      </p:sp>
      <p:sp>
        <p:nvSpPr>
          <p:cNvPr id="4" name="Text 1"/>
          <p:cNvSpPr/>
          <p:nvPr/>
        </p:nvSpPr>
        <p:spPr>
          <a:xfrm>
            <a:off x="502920" y="310896"/>
            <a:ext cx="5303520" cy="384048"/>
          </a:xfrm>
          <a:prstGeom prst="rect">
            <a:avLst/>
          </a:prstGeom>
          <a:noFill/>
          <a:ln/>
        </p:spPr>
        <p:txBody>
          <a:bodyPr wrap="square" lIns="0" tIns="0" rIns="0" bIns="0" rtlCol="0" anchor="ctr"/>
          <a:lstStyle/>
          <a:p>
            <a:pPr marL="0" indent="0">
              <a:buNone/>
            </a:pPr>
            <a:r>
              <a:rPr lang="en-US" sz="2600" dirty="0">
                <a:solidFill>
                  <a:srgbClr val="FFFFFF"/>
                </a:solidFill>
                <a:latin typeface="Gill Sans MT" pitchFamily="34" charset="0"/>
                <a:ea typeface="Gill Sans MT" pitchFamily="34" charset="-122"/>
                <a:cs typeface="Gill Sans MT" pitchFamily="34" charset="-120"/>
              </a:rPr>
              <a:t>CASUS: HOPPENBROUWERS</a:t>
            </a:r>
            <a:endParaRPr lang="en-US" sz="2600" dirty="0"/>
          </a:p>
        </p:txBody>
      </p:sp>
      <p:sp>
        <p:nvSpPr>
          <p:cNvPr id="5" name="Text 2"/>
          <p:cNvSpPr/>
          <p:nvPr/>
        </p:nvSpPr>
        <p:spPr>
          <a:xfrm>
            <a:off x="502920" y="786384"/>
            <a:ext cx="4572000" cy="256032"/>
          </a:xfrm>
          <a:prstGeom prst="rect">
            <a:avLst/>
          </a:prstGeom>
          <a:noFill/>
          <a:ln/>
        </p:spPr>
        <p:txBody>
          <a:bodyPr wrap="square" lIns="0" tIns="0" rIns="0" bIns="0" rtlCol="0" anchor="ctr"/>
          <a:lstStyle/>
          <a:p>
            <a:pPr marL="0" indent="0">
              <a:buNone/>
            </a:pPr>
            <a:r>
              <a:rPr lang="en-US" sz="1400" i="1" dirty="0">
                <a:solidFill>
                  <a:srgbClr val="F4C757"/>
                </a:solidFill>
                <a:latin typeface="Gill Sans MT" pitchFamily="34" charset="0"/>
                <a:ea typeface="Gill Sans MT" pitchFamily="34" charset="-122"/>
                <a:cs typeface="Gill Sans MT" pitchFamily="34" charset="-120"/>
              </a:rPr>
              <a:t>Kaseya supply chain-aanval</a:t>
            </a:r>
            <a:endParaRPr lang="en-US" sz="1400" dirty="0"/>
          </a:p>
        </p:txBody>
      </p:sp>
      <p:sp>
        <p:nvSpPr>
          <p:cNvPr id="6" name="Shape 3"/>
          <p:cNvSpPr/>
          <p:nvPr/>
        </p:nvSpPr>
        <p:spPr>
          <a:xfrm>
            <a:off x="685800" y="1207008"/>
            <a:ext cx="2331720" cy="292608"/>
          </a:xfrm>
          <a:prstGeom prst="roundRect">
            <a:avLst>
              <a:gd name="adj" fmla="val 18750"/>
            </a:avLst>
          </a:prstGeom>
          <a:solidFill>
            <a:srgbClr val="143D86"/>
          </a:solidFill>
          <a:ln w="15240">
            <a:solidFill>
              <a:srgbClr val="F4C757"/>
            </a:solidFill>
            <a:prstDash val="solid"/>
          </a:ln>
        </p:spPr>
        <p:txBody>
          <a:bodyPr/>
          <a:lstStyle/>
          <a:p>
            <a:endParaRPr lang="nl-NL"/>
          </a:p>
        </p:txBody>
      </p:sp>
      <p:sp>
        <p:nvSpPr>
          <p:cNvPr id="7" name="Text 4"/>
          <p:cNvSpPr/>
          <p:nvPr/>
        </p:nvSpPr>
        <p:spPr>
          <a:xfrm>
            <a:off x="758952" y="1239012"/>
            <a:ext cx="2185416" cy="182880"/>
          </a:xfrm>
          <a:prstGeom prst="rect">
            <a:avLst/>
          </a:prstGeom>
          <a:noFill/>
          <a:ln/>
        </p:spPr>
        <p:txBody>
          <a:bodyPr wrap="square" lIns="0" tIns="0" rIns="0" bIns="0" rtlCol="0" anchor="ctr"/>
          <a:lstStyle/>
          <a:p>
            <a:pPr marL="0" indent="0" algn="ctr">
              <a:buNone/>
            </a:pPr>
            <a:r>
              <a:rPr lang="en-US" sz="1400" b="1" u="sng" dirty="0">
                <a:solidFill>
                  <a:srgbClr val="F4C757"/>
                </a:solidFill>
                <a:latin typeface="Gill Sans MT" pitchFamily="34" charset="0"/>
                <a:ea typeface="Gill Sans MT" pitchFamily="34" charset="-122"/>
                <a:cs typeface="Gill Sans MT" pitchFamily="34" charset="-120"/>
              </a:rPr>
              <a:t>Casus in 30 seconden</a:t>
            </a:r>
            <a:endParaRPr lang="en-US" sz="1400" dirty="0"/>
          </a:p>
        </p:txBody>
      </p:sp>
      <p:sp>
        <p:nvSpPr>
          <p:cNvPr id="8" name="Shape 5"/>
          <p:cNvSpPr/>
          <p:nvPr/>
        </p:nvSpPr>
        <p:spPr>
          <a:xfrm>
            <a:off x="713232" y="1664208"/>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9" name="Text 6"/>
          <p:cNvSpPr/>
          <p:nvPr/>
        </p:nvSpPr>
        <p:spPr>
          <a:xfrm>
            <a:off x="868680" y="1554480"/>
            <a:ext cx="4663440" cy="512064"/>
          </a:xfrm>
          <a:prstGeom prst="rect">
            <a:avLst/>
          </a:prstGeom>
          <a:noFill/>
          <a:ln/>
        </p:spPr>
        <p:txBody>
          <a:bodyPr wrap="square" lIns="0" tIns="0" rIns="0" bIns="0" rtlCol="0" anchor="ctr"/>
          <a:lstStyle/>
          <a:p>
            <a:pPr marL="0" indent="0">
              <a:buNone/>
            </a:pPr>
            <a:r>
              <a:rPr lang="en-US" sz="1430" b="1" dirty="0">
                <a:solidFill>
                  <a:srgbClr val="FFFFFF"/>
                </a:solidFill>
                <a:latin typeface="Gill Sans MT" pitchFamily="34" charset="0"/>
                <a:ea typeface="Gill Sans MT" pitchFamily="34" charset="-122"/>
                <a:cs typeface="Gill Sans MT" pitchFamily="34" charset="-120"/>
              </a:rPr>
              <a:t>Aanvalsvector: besmetting via leverancier (Kaseya/RMM)</a:t>
            </a:r>
            <a:endParaRPr lang="en-US" sz="1430" dirty="0"/>
          </a:p>
        </p:txBody>
      </p:sp>
      <p:sp>
        <p:nvSpPr>
          <p:cNvPr id="10" name="Shape 7"/>
          <p:cNvSpPr/>
          <p:nvPr/>
        </p:nvSpPr>
        <p:spPr>
          <a:xfrm>
            <a:off x="713232" y="218541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1" name="Text 8"/>
          <p:cNvSpPr/>
          <p:nvPr/>
        </p:nvSpPr>
        <p:spPr>
          <a:xfrm>
            <a:off x="868680" y="2075688"/>
            <a:ext cx="4663440" cy="512064"/>
          </a:xfrm>
          <a:prstGeom prst="rect">
            <a:avLst/>
          </a:prstGeom>
          <a:noFill/>
          <a:ln/>
        </p:spPr>
        <p:txBody>
          <a:bodyPr wrap="square" lIns="0" tIns="0" rIns="0" bIns="0" rtlCol="0" anchor="ctr"/>
          <a:lstStyle/>
          <a:p>
            <a:pPr marL="0" indent="0">
              <a:buNone/>
            </a:pPr>
            <a:r>
              <a:rPr lang="en-US" sz="1430" b="1" dirty="0">
                <a:solidFill>
                  <a:srgbClr val="FFFFFF"/>
                </a:solidFill>
                <a:latin typeface="Gill Sans MT" pitchFamily="34" charset="0"/>
                <a:ea typeface="Gill Sans MT" pitchFamily="34" charset="-122"/>
                <a:cs typeface="Gill Sans MT" pitchFamily="34" charset="-120"/>
              </a:rPr>
              <a:t>Impact: systemen (deels) onbeschikbaar → processen stil</a:t>
            </a:r>
            <a:endParaRPr lang="en-US" sz="1430" dirty="0"/>
          </a:p>
        </p:txBody>
      </p:sp>
      <p:sp>
        <p:nvSpPr>
          <p:cNvPr id="12" name="Shape 9"/>
          <p:cNvSpPr/>
          <p:nvPr/>
        </p:nvSpPr>
        <p:spPr>
          <a:xfrm>
            <a:off x="713232" y="2706624"/>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3" name="Text 10"/>
          <p:cNvSpPr/>
          <p:nvPr/>
        </p:nvSpPr>
        <p:spPr>
          <a:xfrm>
            <a:off x="868680" y="2596896"/>
            <a:ext cx="4663440" cy="512064"/>
          </a:xfrm>
          <a:prstGeom prst="rect">
            <a:avLst/>
          </a:prstGeom>
          <a:noFill/>
          <a:ln/>
        </p:spPr>
        <p:txBody>
          <a:bodyPr wrap="square" lIns="0" tIns="0" rIns="0" bIns="0" rtlCol="0" anchor="ctr"/>
          <a:lstStyle/>
          <a:p>
            <a:pPr marL="0" indent="0">
              <a:buNone/>
            </a:pPr>
            <a:r>
              <a:rPr lang="en-US" sz="1430" b="1" dirty="0">
                <a:solidFill>
                  <a:srgbClr val="FFFFFF"/>
                </a:solidFill>
                <a:latin typeface="Gill Sans MT" pitchFamily="34" charset="0"/>
                <a:ea typeface="Gill Sans MT" pitchFamily="34" charset="-122"/>
                <a:cs typeface="Gill Sans MT" pitchFamily="34" charset="-120"/>
              </a:rPr>
              <a:t>Focus: isoleren, communiceren, gecontroleerd herstellen</a:t>
            </a:r>
            <a:endParaRPr lang="en-US" sz="1430" dirty="0"/>
          </a:p>
        </p:txBody>
      </p:sp>
      <p:sp>
        <p:nvSpPr>
          <p:cNvPr id="14" name="Shape 11"/>
          <p:cNvSpPr/>
          <p:nvPr/>
        </p:nvSpPr>
        <p:spPr>
          <a:xfrm>
            <a:off x="713232" y="3227832"/>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5" name="Text 12"/>
          <p:cNvSpPr/>
          <p:nvPr/>
        </p:nvSpPr>
        <p:spPr>
          <a:xfrm>
            <a:off x="868680" y="3118104"/>
            <a:ext cx="4663440" cy="512064"/>
          </a:xfrm>
          <a:prstGeom prst="rect">
            <a:avLst/>
          </a:prstGeom>
          <a:noFill/>
          <a:ln/>
        </p:spPr>
        <p:txBody>
          <a:bodyPr wrap="square" lIns="0" tIns="0" rIns="0" bIns="0" rtlCol="0" anchor="ctr"/>
          <a:lstStyle/>
          <a:p>
            <a:pPr marL="0" indent="0">
              <a:buNone/>
            </a:pPr>
            <a:r>
              <a:rPr lang="en-US" sz="1430" b="1" dirty="0">
                <a:solidFill>
                  <a:srgbClr val="FFFFFF"/>
                </a:solidFill>
                <a:latin typeface="Gill Sans MT" pitchFamily="34" charset="0"/>
                <a:ea typeface="Gill Sans MT" pitchFamily="34" charset="-122"/>
                <a:cs typeface="Gill Sans MT" pitchFamily="34" charset="-120"/>
              </a:rPr>
              <a:t>Doel: zo snel mogelijk weer operationeel met beheersbare schade</a:t>
            </a:r>
            <a:endParaRPr lang="en-US" sz="1430" dirty="0"/>
          </a:p>
        </p:txBody>
      </p:sp>
      <p:sp>
        <p:nvSpPr>
          <p:cNvPr id="16" name="Shape 13"/>
          <p:cNvSpPr/>
          <p:nvPr/>
        </p:nvSpPr>
        <p:spPr>
          <a:xfrm>
            <a:off x="685800" y="3794760"/>
            <a:ext cx="2423160" cy="292608"/>
          </a:xfrm>
          <a:prstGeom prst="roundRect">
            <a:avLst>
              <a:gd name="adj" fmla="val 18750"/>
            </a:avLst>
          </a:prstGeom>
          <a:solidFill>
            <a:srgbClr val="143D86"/>
          </a:solidFill>
          <a:ln w="15240">
            <a:solidFill>
              <a:srgbClr val="F4C757"/>
            </a:solidFill>
            <a:prstDash val="solid"/>
          </a:ln>
        </p:spPr>
        <p:txBody>
          <a:bodyPr/>
          <a:lstStyle/>
          <a:p>
            <a:endParaRPr lang="nl-NL"/>
          </a:p>
        </p:txBody>
      </p:sp>
      <p:sp>
        <p:nvSpPr>
          <p:cNvPr id="17" name="Text 14"/>
          <p:cNvSpPr/>
          <p:nvPr/>
        </p:nvSpPr>
        <p:spPr>
          <a:xfrm>
            <a:off x="758952" y="3826764"/>
            <a:ext cx="2276856" cy="182880"/>
          </a:xfrm>
          <a:prstGeom prst="rect">
            <a:avLst/>
          </a:prstGeom>
          <a:noFill/>
          <a:ln/>
        </p:spPr>
        <p:txBody>
          <a:bodyPr wrap="square" lIns="0" tIns="0" rIns="0" bIns="0" rtlCol="0" anchor="ctr"/>
          <a:lstStyle/>
          <a:p>
            <a:pPr marL="0" indent="0" algn="ctr">
              <a:buNone/>
            </a:pPr>
            <a:r>
              <a:rPr lang="en-US" sz="1400" b="1" u="sng" dirty="0">
                <a:solidFill>
                  <a:srgbClr val="F4C757"/>
                </a:solidFill>
                <a:latin typeface="Gill Sans MT" pitchFamily="34" charset="0"/>
                <a:ea typeface="Gill Sans MT" pitchFamily="34" charset="-122"/>
                <a:cs typeface="Gill Sans MT" pitchFamily="34" charset="-120"/>
              </a:rPr>
              <a:t>Waarom deze casus telt</a:t>
            </a:r>
            <a:endParaRPr lang="en-US" sz="1400" dirty="0"/>
          </a:p>
        </p:txBody>
      </p:sp>
      <p:sp>
        <p:nvSpPr>
          <p:cNvPr id="18" name="Shape 15"/>
          <p:cNvSpPr/>
          <p:nvPr/>
        </p:nvSpPr>
        <p:spPr>
          <a:xfrm>
            <a:off x="713232" y="424281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9" name="Text 16"/>
          <p:cNvSpPr/>
          <p:nvPr/>
        </p:nvSpPr>
        <p:spPr>
          <a:xfrm>
            <a:off x="868680" y="4133088"/>
            <a:ext cx="4617720" cy="457200"/>
          </a:xfrm>
          <a:prstGeom prst="rect">
            <a:avLst/>
          </a:prstGeom>
          <a:noFill/>
          <a:ln/>
        </p:spPr>
        <p:txBody>
          <a:bodyPr wrap="square" lIns="0" tIns="0" rIns="0" bIns="0" rtlCol="0" anchor="ctr"/>
          <a:lstStyle/>
          <a:p>
            <a:pPr marL="0" indent="0">
              <a:buNone/>
            </a:pPr>
            <a:r>
              <a:rPr lang="en-US" sz="1340" b="1" dirty="0">
                <a:solidFill>
                  <a:srgbClr val="FFFFFF"/>
                </a:solidFill>
                <a:latin typeface="Gill Sans MT" pitchFamily="34" charset="0"/>
                <a:ea typeface="Gill Sans MT" pitchFamily="34" charset="-122"/>
                <a:cs typeface="Gill Sans MT" pitchFamily="34" charset="-120"/>
              </a:rPr>
              <a:t>Supply chain-risico: je kunt geraakt worden via een leverancier</a:t>
            </a:r>
            <a:endParaRPr lang="en-US" sz="1340" dirty="0"/>
          </a:p>
        </p:txBody>
      </p:sp>
      <p:sp>
        <p:nvSpPr>
          <p:cNvPr id="20" name="Shape 17"/>
          <p:cNvSpPr/>
          <p:nvPr/>
        </p:nvSpPr>
        <p:spPr>
          <a:xfrm>
            <a:off x="713232" y="470001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21" name="Text 18"/>
          <p:cNvSpPr/>
          <p:nvPr/>
        </p:nvSpPr>
        <p:spPr>
          <a:xfrm>
            <a:off x="868680" y="4590288"/>
            <a:ext cx="4617720" cy="457200"/>
          </a:xfrm>
          <a:prstGeom prst="rect">
            <a:avLst/>
          </a:prstGeom>
          <a:noFill/>
          <a:ln/>
        </p:spPr>
        <p:txBody>
          <a:bodyPr wrap="square" lIns="0" tIns="0" rIns="0" bIns="0" rtlCol="0" anchor="ctr"/>
          <a:lstStyle/>
          <a:p>
            <a:pPr marL="0" indent="0">
              <a:buNone/>
            </a:pPr>
            <a:r>
              <a:rPr lang="en-US" sz="1340" b="1" dirty="0">
                <a:solidFill>
                  <a:srgbClr val="FFFFFF"/>
                </a:solidFill>
                <a:latin typeface="Gill Sans MT" pitchFamily="34" charset="0"/>
                <a:ea typeface="Gill Sans MT" pitchFamily="34" charset="-122"/>
                <a:cs typeface="Gill Sans MT" pitchFamily="34" charset="-120"/>
              </a:rPr>
              <a:t>Cyberincident wordt direct een bedrijfscrisis, niet alleen een IT-probleem</a:t>
            </a:r>
            <a:endParaRPr lang="en-US" sz="1340" dirty="0"/>
          </a:p>
        </p:txBody>
      </p:sp>
      <p:sp>
        <p:nvSpPr>
          <p:cNvPr id="22" name="Shape 19"/>
          <p:cNvSpPr/>
          <p:nvPr/>
        </p:nvSpPr>
        <p:spPr>
          <a:xfrm>
            <a:off x="713232" y="515721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23" name="Text 20"/>
          <p:cNvSpPr/>
          <p:nvPr/>
        </p:nvSpPr>
        <p:spPr>
          <a:xfrm>
            <a:off x="868680" y="5047488"/>
            <a:ext cx="4617720" cy="457200"/>
          </a:xfrm>
          <a:prstGeom prst="rect">
            <a:avLst/>
          </a:prstGeom>
          <a:noFill/>
          <a:ln/>
        </p:spPr>
        <p:txBody>
          <a:bodyPr wrap="square" lIns="0" tIns="0" rIns="0" bIns="0" rtlCol="0" anchor="ctr"/>
          <a:lstStyle/>
          <a:p>
            <a:pPr marL="0" indent="0">
              <a:buNone/>
            </a:pPr>
            <a:r>
              <a:rPr lang="en-US" sz="1340" b="1" dirty="0">
                <a:solidFill>
                  <a:srgbClr val="FFFFFF"/>
                </a:solidFill>
                <a:latin typeface="Gill Sans MT" pitchFamily="34" charset="0"/>
                <a:ea typeface="Gill Sans MT" pitchFamily="34" charset="-122"/>
                <a:cs typeface="Gill Sans MT" pitchFamily="34" charset="-120"/>
              </a:rPr>
              <a:t>Communicatie en crisisorganisatie bepalen mede het hersteltempo</a:t>
            </a:r>
            <a:endParaRPr lang="en-US" sz="1340" dirty="0"/>
          </a:p>
        </p:txBody>
      </p:sp>
      <p:sp>
        <p:nvSpPr>
          <p:cNvPr id="24" name="Shape 21"/>
          <p:cNvSpPr/>
          <p:nvPr/>
        </p:nvSpPr>
        <p:spPr>
          <a:xfrm>
            <a:off x="713232" y="561441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25" name="Text 22"/>
          <p:cNvSpPr/>
          <p:nvPr/>
        </p:nvSpPr>
        <p:spPr>
          <a:xfrm>
            <a:off x="868680" y="5422115"/>
            <a:ext cx="4617720" cy="457200"/>
          </a:xfrm>
          <a:prstGeom prst="rect">
            <a:avLst/>
          </a:prstGeom>
          <a:noFill/>
          <a:ln/>
        </p:spPr>
        <p:txBody>
          <a:bodyPr wrap="square" lIns="0" tIns="0" rIns="0" bIns="0" rtlCol="0" anchor="ctr"/>
          <a:lstStyle/>
          <a:p>
            <a:pPr marL="0" indent="0">
              <a:buNone/>
            </a:pPr>
            <a:r>
              <a:rPr lang="en-US" sz="1340" b="1" dirty="0">
                <a:solidFill>
                  <a:srgbClr val="FFFFFF"/>
                </a:solidFill>
                <a:latin typeface="Gill Sans MT" pitchFamily="34" charset="0"/>
                <a:ea typeface="Gill Sans MT" pitchFamily="34" charset="-122"/>
                <a:cs typeface="Gill Sans MT" pitchFamily="34" charset="-120"/>
              </a:rPr>
              <a:t>Weerbaarheid draait dus om techniek én organisatie</a:t>
            </a:r>
            <a:endParaRPr lang="en-US" sz="1340" dirty="0"/>
          </a:p>
        </p:txBody>
      </p:sp>
      <p:sp>
        <p:nvSpPr>
          <p:cNvPr id="26" name="Shape 23"/>
          <p:cNvSpPr/>
          <p:nvPr/>
        </p:nvSpPr>
        <p:spPr>
          <a:xfrm>
            <a:off x="6080760" y="1078992"/>
            <a:ext cx="5257800" cy="4754880"/>
          </a:xfrm>
          <a:prstGeom prst="rect">
            <a:avLst/>
          </a:prstGeom>
          <a:solidFill>
            <a:srgbClr val="103781"/>
          </a:solidFill>
          <a:ln w="12700">
            <a:solidFill>
              <a:srgbClr val="103781">
                <a:alpha val="0"/>
              </a:srgbClr>
            </a:solidFill>
            <a:prstDash val="solid"/>
          </a:ln>
        </p:spPr>
        <p:txBody>
          <a:bodyPr/>
          <a:lstStyle/>
          <a:p>
            <a:endParaRPr lang="nl-NL"/>
          </a:p>
        </p:txBody>
      </p:sp>
      <p:sp>
        <p:nvSpPr>
          <p:cNvPr id="27" name="Text 24"/>
          <p:cNvSpPr/>
          <p:nvPr/>
        </p:nvSpPr>
        <p:spPr>
          <a:xfrm>
            <a:off x="6254496" y="1170432"/>
            <a:ext cx="2560320" cy="201168"/>
          </a:xfrm>
          <a:prstGeom prst="rect">
            <a:avLst/>
          </a:prstGeom>
          <a:noFill/>
          <a:ln/>
        </p:spPr>
        <p:txBody>
          <a:bodyPr wrap="square" lIns="0" tIns="0" rIns="0" bIns="0" rtlCol="0" anchor="ctr"/>
          <a:lstStyle/>
          <a:p>
            <a:pPr marL="0" indent="0">
              <a:buNone/>
            </a:pPr>
            <a:r>
              <a:rPr lang="en-US" sz="1300" b="1" dirty="0">
                <a:solidFill>
                  <a:srgbClr val="C79B2E"/>
                </a:solidFill>
                <a:latin typeface="Gill Sans MT" pitchFamily="34" charset="0"/>
                <a:ea typeface="Gill Sans MT" pitchFamily="34" charset="-122"/>
                <a:cs typeface="Gill Sans MT" pitchFamily="34" charset="-120"/>
              </a:rPr>
              <a:t>Aanvalspad in de casus</a:t>
            </a:r>
            <a:endParaRPr lang="en-US" sz="1300" dirty="0"/>
          </a:p>
        </p:txBody>
      </p:sp>
      <p:sp>
        <p:nvSpPr>
          <p:cNvPr id="28" name="Shape 25"/>
          <p:cNvSpPr/>
          <p:nvPr/>
        </p:nvSpPr>
        <p:spPr>
          <a:xfrm>
            <a:off x="7095744" y="2139696"/>
            <a:ext cx="0" cy="365760"/>
          </a:xfrm>
          <a:prstGeom prst="line">
            <a:avLst/>
          </a:prstGeom>
          <a:noFill/>
          <a:ln w="16510">
            <a:solidFill>
              <a:srgbClr val="F4C757"/>
            </a:solidFill>
            <a:prstDash val="solid"/>
            <a:headEnd type="none"/>
            <a:tailEnd type="triangle"/>
          </a:ln>
        </p:spPr>
        <p:txBody>
          <a:bodyPr/>
          <a:lstStyle/>
          <a:p>
            <a:endParaRPr lang="nl-NL"/>
          </a:p>
        </p:txBody>
      </p:sp>
      <p:sp>
        <p:nvSpPr>
          <p:cNvPr id="29" name="Shape 26"/>
          <p:cNvSpPr/>
          <p:nvPr/>
        </p:nvSpPr>
        <p:spPr>
          <a:xfrm>
            <a:off x="7095744" y="3072384"/>
            <a:ext cx="0" cy="365760"/>
          </a:xfrm>
          <a:prstGeom prst="line">
            <a:avLst/>
          </a:prstGeom>
          <a:noFill/>
          <a:ln w="16510">
            <a:solidFill>
              <a:srgbClr val="F4C757"/>
            </a:solidFill>
            <a:prstDash val="solid"/>
            <a:headEnd type="none"/>
            <a:tailEnd type="triangle"/>
          </a:ln>
        </p:spPr>
        <p:txBody>
          <a:bodyPr/>
          <a:lstStyle/>
          <a:p>
            <a:endParaRPr lang="nl-NL"/>
          </a:p>
        </p:txBody>
      </p:sp>
      <p:sp>
        <p:nvSpPr>
          <p:cNvPr id="30" name="Shape 27"/>
          <p:cNvSpPr/>
          <p:nvPr/>
        </p:nvSpPr>
        <p:spPr>
          <a:xfrm>
            <a:off x="7095744" y="4005072"/>
            <a:ext cx="0" cy="365760"/>
          </a:xfrm>
          <a:prstGeom prst="line">
            <a:avLst/>
          </a:prstGeom>
          <a:noFill/>
          <a:ln w="16510">
            <a:solidFill>
              <a:srgbClr val="F4C757"/>
            </a:solidFill>
            <a:prstDash val="solid"/>
            <a:headEnd type="none"/>
            <a:tailEnd type="triangle"/>
          </a:ln>
        </p:spPr>
        <p:txBody>
          <a:bodyPr/>
          <a:lstStyle/>
          <a:p>
            <a:endParaRPr lang="nl-NL"/>
          </a:p>
        </p:txBody>
      </p:sp>
      <p:sp>
        <p:nvSpPr>
          <p:cNvPr id="31" name="Shape 28"/>
          <p:cNvSpPr/>
          <p:nvPr/>
        </p:nvSpPr>
        <p:spPr>
          <a:xfrm>
            <a:off x="7095744" y="4937760"/>
            <a:ext cx="0" cy="365760"/>
          </a:xfrm>
          <a:prstGeom prst="line">
            <a:avLst/>
          </a:prstGeom>
          <a:noFill/>
          <a:ln w="16510">
            <a:solidFill>
              <a:srgbClr val="F4C757"/>
            </a:solidFill>
            <a:prstDash val="solid"/>
            <a:headEnd type="none"/>
            <a:tailEnd type="triangle"/>
          </a:ln>
        </p:spPr>
        <p:txBody>
          <a:bodyPr/>
          <a:lstStyle/>
          <a:p>
            <a:endParaRPr lang="nl-NL"/>
          </a:p>
        </p:txBody>
      </p:sp>
      <p:sp>
        <p:nvSpPr>
          <p:cNvPr id="32" name="Shape 29"/>
          <p:cNvSpPr/>
          <p:nvPr/>
        </p:nvSpPr>
        <p:spPr>
          <a:xfrm>
            <a:off x="6144768" y="1572768"/>
            <a:ext cx="1901952" cy="566928"/>
          </a:xfrm>
          <a:prstGeom prst="roundRect">
            <a:avLst>
              <a:gd name="adj" fmla="val 12903"/>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33" name="Shape 30"/>
          <p:cNvSpPr/>
          <p:nvPr/>
        </p:nvSpPr>
        <p:spPr>
          <a:xfrm>
            <a:off x="6163056" y="1645920"/>
            <a:ext cx="73152" cy="420624"/>
          </a:xfrm>
          <a:prstGeom prst="rect">
            <a:avLst/>
          </a:prstGeom>
          <a:solidFill>
            <a:srgbClr val="F4C757"/>
          </a:solidFill>
          <a:ln w="12700">
            <a:solidFill>
              <a:srgbClr val="F4C757">
                <a:alpha val="0"/>
              </a:srgbClr>
            </a:solidFill>
            <a:prstDash val="solid"/>
          </a:ln>
        </p:spPr>
        <p:txBody>
          <a:bodyPr/>
          <a:lstStyle/>
          <a:p>
            <a:endParaRPr lang="nl-NL"/>
          </a:p>
        </p:txBody>
      </p:sp>
      <p:sp>
        <p:nvSpPr>
          <p:cNvPr id="34" name="Text 31"/>
          <p:cNvSpPr/>
          <p:nvPr/>
        </p:nvSpPr>
        <p:spPr>
          <a:xfrm>
            <a:off x="6309360" y="1645920"/>
            <a:ext cx="1645920" cy="219456"/>
          </a:xfrm>
          <a:prstGeom prst="rect">
            <a:avLst/>
          </a:prstGeom>
          <a:noFill/>
          <a:ln/>
        </p:spPr>
        <p:txBody>
          <a:bodyPr wrap="square" lIns="0" tIns="0" rIns="0" bIns="0" rtlCol="0" anchor="ctr"/>
          <a:lstStyle/>
          <a:p>
            <a:pPr marL="0" indent="0">
              <a:buNone/>
            </a:pPr>
            <a:r>
              <a:rPr lang="en-US" sz="1320" b="1" dirty="0">
                <a:solidFill>
                  <a:srgbClr val="041B34"/>
                </a:solidFill>
                <a:latin typeface="Gill Sans MT" pitchFamily="34" charset="0"/>
                <a:ea typeface="Gill Sans MT" pitchFamily="34" charset="-122"/>
                <a:cs typeface="Gill Sans MT" pitchFamily="34" charset="-120"/>
              </a:rPr>
              <a:t>1. Leverancier / Kaseya</a:t>
            </a:r>
            <a:endParaRPr lang="en-US" sz="1320" dirty="0"/>
          </a:p>
        </p:txBody>
      </p:sp>
      <p:sp>
        <p:nvSpPr>
          <p:cNvPr id="35" name="Text 32"/>
          <p:cNvSpPr/>
          <p:nvPr/>
        </p:nvSpPr>
        <p:spPr>
          <a:xfrm>
            <a:off x="6309360" y="1865376"/>
            <a:ext cx="1682496" cy="237744"/>
          </a:xfrm>
          <a:prstGeom prst="rect">
            <a:avLst/>
          </a:prstGeom>
          <a:noFill/>
          <a:ln/>
        </p:spPr>
        <p:txBody>
          <a:bodyPr wrap="square" lIns="0" tIns="0" rIns="0" bIns="0" rtlCol="0" anchor="ctr"/>
          <a:lstStyle/>
          <a:p>
            <a:pPr marL="0" indent="0">
              <a:buNone/>
            </a:pPr>
            <a:r>
              <a:rPr lang="en-US" sz="940" dirty="0">
                <a:solidFill>
                  <a:srgbClr val="222222"/>
                </a:solidFill>
                <a:latin typeface="Gill Sans MT" pitchFamily="34" charset="0"/>
                <a:ea typeface="Gill Sans MT" pitchFamily="34" charset="-122"/>
                <a:cs typeface="Gill Sans MT" pitchFamily="34" charset="-120"/>
              </a:rPr>
              <a:t>Malafide update of besmette beheertool</a:t>
            </a:r>
            <a:endParaRPr lang="en-US" sz="940" dirty="0"/>
          </a:p>
        </p:txBody>
      </p:sp>
      <p:sp>
        <p:nvSpPr>
          <p:cNvPr id="36" name="Shape 33"/>
          <p:cNvSpPr/>
          <p:nvPr/>
        </p:nvSpPr>
        <p:spPr>
          <a:xfrm>
            <a:off x="6144768" y="2505456"/>
            <a:ext cx="1901952" cy="566928"/>
          </a:xfrm>
          <a:prstGeom prst="roundRect">
            <a:avLst>
              <a:gd name="adj" fmla="val 12903"/>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37" name="Shape 34"/>
          <p:cNvSpPr/>
          <p:nvPr/>
        </p:nvSpPr>
        <p:spPr>
          <a:xfrm>
            <a:off x="6163056" y="2578608"/>
            <a:ext cx="73152" cy="420624"/>
          </a:xfrm>
          <a:prstGeom prst="rect">
            <a:avLst/>
          </a:prstGeom>
          <a:solidFill>
            <a:srgbClr val="F4C757"/>
          </a:solidFill>
          <a:ln w="12700">
            <a:solidFill>
              <a:srgbClr val="F4C757">
                <a:alpha val="0"/>
              </a:srgbClr>
            </a:solidFill>
            <a:prstDash val="solid"/>
          </a:ln>
        </p:spPr>
        <p:txBody>
          <a:bodyPr/>
          <a:lstStyle/>
          <a:p>
            <a:endParaRPr lang="nl-NL"/>
          </a:p>
        </p:txBody>
      </p:sp>
      <p:sp>
        <p:nvSpPr>
          <p:cNvPr id="38" name="Text 35"/>
          <p:cNvSpPr/>
          <p:nvPr/>
        </p:nvSpPr>
        <p:spPr>
          <a:xfrm>
            <a:off x="6309360" y="2578608"/>
            <a:ext cx="1645920" cy="219456"/>
          </a:xfrm>
          <a:prstGeom prst="rect">
            <a:avLst/>
          </a:prstGeom>
          <a:noFill/>
          <a:ln/>
        </p:spPr>
        <p:txBody>
          <a:bodyPr wrap="square" lIns="0" tIns="0" rIns="0" bIns="0" rtlCol="0" anchor="ctr"/>
          <a:lstStyle/>
          <a:p>
            <a:pPr marL="0" indent="0">
              <a:buNone/>
            </a:pPr>
            <a:r>
              <a:rPr lang="en-US" sz="1320" b="1" dirty="0">
                <a:solidFill>
                  <a:srgbClr val="041B34"/>
                </a:solidFill>
                <a:latin typeface="Gill Sans MT" pitchFamily="34" charset="0"/>
                <a:ea typeface="Gill Sans MT" pitchFamily="34" charset="-122"/>
                <a:cs typeface="Gill Sans MT" pitchFamily="34" charset="-120"/>
              </a:rPr>
              <a:t>2. IT-systemen geraakt</a:t>
            </a:r>
            <a:endParaRPr lang="en-US" sz="1320" dirty="0"/>
          </a:p>
        </p:txBody>
      </p:sp>
      <p:sp>
        <p:nvSpPr>
          <p:cNvPr id="39" name="Text 36"/>
          <p:cNvSpPr/>
          <p:nvPr/>
        </p:nvSpPr>
        <p:spPr>
          <a:xfrm>
            <a:off x="6309360" y="2798064"/>
            <a:ext cx="1682496" cy="237744"/>
          </a:xfrm>
          <a:prstGeom prst="rect">
            <a:avLst/>
          </a:prstGeom>
          <a:noFill/>
          <a:ln/>
        </p:spPr>
        <p:txBody>
          <a:bodyPr wrap="square" lIns="0" tIns="0" rIns="0" bIns="0" rtlCol="0" anchor="ctr"/>
          <a:lstStyle/>
          <a:p>
            <a:pPr marL="0" indent="0">
              <a:buNone/>
            </a:pPr>
            <a:r>
              <a:rPr lang="en-US" sz="940" dirty="0">
                <a:solidFill>
                  <a:srgbClr val="222222"/>
                </a:solidFill>
                <a:latin typeface="Gill Sans MT" pitchFamily="34" charset="0"/>
                <a:ea typeface="Gill Sans MT" pitchFamily="34" charset="-122"/>
                <a:cs typeface="Gill Sans MT" pitchFamily="34" charset="-120"/>
              </a:rPr>
              <a:t>Inloggen, werkplekken en servers geraakt</a:t>
            </a:r>
            <a:endParaRPr lang="en-US" sz="940" dirty="0"/>
          </a:p>
        </p:txBody>
      </p:sp>
      <p:sp>
        <p:nvSpPr>
          <p:cNvPr id="40" name="Shape 37"/>
          <p:cNvSpPr/>
          <p:nvPr/>
        </p:nvSpPr>
        <p:spPr>
          <a:xfrm>
            <a:off x="6144768" y="3438144"/>
            <a:ext cx="1901952" cy="566928"/>
          </a:xfrm>
          <a:prstGeom prst="roundRect">
            <a:avLst>
              <a:gd name="adj" fmla="val 12903"/>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41" name="Shape 38"/>
          <p:cNvSpPr/>
          <p:nvPr/>
        </p:nvSpPr>
        <p:spPr>
          <a:xfrm>
            <a:off x="6163056" y="3511296"/>
            <a:ext cx="73152" cy="420624"/>
          </a:xfrm>
          <a:prstGeom prst="rect">
            <a:avLst/>
          </a:prstGeom>
          <a:solidFill>
            <a:srgbClr val="F4C757"/>
          </a:solidFill>
          <a:ln w="12700">
            <a:solidFill>
              <a:srgbClr val="F4C757">
                <a:alpha val="0"/>
              </a:srgbClr>
            </a:solidFill>
            <a:prstDash val="solid"/>
          </a:ln>
        </p:spPr>
        <p:txBody>
          <a:bodyPr/>
          <a:lstStyle/>
          <a:p>
            <a:endParaRPr lang="nl-NL"/>
          </a:p>
        </p:txBody>
      </p:sp>
      <p:sp>
        <p:nvSpPr>
          <p:cNvPr id="42" name="Text 39"/>
          <p:cNvSpPr/>
          <p:nvPr/>
        </p:nvSpPr>
        <p:spPr>
          <a:xfrm>
            <a:off x="6309360" y="3511296"/>
            <a:ext cx="1645920" cy="219456"/>
          </a:xfrm>
          <a:prstGeom prst="rect">
            <a:avLst/>
          </a:prstGeom>
          <a:noFill/>
          <a:ln/>
        </p:spPr>
        <p:txBody>
          <a:bodyPr wrap="square" lIns="0" tIns="0" rIns="0" bIns="0" rtlCol="0" anchor="ctr"/>
          <a:lstStyle/>
          <a:p>
            <a:pPr marL="0" indent="0">
              <a:buNone/>
            </a:pPr>
            <a:r>
              <a:rPr lang="en-US" sz="1320" b="1" dirty="0">
                <a:solidFill>
                  <a:srgbClr val="041B34"/>
                </a:solidFill>
                <a:latin typeface="Gill Sans MT" pitchFamily="34" charset="0"/>
                <a:ea typeface="Gill Sans MT" pitchFamily="34" charset="-122"/>
                <a:cs typeface="Gill Sans MT" pitchFamily="34" charset="-120"/>
              </a:rPr>
              <a:t>3. Processen vallen stil</a:t>
            </a:r>
            <a:endParaRPr lang="en-US" sz="1320" dirty="0"/>
          </a:p>
        </p:txBody>
      </p:sp>
      <p:sp>
        <p:nvSpPr>
          <p:cNvPr id="43" name="Text 40"/>
          <p:cNvSpPr/>
          <p:nvPr/>
        </p:nvSpPr>
        <p:spPr>
          <a:xfrm>
            <a:off x="6309360" y="3730752"/>
            <a:ext cx="1682496" cy="237744"/>
          </a:xfrm>
          <a:prstGeom prst="rect">
            <a:avLst/>
          </a:prstGeom>
          <a:noFill/>
          <a:ln/>
        </p:spPr>
        <p:txBody>
          <a:bodyPr wrap="square" lIns="0" tIns="0" rIns="0" bIns="0" rtlCol="0" anchor="ctr"/>
          <a:lstStyle/>
          <a:p>
            <a:pPr marL="0" indent="0">
              <a:buNone/>
            </a:pPr>
            <a:r>
              <a:rPr lang="en-US" sz="940" dirty="0">
                <a:solidFill>
                  <a:srgbClr val="222222"/>
                </a:solidFill>
                <a:latin typeface="Gill Sans MT" pitchFamily="34" charset="0"/>
                <a:ea typeface="Gill Sans MT" pitchFamily="34" charset="-122"/>
                <a:cs typeface="Gill Sans MT" pitchFamily="34" charset="-120"/>
              </a:rPr>
              <a:t>Planning, projecten en uitvoering onder druk</a:t>
            </a:r>
            <a:endParaRPr lang="en-US" sz="940" dirty="0"/>
          </a:p>
        </p:txBody>
      </p:sp>
      <p:sp>
        <p:nvSpPr>
          <p:cNvPr id="44" name="Shape 41"/>
          <p:cNvSpPr/>
          <p:nvPr/>
        </p:nvSpPr>
        <p:spPr>
          <a:xfrm>
            <a:off x="6144768" y="4370832"/>
            <a:ext cx="1901952" cy="566928"/>
          </a:xfrm>
          <a:prstGeom prst="roundRect">
            <a:avLst>
              <a:gd name="adj" fmla="val 12903"/>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45" name="Shape 42"/>
          <p:cNvSpPr/>
          <p:nvPr/>
        </p:nvSpPr>
        <p:spPr>
          <a:xfrm>
            <a:off x="6163056" y="4443984"/>
            <a:ext cx="73152" cy="420624"/>
          </a:xfrm>
          <a:prstGeom prst="rect">
            <a:avLst/>
          </a:prstGeom>
          <a:solidFill>
            <a:srgbClr val="F4C757"/>
          </a:solidFill>
          <a:ln w="12700">
            <a:solidFill>
              <a:srgbClr val="F4C757">
                <a:alpha val="0"/>
              </a:srgbClr>
            </a:solidFill>
            <a:prstDash val="solid"/>
          </a:ln>
        </p:spPr>
        <p:txBody>
          <a:bodyPr/>
          <a:lstStyle/>
          <a:p>
            <a:endParaRPr lang="nl-NL"/>
          </a:p>
        </p:txBody>
      </p:sp>
      <p:sp>
        <p:nvSpPr>
          <p:cNvPr id="46" name="Text 43"/>
          <p:cNvSpPr/>
          <p:nvPr/>
        </p:nvSpPr>
        <p:spPr>
          <a:xfrm>
            <a:off x="6309360" y="4443984"/>
            <a:ext cx="1645920" cy="219456"/>
          </a:xfrm>
          <a:prstGeom prst="rect">
            <a:avLst/>
          </a:prstGeom>
          <a:noFill/>
          <a:ln/>
        </p:spPr>
        <p:txBody>
          <a:bodyPr wrap="square" lIns="0" tIns="0" rIns="0" bIns="0" rtlCol="0" anchor="ctr"/>
          <a:lstStyle/>
          <a:p>
            <a:pPr marL="0" indent="0">
              <a:buNone/>
            </a:pPr>
            <a:r>
              <a:rPr lang="en-US" sz="1320" b="1" dirty="0">
                <a:solidFill>
                  <a:srgbClr val="041B34"/>
                </a:solidFill>
                <a:latin typeface="Gill Sans MT" pitchFamily="34" charset="0"/>
                <a:ea typeface="Gill Sans MT" pitchFamily="34" charset="-122"/>
                <a:cs typeface="Gill Sans MT" pitchFamily="34" charset="-120"/>
              </a:rPr>
              <a:t>4. Isoleren &amp; communiceren</a:t>
            </a:r>
            <a:endParaRPr lang="en-US" sz="1320" dirty="0"/>
          </a:p>
        </p:txBody>
      </p:sp>
      <p:sp>
        <p:nvSpPr>
          <p:cNvPr id="47" name="Text 44"/>
          <p:cNvSpPr/>
          <p:nvPr/>
        </p:nvSpPr>
        <p:spPr>
          <a:xfrm>
            <a:off x="6309360" y="4663440"/>
            <a:ext cx="1682496" cy="237744"/>
          </a:xfrm>
          <a:prstGeom prst="rect">
            <a:avLst/>
          </a:prstGeom>
          <a:noFill/>
          <a:ln/>
        </p:spPr>
        <p:txBody>
          <a:bodyPr wrap="square" lIns="0" tIns="0" rIns="0" bIns="0" rtlCol="0" anchor="ctr"/>
          <a:lstStyle/>
          <a:p>
            <a:pPr marL="0" indent="0">
              <a:buNone/>
            </a:pPr>
            <a:r>
              <a:rPr lang="en-US" sz="940" dirty="0">
                <a:solidFill>
                  <a:srgbClr val="222222"/>
                </a:solidFill>
                <a:latin typeface="Gill Sans MT" pitchFamily="34" charset="0"/>
                <a:ea typeface="Gill Sans MT" pitchFamily="34" charset="-122"/>
                <a:cs typeface="Gill Sans MT" pitchFamily="34" charset="-120"/>
              </a:rPr>
              <a:t>Systemen los, mensen informeren, keuzes maken</a:t>
            </a:r>
            <a:endParaRPr lang="en-US" sz="940" dirty="0"/>
          </a:p>
        </p:txBody>
      </p:sp>
      <p:sp>
        <p:nvSpPr>
          <p:cNvPr id="48" name="Shape 45"/>
          <p:cNvSpPr/>
          <p:nvPr/>
        </p:nvSpPr>
        <p:spPr>
          <a:xfrm>
            <a:off x="6144768" y="5303520"/>
            <a:ext cx="1901952" cy="566928"/>
          </a:xfrm>
          <a:prstGeom prst="roundRect">
            <a:avLst>
              <a:gd name="adj" fmla="val 12903"/>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49" name="Shape 46"/>
          <p:cNvSpPr/>
          <p:nvPr/>
        </p:nvSpPr>
        <p:spPr>
          <a:xfrm>
            <a:off x="6163056" y="5376672"/>
            <a:ext cx="73152" cy="420624"/>
          </a:xfrm>
          <a:prstGeom prst="rect">
            <a:avLst/>
          </a:prstGeom>
          <a:solidFill>
            <a:srgbClr val="F4C757"/>
          </a:solidFill>
          <a:ln w="12700">
            <a:solidFill>
              <a:srgbClr val="F4C757">
                <a:alpha val="0"/>
              </a:srgbClr>
            </a:solidFill>
            <a:prstDash val="solid"/>
          </a:ln>
        </p:spPr>
        <p:txBody>
          <a:bodyPr/>
          <a:lstStyle/>
          <a:p>
            <a:endParaRPr lang="nl-NL"/>
          </a:p>
        </p:txBody>
      </p:sp>
      <p:sp>
        <p:nvSpPr>
          <p:cNvPr id="50" name="Text 47"/>
          <p:cNvSpPr/>
          <p:nvPr/>
        </p:nvSpPr>
        <p:spPr>
          <a:xfrm>
            <a:off x="6309360" y="5376672"/>
            <a:ext cx="1645920" cy="219456"/>
          </a:xfrm>
          <a:prstGeom prst="rect">
            <a:avLst/>
          </a:prstGeom>
          <a:noFill/>
          <a:ln/>
        </p:spPr>
        <p:txBody>
          <a:bodyPr wrap="square" lIns="0" tIns="0" rIns="0" bIns="0" rtlCol="0" anchor="ctr"/>
          <a:lstStyle/>
          <a:p>
            <a:pPr marL="0" indent="0">
              <a:buNone/>
            </a:pPr>
            <a:r>
              <a:rPr lang="en-US" sz="1320" b="1" dirty="0">
                <a:solidFill>
                  <a:srgbClr val="041B34"/>
                </a:solidFill>
                <a:latin typeface="Gill Sans MT" pitchFamily="34" charset="0"/>
                <a:ea typeface="Gill Sans MT" pitchFamily="34" charset="-122"/>
                <a:cs typeface="Gill Sans MT" pitchFamily="34" charset="-120"/>
              </a:rPr>
              <a:t>5. Gefaseerd herstel</a:t>
            </a:r>
            <a:endParaRPr lang="en-US" sz="1320" dirty="0"/>
          </a:p>
        </p:txBody>
      </p:sp>
      <p:sp>
        <p:nvSpPr>
          <p:cNvPr id="51" name="Text 48"/>
          <p:cNvSpPr/>
          <p:nvPr/>
        </p:nvSpPr>
        <p:spPr>
          <a:xfrm>
            <a:off x="6309360" y="5596128"/>
            <a:ext cx="1682496" cy="237744"/>
          </a:xfrm>
          <a:prstGeom prst="rect">
            <a:avLst/>
          </a:prstGeom>
          <a:noFill/>
          <a:ln/>
        </p:spPr>
        <p:txBody>
          <a:bodyPr wrap="square" lIns="0" tIns="0" rIns="0" bIns="0" rtlCol="0" anchor="ctr"/>
          <a:lstStyle/>
          <a:p>
            <a:pPr marL="0" indent="0">
              <a:buNone/>
            </a:pPr>
            <a:r>
              <a:rPr lang="en-US" sz="940" dirty="0">
                <a:solidFill>
                  <a:srgbClr val="222222"/>
                </a:solidFill>
                <a:latin typeface="Gill Sans MT" pitchFamily="34" charset="0"/>
                <a:ea typeface="Gill Sans MT" pitchFamily="34" charset="-122"/>
                <a:cs typeface="Gill Sans MT" pitchFamily="34" charset="-120"/>
              </a:rPr>
              <a:t>Inventariseren, opschonen en gecontroleerd terugbrengen</a:t>
            </a:r>
            <a:endParaRPr lang="en-US" sz="940" dirty="0"/>
          </a:p>
        </p:txBody>
      </p:sp>
      <p:sp>
        <p:nvSpPr>
          <p:cNvPr id="52" name="Shape 49"/>
          <p:cNvSpPr/>
          <p:nvPr/>
        </p:nvSpPr>
        <p:spPr>
          <a:xfrm>
            <a:off x="8339328" y="2057400"/>
            <a:ext cx="2999232" cy="1965960"/>
          </a:xfrm>
          <a:prstGeom prst="roundRect">
            <a:avLst>
              <a:gd name="adj" fmla="val 3721"/>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53" name="Shape 50"/>
          <p:cNvSpPr/>
          <p:nvPr/>
        </p:nvSpPr>
        <p:spPr>
          <a:xfrm>
            <a:off x="8357616" y="2130552"/>
            <a:ext cx="73152" cy="1819656"/>
          </a:xfrm>
          <a:prstGeom prst="rect">
            <a:avLst/>
          </a:prstGeom>
          <a:solidFill>
            <a:srgbClr val="F4C757"/>
          </a:solidFill>
          <a:ln w="12700">
            <a:solidFill>
              <a:srgbClr val="F4C757">
                <a:alpha val="0"/>
              </a:srgbClr>
            </a:solidFill>
            <a:prstDash val="solid"/>
          </a:ln>
        </p:spPr>
        <p:txBody>
          <a:bodyPr/>
          <a:lstStyle/>
          <a:p>
            <a:endParaRPr lang="nl-NL"/>
          </a:p>
        </p:txBody>
      </p:sp>
      <p:sp>
        <p:nvSpPr>
          <p:cNvPr id="54" name="Text 51"/>
          <p:cNvSpPr/>
          <p:nvPr/>
        </p:nvSpPr>
        <p:spPr>
          <a:xfrm>
            <a:off x="8503920" y="2130552"/>
            <a:ext cx="2743200" cy="219456"/>
          </a:xfrm>
          <a:prstGeom prst="rect">
            <a:avLst/>
          </a:prstGeom>
          <a:noFill/>
          <a:ln/>
        </p:spPr>
        <p:txBody>
          <a:bodyPr wrap="square" lIns="0" tIns="0" rIns="0" bIns="0" rtlCol="0" anchor="ctr"/>
          <a:lstStyle/>
          <a:p>
            <a:pPr marL="0" indent="0">
              <a:buNone/>
            </a:pPr>
            <a:r>
              <a:rPr lang="en-US" sz="1750" b="1" dirty="0">
                <a:solidFill>
                  <a:srgbClr val="041B34"/>
                </a:solidFill>
                <a:latin typeface="Gill Sans MT" pitchFamily="34" charset="0"/>
                <a:ea typeface="Gill Sans MT" pitchFamily="34" charset="-122"/>
                <a:cs typeface="Gill Sans MT" pitchFamily="34" charset="-120"/>
              </a:rPr>
              <a:t>Kernpunt</a:t>
            </a:r>
            <a:endParaRPr lang="en-US" sz="1750" dirty="0"/>
          </a:p>
        </p:txBody>
      </p:sp>
      <p:sp>
        <p:nvSpPr>
          <p:cNvPr id="55" name="Text 52"/>
          <p:cNvSpPr/>
          <p:nvPr/>
        </p:nvSpPr>
        <p:spPr>
          <a:xfrm>
            <a:off x="8503920" y="2350008"/>
            <a:ext cx="2779776" cy="1636776"/>
          </a:xfrm>
          <a:prstGeom prst="rect">
            <a:avLst/>
          </a:prstGeom>
          <a:noFill/>
          <a:ln/>
        </p:spPr>
        <p:txBody>
          <a:bodyPr wrap="square" lIns="0" tIns="0" rIns="0" bIns="0" rtlCol="0" anchor="ctr"/>
          <a:lstStyle/>
          <a:p>
            <a:pPr marL="0" indent="0">
              <a:buNone/>
            </a:pPr>
            <a:r>
              <a:rPr lang="en-US" sz="1330" dirty="0">
                <a:solidFill>
                  <a:srgbClr val="222222"/>
                </a:solidFill>
                <a:latin typeface="Gill Sans MT" pitchFamily="34" charset="0"/>
                <a:ea typeface="Gill Sans MT" pitchFamily="34" charset="-122"/>
                <a:cs typeface="Gill Sans MT" pitchFamily="34" charset="-120"/>
              </a:rPr>
              <a:t>Via één leverancier kan een technisch incident snel uitgroeien tot een organisatiebrede crisis. Daarom moet weerbaarheid óók buiten IT geregeld zijn.</a:t>
            </a:r>
            <a:endParaRPr lang="en-US" sz="13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Technisch_en_organisatorisch_verbeterplan_Billy_Bonka/slide-8.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411480" y="219456"/>
            <a:ext cx="10058400" cy="566928"/>
          </a:xfrm>
          <a:prstGeom prst="rect">
            <a:avLst/>
          </a:prstGeom>
          <a:solidFill>
            <a:srgbClr val="103781"/>
          </a:solidFill>
          <a:ln w="12700">
            <a:solidFill>
              <a:srgbClr val="103781">
                <a:alpha val="0"/>
              </a:srgbClr>
            </a:solidFill>
            <a:prstDash val="solid"/>
          </a:ln>
        </p:spPr>
        <p:txBody>
          <a:bodyPr/>
          <a:lstStyle/>
          <a:p>
            <a:endParaRPr lang="nl-NL"/>
          </a:p>
        </p:txBody>
      </p:sp>
      <p:sp>
        <p:nvSpPr>
          <p:cNvPr id="4" name="Text 1"/>
          <p:cNvSpPr/>
          <p:nvPr/>
        </p:nvSpPr>
        <p:spPr>
          <a:xfrm>
            <a:off x="502920" y="292608"/>
            <a:ext cx="9875520" cy="402336"/>
          </a:xfrm>
          <a:prstGeom prst="rect">
            <a:avLst/>
          </a:prstGeom>
          <a:noFill/>
          <a:ln/>
        </p:spPr>
        <p:txBody>
          <a:bodyPr wrap="square" lIns="0" tIns="0" rIns="0" bIns="0" rtlCol="0" anchor="ctr"/>
          <a:lstStyle/>
          <a:p>
            <a:pPr marL="0" indent="0">
              <a:buNone/>
            </a:pPr>
            <a:r>
              <a:rPr lang="en-US" sz="2600" dirty="0">
                <a:solidFill>
                  <a:srgbClr val="FFFFFF"/>
                </a:solidFill>
                <a:latin typeface="Gill Sans MT" pitchFamily="34" charset="0"/>
                <a:ea typeface="Gill Sans MT" pitchFamily="34" charset="-122"/>
                <a:cs typeface="Gill Sans MT" pitchFamily="34" charset="-120"/>
              </a:rPr>
              <a:t>VRAAG 1 — CRUCIALE AFDELINGEN + “IN THE LEAD”</a:t>
            </a:r>
            <a:endParaRPr lang="en-US" sz="2600" dirty="0"/>
          </a:p>
        </p:txBody>
      </p:sp>
      <p:sp>
        <p:nvSpPr>
          <p:cNvPr id="5" name="Shape 2"/>
          <p:cNvSpPr/>
          <p:nvPr/>
        </p:nvSpPr>
        <p:spPr>
          <a:xfrm>
            <a:off x="713232" y="1325880"/>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6" name="Shape 3"/>
          <p:cNvSpPr/>
          <p:nvPr/>
        </p:nvSpPr>
        <p:spPr>
          <a:xfrm>
            <a:off x="731520" y="1399032"/>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7" name="Shape 4"/>
          <p:cNvSpPr/>
          <p:nvPr/>
        </p:nvSpPr>
        <p:spPr>
          <a:xfrm>
            <a:off x="6336792" y="1325880"/>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8" name="Shape 5"/>
          <p:cNvSpPr/>
          <p:nvPr/>
        </p:nvSpPr>
        <p:spPr>
          <a:xfrm>
            <a:off x="6355080" y="1399032"/>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9" name="Shape 6"/>
          <p:cNvSpPr/>
          <p:nvPr/>
        </p:nvSpPr>
        <p:spPr>
          <a:xfrm>
            <a:off x="713232" y="2395728"/>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10" name="Shape 7"/>
          <p:cNvSpPr/>
          <p:nvPr/>
        </p:nvSpPr>
        <p:spPr>
          <a:xfrm>
            <a:off x="731520" y="2468880"/>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11" name="Shape 8"/>
          <p:cNvSpPr/>
          <p:nvPr/>
        </p:nvSpPr>
        <p:spPr>
          <a:xfrm>
            <a:off x="6336792" y="2395728"/>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12" name="Shape 9"/>
          <p:cNvSpPr/>
          <p:nvPr/>
        </p:nvSpPr>
        <p:spPr>
          <a:xfrm>
            <a:off x="6355080" y="2468880"/>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13" name="Shape 10"/>
          <p:cNvSpPr/>
          <p:nvPr/>
        </p:nvSpPr>
        <p:spPr>
          <a:xfrm>
            <a:off x="713232" y="3465576"/>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14" name="Shape 11"/>
          <p:cNvSpPr/>
          <p:nvPr/>
        </p:nvSpPr>
        <p:spPr>
          <a:xfrm>
            <a:off x="731520" y="3538728"/>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15" name="Shape 12"/>
          <p:cNvSpPr/>
          <p:nvPr/>
        </p:nvSpPr>
        <p:spPr>
          <a:xfrm>
            <a:off x="6336792" y="3465576"/>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16" name="Shape 13"/>
          <p:cNvSpPr/>
          <p:nvPr/>
        </p:nvSpPr>
        <p:spPr>
          <a:xfrm>
            <a:off x="6355080" y="3538728"/>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17" name="Shape 14"/>
          <p:cNvSpPr/>
          <p:nvPr/>
        </p:nvSpPr>
        <p:spPr>
          <a:xfrm>
            <a:off x="713232" y="4535424"/>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18" name="Shape 15"/>
          <p:cNvSpPr/>
          <p:nvPr/>
        </p:nvSpPr>
        <p:spPr>
          <a:xfrm>
            <a:off x="731520" y="4608576"/>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19" name="Shape 16"/>
          <p:cNvSpPr/>
          <p:nvPr/>
        </p:nvSpPr>
        <p:spPr>
          <a:xfrm>
            <a:off x="6336792" y="4535424"/>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20" name="Shape 17"/>
          <p:cNvSpPr/>
          <p:nvPr/>
        </p:nvSpPr>
        <p:spPr>
          <a:xfrm>
            <a:off x="6355080" y="4608576"/>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21" name="Shape 18"/>
          <p:cNvSpPr/>
          <p:nvPr/>
        </p:nvSpPr>
        <p:spPr>
          <a:xfrm>
            <a:off x="713232" y="1325880"/>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22" name="Shape 19"/>
          <p:cNvSpPr/>
          <p:nvPr/>
        </p:nvSpPr>
        <p:spPr>
          <a:xfrm>
            <a:off x="731520" y="1399032"/>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23" name="Text 20"/>
          <p:cNvSpPr/>
          <p:nvPr/>
        </p:nvSpPr>
        <p:spPr>
          <a:xfrm>
            <a:off x="877824" y="1399032"/>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Directie/management</a:t>
            </a:r>
            <a:endParaRPr lang="en-US" sz="1620" dirty="0"/>
          </a:p>
        </p:txBody>
      </p:sp>
      <p:sp>
        <p:nvSpPr>
          <p:cNvPr id="24" name="Text 21"/>
          <p:cNvSpPr/>
          <p:nvPr/>
        </p:nvSpPr>
        <p:spPr>
          <a:xfrm>
            <a:off x="877824" y="1618488"/>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Bepaalt prioriteiten, continuïteit, escalatie en afstemming met externe partners.</a:t>
            </a:r>
            <a:endParaRPr lang="en-US" sz="1240" dirty="0"/>
          </a:p>
        </p:txBody>
      </p:sp>
      <p:sp>
        <p:nvSpPr>
          <p:cNvPr id="25" name="Shape 22"/>
          <p:cNvSpPr/>
          <p:nvPr/>
        </p:nvSpPr>
        <p:spPr>
          <a:xfrm>
            <a:off x="6336792" y="1325880"/>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26" name="Shape 23"/>
          <p:cNvSpPr/>
          <p:nvPr/>
        </p:nvSpPr>
        <p:spPr>
          <a:xfrm>
            <a:off x="6355080" y="1399032"/>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27" name="Text 24"/>
          <p:cNvSpPr/>
          <p:nvPr/>
        </p:nvSpPr>
        <p:spPr>
          <a:xfrm>
            <a:off x="6501384" y="1399032"/>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Communicatie</a:t>
            </a:r>
            <a:endParaRPr lang="en-US" sz="1620" dirty="0"/>
          </a:p>
        </p:txBody>
      </p:sp>
      <p:sp>
        <p:nvSpPr>
          <p:cNvPr id="28" name="Text 25"/>
          <p:cNvSpPr/>
          <p:nvPr/>
        </p:nvSpPr>
        <p:spPr>
          <a:xfrm>
            <a:off x="6501384" y="1618488"/>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Regelt interne/externe updates, Q&amp;A en voorkomt ruis of paniek tijdens het incident.</a:t>
            </a:r>
            <a:endParaRPr lang="en-US" sz="1240" dirty="0"/>
          </a:p>
        </p:txBody>
      </p:sp>
      <p:sp>
        <p:nvSpPr>
          <p:cNvPr id="29" name="Shape 26"/>
          <p:cNvSpPr/>
          <p:nvPr/>
        </p:nvSpPr>
        <p:spPr>
          <a:xfrm>
            <a:off x="713232" y="2395728"/>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30" name="Shape 27"/>
          <p:cNvSpPr/>
          <p:nvPr/>
        </p:nvSpPr>
        <p:spPr>
          <a:xfrm>
            <a:off x="731520" y="2468880"/>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31" name="Text 28"/>
          <p:cNvSpPr/>
          <p:nvPr/>
        </p:nvSpPr>
        <p:spPr>
          <a:xfrm>
            <a:off x="877824" y="2468880"/>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HR</a:t>
            </a:r>
            <a:endParaRPr lang="en-US" sz="1620" dirty="0"/>
          </a:p>
        </p:txBody>
      </p:sp>
      <p:sp>
        <p:nvSpPr>
          <p:cNvPr id="32" name="Text 29"/>
          <p:cNvSpPr/>
          <p:nvPr/>
        </p:nvSpPr>
        <p:spPr>
          <a:xfrm>
            <a:off x="877824" y="2688336"/>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Ondersteunt inzet, roosters, welzijn en praktische hulp voor medewerkers.</a:t>
            </a:r>
            <a:endParaRPr lang="en-US" sz="1240" dirty="0"/>
          </a:p>
        </p:txBody>
      </p:sp>
      <p:sp>
        <p:nvSpPr>
          <p:cNvPr id="33" name="Shape 30"/>
          <p:cNvSpPr/>
          <p:nvPr/>
        </p:nvSpPr>
        <p:spPr>
          <a:xfrm>
            <a:off x="6336792" y="2395728"/>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34" name="Shape 31"/>
          <p:cNvSpPr/>
          <p:nvPr/>
        </p:nvSpPr>
        <p:spPr>
          <a:xfrm>
            <a:off x="6355080" y="2468880"/>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35" name="Text 32"/>
          <p:cNvSpPr/>
          <p:nvPr/>
        </p:nvSpPr>
        <p:spPr>
          <a:xfrm>
            <a:off x="6501384" y="2468880"/>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Legal / Compliance</a:t>
            </a:r>
            <a:endParaRPr lang="en-US" sz="1620" dirty="0"/>
          </a:p>
        </p:txBody>
      </p:sp>
      <p:sp>
        <p:nvSpPr>
          <p:cNvPr id="36" name="Text 33"/>
          <p:cNvSpPr/>
          <p:nvPr/>
        </p:nvSpPr>
        <p:spPr>
          <a:xfrm>
            <a:off x="6501384" y="2688336"/>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Bewaakt meldplichten, contracten, aansprakelijkheid en juridische risico’s.</a:t>
            </a:r>
            <a:endParaRPr lang="en-US" sz="1240" dirty="0"/>
          </a:p>
        </p:txBody>
      </p:sp>
      <p:sp>
        <p:nvSpPr>
          <p:cNvPr id="37" name="Shape 34"/>
          <p:cNvSpPr/>
          <p:nvPr/>
        </p:nvSpPr>
        <p:spPr>
          <a:xfrm>
            <a:off x="713232" y="3465576"/>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38" name="Shape 35"/>
          <p:cNvSpPr/>
          <p:nvPr/>
        </p:nvSpPr>
        <p:spPr>
          <a:xfrm>
            <a:off x="731520" y="3538728"/>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39" name="Text 36"/>
          <p:cNvSpPr/>
          <p:nvPr/>
        </p:nvSpPr>
        <p:spPr>
          <a:xfrm>
            <a:off x="877824" y="3538728"/>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Operations / projectteams</a:t>
            </a:r>
            <a:endParaRPr lang="en-US" sz="1620" dirty="0"/>
          </a:p>
        </p:txBody>
      </p:sp>
      <p:sp>
        <p:nvSpPr>
          <p:cNvPr id="40" name="Text 37"/>
          <p:cNvSpPr/>
          <p:nvPr/>
        </p:nvSpPr>
        <p:spPr>
          <a:xfrm>
            <a:off x="877824" y="3758184"/>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Vertalen de crisis naar “wat kan wel?”, inventariseren impact en houden uitvoering gaande.</a:t>
            </a:r>
            <a:endParaRPr lang="en-US" sz="1240" dirty="0"/>
          </a:p>
        </p:txBody>
      </p:sp>
      <p:sp>
        <p:nvSpPr>
          <p:cNvPr id="41" name="Shape 38"/>
          <p:cNvSpPr/>
          <p:nvPr/>
        </p:nvSpPr>
        <p:spPr>
          <a:xfrm>
            <a:off x="6336792" y="3465576"/>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42" name="Shape 39"/>
          <p:cNvSpPr/>
          <p:nvPr/>
        </p:nvSpPr>
        <p:spPr>
          <a:xfrm>
            <a:off x="6355080" y="3538728"/>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43" name="Text 40"/>
          <p:cNvSpPr/>
          <p:nvPr/>
        </p:nvSpPr>
        <p:spPr>
          <a:xfrm>
            <a:off x="6501384" y="3538728"/>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In the lead: crisisteam</a:t>
            </a:r>
            <a:endParaRPr lang="en-US" sz="1620" dirty="0"/>
          </a:p>
        </p:txBody>
      </p:sp>
      <p:sp>
        <p:nvSpPr>
          <p:cNvPr id="44" name="Text 41"/>
          <p:cNvSpPr/>
          <p:nvPr/>
        </p:nvSpPr>
        <p:spPr>
          <a:xfrm>
            <a:off x="6501384" y="3758184"/>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De regie ligt bij directie/management; IT/Security leidt het technische herstel binnen die crisisstructuur.</a:t>
            </a:r>
            <a:endParaRPr lang="en-US" sz="1240" dirty="0"/>
          </a:p>
        </p:txBody>
      </p:sp>
      <p:sp>
        <p:nvSpPr>
          <p:cNvPr id="45" name="Shape 42"/>
          <p:cNvSpPr/>
          <p:nvPr/>
        </p:nvSpPr>
        <p:spPr>
          <a:xfrm>
            <a:off x="713232" y="4535424"/>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46" name="Shape 43"/>
          <p:cNvSpPr/>
          <p:nvPr/>
        </p:nvSpPr>
        <p:spPr>
          <a:xfrm>
            <a:off x="731520" y="4608576"/>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47" name="Text 44"/>
          <p:cNvSpPr/>
          <p:nvPr/>
        </p:nvSpPr>
        <p:spPr>
          <a:xfrm>
            <a:off x="877824" y="4608576"/>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Waarom niet IT alleen?</a:t>
            </a:r>
            <a:endParaRPr lang="en-US" sz="1620" dirty="0"/>
          </a:p>
        </p:txBody>
      </p:sp>
      <p:sp>
        <p:nvSpPr>
          <p:cNvPr id="48" name="Text 45"/>
          <p:cNvSpPr/>
          <p:nvPr/>
        </p:nvSpPr>
        <p:spPr>
          <a:xfrm>
            <a:off x="877824" y="4828032"/>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Een cyberaanval raakt klanten, reputatie, planning, personeel en bedrijfscontinuïteit.</a:t>
            </a:r>
            <a:endParaRPr lang="en-US" sz="1240" dirty="0"/>
          </a:p>
        </p:txBody>
      </p:sp>
      <p:sp>
        <p:nvSpPr>
          <p:cNvPr id="49" name="Shape 46"/>
          <p:cNvSpPr/>
          <p:nvPr/>
        </p:nvSpPr>
        <p:spPr>
          <a:xfrm>
            <a:off x="6336792" y="4535424"/>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50" name="Shape 47"/>
          <p:cNvSpPr/>
          <p:nvPr/>
        </p:nvSpPr>
        <p:spPr>
          <a:xfrm>
            <a:off x="6355080" y="4608576"/>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51" name="Text 48"/>
          <p:cNvSpPr/>
          <p:nvPr/>
        </p:nvSpPr>
        <p:spPr>
          <a:xfrm>
            <a:off x="6501384" y="4608576"/>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Samengevat</a:t>
            </a:r>
            <a:endParaRPr lang="en-US" sz="1620" dirty="0"/>
          </a:p>
        </p:txBody>
      </p:sp>
      <p:sp>
        <p:nvSpPr>
          <p:cNvPr id="52" name="Text 49"/>
          <p:cNvSpPr/>
          <p:nvPr/>
        </p:nvSpPr>
        <p:spPr>
          <a:xfrm>
            <a:off x="6501384" y="4828032"/>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Cyberweerbaarheid is een organisatievraagstuk: techniek, processen en besluitvorming moeten samenkomen.</a:t>
            </a:r>
            <a:endParaRPr lang="en-US" sz="1240" dirty="0"/>
          </a:p>
        </p:txBody>
      </p:sp>
      <p:sp>
        <p:nvSpPr>
          <p:cNvPr id="53" name="Shape 50"/>
          <p:cNvSpPr>
            <a:spLocks noGrp="1" noRot="1" noMove="1" noResize="1" noEditPoints="1" noAdjustHandles="1" noChangeArrowheads="1" noChangeShapeType="1"/>
          </p:cNvSpPr>
          <p:nvPr/>
        </p:nvSpPr>
        <p:spPr>
          <a:xfrm>
            <a:off x="731520" y="5696712"/>
            <a:ext cx="10789920" cy="201168"/>
          </a:xfrm>
          <a:prstGeom prst="rect">
            <a:avLst/>
          </a:prstGeom>
          <a:solidFill>
            <a:srgbClr val="103781"/>
          </a:solidFill>
          <a:ln w="12700">
            <a:solidFill>
              <a:srgbClr val="103781">
                <a:alpha val="0"/>
              </a:srgbClr>
            </a:solidFill>
            <a:prstDash val="solid"/>
          </a:ln>
        </p:spPr>
        <p:txBody>
          <a:bodyPr/>
          <a:lstStyle/>
          <a:p>
            <a:endParaRPr lang="nl-NL"/>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Technisch_en_organisatorisch_verbeterplan_Billy_Bonka/slide-9.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411480" y="219456"/>
            <a:ext cx="10241280" cy="566928"/>
          </a:xfrm>
          <a:prstGeom prst="rect">
            <a:avLst/>
          </a:prstGeom>
          <a:solidFill>
            <a:srgbClr val="103781"/>
          </a:solidFill>
          <a:ln w="12700">
            <a:solidFill>
              <a:srgbClr val="103781">
                <a:alpha val="0"/>
              </a:srgbClr>
            </a:solidFill>
            <a:prstDash val="solid"/>
          </a:ln>
        </p:spPr>
        <p:txBody>
          <a:bodyPr/>
          <a:lstStyle/>
          <a:p>
            <a:endParaRPr lang="nl-NL"/>
          </a:p>
        </p:txBody>
      </p:sp>
      <p:sp>
        <p:nvSpPr>
          <p:cNvPr id="4" name="Text 1"/>
          <p:cNvSpPr/>
          <p:nvPr/>
        </p:nvSpPr>
        <p:spPr>
          <a:xfrm>
            <a:off x="502920" y="292608"/>
            <a:ext cx="9875520" cy="402336"/>
          </a:xfrm>
          <a:prstGeom prst="rect">
            <a:avLst/>
          </a:prstGeom>
          <a:noFill/>
          <a:ln/>
        </p:spPr>
        <p:txBody>
          <a:bodyPr wrap="square" lIns="0" tIns="0" rIns="0" bIns="0" rtlCol="0" anchor="ctr"/>
          <a:lstStyle/>
          <a:p>
            <a:pPr marL="0" indent="0">
              <a:buNone/>
            </a:pPr>
            <a:r>
              <a:rPr lang="en-US" sz="2600" dirty="0">
                <a:solidFill>
                  <a:srgbClr val="FFFFFF"/>
                </a:solidFill>
                <a:latin typeface="Gill Sans MT" pitchFamily="34" charset="0"/>
                <a:ea typeface="Gill Sans MT" pitchFamily="34" charset="-122"/>
                <a:cs typeface="Gill Sans MT" pitchFamily="34" charset="-120"/>
              </a:rPr>
              <a:t>VRAAG 2 — VOORBEREIDEN IN 3 LAGEN</a:t>
            </a:r>
            <a:endParaRPr lang="en-US" sz="2600" dirty="0"/>
          </a:p>
        </p:txBody>
      </p:sp>
      <p:sp>
        <p:nvSpPr>
          <p:cNvPr id="5" name="Shape 2"/>
          <p:cNvSpPr/>
          <p:nvPr/>
        </p:nvSpPr>
        <p:spPr>
          <a:xfrm>
            <a:off x="502920" y="1371600"/>
            <a:ext cx="3611880" cy="3950208"/>
          </a:xfrm>
          <a:prstGeom prst="roundRect">
            <a:avLst/>
          </a:prstGeom>
          <a:solidFill>
            <a:srgbClr val="F1E8C7"/>
          </a:solidFill>
          <a:ln w="12700">
            <a:solidFill>
              <a:srgbClr val="163554"/>
            </a:solidFill>
            <a:prstDash val="solid"/>
          </a:ln>
        </p:spPr>
        <p:txBody>
          <a:bodyPr/>
          <a:lstStyle/>
          <a:p>
            <a:endParaRPr lang="nl-NL"/>
          </a:p>
        </p:txBody>
      </p:sp>
      <p:sp>
        <p:nvSpPr>
          <p:cNvPr id="6" name="Shape 3"/>
          <p:cNvSpPr/>
          <p:nvPr/>
        </p:nvSpPr>
        <p:spPr>
          <a:xfrm>
            <a:off x="4544568" y="1371600"/>
            <a:ext cx="3611880" cy="3950208"/>
          </a:xfrm>
          <a:prstGeom prst="roundRect">
            <a:avLst/>
          </a:prstGeom>
          <a:solidFill>
            <a:srgbClr val="F1E8C7"/>
          </a:solidFill>
          <a:ln w="12700">
            <a:solidFill>
              <a:srgbClr val="163554"/>
            </a:solidFill>
            <a:prstDash val="solid"/>
          </a:ln>
        </p:spPr>
        <p:txBody>
          <a:bodyPr/>
          <a:lstStyle/>
          <a:p>
            <a:endParaRPr lang="nl-NL"/>
          </a:p>
        </p:txBody>
      </p:sp>
      <p:sp>
        <p:nvSpPr>
          <p:cNvPr id="7" name="Shape 4"/>
          <p:cNvSpPr/>
          <p:nvPr/>
        </p:nvSpPr>
        <p:spPr>
          <a:xfrm>
            <a:off x="8586216" y="1371600"/>
            <a:ext cx="3090672" cy="3950208"/>
          </a:xfrm>
          <a:prstGeom prst="roundRect">
            <a:avLst/>
          </a:prstGeom>
          <a:solidFill>
            <a:srgbClr val="F1E8C7"/>
          </a:solidFill>
          <a:ln w="12700">
            <a:solidFill>
              <a:srgbClr val="163554"/>
            </a:solidFill>
            <a:prstDash val="solid"/>
          </a:ln>
        </p:spPr>
        <p:txBody>
          <a:bodyPr/>
          <a:lstStyle/>
          <a:p>
            <a:endParaRPr lang="nl-NL"/>
          </a:p>
        </p:txBody>
      </p:sp>
      <p:sp>
        <p:nvSpPr>
          <p:cNvPr id="8" name="Shape 5"/>
          <p:cNvSpPr/>
          <p:nvPr/>
        </p:nvSpPr>
        <p:spPr>
          <a:xfrm>
            <a:off x="649224" y="1517904"/>
            <a:ext cx="384048" cy="384048"/>
          </a:xfrm>
          <a:prstGeom prst="ellipse">
            <a:avLst/>
          </a:prstGeom>
          <a:solidFill>
            <a:srgbClr val="F4C757"/>
          </a:solidFill>
          <a:ln w="12700">
            <a:solidFill>
              <a:srgbClr val="F4C757">
                <a:alpha val="0"/>
              </a:srgbClr>
            </a:solidFill>
            <a:prstDash val="solid"/>
          </a:ln>
        </p:spPr>
        <p:txBody>
          <a:bodyPr/>
          <a:lstStyle/>
          <a:p>
            <a:endParaRPr lang="nl-NL"/>
          </a:p>
        </p:txBody>
      </p:sp>
      <p:sp>
        <p:nvSpPr>
          <p:cNvPr id="9" name="Text 6"/>
          <p:cNvSpPr/>
          <p:nvPr/>
        </p:nvSpPr>
        <p:spPr>
          <a:xfrm>
            <a:off x="649224" y="1527048"/>
            <a:ext cx="384048" cy="384048"/>
          </a:xfrm>
          <a:prstGeom prst="rect">
            <a:avLst/>
          </a:prstGeom>
          <a:noFill/>
          <a:ln/>
        </p:spPr>
        <p:txBody>
          <a:bodyPr wrap="square" lIns="0" tIns="0" rIns="0" bIns="0" rtlCol="0" anchor="ctr"/>
          <a:lstStyle/>
          <a:p>
            <a:pPr marL="0" indent="0" algn="ctr">
              <a:buNone/>
            </a:pPr>
            <a:r>
              <a:rPr lang="en-US" sz="1700" b="1" dirty="0">
                <a:solidFill>
                  <a:srgbClr val="041B34"/>
                </a:solidFill>
                <a:latin typeface="Gill Sans MT" pitchFamily="34" charset="0"/>
                <a:ea typeface="Gill Sans MT" pitchFamily="34" charset="-122"/>
                <a:cs typeface="Gill Sans MT" pitchFamily="34" charset="-120"/>
              </a:rPr>
              <a:t>1</a:t>
            </a:r>
            <a:endParaRPr lang="en-US" sz="1700" dirty="0"/>
          </a:p>
        </p:txBody>
      </p:sp>
      <p:sp>
        <p:nvSpPr>
          <p:cNvPr id="10" name="Text 7"/>
          <p:cNvSpPr/>
          <p:nvPr/>
        </p:nvSpPr>
        <p:spPr>
          <a:xfrm>
            <a:off x="1124712" y="1536192"/>
            <a:ext cx="2843784" cy="256032"/>
          </a:xfrm>
          <a:prstGeom prst="rect">
            <a:avLst/>
          </a:prstGeom>
          <a:noFill/>
          <a:ln/>
        </p:spPr>
        <p:txBody>
          <a:bodyPr wrap="square" lIns="0" tIns="0" rIns="0" bIns="0" rtlCol="0" anchor="ctr"/>
          <a:lstStyle/>
          <a:p>
            <a:pPr marL="0" indent="0">
              <a:buNone/>
            </a:pPr>
            <a:r>
              <a:rPr lang="en-US" sz="1720" b="1" dirty="0">
                <a:solidFill>
                  <a:srgbClr val="041B34"/>
                </a:solidFill>
                <a:latin typeface="Gill Sans MT" pitchFamily="34" charset="0"/>
                <a:ea typeface="Gill Sans MT" pitchFamily="34" charset="-122"/>
                <a:cs typeface="Gill Sans MT" pitchFamily="34" charset="-120"/>
              </a:rPr>
              <a:t>Technisch</a:t>
            </a:r>
            <a:endParaRPr lang="en-US" sz="1720" dirty="0"/>
          </a:p>
        </p:txBody>
      </p:sp>
      <p:sp>
        <p:nvSpPr>
          <p:cNvPr id="11" name="Text 8"/>
          <p:cNvSpPr/>
          <p:nvPr/>
        </p:nvSpPr>
        <p:spPr>
          <a:xfrm>
            <a:off x="667512" y="1901952"/>
            <a:ext cx="3300984" cy="384048"/>
          </a:xfrm>
          <a:prstGeom prst="rect">
            <a:avLst/>
          </a:prstGeom>
          <a:noFill/>
          <a:ln/>
        </p:spPr>
        <p:txBody>
          <a:bodyPr wrap="square" lIns="0" tIns="0" rIns="0" bIns="0" rtlCol="0" anchor="ctr"/>
          <a:lstStyle/>
          <a:p>
            <a:pPr marL="0" indent="0">
              <a:buNone/>
            </a:pPr>
            <a:r>
              <a:rPr lang="en-US" sz="1250" i="1" dirty="0">
                <a:solidFill>
                  <a:srgbClr val="C79B2E"/>
                </a:solidFill>
                <a:latin typeface="Gill Sans MT" pitchFamily="34" charset="0"/>
                <a:ea typeface="Gill Sans MT" pitchFamily="34" charset="-122"/>
                <a:cs typeface="Gill Sans MT" pitchFamily="34" charset="-120"/>
              </a:rPr>
              <a:t>Doel: aanvallen moeilijker maken en herstel versnellen</a:t>
            </a:r>
            <a:endParaRPr lang="en-US" sz="1250" dirty="0"/>
          </a:p>
        </p:txBody>
      </p:sp>
      <p:sp>
        <p:nvSpPr>
          <p:cNvPr id="12" name="Shape 9"/>
          <p:cNvSpPr/>
          <p:nvPr/>
        </p:nvSpPr>
        <p:spPr>
          <a:xfrm>
            <a:off x="667512" y="2423160"/>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3" name="Text 10"/>
          <p:cNvSpPr/>
          <p:nvPr/>
        </p:nvSpPr>
        <p:spPr>
          <a:xfrm>
            <a:off x="804672" y="2331720"/>
            <a:ext cx="3200400"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MFA op beheerders en kritieke accounts</a:t>
            </a:r>
            <a:endParaRPr lang="en-US" sz="1270" dirty="0"/>
          </a:p>
        </p:txBody>
      </p:sp>
      <p:sp>
        <p:nvSpPr>
          <p:cNvPr id="14" name="Shape 11"/>
          <p:cNvSpPr/>
          <p:nvPr/>
        </p:nvSpPr>
        <p:spPr>
          <a:xfrm>
            <a:off x="667512" y="2907792"/>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5" name="Text 12"/>
          <p:cNvSpPr/>
          <p:nvPr/>
        </p:nvSpPr>
        <p:spPr>
          <a:xfrm>
            <a:off x="804672" y="2816352"/>
            <a:ext cx="3200400"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Segmentatie tussen IT, OT en beheer</a:t>
            </a:r>
            <a:endParaRPr lang="en-US" sz="1270" dirty="0"/>
          </a:p>
        </p:txBody>
      </p:sp>
      <p:sp>
        <p:nvSpPr>
          <p:cNvPr id="16" name="Shape 13"/>
          <p:cNvSpPr/>
          <p:nvPr/>
        </p:nvSpPr>
        <p:spPr>
          <a:xfrm>
            <a:off x="667512" y="3392424"/>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7" name="Text 14"/>
          <p:cNvSpPr/>
          <p:nvPr/>
        </p:nvSpPr>
        <p:spPr>
          <a:xfrm>
            <a:off x="804672" y="3300984"/>
            <a:ext cx="3200400"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Patching, hardening en EDR / endpoint-beveiliging</a:t>
            </a:r>
            <a:endParaRPr lang="en-US" sz="1270" dirty="0"/>
          </a:p>
        </p:txBody>
      </p:sp>
      <p:sp>
        <p:nvSpPr>
          <p:cNvPr id="18" name="Shape 15"/>
          <p:cNvSpPr/>
          <p:nvPr/>
        </p:nvSpPr>
        <p:spPr>
          <a:xfrm>
            <a:off x="667512" y="387705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19" name="Text 16"/>
          <p:cNvSpPr/>
          <p:nvPr/>
        </p:nvSpPr>
        <p:spPr>
          <a:xfrm>
            <a:off x="804672" y="3785616"/>
            <a:ext cx="3200400"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Back-ups, snapshots en hersteltests</a:t>
            </a:r>
            <a:endParaRPr lang="en-US" sz="1270" dirty="0"/>
          </a:p>
        </p:txBody>
      </p:sp>
      <p:sp>
        <p:nvSpPr>
          <p:cNvPr id="20" name="Shape 17"/>
          <p:cNvSpPr/>
          <p:nvPr/>
        </p:nvSpPr>
        <p:spPr>
          <a:xfrm>
            <a:off x="4690872" y="1517904"/>
            <a:ext cx="384048" cy="384048"/>
          </a:xfrm>
          <a:prstGeom prst="ellipse">
            <a:avLst/>
          </a:prstGeom>
          <a:solidFill>
            <a:srgbClr val="F4C757"/>
          </a:solidFill>
          <a:ln w="12700">
            <a:solidFill>
              <a:srgbClr val="F4C757">
                <a:alpha val="0"/>
              </a:srgbClr>
            </a:solidFill>
            <a:prstDash val="solid"/>
          </a:ln>
        </p:spPr>
        <p:txBody>
          <a:bodyPr/>
          <a:lstStyle/>
          <a:p>
            <a:endParaRPr lang="nl-NL"/>
          </a:p>
        </p:txBody>
      </p:sp>
      <p:sp>
        <p:nvSpPr>
          <p:cNvPr id="21" name="Text 18"/>
          <p:cNvSpPr/>
          <p:nvPr/>
        </p:nvSpPr>
        <p:spPr>
          <a:xfrm>
            <a:off x="4690872" y="1527048"/>
            <a:ext cx="384048" cy="384048"/>
          </a:xfrm>
          <a:prstGeom prst="rect">
            <a:avLst/>
          </a:prstGeom>
          <a:noFill/>
          <a:ln/>
        </p:spPr>
        <p:txBody>
          <a:bodyPr wrap="square" lIns="0" tIns="0" rIns="0" bIns="0" rtlCol="0" anchor="ctr"/>
          <a:lstStyle/>
          <a:p>
            <a:pPr marL="0" indent="0" algn="ctr">
              <a:buNone/>
            </a:pPr>
            <a:r>
              <a:rPr lang="en-US" sz="1700" b="1" dirty="0">
                <a:solidFill>
                  <a:srgbClr val="041B34"/>
                </a:solidFill>
                <a:latin typeface="Gill Sans MT" pitchFamily="34" charset="0"/>
                <a:ea typeface="Gill Sans MT" pitchFamily="34" charset="-122"/>
                <a:cs typeface="Gill Sans MT" pitchFamily="34" charset="-120"/>
              </a:rPr>
              <a:t>2</a:t>
            </a:r>
            <a:endParaRPr lang="en-US" sz="1700" dirty="0"/>
          </a:p>
        </p:txBody>
      </p:sp>
      <p:sp>
        <p:nvSpPr>
          <p:cNvPr id="22" name="Text 19"/>
          <p:cNvSpPr/>
          <p:nvPr/>
        </p:nvSpPr>
        <p:spPr>
          <a:xfrm>
            <a:off x="5166360" y="1536192"/>
            <a:ext cx="2843784" cy="256032"/>
          </a:xfrm>
          <a:prstGeom prst="rect">
            <a:avLst/>
          </a:prstGeom>
          <a:noFill/>
          <a:ln/>
        </p:spPr>
        <p:txBody>
          <a:bodyPr wrap="square" lIns="0" tIns="0" rIns="0" bIns="0" rtlCol="0" anchor="ctr"/>
          <a:lstStyle/>
          <a:p>
            <a:pPr marL="0" indent="0">
              <a:buNone/>
            </a:pPr>
            <a:r>
              <a:rPr lang="en-US" sz="1720" b="1" dirty="0">
                <a:solidFill>
                  <a:srgbClr val="041B34"/>
                </a:solidFill>
                <a:latin typeface="Gill Sans MT" pitchFamily="34" charset="0"/>
                <a:ea typeface="Gill Sans MT" pitchFamily="34" charset="-122"/>
                <a:cs typeface="Gill Sans MT" pitchFamily="34" charset="-120"/>
              </a:rPr>
              <a:t>Organisatorisch</a:t>
            </a:r>
            <a:endParaRPr lang="en-US" sz="1720" dirty="0"/>
          </a:p>
        </p:txBody>
      </p:sp>
      <p:sp>
        <p:nvSpPr>
          <p:cNvPr id="23" name="Text 20"/>
          <p:cNvSpPr/>
          <p:nvPr/>
        </p:nvSpPr>
        <p:spPr>
          <a:xfrm>
            <a:off x="4709160" y="1901952"/>
            <a:ext cx="3300984" cy="384048"/>
          </a:xfrm>
          <a:prstGeom prst="rect">
            <a:avLst/>
          </a:prstGeom>
          <a:noFill/>
          <a:ln/>
        </p:spPr>
        <p:txBody>
          <a:bodyPr wrap="square" lIns="0" tIns="0" rIns="0" bIns="0" rtlCol="0" anchor="ctr"/>
          <a:lstStyle/>
          <a:p>
            <a:pPr marL="0" indent="0">
              <a:buNone/>
            </a:pPr>
            <a:r>
              <a:rPr lang="en-US" sz="1250" i="1" dirty="0">
                <a:solidFill>
                  <a:srgbClr val="C79B2E"/>
                </a:solidFill>
                <a:latin typeface="Gill Sans MT" pitchFamily="34" charset="0"/>
                <a:ea typeface="Gill Sans MT" pitchFamily="34" charset="-122"/>
                <a:cs typeface="Gill Sans MT" pitchFamily="34" charset="-120"/>
              </a:rPr>
              <a:t>Doel: snel en gecontroleerd reageren</a:t>
            </a:r>
            <a:endParaRPr lang="en-US" sz="1250" dirty="0"/>
          </a:p>
        </p:txBody>
      </p:sp>
      <p:sp>
        <p:nvSpPr>
          <p:cNvPr id="24" name="Shape 21"/>
          <p:cNvSpPr/>
          <p:nvPr/>
        </p:nvSpPr>
        <p:spPr>
          <a:xfrm>
            <a:off x="4709160" y="2423160"/>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25" name="Text 22"/>
          <p:cNvSpPr/>
          <p:nvPr/>
        </p:nvSpPr>
        <p:spPr>
          <a:xfrm>
            <a:off x="4846320" y="2331720"/>
            <a:ext cx="3200400"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Incident Response Plan met rollen en checklists</a:t>
            </a:r>
            <a:endParaRPr lang="en-US" sz="1270" dirty="0"/>
          </a:p>
        </p:txBody>
      </p:sp>
      <p:sp>
        <p:nvSpPr>
          <p:cNvPr id="26" name="Shape 23"/>
          <p:cNvSpPr/>
          <p:nvPr/>
        </p:nvSpPr>
        <p:spPr>
          <a:xfrm>
            <a:off x="4709160" y="2907792"/>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27" name="Text 24"/>
          <p:cNvSpPr/>
          <p:nvPr/>
        </p:nvSpPr>
        <p:spPr>
          <a:xfrm>
            <a:off x="4846320" y="2816352"/>
            <a:ext cx="3200400"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Tabletop-oefeningen en crisisscenario’s</a:t>
            </a:r>
            <a:endParaRPr lang="en-US" sz="1270" dirty="0"/>
          </a:p>
        </p:txBody>
      </p:sp>
      <p:sp>
        <p:nvSpPr>
          <p:cNvPr id="28" name="Shape 25"/>
          <p:cNvSpPr/>
          <p:nvPr/>
        </p:nvSpPr>
        <p:spPr>
          <a:xfrm>
            <a:off x="4709160" y="3392424"/>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29" name="Text 26"/>
          <p:cNvSpPr/>
          <p:nvPr/>
        </p:nvSpPr>
        <p:spPr>
          <a:xfrm>
            <a:off x="4846320" y="3300984"/>
            <a:ext cx="3200400"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Awareness rond phishing en veilig werken</a:t>
            </a:r>
            <a:endParaRPr lang="en-US" sz="1270" dirty="0"/>
          </a:p>
        </p:txBody>
      </p:sp>
      <p:sp>
        <p:nvSpPr>
          <p:cNvPr id="30" name="Shape 27"/>
          <p:cNvSpPr/>
          <p:nvPr/>
        </p:nvSpPr>
        <p:spPr>
          <a:xfrm>
            <a:off x="4709160" y="387705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31" name="Text 28"/>
          <p:cNvSpPr/>
          <p:nvPr/>
        </p:nvSpPr>
        <p:spPr>
          <a:xfrm>
            <a:off x="4846320" y="3785616"/>
            <a:ext cx="3200400"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Open meldcultuur zodat fouten snel zichtbaar zijn</a:t>
            </a:r>
            <a:endParaRPr lang="en-US" sz="1270" dirty="0"/>
          </a:p>
        </p:txBody>
      </p:sp>
      <p:sp>
        <p:nvSpPr>
          <p:cNvPr id="32" name="Shape 29"/>
          <p:cNvSpPr/>
          <p:nvPr/>
        </p:nvSpPr>
        <p:spPr>
          <a:xfrm>
            <a:off x="8732520" y="1517904"/>
            <a:ext cx="384048" cy="384048"/>
          </a:xfrm>
          <a:prstGeom prst="ellipse">
            <a:avLst/>
          </a:prstGeom>
          <a:solidFill>
            <a:srgbClr val="F4C757"/>
          </a:solidFill>
          <a:ln w="12700">
            <a:solidFill>
              <a:srgbClr val="F4C757">
                <a:alpha val="0"/>
              </a:srgbClr>
            </a:solidFill>
            <a:prstDash val="solid"/>
          </a:ln>
        </p:spPr>
        <p:txBody>
          <a:bodyPr/>
          <a:lstStyle/>
          <a:p>
            <a:endParaRPr lang="nl-NL"/>
          </a:p>
        </p:txBody>
      </p:sp>
      <p:sp>
        <p:nvSpPr>
          <p:cNvPr id="33" name="Text 30"/>
          <p:cNvSpPr/>
          <p:nvPr/>
        </p:nvSpPr>
        <p:spPr>
          <a:xfrm>
            <a:off x="8732520" y="1527048"/>
            <a:ext cx="384048" cy="384048"/>
          </a:xfrm>
          <a:prstGeom prst="rect">
            <a:avLst/>
          </a:prstGeom>
          <a:noFill/>
          <a:ln/>
        </p:spPr>
        <p:txBody>
          <a:bodyPr wrap="square" lIns="0" tIns="0" rIns="0" bIns="0" rtlCol="0" anchor="ctr"/>
          <a:lstStyle/>
          <a:p>
            <a:pPr marL="0" indent="0" algn="ctr">
              <a:buNone/>
            </a:pPr>
            <a:r>
              <a:rPr lang="en-US" sz="1700" b="1" dirty="0">
                <a:solidFill>
                  <a:srgbClr val="041B34"/>
                </a:solidFill>
                <a:latin typeface="Gill Sans MT" pitchFamily="34" charset="0"/>
                <a:ea typeface="Gill Sans MT" pitchFamily="34" charset="-122"/>
                <a:cs typeface="Gill Sans MT" pitchFamily="34" charset="-120"/>
              </a:rPr>
              <a:t>3</a:t>
            </a:r>
            <a:endParaRPr lang="en-US" sz="1700" dirty="0"/>
          </a:p>
        </p:txBody>
      </p:sp>
      <p:sp>
        <p:nvSpPr>
          <p:cNvPr id="34" name="Text 31"/>
          <p:cNvSpPr/>
          <p:nvPr/>
        </p:nvSpPr>
        <p:spPr>
          <a:xfrm>
            <a:off x="9208008" y="1536192"/>
            <a:ext cx="2322576" cy="256032"/>
          </a:xfrm>
          <a:prstGeom prst="rect">
            <a:avLst/>
          </a:prstGeom>
          <a:noFill/>
          <a:ln/>
        </p:spPr>
        <p:txBody>
          <a:bodyPr wrap="square" lIns="0" tIns="0" rIns="0" bIns="0" rtlCol="0" anchor="ctr"/>
          <a:lstStyle/>
          <a:p>
            <a:pPr marL="0" indent="0">
              <a:buNone/>
            </a:pPr>
            <a:r>
              <a:rPr lang="en-US" sz="1720" b="1" dirty="0">
                <a:solidFill>
                  <a:srgbClr val="041B34"/>
                </a:solidFill>
                <a:latin typeface="Gill Sans MT" pitchFamily="34" charset="0"/>
                <a:ea typeface="Gill Sans MT" pitchFamily="34" charset="-122"/>
                <a:cs typeface="Gill Sans MT" pitchFamily="34" charset="-120"/>
              </a:rPr>
              <a:t>Strategisch</a:t>
            </a:r>
            <a:endParaRPr lang="en-US" sz="1720" dirty="0"/>
          </a:p>
        </p:txBody>
      </p:sp>
      <p:sp>
        <p:nvSpPr>
          <p:cNvPr id="35" name="Text 32"/>
          <p:cNvSpPr/>
          <p:nvPr/>
        </p:nvSpPr>
        <p:spPr>
          <a:xfrm>
            <a:off x="8750808" y="1901952"/>
            <a:ext cx="2779776" cy="384048"/>
          </a:xfrm>
          <a:prstGeom prst="rect">
            <a:avLst/>
          </a:prstGeom>
          <a:noFill/>
          <a:ln/>
        </p:spPr>
        <p:txBody>
          <a:bodyPr wrap="square" lIns="0" tIns="0" rIns="0" bIns="0" rtlCol="0" anchor="ctr"/>
          <a:lstStyle/>
          <a:p>
            <a:pPr marL="0" indent="0">
              <a:buNone/>
            </a:pPr>
            <a:r>
              <a:rPr lang="en-US" sz="1250" i="1" dirty="0">
                <a:solidFill>
                  <a:srgbClr val="C79B2E"/>
                </a:solidFill>
                <a:latin typeface="Gill Sans MT" pitchFamily="34" charset="0"/>
                <a:ea typeface="Gill Sans MT" pitchFamily="34" charset="-122"/>
                <a:cs typeface="Gill Sans MT" pitchFamily="34" charset="-120"/>
              </a:rPr>
              <a:t>Doel: keuzes maken op basis van risico en continuïteit</a:t>
            </a:r>
            <a:endParaRPr lang="en-US" sz="1250" dirty="0"/>
          </a:p>
        </p:txBody>
      </p:sp>
      <p:sp>
        <p:nvSpPr>
          <p:cNvPr id="36" name="Shape 33"/>
          <p:cNvSpPr/>
          <p:nvPr/>
        </p:nvSpPr>
        <p:spPr>
          <a:xfrm>
            <a:off x="8750808" y="2423160"/>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37" name="Text 34"/>
          <p:cNvSpPr/>
          <p:nvPr/>
        </p:nvSpPr>
        <p:spPr>
          <a:xfrm>
            <a:off x="8887968" y="2331720"/>
            <a:ext cx="2679192"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Risicoanalyse en “kroonjuwelen” bepalen</a:t>
            </a:r>
            <a:endParaRPr lang="en-US" sz="1270" dirty="0"/>
          </a:p>
        </p:txBody>
      </p:sp>
      <p:sp>
        <p:nvSpPr>
          <p:cNvPr id="38" name="Shape 35"/>
          <p:cNvSpPr/>
          <p:nvPr/>
        </p:nvSpPr>
        <p:spPr>
          <a:xfrm>
            <a:off x="8750808" y="2907792"/>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39" name="Text 36"/>
          <p:cNvSpPr/>
          <p:nvPr/>
        </p:nvSpPr>
        <p:spPr>
          <a:xfrm>
            <a:off x="8887968" y="2816352"/>
            <a:ext cx="2679192"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Leveranciersrisico / supply chain meenemen</a:t>
            </a:r>
            <a:endParaRPr lang="en-US" sz="1270" dirty="0"/>
          </a:p>
        </p:txBody>
      </p:sp>
      <p:sp>
        <p:nvSpPr>
          <p:cNvPr id="40" name="Shape 37"/>
          <p:cNvSpPr/>
          <p:nvPr/>
        </p:nvSpPr>
        <p:spPr>
          <a:xfrm>
            <a:off x="8750808" y="3392424"/>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41" name="Text 38"/>
          <p:cNvSpPr/>
          <p:nvPr/>
        </p:nvSpPr>
        <p:spPr>
          <a:xfrm>
            <a:off x="8887968" y="3300984"/>
            <a:ext cx="2679192"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Business continuity: wat moet door zonder IT?</a:t>
            </a:r>
            <a:endParaRPr lang="en-US" sz="1270" dirty="0"/>
          </a:p>
        </p:txBody>
      </p:sp>
      <p:sp>
        <p:nvSpPr>
          <p:cNvPr id="42" name="Shape 39"/>
          <p:cNvSpPr/>
          <p:nvPr/>
        </p:nvSpPr>
        <p:spPr>
          <a:xfrm>
            <a:off x="8750808" y="3877056"/>
            <a:ext cx="64008" cy="64008"/>
          </a:xfrm>
          <a:prstGeom prst="ellipse">
            <a:avLst/>
          </a:prstGeom>
          <a:solidFill>
            <a:srgbClr val="F4C757"/>
          </a:solidFill>
          <a:ln w="12700">
            <a:solidFill>
              <a:srgbClr val="F4C757">
                <a:alpha val="0"/>
              </a:srgbClr>
            </a:solidFill>
            <a:prstDash val="solid"/>
          </a:ln>
        </p:spPr>
        <p:txBody>
          <a:bodyPr/>
          <a:lstStyle/>
          <a:p>
            <a:endParaRPr lang="nl-NL"/>
          </a:p>
        </p:txBody>
      </p:sp>
      <p:sp>
        <p:nvSpPr>
          <p:cNvPr id="43" name="Text 40"/>
          <p:cNvSpPr/>
          <p:nvPr/>
        </p:nvSpPr>
        <p:spPr>
          <a:xfrm>
            <a:off x="8887968" y="3785616"/>
            <a:ext cx="2679192" cy="384048"/>
          </a:xfrm>
          <a:prstGeom prst="rect">
            <a:avLst/>
          </a:prstGeom>
          <a:noFill/>
          <a:ln/>
        </p:spPr>
        <p:txBody>
          <a:bodyPr wrap="square" lIns="0" tIns="0" rIns="0" bIns="0" rtlCol="0" anchor="ctr"/>
          <a:lstStyle/>
          <a:p>
            <a:pPr marL="0" indent="0">
              <a:buNone/>
            </a:pPr>
            <a:r>
              <a:rPr lang="en-US" sz="1270" b="1" dirty="0">
                <a:solidFill>
                  <a:srgbClr val="222222"/>
                </a:solidFill>
                <a:latin typeface="Gill Sans MT" pitchFamily="34" charset="0"/>
                <a:ea typeface="Gill Sans MT" pitchFamily="34" charset="-122"/>
                <a:cs typeface="Gill Sans MT" pitchFamily="34" charset="-120"/>
              </a:rPr>
              <a:t>Cyberverzekering en afspraken met responders</a:t>
            </a:r>
            <a:endParaRPr lang="en-US" sz="1270" dirty="0"/>
          </a:p>
        </p:txBody>
      </p:sp>
      <p:sp>
        <p:nvSpPr>
          <p:cNvPr id="44" name="Shape 41"/>
          <p:cNvSpPr>
            <a:spLocks noGrp="1" noRot="1" noMove="1" noResize="1" noEditPoints="1" noAdjustHandles="1" noChangeArrowheads="1" noChangeShapeType="1"/>
          </p:cNvSpPr>
          <p:nvPr/>
        </p:nvSpPr>
        <p:spPr>
          <a:xfrm>
            <a:off x="802732" y="5833872"/>
            <a:ext cx="10698480" cy="256032"/>
          </a:xfrm>
          <a:prstGeom prst="rect">
            <a:avLst/>
          </a:prstGeom>
          <a:solidFill>
            <a:srgbClr val="103781"/>
          </a:solidFill>
          <a:ln w="12700">
            <a:solidFill>
              <a:srgbClr val="103781">
                <a:alpha val="0"/>
              </a:srgbClr>
            </a:solidFill>
            <a:prstDash val="solid"/>
          </a:ln>
        </p:spPr>
        <p:txBody>
          <a:bodyPr/>
          <a:lstStyle/>
          <a:p>
            <a:endParaRPr lang="nl-NL"/>
          </a:p>
        </p:txBody>
      </p:sp>
      <p:sp>
        <p:nvSpPr>
          <p:cNvPr id="45" name="Text 42"/>
          <p:cNvSpPr/>
          <p:nvPr/>
        </p:nvSpPr>
        <p:spPr>
          <a:xfrm>
            <a:off x="731520" y="5507043"/>
            <a:ext cx="10515600" cy="201168"/>
          </a:xfrm>
          <a:prstGeom prst="rect">
            <a:avLst/>
          </a:prstGeom>
          <a:noFill/>
          <a:ln/>
        </p:spPr>
        <p:txBody>
          <a:bodyPr wrap="square" lIns="0" tIns="0" rIns="0" bIns="0" rtlCol="0" anchor="ctr"/>
          <a:lstStyle/>
          <a:p>
            <a:pPr marL="0" indent="0" algn="ctr">
              <a:buNone/>
            </a:pPr>
            <a:r>
              <a:rPr lang="en-US" sz="1280" b="1" i="1" dirty="0">
                <a:solidFill>
                  <a:srgbClr val="163554"/>
                </a:solidFill>
                <a:latin typeface="Gill Sans MT" pitchFamily="34" charset="0"/>
                <a:ea typeface="Gill Sans MT" pitchFamily="34" charset="-122"/>
                <a:cs typeface="Gill Sans MT" pitchFamily="34" charset="-120"/>
              </a:rPr>
              <a:t>Eerst basis op orde, daarna structureel borgen en periodiek herhalen.</a:t>
            </a:r>
            <a:endParaRPr lang="en-US" sz="12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Technisch_en_organisatorisch_verbeterplan_Billy_Bonka/slide-5.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411480" y="219456"/>
            <a:ext cx="10241280" cy="566928"/>
          </a:xfrm>
          <a:prstGeom prst="rect">
            <a:avLst/>
          </a:prstGeom>
          <a:solidFill>
            <a:srgbClr val="103781"/>
          </a:solidFill>
          <a:ln w="12700">
            <a:solidFill>
              <a:srgbClr val="103781">
                <a:alpha val="0"/>
              </a:srgbClr>
            </a:solidFill>
            <a:prstDash val="solid"/>
          </a:ln>
        </p:spPr>
        <p:txBody>
          <a:bodyPr/>
          <a:lstStyle/>
          <a:p>
            <a:endParaRPr lang="nl-NL"/>
          </a:p>
        </p:txBody>
      </p:sp>
      <p:sp>
        <p:nvSpPr>
          <p:cNvPr id="4" name="Text 1"/>
          <p:cNvSpPr/>
          <p:nvPr/>
        </p:nvSpPr>
        <p:spPr>
          <a:xfrm>
            <a:off x="502920" y="292608"/>
            <a:ext cx="9875520" cy="402336"/>
          </a:xfrm>
          <a:prstGeom prst="rect">
            <a:avLst/>
          </a:prstGeom>
          <a:noFill/>
          <a:ln/>
        </p:spPr>
        <p:txBody>
          <a:bodyPr wrap="square" lIns="0" tIns="0" rIns="0" bIns="0" rtlCol="0" anchor="ctr"/>
          <a:lstStyle/>
          <a:p>
            <a:pPr marL="0" indent="0">
              <a:buNone/>
            </a:pPr>
            <a:r>
              <a:rPr lang="en-US" sz="2600" dirty="0">
                <a:solidFill>
                  <a:srgbClr val="FFFFFF"/>
                </a:solidFill>
                <a:latin typeface="Gill Sans MT" pitchFamily="34" charset="0"/>
                <a:ea typeface="Gill Sans MT" pitchFamily="34" charset="-122"/>
                <a:cs typeface="Gill Sans MT" pitchFamily="34" charset="-120"/>
              </a:rPr>
              <a:t>VRAAG 2 — WAAR BEGIN JE? + MANAGEMENT + “GOED GENOEG”</a:t>
            </a:r>
            <a:endParaRPr lang="en-US" sz="2600" dirty="0"/>
          </a:p>
        </p:txBody>
      </p:sp>
      <p:sp>
        <p:nvSpPr>
          <p:cNvPr id="5" name="Shape 2"/>
          <p:cNvSpPr/>
          <p:nvPr/>
        </p:nvSpPr>
        <p:spPr>
          <a:xfrm>
            <a:off x="841248" y="1417320"/>
            <a:ext cx="5852160" cy="621792"/>
          </a:xfrm>
          <a:prstGeom prst="roundRect">
            <a:avLst/>
          </a:prstGeom>
          <a:solidFill>
            <a:srgbClr val="D8DCE1"/>
          </a:solidFill>
          <a:ln w="12700">
            <a:solidFill>
              <a:srgbClr val="163554"/>
            </a:solidFill>
            <a:prstDash val="solid"/>
          </a:ln>
        </p:spPr>
        <p:txBody>
          <a:bodyPr/>
          <a:lstStyle/>
          <a:p>
            <a:endParaRPr lang="nl-NL"/>
          </a:p>
        </p:txBody>
      </p:sp>
      <p:sp>
        <p:nvSpPr>
          <p:cNvPr id="6" name="Shape 3"/>
          <p:cNvSpPr/>
          <p:nvPr/>
        </p:nvSpPr>
        <p:spPr>
          <a:xfrm>
            <a:off x="987552" y="1527048"/>
            <a:ext cx="384048" cy="384048"/>
          </a:xfrm>
          <a:prstGeom prst="ellipse">
            <a:avLst/>
          </a:prstGeom>
          <a:solidFill>
            <a:srgbClr val="F4C757"/>
          </a:solidFill>
          <a:ln w="12700">
            <a:solidFill>
              <a:srgbClr val="F4C757">
                <a:alpha val="0"/>
              </a:srgbClr>
            </a:solidFill>
            <a:prstDash val="solid"/>
          </a:ln>
        </p:spPr>
        <p:txBody>
          <a:bodyPr/>
          <a:lstStyle/>
          <a:p>
            <a:endParaRPr lang="nl-NL"/>
          </a:p>
        </p:txBody>
      </p:sp>
      <p:sp>
        <p:nvSpPr>
          <p:cNvPr id="7" name="Text 4"/>
          <p:cNvSpPr/>
          <p:nvPr/>
        </p:nvSpPr>
        <p:spPr>
          <a:xfrm>
            <a:off x="987552" y="1536192"/>
            <a:ext cx="384048" cy="384048"/>
          </a:xfrm>
          <a:prstGeom prst="rect">
            <a:avLst/>
          </a:prstGeom>
          <a:noFill/>
          <a:ln/>
        </p:spPr>
        <p:txBody>
          <a:bodyPr wrap="square" lIns="0" tIns="0" rIns="0" bIns="0" rtlCol="0" anchor="ctr"/>
          <a:lstStyle/>
          <a:p>
            <a:pPr marL="0" indent="0" algn="ctr">
              <a:buNone/>
            </a:pPr>
            <a:r>
              <a:rPr lang="en-US" sz="1700" b="1" dirty="0">
                <a:solidFill>
                  <a:srgbClr val="041B34"/>
                </a:solidFill>
                <a:latin typeface="Gill Sans MT" pitchFamily="34" charset="0"/>
                <a:ea typeface="Gill Sans MT" pitchFamily="34" charset="-122"/>
                <a:cs typeface="Gill Sans MT" pitchFamily="34" charset="-120"/>
              </a:rPr>
              <a:t>5</a:t>
            </a:r>
            <a:endParaRPr lang="en-US" sz="1700" dirty="0"/>
          </a:p>
        </p:txBody>
      </p:sp>
      <p:sp>
        <p:nvSpPr>
          <p:cNvPr id="8" name="Text 5"/>
          <p:cNvSpPr/>
          <p:nvPr/>
        </p:nvSpPr>
        <p:spPr>
          <a:xfrm>
            <a:off x="1481328" y="1527048"/>
            <a:ext cx="3566160" cy="182880"/>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Continue verbeteren</a:t>
            </a:r>
            <a:endParaRPr lang="en-US" sz="1620" dirty="0"/>
          </a:p>
        </p:txBody>
      </p:sp>
      <p:sp>
        <p:nvSpPr>
          <p:cNvPr id="9" name="Text 6"/>
          <p:cNvSpPr/>
          <p:nvPr/>
        </p:nvSpPr>
        <p:spPr>
          <a:xfrm>
            <a:off x="1481327" y="1728215"/>
            <a:ext cx="3905319" cy="244671"/>
          </a:xfrm>
          <a:prstGeom prst="rect">
            <a:avLst/>
          </a:prstGeom>
          <a:noFill/>
          <a:ln/>
        </p:spPr>
        <p:txBody>
          <a:bodyPr wrap="square" lIns="0" tIns="0" rIns="0" bIns="0" rtlCol="0" anchor="ctr"/>
          <a:lstStyle/>
          <a:p>
            <a:pPr marL="0" indent="0">
              <a:buNone/>
            </a:pPr>
            <a:r>
              <a:rPr lang="en-US" sz="1160" dirty="0">
                <a:solidFill>
                  <a:srgbClr val="222222"/>
                </a:solidFill>
                <a:latin typeface="Gill Sans MT" pitchFamily="34" charset="0"/>
                <a:ea typeface="Gill Sans MT" pitchFamily="34" charset="-122"/>
                <a:cs typeface="Gill Sans MT" pitchFamily="34" charset="-120"/>
              </a:rPr>
              <a:t>Evalueren na incidenten, lessons learned en periodiek bijsturen.</a:t>
            </a:r>
            <a:endParaRPr lang="en-US" sz="1160" dirty="0"/>
          </a:p>
        </p:txBody>
      </p:sp>
      <p:sp>
        <p:nvSpPr>
          <p:cNvPr id="10" name="Shape 7"/>
          <p:cNvSpPr/>
          <p:nvPr/>
        </p:nvSpPr>
        <p:spPr>
          <a:xfrm>
            <a:off x="841248" y="2221992"/>
            <a:ext cx="5852160" cy="621792"/>
          </a:xfrm>
          <a:prstGeom prst="roundRect">
            <a:avLst/>
          </a:prstGeom>
          <a:solidFill>
            <a:srgbClr val="D8DCE1"/>
          </a:solidFill>
          <a:ln w="12700">
            <a:solidFill>
              <a:srgbClr val="163554"/>
            </a:solidFill>
            <a:prstDash val="solid"/>
          </a:ln>
        </p:spPr>
        <p:txBody>
          <a:bodyPr/>
          <a:lstStyle/>
          <a:p>
            <a:endParaRPr lang="nl-NL"/>
          </a:p>
        </p:txBody>
      </p:sp>
      <p:sp>
        <p:nvSpPr>
          <p:cNvPr id="11" name="Shape 8"/>
          <p:cNvSpPr/>
          <p:nvPr/>
        </p:nvSpPr>
        <p:spPr>
          <a:xfrm>
            <a:off x="987552" y="2331720"/>
            <a:ext cx="384048" cy="384048"/>
          </a:xfrm>
          <a:prstGeom prst="ellipse">
            <a:avLst/>
          </a:prstGeom>
          <a:solidFill>
            <a:srgbClr val="F4C757"/>
          </a:solidFill>
          <a:ln w="12700">
            <a:solidFill>
              <a:srgbClr val="F4C757">
                <a:alpha val="0"/>
              </a:srgbClr>
            </a:solidFill>
            <a:prstDash val="solid"/>
          </a:ln>
        </p:spPr>
        <p:txBody>
          <a:bodyPr/>
          <a:lstStyle/>
          <a:p>
            <a:endParaRPr lang="nl-NL"/>
          </a:p>
        </p:txBody>
      </p:sp>
      <p:sp>
        <p:nvSpPr>
          <p:cNvPr id="12" name="Text 9"/>
          <p:cNvSpPr/>
          <p:nvPr/>
        </p:nvSpPr>
        <p:spPr>
          <a:xfrm>
            <a:off x="987552" y="2340864"/>
            <a:ext cx="384048" cy="384048"/>
          </a:xfrm>
          <a:prstGeom prst="rect">
            <a:avLst/>
          </a:prstGeom>
          <a:noFill/>
          <a:ln/>
        </p:spPr>
        <p:txBody>
          <a:bodyPr wrap="square" lIns="0" tIns="0" rIns="0" bIns="0" rtlCol="0" anchor="ctr"/>
          <a:lstStyle/>
          <a:p>
            <a:pPr marL="0" indent="0" algn="ctr">
              <a:buNone/>
            </a:pPr>
            <a:r>
              <a:rPr lang="en-US" sz="1700" b="1" dirty="0">
                <a:solidFill>
                  <a:srgbClr val="041B34"/>
                </a:solidFill>
                <a:latin typeface="Gill Sans MT" pitchFamily="34" charset="0"/>
                <a:ea typeface="Gill Sans MT" pitchFamily="34" charset="-122"/>
                <a:cs typeface="Gill Sans MT" pitchFamily="34" charset="-120"/>
              </a:rPr>
              <a:t>4</a:t>
            </a:r>
            <a:endParaRPr lang="en-US" sz="1700" dirty="0"/>
          </a:p>
        </p:txBody>
      </p:sp>
      <p:sp>
        <p:nvSpPr>
          <p:cNvPr id="13" name="Text 10"/>
          <p:cNvSpPr/>
          <p:nvPr/>
        </p:nvSpPr>
        <p:spPr>
          <a:xfrm>
            <a:off x="1481328" y="2331720"/>
            <a:ext cx="3566160" cy="182880"/>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Oefenen</a:t>
            </a:r>
            <a:endParaRPr lang="en-US" sz="1620" dirty="0"/>
          </a:p>
        </p:txBody>
      </p:sp>
      <p:sp>
        <p:nvSpPr>
          <p:cNvPr id="14" name="Text 11"/>
          <p:cNvSpPr/>
          <p:nvPr/>
        </p:nvSpPr>
        <p:spPr>
          <a:xfrm>
            <a:off x="1481328" y="2532888"/>
            <a:ext cx="3566160" cy="164592"/>
          </a:xfrm>
          <a:prstGeom prst="rect">
            <a:avLst/>
          </a:prstGeom>
          <a:noFill/>
          <a:ln/>
        </p:spPr>
        <p:txBody>
          <a:bodyPr wrap="square" lIns="0" tIns="0" rIns="0" bIns="0" rtlCol="0" anchor="ctr"/>
          <a:lstStyle/>
          <a:p>
            <a:pPr marL="0" indent="0">
              <a:buNone/>
            </a:pPr>
            <a:r>
              <a:rPr lang="en-US" sz="1160" dirty="0">
                <a:solidFill>
                  <a:srgbClr val="222222"/>
                </a:solidFill>
                <a:latin typeface="Gill Sans MT" pitchFamily="34" charset="0"/>
                <a:ea typeface="Gill Sans MT" pitchFamily="34" charset="-122"/>
                <a:cs typeface="Gill Sans MT" pitchFamily="34" charset="-120"/>
              </a:rPr>
              <a:t>Tabletop, communicatie en herstelprocedures testen.</a:t>
            </a:r>
            <a:endParaRPr lang="en-US" sz="1160" dirty="0"/>
          </a:p>
        </p:txBody>
      </p:sp>
      <p:sp>
        <p:nvSpPr>
          <p:cNvPr id="15" name="Shape 12"/>
          <p:cNvSpPr/>
          <p:nvPr/>
        </p:nvSpPr>
        <p:spPr>
          <a:xfrm>
            <a:off x="841248" y="3026664"/>
            <a:ext cx="5852160" cy="621792"/>
          </a:xfrm>
          <a:prstGeom prst="roundRect">
            <a:avLst/>
          </a:prstGeom>
          <a:solidFill>
            <a:srgbClr val="E8DDB5"/>
          </a:solidFill>
          <a:ln w="12700">
            <a:solidFill>
              <a:srgbClr val="F4C757"/>
            </a:solidFill>
            <a:prstDash val="solid"/>
          </a:ln>
        </p:spPr>
        <p:txBody>
          <a:bodyPr/>
          <a:lstStyle/>
          <a:p>
            <a:endParaRPr lang="nl-NL"/>
          </a:p>
        </p:txBody>
      </p:sp>
      <p:sp>
        <p:nvSpPr>
          <p:cNvPr id="16" name="Shape 13"/>
          <p:cNvSpPr/>
          <p:nvPr/>
        </p:nvSpPr>
        <p:spPr>
          <a:xfrm>
            <a:off x="987552" y="3136392"/>
            <a:ext cx="384048" cy="384048"/>
          </a:xfrm>
          <a:prstGeom prst="ellipse">
            <a:avLst/>
          </a:prstGeom>
          <a:solidFill>
            <a:srgbClr val="F4C757"/>
          </a:solidFill>
          <a:ln w="12700">
            <a:solidFill>
              <a:srgbClr val="F4C757">
                <a:alpha val="0"/>
              </a:srgbClr>
            </a:solidFill>
            <a:prstDash val="solid"/>
          </a:ln>
        </p:spPr>
        <p:txBody>
          <a:bodyPr/>
          <a:lstStyle/>
          <a:p>
            <a:endParaRPr lang="nl-NL"/>
          </a:p>
        </p:txBody>
      </p:sp>
      <p:sp>
        <p:nvSpPr>
          <p:cNvPr id="17" name="Text 14"/>
          <p:cNvSpPr/>
          <p:nvPr/>
        </p:nvSpPr>
        <p:spPr>
          <a:xfrm>
            <a:off x="987552" y="3145536"/>
            <a:ext cx="384048" cy="384048"/>
          </a:xfrm>
          <a:prstGeom prst="rect">
            <a:avLst/>
          </a:prstGeom>
          <a:noFill/>
          <a:ln/>
        </p:spPr>
        <p:txBody>
          <a:bodyPr wrap="square" lIns="0" tIns="0" rIns="0" bIns="0" rtlCol="0" anchor="ctr"/>
          <a:lstStyle/>
          <a:p>
            <a:pPr marL="0" indent="0" algn="ctr">
              <a:buNone/>
            </a:pPr>
            <a:r>
              <a:rPr lang="en-US" sz="1700" b="1" dirty="0">
                <a:solidFill>
                  <a:srgbClr val="041B34"/>
                </a:solidFill>
                <a:latin typeface="Gill Sans MT" pitchFamily="34" charset="0"/>
                <a:ea typeface="Gill Sans MT" pitchFamily="34" charset="-122"/>
                <a:cs typeface="Gill Sans MT" pitchFamily="34" charset="-120"/>
              </a:rPr>
              <a:t>3</a:t>
            </a:r>
            <a:endParaRPr lang="en-US" sz="1700" dirty="0"/>
          </a:p>
        </p:txBody>
      </p:sp>
      <p:sp>
        <p:nvSpPr>
          <p:cNvPr id="18" name="Text 15"/>
          <p:cNvSpPr/>
          <p:nvPr/>
        </p:nvSpPr>
        <p:spPr>
          <a:xfrm>
            <a:off x="1481328" y="3136392"/>
            <a:ext cx="3566160" cy="182880"/>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Detectie &amp; respons</a:t>
            </a:r>
            <a:endParaRPr lang="en-US" sz="1620" dirty="0"/>
          </a:p>
        </p:txBody>
      </p:sp>
      <p:sp>
        <p:nvSpPr>
          <p:cNvPr id="19" name="Text 16"/>
          <p:cNvSpPr/>
          <p:nvPr/>
        </p:nvSpPr>
        <p:spPr>
          <a:xfrm>
            <a:off x="1481328" y="3337560"/>
            <a:ext cx="3566160" cy="164592"/>
          </a:xfrm>
          <a:prstGeom prst="rect">
            <a:avLst/>
          </a:prstGeom>
          <a:noFill/>
          <a:ln/>
        </p:spPr>
        <p:txBody>
          <a:bodyPr wrap="square" lIns="0" tIns="0" rIns="0" bIns="0" rtlCol="0" anchor="ctr"/>
          <a:lstStyle/>
          <a:p>
            <a:pPr marL="0" indent="0">
              <a:buNone/>
            </a:pPr>
            <a:r>
              <a:rPr lang="en-US" sz="1160" dirty="0">
                <a:solidFill>
                  <a:srgbClr val="222222"/>
                </a:solidFill>
                <a:latin typeface="Gill Sans MT" pitchFamily="34" charset="0"/>
                <a:ea typeface="Gill Sans MT" pitchFamily="34" charset="-122"/>
                <a:cs typeface="Gill Sans MT" pitchFamily="34" charset="-120"/>
              </a:rPr>
              <a:t>Monitoring, logging, playbooks en escalatie inrichten.</a:t>
            </a:r>
            <a:endParaRPr lang="en-US" sz="1160" dirty="0"/>
          </a:p>
        </p:txBody>
      </p:sp>
      <p:sp>
        <p:nvSpPr>
          <p:cNvPr id="20" name="Text 17"/>
          <p:cNvSpPr/>
          <p:nvPr/>
        </p:nvSpPr>
        <p:spPr>
          <a:xfrm>
            <a:off x="4852554" y="3143596"/>
            <a:ext cx="1965960" cy="329184"/>
          </a:xfrm>
          <a:prstGeom prst="rect">
            <a:avLst/>
          </a:prstGeom>
          <a:noFill/>
          <a:ln/>
        </p:spPr>
        <p:txBody>
          <a:bodyPr wrap="square" lIns="0" tIns="0" rIns="0" bIns="0" rtlCol="0" anchor="ctr"/>
          <a:lstStyle/>
          <a:p>
            <a:pPr marL="0" indent="0">
              <a:buNone/>
            </a:pPr>
            <a:r>
              <a:rPr lang="en-US" sz="880" b="1" dirty="0">
                <a:solidFill>
                  <a:srgbClr val="041B34"/>
                </a:solidFill>
                <a:latin typeface="Gill Sans MT" pitchFamily="34" charset="0"/>
                <a:ea typeface="Gill Sans MT" pitchFamily="34" charset="-122"/>
                <a:cs typeface="Gill Sans MT" pitchFamily="34" charset="-120"/>
              </a:rPr>
              <a:t>Doel: afwijkingen sneller zien en sneller beslissen.</a:t>
            </a:r>
            <a:endParaRPr lang="en-US" sz="880" dirty="0"/>
          </a:p>
        </p:txBody>
      </p:sp>
      <p:sp>
        <p:nvSpPr>
          <p:cNvPr id="21" name="Shape 18"/>
          <p:cNvSpPr/>
          <p:nvPr/>
        </p:nvSpPr>
        <p:spPr>
          <a:xfrm>
            <a:off x="841248" y="3831336"/>
            <a:ext cx="5852160" cy="621792"/>
          </a:xfrm>
          <a:prstGeom prst="roundRect">
            <a:avLst/>
          </a:prstGeom>
          <a:solidFill>
            <a:srgbClr val="D8DCE1"/>
          </a:solidFill>
          <a:ln w="12700">
            <a:solidFill>
              <a:srgbClr val="163554"/>
            </a:solidFill>
            <a:prstDash val="solid"/>
          </a:ln>
        </p:spPr>
        <p:txBody>
          <a:bodyPr/>
          <a:lstStyle/>
          <a:p>
            <a:endParaRPr lang="nl-NL"/>
          </a:p>
        </p:txBody>
      </p:sp>
      <p:sp>
        <p:nvSpPr>
          <p:cNvPr id="22" name="Shape 19"/>
          <p:cNvSpPr/>
          <p:nvPr/>
        </p:nvSpPr>
        <p:spPr>
          <a:xfrm>
            <a:off x="987552" y="3941064"/>
            <a:ext cx="384048" cy="384048"/>
          </a:xfrm>
          <a:prstGeom prst="ellipse">
            <a:avLst/>
          </a:prstGeom>
          <a:solidFill>
            <a:srgbClr val="F4C757"/>
          </a:solidFill>
          <a:ln w="12700">
            <a:solidFill>
              <a:srgbClr val="F4C757">
                <a:alpha val="0"/>
              </a:srgbClr>
            </a:solidFill>
            <a:prstDash val="solid"/>
          </a:ln>
        </p:spPr>
        <p:txBody>
          <a:bodyPr/>
          <a:lstStyle/>
          <a:p>
            <a:endParaRPr lang="nl-NL"/>
          </a:p>
        </p:txBody>
      </p:sp>
      <p:sp>
        <p:nvSpPr>
          <p:cNvPr id="23" name="Text 20"/>
          <p:cNvSpPr/>
          <p:nvPr/>
        </p:nvSpPr>
        <p:spPr>
          <a:xfrm>
            <a:off x="987552" y="3950208"/>
            <a:ext cx="384048" cy="384048"/>
          </a:xfrm>
          <a:prstGeom prst="rect">
            <a:avLst/>
          </a:prstGeom>
          <a:noFill/>
          <a:ln/>
        </p:spPr>
        <p:txBody>
          <a:bodyPr wrap="square" lIns="0" tIns="0" rIns="0" bIns="0" rtlCol="0" anchor="ctr"/>
          <a:lstStyle/>
          <a:p>
            <a:pPr marL="0" indent="0" algn="ctr">
              <a:buNone/>
            </a:pPr>
            <a:r>
              <a:rPr lang="en-US" sz="1700" b="1" dirty="0">
                <a:solidFill>
                  <a:srgbClr val="041B34"/>
                </a:solidFill>
                <a:latin typeface="Gill Sans MT" pitchFamily="34" charset="0"/>
                <a:ea typeface="Gill Sans MT" pitchFamily="34" charset="-122"/>
                <a:cs typeface="Gill Sans MT" pitchFamily="34" charset="-120"/>
              </a:rPr>
              <a:t>2</a:t>
            </a:r>
            <a:endParaRPr lang="en-US" sz="1700" dirty="0"/>
          </a:p>
        </p:txBody>
      </p:sp>
      <p:sp>
        <p:nvSpPr>
          <p:cNvPr id="24" name="Text 21"/>
          <p:cNvSpPr/>
          <p:nvPr/>
        </p:nvSpPr>
        <p:spPr>
          <a:xfrm>
            <a:off x="1481328" y="3941064"/>
            <a:ext cx="3566160" cy="182880"/>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Basishygiëne</a:t>
            </a:r>
            <a:endParaRPr lang="en-US" sz="1620" dirty="0"/>
          </a:p>
        </p:txBody>
      </p:sp>
      <p:sp>
        <p:nvSpPr>
          <p:cNvPr id="25" name="Text 22"/>
          <p:cNvSpPr/>
          <p:nvPr/>
        </p:nvSpPr>
        <p:spPr>
          <a:xfrm>
            <a:off x="1481328" y="4142232"/>
            <a:ext cx="3905318" cy="182880"/>
          </a:xfrm>
          <a:prstGeom prst="rect">
            <a:avLst/>
          </a:prstGeom>
          <a:noFill/>
          <a:ln/>
        </p:spPr>
        <p:txBody>
          <a:bodyPr wrap="square" lIns="0" tIns="0" rIns="0" bIns="0" rtlCol="0" anchor="ctr"/>
          <a:lstStyle/>
          <a:p>
            <a:pPr marL="0" indent="0">
              <a:buNone/>
            </a:pPr>
            <a:r>
              <a:rPr lang="en-US" sz="1160" dirty="0">
                <a:solidFill>
                  <a:srgbClr val="222222"/>
                </a:solidFill>
                <a:latin typeface="Gill Sans MT" pitchFamily="34" charset="0"/>
                <a:ea typeface="Gill Sans MT" pitchFamily="34" charset="-122"/>
                <a:cs typeface="Gill Sans MT" pitchFamily="34" charset="-120"/>
              </a:rPr>
              <a:t>MFA, patching, EDR, segmentatie en back-ups op orde brengen.</a:t>
            </a:r>
            <a:endParaRPr lang="en-US" sz="1160" dirty="0"/>
          </a:p>
        </p:txBody>
      </p:sp>
      <p:sp>
        <p:nvSpPr>
          <p:cNvPr id="26" name="Shape 23"/>
          <p:cNvSpPr/>
          <p:nvPr/>
        </p:nvSpPr>
        <p:spPr>
          <a:xfrm>
            <a:off x="841248" y="4636008"/>
            <a:ext cx="5852160" cy="621792"/>
          </a:xfrm>
          <a:prstGeom prst="roundRect">
            <a:avLst/>
          </a:prstGeom>
          <a:solidFill>
            <a:srgbClr val="D8DCE1"/>
          </a:solidFill>
          <a:ln w="12700">
            <a:solidFill>
              <a:srgbClr val="163554"/>
            </a:solidFill>
            <a:prstDash val="solid"/>
          </a:ln>
        </p:spPr>
        <p:txBody>
          <a:bodyPr/>
          <a:lstStyle/>
          <a:p>
            <a:endParaRPr lang="nl-NL"/>
          </a:p>
        </p:txBody>
      </p:sp>
      <p:sp>
        <p:nvSpPr>
          <p:cNvPr id="27" name="Shape 24"/>
          <p:cNvSpPr/>
          <p:nvPr/>
        </p:nvSpPr>
        <p:spPr>
          <a:xfrm>
            <a:off x="987552" y="4745736"/>
            <a:ext cx="384048" cy="384048"/>
          </a:xfrm>
          <a:prstGeom prst="ellipse">
            <a:avLst/>
          </a:prstGeom>
          <a:solidFill>
            <a:srgbClr val="F4C757"/>
          </a:solidFill>
          <a:ln w="12700">
            <a:solidFill>
              <a:srgbClr val="F4C757">
                <a:alpha val="0"/>
              </a:srgbClr>
            </a:solidFill>
            <a:prstDash val="solid"/>
          </a:ln>
        </p:spPr>
        <p:txBody>
          <a:bodyPr/>
          <a:lstStyle/>
          <a:p>
            <a:endParaRPr lang="nl-NL"/>
          </a:p>
        </p:txBody>
      </p:sp>
      <p:sp>
        <p:nvSpPr>
          <p:cNvPr id="28" name="Text 25"/>
          <p:cNvSpPr/>
          <p:nvPr/>
        </p:nvSpPr>
        <p:spPr>
          <a:xfrm>
            <a:off x="987552" y="4754880"/>
            <a:ext cx="384048" cy="384048"/>
          </a:xfrm>
          <a:prstGeom prst="rect">
            <a:avLst/>
          </a:prstGeom>
          <a:noFill/>
          <a:ln/>
        </p:spPr>
        <p:txBody>
          <a:bodyPr wrap="square" lIns="0" tIns="0" rIns="0" bIns="0" rtlCol="0" anchor="ctr"/>
          <a:lstStyle/>
          <a:p>
            <a:pPr marL="0" indent="0" algn="ctr">
              <a:buNone/>
            </a:pPr>
            <a:r>
              <a:rPr lang="en-US" sz="1700" b="1" dirty="0">
                <a:solidFill>
                  <a:srgbClr val="041B34"/>
                </a:solidFill>
                <a:latin typeface="Gill Sans MT" pitchFamily="34" charset="0"/>
                <a:ea typeface="Gill Sans MT" pitchFamily="34" charset="-122"/>
                <a:cs typeface="Gill Sans MT" pitchFamily="34" charset="-120"/>
              </a:rPr>
              <a:t>1</a:t>
            </a:r>
            <a:endParaRPr lang="en-US" sz="1700" dirty="0"/>
          </a:p>
        </p:txBody>
      </p:sp>
      <p:sp>
        <p:nvSpPr>
          <p:cNvPr id="29" name="Text 26"/>
          <p:cNvSpPr/>
          <p:nvPr/>
        </p:nvSpPr>
        <p:spPr>
          <a:xfrm>
            <a:off x="1481328" y="4745736"/>
            <a:ext cx="3566160" cy="182880"/>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Begin bij risicoanalyse</a:t>
            </a:r>
            <a:endParaRPr lang="en-US" sz="1620" dirty="0"/>
          </a:p>
        </p:txBody>
      </p:sp>
      <p:sp>
        <p:nvSpPr>
          <p:cNvPr id="30" name="Text 27"/>
          <p:cNvSpPr/>
          <p:nvPr/>
        </p:nvSpPr>
        <p:spPr>
          <a:xfrm>
            <a:off x="1481327" y="4946904"/>
            <a:ext cx="4354207" cy="192024"/>
          </a:xfrm>
          <a:prstGeom prst="rect">
            <a:avLst/>
          </a:prstGeom>
          <a:noFill/>
          <a:ln/>
        </p:spPr>
        <p:txBody>
          <a:bodyPr wrap="square" lIns="0" tIns="0" rIns="0" bIns="0" rtlCol="0" anchor="ctr"/>
          <a:lstStyle/>
          <a:p>
            <a:pPr marL="0" indent="0">
              <a:buNone/>
            </a:pPr>
            <a:r>
              <a:rPr lang="en-US" sz="1160" dirty="0">
                <a:solidFill>
                  <a:srgbClr val="222222"/>
                </a:solidFill>
                <a:latin typeface="Gill Sans MT" pitchFamily="34" charset="0"/>
                <a:ea typeface="Gill Sans MT" pitchFamily="34" charset="-122"/>
                <a:cs typeface="Gill Sans MT" pitchFamily="34" charset="-120"/>
              </a:rPr>
              <a:t>Bepaal eerst de kroonjuwelen en de grootste bedrijfsimpact bij uitval.</a:t>
            </a:r>
            <a:endParaRPr lang="en-US" sz="1160" dirty="0"/>
          </a:p>
        </p:txBody>
      </p:sp>
      <p:sp>
        <p:nvSpPr>
          <p:cNvPr id="31" name="Shape 28"/>
          <p:cNvSpPr/>
          <p:nvPr/>
        </p:nvSpPr>
        <p:spPr>
          <a:xfrm>
            <a:off x="7406640" y="1719072"/>
            <a:ext cx="4023360" cy="2743200"/>
          </a:xfrm>
          <a:prstGeom prst="roundRect">
            <a:avLst/>
          </a:prstGeom>
          <a:solidFill>
            <a:srgbClr val="D8DCE1"/>
          </a:solidFill>
          <a:ln w="12700">
            <a:solidFill>
              <a:srgbClr val="163554"/>
            </a:solidFill>
            <a:prstDash val="solid"/>
          </a:ln>
        </p:spPr>
        <p:txBody>
          <a:bodyPr/>
          <a:lstStyle/>
          <a:p>
            <a:endParaRPr lang="nl-NL"/>
          </a:p>
        </p:txBody>
      </p:sp>
      <p:sp>
        <p:nvSpPr>
          <p:cNvPr id="32" name="Shape 29"/>
          <p:cNvSpPr/>
          <p:nvPr/>
        </p:nvSpPr>
        <p:spPr>
          <a:xfrm>
            <a:off x="7424928" y="1792224"/>
            <a:ext cx="73152" cy="2596896"/>
          </a:xfrm>
          <a:prstGeom prst="rect">
            <a:avLst/>
          </a:prstGeom>
          <a:solidFill>
            <a:srgbClr val="F4C757"/>
          </a:solidFill>
          <a:ln w="12700">
            <a:solidFill>
              <a:srgbClr val="F4C757">
                <a:alpha val="0"/>
              </a:srgbClr>
            </a:solidFill>
            <a:prstDash val="solid"/>
          </a:ln>
        </p:spPr>
        <p:txBody>
          <a:bodyPr/>
          <a:lstStyle/>
          <a:p>
            <a:endParaRPr lang="nl-NL"/>
          </a:p>
        </p:txBody>
      </p:sp>
      <p:sp>
        <p:nvSpPr>
          <p:cNvPr id="33" name="Text 30"/>
          <p:cNvSpPr/>
          <p:nvPr/>
        </p:nvSpPr>
        <p:spPr>
          <a:xfrm>
            <a:off x="7571232" y="1810512"/>
            <a:ext cx="3749040" cy="228600"/>
          </a:xfrm>
          <a:prstGeom prst="rect">
            <a:avLst/>
          </a:prstGeom>
          <a:noFill/>
          <a:ln/>
        </p:spPr>
        <p:txBody>
          <a:bodyPr wrap="square" lIns="0" tIns="0" rIns="0" bIns="0" rtlCol="0" anchor="ctr"/>
          <a:lstStyle/>
          <a:p>
            <a:pPr marL="0" indent="0">
              <a:buNone/>
            </a:pPr>
            <a:r>
              <a:rPr lang="en-US" sz="1800" b="1" dirty="0">
                <a:solidFill>
                  <a:srgbClr val="041B34"/>
                </a:solidFill>
                <a:latin typeface="Gill Sans MT" pitchFamily="34" charset="0"/>
                <a:ea typeface="Gill Sans MT" pitchFamily="34" charset="-122"/>
                <a:cs typeface="Gill Sans MT" pitchFamily="34" charset="-120"/>
              </a:rPr>
              <a:t>Rol van management</a:t>
            </a:r>
            <a:endParaRPr lang="en-US" sz="1800" dirty="0"/>
          </a:p>
        </p:txBody>
      </p:sp>
      <p:sp>
        <p:nvSpPr>
          <p:cNvPr id="34" name="Text 31"/>
          <p:cNvSpPr/>
          <p:nvPr/>
        </p:nvSpPr>
        <p:spPr>
          <a:xfrm>
            <a:off x="7571232" y="2029968"/>
            <a:ext cx="3749040" cy="2359152"/>
          </a:xfrm>
          <a:prstGeom prst="rect">
            <a:avLst/>
          </a:prstGeom>
          <a:noFill/>
          <a:ln/>
        </p:spPr>
        <p:txBody>
          <a:bodyPr wrap="square" lIns="0" tIns="0" rIns="0" bIns="0" rtlCol="0" anchor="ctr"/>
          <a:lstStyle/>
          <a:p>
            <a:pPr marL="0" indent="0">
              <a:buNone/>
            </a:pPr>
            <a:r>
              <a:rPr lang="en-US" sz="1350" dirty="0">
                <a:solidFill>
                  <a:srgbClr val="222222"/>
                </a:solidFill>
                <a:latin typeface="Gill Sans MT" pitchFamily="34" charset="0"/>
                <a:ea typeface="Gill Sans MT" pitchFamily="34" charset="-122"/>
                <a:cs typeface="Gill Sans MT" pitchFamily="34" charset="-120"/>
              </a:rPr>
              <a:t>Management zet de toon (“tone at the top”), bepaalt het acceptabele restrisico en maakt budget, tijd en eigenaarschap vrij. Zonder die regie blijft security iets van IT in plaats van een onderdeel van de bedrijfsvoering.</a:t>
            </a:r>
            <a:endParaRPr lang="en-US" sz="1350" dirty="0"/>
          </a:p>
        </p:txBody>
      </p:sp>
      <p:sp>
        <p:nvSpPr>
          <p:cNvPr id="35" name="Shape 32"/>
          <p:cNvSpPr/>
          <p:nvPr/>
        </p:nvSpPr>
        <p:spPr>
          <a:xfrm>
            <a:off x="6839712" y="4572000"/>
            <a:ext cx="4590288" cy="1609344"/>
          </a:xfrm>
          <a:prstGeom prst="rect">
            <a:avLst/>
          </a:prstGeom>
          <a:solidFill>
            <a:srgbClr val="103781"/>
          </a:solidFill>
          <a:ln w="12700">
            <a:solidFill>
              <a:srgbClr val="103781">
                <a:alpha val="0"/>
              </a:srgbClr>
            </a:solidFill>
            <a:prstDash val="solid"/>
          </a:ln>
        </p:spPr>
        <p:txBody>
          <a:bodyPr/>
          <a:lstStyle/>
          <a:p>
            <a:endParaRPr lang="nl-NL"/>
          </a:p>
        </p:txBody>
      </p:sp>
      <p:sp>
        <p:nvSpPr>
          <p:cNvPr id="36" name="Shape 33"/>
          <p:cNvSpPr/>
          <p:nvPr/>
        </p:nvSpPr>
        <p:spPr>
          <a:xfrm>
            <a:off x="7498080" y="4617720"/>
            <a:ext cx="2240280" cy="292608"/>
          </a:xfrm>
          <a:prstGeom prst="roundRect">
            <a:avLst/>
          </a:prstGeom>
          <a:solidFill>
            <a:srgbClr val="143D86"/>
          </a:solidFill>
          <a:ln w="12700">
            <a:solidFill>
              <a:srgbClr val="F4C757"/>
            </a:solidFill>
            <a:prstDash val="solid"/>
          </a:ln>
        </p:spPr>
        <p:txBody>
          <a:bodyPr/>
          <a:lstStyle/>
          <a:p>
            <a:endParaRPr lang="nl-NL"/>
          </a:p>
        </p:txBody>
      </p:sp>
      <p:sp>
        <p:nvSpPr>
          <p:cNvPr id="37" name="Text 34"/>
          <p:cNvSpPr/>
          <p:nvPr/>
        </p:nvSpPr>
        <p:spPr>
          <a:xfrm>
            <a:off x="7552944" y="4645152"/>
            <a:ext cx="2130552" cy="201168"/>
          </a:xfrm>
          <a:prstGeom prst="rect">
            <a:avLst/>
          </a:prstGeom>
          <a:noFill/>
          <a:ln/>
        </p:spPr>
        <p:txBody>
          <a:bodyPr wrap="square" lIns="0" tIns="0" rIns="0" bIns="0" rtlCol="0" anchor="ctr"/>
          <a:lstStyle/>
          <a:p>
            <a:pPr marL="0" indent="0" algn="ctr">
              <a:buNone/>
            </a:pPr>
            <a:r>
              <a:rPr lang="en-US" sz="1180" b="1" dirty="0">
                <a:solidFill>
                  <a:srgbClr val="E7B84A"/>
                </a:solidFill>
                <a:latin typeface="Gill Sans MT" pitchFamily="34" charset="0"/>
                <a:ea typeface="Gill Sans MT" pitchFamily="34" charset="-122"/>
                <a:cs typeface="Gill Sans MT" pitchFamily="34" charset="-120"/>
              </a:rPr>
              <a:t>Wanneer is “goed genoeg”?</a:t>
            </a:r>
            <a:endParaRPr lang="en-US" sz="1180" dirty="0">
              <a:solidFill>
                <a:srgbClr val="E7B84A"/>
              </a:solidFill>
            </a:endParaRPr>
          </a:p>
        </p:txBody>
      </p:sp>
      <p:sp>
        <p:nvSpPr>
          <p:cNvPr id="38" name="Shape 35"/>
          <p:cNvSpPr/>
          <p:nvPr/>
        </p:nvSpPr>
        <p:spPr>
          <a:xfrm>
            <a:off x="7479792" y="5056632"/>
            <a:ext cx="59436" cy="59436"/>
          </a:xfrm>
          <a:prstGeom prst="ellipse">
            <a:avLst/>
          </a:prstGeom>
          <a:solidFill>
            <a:srgbClr val="F4C757"/>
          </a:solidFill>
          <a:ln w="12700">
            <a:solidFill>
              <a:srgbClr val="F4C757">
                <a:alpha val="0"/>
              </a:srgbClr>
            </a:solidFill>
            <a:prstDash val="solid"/>
          </a:ln>
        </p:spPr>
        <p:txBody>
          <a:bodyPr/>
          <a:lstStyle/>
          <a:p>
            <a:endParaRPr lang="nl-NL"/>
          </a:p>
        </p:txBody>
      </p:sp>
      <p:sp>
        <p:nvSpPr>
          <p:cNvPr id="39" name="Text 36"/>
          <p:cNvSpPr/>
          <p:nvPr/>
        </p:nvSpPr>
        <p:spPr>
          <a:xfrm>
            <a:off x="7635240" y="4992624"/>
            <a:ext cx="3657600" cy="256032"/>
          </a:xfrm>
          <a:prstGeom prst="rect">
            <a:avLst/>
          </a:prstGeom>
          <a:noFill/>
          <a:ln/>
        </p:spPr>
        <p:txBody>
          <a:bodyPr wrap="square" lIns="0" tIns="0" rIns="0" bIns="0" rtlCol="0" anchor="ctr"/>
          <a:lstStyle/>
          <a:p>
            <a:pPr marL="0" indent="0">
              <a:buNone/>
            </a:pPr>
            <a:r>
              <a:rPr lang="en-US" sz="1130" b="1" dirty="0">
                <a:solidFill>
                  <a:srgbClr val="FFFFFF"/>
                </a:solidFill>
                <a:latin typeface="Gill Sans MT" pitchFamily="34" charset="0"/>
                <a:ea typeface="Gill Sans MT" pitchFamily="34" charset="-122"/>
                <a:cs typeface="Gill Sans MT" pitchFamily="34" charset="-120"/>
              </a:rPr>
              <a:t>Restrisico is expliciet geaccepteerd door directie/management</a:t>
            </a:r>
            <a:endParaRPr lang="en-US" sz="1130" dirty="0"/>
          </a:p>
        </p:txBody>
      </p:sp>
      <p:sp>
        <p:nvSpPr>
          <p:cNvPr id="40" name="Shape 37"/>
          <p:cNvSpPr/>
          <p:nvPr/>
        </p:nvSpPr>
        <p:spPr>
          <a:xfrm>
            <a:off x="7479792" y="5385816"/>
            <a:ext cx="59436" cy="59436"/>
          </a:xfrm>
          <a:prstGeom prst="ellipse">
            <a:avLst/>
          </a:prstGeom>
          <a:solidFill>
            <a:srgbClr val="F4C757"/>
          </a:solidFill>
          <a:ln w="12700">
            <a:solidFill>
              <a:srgbClr val="F4C757">
                <a:alpha val="0"/>
              </a:srgbClr>
            </a:solidFill>
            <a:prstDash val="solid"/>
          </a:ln>
        </p:spPr>
        <p:txBody>
          <a:bodyPr/>
          <a:lstStyle/>
          <a:p>
            <a:endParaRPr lang="nl-NL"/>
          </a:p>
        </p:txBody>
      </p:sp>
      <p:sp>
        <p:nvSpPr>
          <p:cNvPr id="41" name="Text 38"/>
          <p:cNvSpPr/>
          <p:nvPr/>
        </p:nvSpPr>
        <p:spPr>
          <a:xfrm>
            <a:off x="7635240" y="5321808"/>
            <a:ext cx="3657600" cy="256032"/>
          </a:xfrm>
          <a:prstGeom prst="rect">
            <a:avLst/>
          </a:prstGeom>
          <a:noFill/>
          <a:ln/>
        </p:spPr>
        <p:txBody>
          <a:bodyPr wrap="square" lIns="0" tIns="0" rIns="0" bIns="0" rtlCol="0" anchor="ctr"/>
          <a:lstStyle/>
          <a:p>
            <a:pPr marL="0" indent="0">
              <a:buNone/>
            </a:pPr>
            <a:r>
              <a:rPr lang="en-US" sz="1130" b="1" dirty="0">
                <a:solidFill>
                  <a:srgbClr val="FFFFFF"/>
                </a:solidFill>
                <a:latin typeface="Gill Sans MT" pitchFamily="34" charset="0"/>
                <a:ea typeface="Gill Sans MT" pitchFamily="34" charset="-122"/>
                <a:cs typeface="Gill Sans MT" pitchFamily="34" charset="-120"/>
              </a:rPr>
              <a:t>Herstel past binnen RTO/RPO: tijd terug live + maximaal dataverlies</a:t>
            </a:r>
            <a:endParaRPr lang="en-US" sz="1130" dirty="0"/>
          </a:p>
        </p:txBody>
      </p:sp>
      <p:sp>
        <p:nvSpPr>
          <p:cNvPr id="42" name="Shape 39"/>
          <p:cNvSpPr/>
          <p:nvPr/>
        </p:nvSpPr>
        <p:spPr>
          <a:xfrm>
            <a:off x="7479792" y="5715000"/>
            <a:ext cx="59436" cy="59436"/>
          </a:xfrm>
          <a:prstGeom prst="ellipse">
            <a:avLst/>
          </a:prstGeom>
          <a:solidFill>
            <a:srgbClr val="F4C757"/>
          </a:solidFill>
          <a:ln w="12700">
            <a:solidFill>
              <a:srgbClr val="F4C757">
                <a:alpha val="0"/>
              </a:srgbClr>
            </a:solidFill>
            <a:prstDash val="solid"/>
          </a:ln>
        </p:spPr>
        <p:txBody>
          <a:bodyPr/>
          <a:lstStyle/>
          <a:p>
            <a:endParaRPr lang="nl-NL"/>
          </a:p>
        </p:txBody>
      </p:sp>
      <p:sp>
        <p:nvSpPr>
          <p:cNvPr id="43" name="Text 40"/>
          <p:cNvSpPr/>
          <p:nvPr/>
        </p:nvSpPr>
        <p:spPr>
          <a:xfrm>
            <a:off x="7635240" y="5650992"/>
            <a:ext cx="3657600" cy="256032"/>
          </a:xfrm>
          <a:prstGeom prst="rect">
            <a:avLst/>
          </a:prstGeom>
          <a:noFill/>
          <a:ln/>
        </p:spPr>
        <p:txBody>
          <a:bodyPr wrap="square" lIns="0" tIns="0" rIns="0" bIns="0" rtlCol="0" anchor="ctr"/>
          <a:lstStyle/>
          <a:p>
            <a:pPr marL="0" indent="0">
              <a:buNone/>
            </a:pPr>
            <a:r>
              <a:rPr lang="en-US" sz="1130" b="1" dirty="0">
                <a:solidFill>
                  <a:srgbClr val="FFFFFF"/>
                </a:solidFill>
                <a:latin typeface="Gill Sans MT" pitchFamily="34" charset="0"/>
                <a:ea typeface="Gill Sans MT" pitchFamily="34" charset="-122"/>
                <a:cs typeface="Gill Sans MT" pitchFamily="34" charset="-120"/>
              </a:rPr>
              <a:t>Isoleren, communiceren en herstellen kan aantoonbaar volgens plan</a:t>
            </a:r>
            <a:endParaRPr lang="en-US" sz="11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Technisch_en_organisatorisch_verbeterplan_Billy_Bonka/slide-7.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411480" y="219456"/>
            <a:ext cx="10058400" cy="566928"/>
          </a:xfrm>
          <a:prstGeom prst="rect">
            <a:avLst/>
          </a:prstGeom>
          <a:solidFill>
            <a:srgbClr val="103781"/>
          </a:solidFill>
          <a:ln w="12700">
            <a:solidFill>
              <a:srgbClr val="103781">
                <a:alpha val="0"/>
              </a:srgbClr>
            </a:solidFill>
            <a:prstDash val="solid"/>
          </a:ln>
        </p:spPr>
        <p:txBody>
          <a:bodyPr/>
          <a:lstStyle/>
          <a:p>
            <a:endParaRPr lang="nl-NL"/>
          </a:p>
        </p:txBody>
      </p:sp>
      <p:sp>
        <p:nvSpPr>
          <p:cNvPr id="4" name="Text 1"/>
          <p:cNvSpPr/>
          <p:nvPr/>
        </p:nvSpPr>
        <p:spPr>
          <a:xfrm>
            <a:off x="411480" y="371302"/>
            <a:ext cx="10058400" cy="415082"/>
          </a:xfrm>
          <a:prstGeom prst="rect">
            <a:avLst/>
          </a:prstGeom>
          <a:noFill/>
          <a:ln/>
        </p:spPr>
        <p:txBody>
          <a:bodyPr wrap="square" lIns="0" tIns="0" rIns="0" bIns="0" rtlCol="0" anchor="ctr"/>
          <a:lstStyle/>
          <a:p>
            <a:pPr marL="0" indent="0">
              <a:buNone/>
            </a:pPr>
            <a:r>
              <a:rPr lang="en-US" sz="2600" dirty="0">
                <a:solidFill>
                  <a:srgbClr val="FFFFFF"/>
                </a:solidFill>
                <a:latin typeface="Gill Sans MT" pitchFamily="34" charset="0"/>
                <a:ea typeface="Gill Sans MT" pitchFamily="34" charset="-122"/>
                <a:cs typeface="Gill Sans MT" pitchFamily="34" charset="-120"/>
              </a:rPr>
              <a:t>VRAAG 3 — </a:t>
            </a:r>
            <a:r>
              <a:rPr lang="en-US" sz="2400" dirty="0">
                <a:solidFill>
                  <a:srgbClr val="FFFFFF"/>
                </a:solidFill>
                <a:latin typeface="Gill Sans MT" pitchFamily="34" charset="0"/>
                <a:ea typeface="Gill Sans MT" pitchFamily="34" charset="-122"/>
                <a:cs typeface="Gill Sans MT" pitchFamily="34" charset="-120"/>
              </a:rPr>
              <a:t>WAT HAD HOPPENBROUWERS NOG MEER KUNNEN DOEN?</a:t>
            </a:r>
            <a:endParaRPr lang="en-US" sz="2600" dirty="0"/>
          </a:p>
        </p:txBody>
      </p:sp>
      <p:sp>
        <p:nvSpPr>
          <p:cNvPr id="5" name="Shape 2"/>
          <p:cNvSpPr/>
          <p:nvPr/>
        </p:nvSpPr>
        <p:spPr>
          <a:xfrm>
            <a:off x="713232" y="1325880"/>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6" name="Shape 3"/>
          <p:cNvSpPr/>
          <p:nvPr/>
        </p:nvSpPr>
        <p:spPr>
          <a:xfrm>
            <a:off x="731520" y="1399032"/>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7" name="Text 4"/>
          <p:cNvSpPr/>
          <p:nvPr/>
        </p:nvSpPr>
        <p:spPr>
          <a:xfrm>
            <a:off x="877824" y="1399032"/>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Strenger leveranciersbeheer</a:t>
            </a:r>
            <a:endParaRPr lang="en-US" sz="1620" dirty="0"/>
          </a:p>
        </p:txBody>
      </p:sp>
      <p:sp>
        <p:nvSpPr>
          <p:cNvPr id="8" name="Text 5"/>
          <p:cNvSpPr/>
          <p:nvPr/>
        </p:nvSpPr>
        <p:spPr>
          <a:xfrm>
            <a:off x="877824" y="1618488"/>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Meer grip op RMM-tools, tijdsvensters, logging en minimale rechten voor externen.</a:t>
            </a:r>
            <a:endParaRPr lang="en-US" sz="1240" dirty="0"/>
          </a:p>
        </p:txBody>
      </p:sp>
      <p:sp>
        <p:nvSpPr>
          <p:cNvPr id="9" name="Shape 6"/>
          <p:cNvSpPr/>
          <p:nvPr/>
        </p:nvSpPr>
        <p:spPr>
          <a:xfrm>
            <a:off x="6336792" y="1325880"/>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10" name="Shape 7"/>
          <p:cNvSpPr/>
          <p:nvPr/>
        </p:nvSpPr>
        <p:spPr>
          <a:xfrm>
            <a:off x="6355080" y="1399032"/>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11" name="Text 8"/>
          <p:cNvSpPr/>
          <p:nvPr/>
        </p:nvSpPr>
        <p:spPr>
          <a:xfrm>
            <a:off x="6501384" y="1399032"/>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Zero Trust / least privilege</a:t>
            </a:r>
            <a:endParaRPr lang="en-US" sz="1620" dirty="0"/>
          </a:p>
        </p:txBody>
      </p:sp>
      <p:sp>
        <p:nvSpPr>
          <p:cNvPr id="12" name="Text 9"/>
          <p:cNvSpPr/>
          <p:nvPr/>
        </p:nvSpPr>
        <p:spPr>
          <a:xfrm>
            <a:off x="6501384" y="1618488"/>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Rechten verder beperken en segmenteren zodat één tool niet overal impact heeft.</a:t>
            </a:r>
            <a:endParaRPr lang="en-US" sz="1240" dirty="0"/>
          </a:p>
        </p:txBody>
      </p:sp>
      <p:sp>
        <p:nvSpPr>
          <p:cNvPr id="13" name="Shape 10"/>
          <p:cNvSpPr/>
          <p:nvPr/>
        </p:nvSpPr>
        <p:spPr>
          <a:xfrm>
            <a:off x="713232" y="2395728"/>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14" name="Shape 11"/>
          <p:cNvSpPr/>
          <p:nvPr/>
        </p:nvSpPr>
        <p:spPr>
          <a:xfrm>
            <a:off x="731520" y="2468880"/>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15" name="Text 12"/>
          <p:cNvSpPr/>
          <p:nvPr/>
        </p:nvSpPr>
        <p:spPr>
          <a:xfrm>
            <a:off x="877824" y="2468880"/>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Geoefend incident response plan</a:t>
            </a:r>
            <a:endParaRPr lang="en-US" sz="1620" dirty="0"/>
          </a:p>
        </p:txBody>
      </p:sp>
      <p:sp>
        <p:nvSpPr>
          <p:cNvPr id="16" name="Text 13"/>
          <p:cNvSpPr/>
          <p:nvPr/>
        </p:nvSpPr>
        <p:spPr>
          <a:xfrm>
            <a:off x="877824" y="2688336"/>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Vooraf vastleggen wie beslist, wie communiceert en welke systemen eerst geïsoleerd worden.</a:t>
            </a:r>
            <a:endParaRPr lang="en-US" sz="1240" dirty="0"/>
          </a:p>
        </p:txBody>
      </p:sp>
      <p:sp>
        <p:nvSpPr>
          <p:cNvPr id="17" name="Shape 14"/>
          <p:cNvSpPr/>
          <p:nvPr/>
        </p:nvSpPr>
        <p:spPr>
          <a:xfrm>
            <a:off x="6336792" y="2395728"/>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18" name="Shape 15"/>
          <p:cNvSpPr/>
          <p:nvPr/>
        </p:nvSpPr>
        <p:spPr>
          <a:xfrm>
            <a:off x="6355080" y="2468880"/>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19" name="Text 16"/>
          <p:cNvSpPr/>
          <p:nvPr/>
        </p:nvSpPr>
        <p:spPr>
          <a:xfrm>
            <a:off x="6501384" y="2468880"/>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EDR / monitoring</a:t>
            </a:r>
            <a:endParaRPr lang="en-US" sz="1620" dirty="0"/>
          </a:p>
        </p:txBody>
      </p:sp>
      <p:sp>
        <p:nvSpPr>
          <p:cNvPr id="20" name="Text 17"/>
          <p:cNvSpPr/>
          <p:nvPr/>
        </p:nvSpPr>
        <p:spPr>
          <a:xfrm>
            <a:off x="6501384" y="2688336"/>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Afwijkend gedrag zoals massaal versleutelen sneller detecteren en stoppen.</a:t>
            </a:r>
            <a:endParaRPr lang="en-US" sz="1240" dirty="0"/>
          </a:p>
        </p:txBody>
      </p:sp>
      <p:sp>
        <p:nvSpPr>
          <p:cNvPr id="21" name="Shape 18"/>
          <p:cNvSpPr/>
          <p:nvPr/>
        </p:nvSpPr>
        <p:spPr>
          <a:xfrm>
            <a:off x="713232" y="3465576"/>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22" name="Shape 19"/>
          <p:cNvSpPr/>
          <p:nvPr/>
        </p:nvSpPr>
        <p:spPr>
          <a:xfrm>
            <a:off x="731520" y="3538728"/>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23" name="Text 20"/>
          <p:cNvSpPr/>
          <p:nvPr/>
        </p:nvSpPr>
        <p:spPr>
          <a:xfrm>
            <a:off x="877824" y="3538728"/>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Recovery runbooks / “wasstraat”</a:t>
            </a:r>
            <a:endParaRPr lang="en-US" sz="1620" dirty="0"/>
          </a:p>
        </p:txBody>
      </p:sp>
      <p:sp>
        <p:nvSpPr>
          <p:cNvPr id="24" name="Text 21"/>
          <p:cNvSpPr/>
          <p:nvPr/>
        </p:nvSpPr>
        <p:spPr>
          <a:xfrm>
            <a:off x="877824" y="3758184"/>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Herstelprocedures vooraf uitschrijven en oefenen voor sneller, gecontroleerd herstel.</a:t>
            </a:r>
            <a:endParaRPr lang="en-US" sz="1240" dirty="0"/>
          </a:p>
        </p:txBody>
      </p:sp>
      <p:sp>
        <p:nvSpPr>
          <p:cNvPr id="25" name="Shape 22"/>
          <p:cNvSpPr/>
          <p:nvPr/>
        </p:nvSpPr>
        <p:spPr>
          <a:xfrm>
            <a:off x="6336792" y="3465576"/>
            <a:ext cx="5138928" cy="822960"/>
          </a:xfrm>
          <a:prstGeom prst="roundRect">
            <a:avLst>
              <a:gd name="adj" fmla="val 8889"/>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26" name="Shape 23"/>
          <p:cNvSpPr/>
          <p:nvPr/>
        </p:nvSpPr>
        <p:spPr>
          <a:xfrm>
            <a:off x="6355080" y="3538728"/>
            <a:ext cx="73152" cy="676656"/>
          </a:xfrm>
          <a:prstGeom prst="rect">
            <a:avLst/>
          </a:prstGeom>
          <a:solidFill>
            <a:srgbClr val="F4C757"/>
          </a:solidFill>
          <a:ln w="12700">
            <a:solidFill>
              <a:srgbClr val="F4C757">
                <a:alpha val="0"/>
              </a:srgbClr>
            </a:solidFill>
            <a:prstDash val="solid"/>
          </a:ln>
        </p:spPr>
        <p:txBody>
          <a:bodyPr/>
          <a:lstStyle/>
          <a:p>
            <a:endParaRPr lang="nl-NL"/>
          </a:p>
        </p:txBody>
      </p:sp>
      <p:sp>
        <p:nvSpPr>
          <p:cNvPr id="27" name="Text 24"/>
          <p:cNvSpPr/>
          <p:nvPr/>
        </p:nvSpPr>
        <p:spPr>
          <a:xfrm>
            <a:off x="6501384" y="3538728"/>
            <a:ext cx="4882896" cy="219456"/>
          </a:xfrm>
          <a:prstGeom prst="rect">
            <a:avLst/>
          </a:prstGeom>
          <a:noFill/>
          <a:ln/>
        </p:spPr>
        <p:txBody>
          <a:bodyPr wrap="square" lIns="0" tIns="0" rIns="0" bIns="0" rtlCol="0" anchor="ctr"/>
          <a:lstStyle/>
          <a:p>
            <a:pPr marL="0" indent="0">
              <a:buNone/>
            </a:pPr>
            <a:r>
              <a:rPr lang="en-US" sz="1620" b="1" dirty="0">
                <a:solidFill>
                  <a:srgbClr val="041B34"/>
                </a:solidFill>
                <a:latin typeface="Gill Sans MT" pitchFamily="34" charset="0"/>
                <a:ea typeface="Gill Sans MT" pitchFamily="34" charset="-122"/>
                <a:cs typeface="Gill Sans MT" pitchFamily="34" charset="-120"/>
              </a:rPr>
              <a:t>Asset-registratie &amp; workflow</a:t>
            </a:r>
            <a:endParaRPr lang="en-US" sz="1620" dirty="0"/>
          </a:p>
        </p:txBody>
      </p:sp>
      <p:sp>
        <p:nvSpPr>
          <p:cNvPr id="28" name="Text 25"/>
          <p:cNvSpPr/>
          <p:nvPr/>
        </p:nvSpPr>
        <p:spPr>
          <a:xfrm>
            <a:off x="6501384" y="3758184"/>
            <a:ext cx="4919472" cy="493776"/>
          </a:xfrm>
          <a:prstGeom prst="rect">
            <a:avLst/>
          </a:prstGeom>
          <a:noFill/>
          <a:ln/>
        </p:spPr>
        <p:txBody>
          <a:bodyPr wrap="square" lIns="0" tIns="0" rIns="0" bIns="0" rtlCol="0" anchor="ctr"/>
          <a:lstStyle/>
          <a:p>
            <a:pPr marL="0" indent="0">
              <a:buNone/>
            </a:pPr>
            <a:r>
              <a:rPr lang="en-US" sz="1240" dirty="0">
                <a:solidFill>
                  <a:srgbClr val="222222"/>
                </a:solidFill>
                <a:latin typeface="Gill Sans MT" pitchFamily="34" charset="0"/>
                <a:ea typeface="Gill Sans MT" pitchFamily="34" charset="-122"/>
                <a:cs typeface="Gill Sans MT" pitchFamily="34" charset="-120"/>
              </a:rPr>
              <a:t>Actueel overzicht van laptops, accounts en prioriteiten om chaos tijdens herstel te beperken.</a:t>
            </a:r>
            <a:endParaRPr lang="en-US" sz="12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Technisch_en_organisatorisch_verbeterplan_Billy_Bonka/slide-12.png"/>
          <p:cNvPicPr>
            <a:picLocks noChangeAspect="1"/>
          </p:cNvPicPr>
          <p:nvPr/>
        </p:nvPicPr>
        <p:blipFill>
          <a:blip r:embed="rId3"/>
          <a:stretch>
            <a:fillRect/>
          </a:stretch>
        </p:blipFill>
        <p:spPr>
          <a:xfrm>
            <a:off x="305" y="-27432"/>
            <a:ext cx="12191695" cy="6858000"/>
          </a:xfrm>
          <a:prstGeom prst="rect">
            <a:avLst/>
          </a:prstGeom>
        </p:spPr>
      </p:pic>
      <p:sp>
        <p:nvSpPr>
          <p:cNvPr id="3" name="Shape 0"/>
          <p:cNvSpPr/>
          <p:nvPr/>
        </p:nvSpPr>
        <p:spPr>
          <a:xfrm>
            <a:off x="411480" y="219456"/>
            <a:ext cx="10058400" cy="566928"/>
          </a:xfrm>
          <a:prstGeom prst="rect">
            <a:avLst/>
          </a:prstGeom>
          <a:solidFill>
            <a:srgbClr val="103781"/>
          </a:solidFill>
          <a:ln w="12700">
            <a:solidFill>
              <a:srgbClr val="103781">
                <a:alpha val="0"/>
              </a:srgbClr>
            </a:solidFill>
            <a:prstDash val="solid"/>
          </a:ln>
        </p:spPr>
        <p:txBody>
          <a:bodyPr/>
          <a:lstStyle/>
          <a:p>
            <a:endParaRPr lang="nl-NL"/>
          </a:p>
        </p:txBody>
      </p:sp>
      <p:sp>
        <p:nvSpPr>
          <p:cNvPr id="4" name="Text 1"/>
          <p:cNvSpPr/>
          <p:nvPr/>
        </p:nvSpPr>
        <p:spPr>
          <a:xfrm>
            <a:off x="502920" y="292608"/>
            <a:ext cx="9875520" cy="402336"/>
          </a:xfrm>
          <a:prstGeom prst="rect">
            <a:avLst/>
          </a:prstGeom>
          <a:noFill/>
          <a:ln/>
        </p:spPr>
        <p:txBody>
          <a:bodyPr wrap="square" lIns="0" tIns="0" rIns="0" bIns="0" rtlCol="0" anchor="ctr"/>
          <a:lstStyle/>
          <a:p>
            <a:pPr marL="0" indent="0">
              <a:buNone/>
            </a:pPr>
            <a:r>
              <a:rPr lang="en-US" sz="2600" dirty="0">
                <a:solidFill>
                  <a:srgbClr val="FFFFFF"/>
                </a:solidFill>
                <a:latin typeface="Gill Sans MT" pitchFamily="34" charset="0"/>
                <a:ea typeface="Gill Sans MT" pitchFamily="34" charset="-122"/>
                <a:cs typeface="Gill Sans MT" pitchFamily="34" charset="-120"/>
              </a:rPr>
              <a:t>CONCLUSIE</a:t>
            </a:r>
            <a:endParaRPr lang="en-US" sz="2600" dirty="0"/>
          </a:p>
        </p:txBody>
      </p:sp>
      <p:sp>
        <p:nvSpPr>
          <p:cNvPr id="5" name="Shape 2"/>
          <p:cNvSpPr/>
          <p:nvPr/>
        </p:nvSpPr>
        <p:spPr>
          <a:xfrm>
            <a:off x="868680" y="1572768"/>
            <a:ext cx="7406640" cy="960120"/>
          </a:xfrm>
          <a:prstGeom prst="roundRect">
            <a:avLst/>
          </a:prstGeom>
          <a:solidFill>
            <a:srgbClr val="D8DCE1"/>
          </a:solidFill>
          <a:ln w="12700">
            <a:solidFill>
              <a:srgbClr val="163554"/>
            </a:solidFill>
            <a:prstDash val="solid"/>
          </a:ln>
        </p:spPr>
        <p:txBody>
          <a:bodyPr/>
          <a:lstStyle/>
          <a:p>
            <a:endParaRPr lang="nl-NL"/>
          </a:p>
        </p:txBody>
      </p:sp>
      <p:sp>
        <p:nvSpPr>
          <p:cNvPr id="6" name="Shape 3"/>
          <p:cNvSpPr/>
          <p:nvPr/>
        </p:nvSpPr>
        <p:spPr>
          <a:xfrm>
            <a:off x="1060704" y="1810512"/>
            <a:ext cx="420624" cy="420624"/>
          </a:xfrm>
          <a:prstGeom prst="ellipse">
            <a:avLst/>
          </a:prstGeom>
          <a:solidFill>
            <a:srgbClr val="F4C757"/>
          </a:solidFill>
          <a:ln w="12700">
            <a:solidFill>
              <a:srgbClr val="F4C757">
                <a:alpha val="0"/>
              </a:srgbClr>
            </a:solidFill>
            <a:prstDash val="solid"/>
          </a:ln>
        </p:spPr>
        <p:txBody>
          <a:bodyPr/>
          <a:lstStyle/>
          <a:p>
            <a:endParaRPr lang="nl-NL"/>
          </a:p>
        </p:txBody>
      </p:sp>
      <p:sp>
        <p:nvSpPr>
          <p:cNvPr id="7" name="Text 4"/>
          <p:cNvSpPr/>
          <p:nvPr/>
        </p:nvSpPr>
        <p:spPr>
          <a:xfrm>
            <a:off x="1060704" y="1810512"/>
            <a:ext cx="420624" cy="420624"/>
          </a:xfrm>
          <a:prstGeom prst="rect">
            <a:avLst/>
          </a:prstGeom>
          <a:noFill/>
          <a:ln/>
        </p:spPr>
        <p:txBody>
          <a:bodyPr wrap="square" lIns="0" tIns="0" rIns="0" bIns="0" rtlCol="0" anchor="ctr"/>
          <a:lstStyle/>
          <a:p>
            <a:pPr marL="0" indent="0" algn="ctr">
              <a:buNone/>
            </a:pPr>
            <a:r>
              <a:rPr lang="en-US" sz="1800" b="1" dirty="0">
                <a:solidFill>
                  <a:srgbClr val="041B34"/>
                </a:solidFill>
                <a:latin typeface="Gill Sans MT" pitchFamily="34" charset="0"/>
                <a:ea typeface="Gill Sans MT" pitchFamily="34" charset="-122"/>
                <a:cs typeface="Gill Sans MT" pitchFamily="34" charset="-120"/>
              </a:rPr>
              <a:t>1</a:t>
            </a:r>
            <a:endParaRPr lang="en-US" sz="1800" dirty="0"/>
          </a:p>
        </p:txBody>
      </p:sp>
      <p:sp>
        <p:nvSpPr>
          <p:cNvPr id="8" name="Text 5"/>
          <p:cNvSpPr/>
          <p:nvPr/>
        </p:nvSpPr>
        <p:spPr>
          <a:xfrm>
            <a:off x="1664208" y="1719072"/>
            <a:ext cx="6217920" cy="201168"/>
          </a:xfrm>
          <a:prstGeom prst="rect">
            <a:avLst/>
          </a:prstGeom>
          <a:noFill/>
          <a:ln/>
        </p:spPr>
        <p:txBody>
          <a:bodyPr wrap="square" lIns="0" tIns="0" rIns="0" bIns="0" rtlCol="0" anchor="ctr"/>
          <a:lstStyle/>
          <a:p>
            <a:pPr marL="0" indent="0">
              <a:buNone/>
            </a:pPr>
            <a:r>
              <a:rPr lang="en-US" sz="1650" b="1" dirty="0">
                <a:solidFill>
                  <a:srgbClr val="041B34"/>
                </a:solidFill>
                <a:latin typeface="Gill Sans MT" pitchFamily="34" charset="0"/>
                <a:ea typeface="Gill Sans MT" pitchFamily="34" charset="-122"/>
                <a:cs typeface="Gill Sans MT" pitchFamily="34" charset="-120"/>
              </a:rPr>
              <a:t>Weerbaarheid = mensen + proces + techniek</a:t>
            </a:r>
            <a:endParaRPr lang="en-US" sz="1650" dirty="0"/>
          </a:p>
        </p:txBody>
      </p:sp>
      <p:sp>
        <p:nvSpPr>
          <p:cNvPr id="9" name="Text 6"/>
          <p:cNvSpPr/>
          <p:nvPr/>
        </p:nvSpPr>
        <p:spPr>
          <a:xfrm>
            <a:off x="1664208" y="1984248"/>
            <a:ext cx="6217920" cy="329184"/>
          </a:xfrm>
          <a:prstGeom prst="rect">
            <a:avLst/>
          </a:prstGeom>
          <a:noFill/>
          <a:ln/>
        </p:spPr>
        <p:txBody>
          <a:bodyPr wrap="square" lIns="0" tIns="0" rIns="0" bIns="0" rtlCol="0" anchor="ctr"/>
          <a:lstStyle/>
          <a:p>
            <a:pPr marL="0" indent="0">
              <a:buNone/>
            </a:pPr>
            <a:r>
              <a:rPr lang="en-US" sz="1280" dirty="0">
                <a:solidFill>
                  <a:srgbClr val="222222"/>
                </a:solidFill>
                <a:latin typeface="Gill Sans MT" pitchFamily="34" charset="0"/>
                <a:ea typeface="Gill Sans MT" pitchFamily="34" charset="-122"/>
                <a:cs typeface="Gill Sans MT" pitchFamily="34" charset="-120"/>
              </a:rPr>
              <a:t>Goede technische maatregelen zijn nodig, maar zonder crisisorganisatie en duidelijke rollen blijft herstel traag en chaotisch.</a:t>
            </a:r>
            <a:endParaRPr lang="en-US" sz="1280" dirty="0"/>
          </a:p>
        </p:txBody>
      </p:sp>
      <p:sp>
        <p:nvSpPr>
          <p:cNvPr id="10" name="Shape 7"/>
          <p:cNvSpPr/>
          <p:nvPr/>
        </p:nvSpPr>
        <p:spPr>
          <a:xfrm>
            <a:off x="868680" y="2743200"/>
            <a:ext cx="7406640" cy="960120"/>
          </a:xfrm>
          <a:prstGeom prst="roundRect">
            <a:avLst/>
          </a:prstGeom>
          <a:solidFill>
            <a:srgbClr val="D8DCE1"/>
          </a:solidFill>
          <a:ln w="12700">
            <a:solidFill>
              <a:srgbClr val="163554"/>
            </a:solidFill>
            <a:prstDash val="solid"/>
          </a:ln>
        </p:spPr>
        <p:txBody>
          <a:bodyPr/>
          <a:lstStyle/>
          <a:p>
            <a:endParaRPr lang="nl-NL"/>
          </a:p>
        </p:txBody>
      </p:sp>
      <p:sp>
        <p:nvSpPr>
          <p:cNvPr id="11" name="Shape 8"/>
          <p:cNvSpPr/>
          <p:nvPr/>
        </p:nvSpPr>
        <p:spPr>
          <a:xfrm>
            <a:off x="1060704" y="2980944"/>
            <a:ext cx="420624" cy="420624"/>
          </a:xfrm>
          <a:prstGeom prst="ellipse">
            <a:avLst/>
          </a:prstGeom>
          <a:solidFill>
            <a:srgbClr val="F4C757"/>
          </a:solidFill>
          <a:ln w="12700">
            <a:solidFill>
              <a:srgbClr val="F4C757">
                <a:alpha val="0"/>
              </a:srgbClr>
            </a:solidFill>
            <a:prstDash val="solid"/>
          </a:ln>
        </p:spPr>
        <p:txBody>
          <a:bodyPr/>
          <a:lstStyle/>
          <a:p>
            <a:endParaRPr lang="nl-NL"/>
          </a:p>
        </p:txBody>
      </p:sp>
      <p:sp>
        <p:nvSpPr>
          <p:cNvPr id="12" name="Text 9"/>
          <p:cNvSpPr/>
          <p:nvPr/>
        </p:nvSpPr>
        <p:spPr>
          <a:xfrm>
            <a:off x="1060704" y="2980944"/>
            <a:ext cx="420624" cy="420624"/>
          </a:xfrm>
          <a:prstGeom prst="rect">
            <a:avLst/>
          </a:prstGeom>
          <a:noFill/>
          <a:ln/>
        </p:spPr>
        <p:txBody>
          <a:bodyPr wrap="square" lIns="0" tIns="0" rIns="0" bIns="0" rtlCol="0" anchor="ctr"/>
          <a:lstStyle/>
          <a:p>
            <a:pPr marL="0" indent="0" algn="ctr">
              <a:buNone/>
            </a:pPr>
            <a:r>
              <a:rPr lang="en-US" sz="1800" b="1" dirty="0">
                <a:solidFill>
                  <a:srgbClr val="041B34"/>
                </a:solidFill>
                <a:latin typeface="Gill Sans MT" pitchFamily="34" charset="0"/>
                <a:ea typeface="Gill Sans MT" pitchFamily="34" charset="-122"/>
                <a:cs typeface="Gill Sans MT" pitchFamily="34" charset="-120"/>
              </a:rPr>
              <a:t>2</a:t>
            </a:r>
            <a:endParaRPr lang="en-US" sz="1800" dirty="0"/>
          </a:p>
        </p:txBody>
      </p:sp>
      <p:sp>
        <p:nvSpPr>
          <p:cNvPr id="13" name="Text 10"/>
          <p:cNvSpPr/>
          <p:nvPr/>
        </p:nvSpPr>
        <p:spPr>
          <a:xfrm>
            <a:off x="1664208" y="2889504"/>
            <a:ext cx="6217920" cy="201168"/>
          </a:xfrm>
          <a:prstGeom prst="rect">
            <a:avLst/>
          </a:prstGeom>
          <a:noFill/>
          <a:ln/>
        </p:spPr>
        <p:txBody>
          <a:bodyPr wrap="square" lIns="0" tIns="0" rIns="0" bIns="0" rtlCol="0" anchor="ctr"/>
          <a:lstStyle/>
          <a:p>
            <a:pPr marL="0" indent="0">
              <a:buNone/>
            </a:pPr>
            <a:r>
              <a:rPr lang="en-US" sz="1650" b="1" dirty="0">
                <a:solidFill>
                  <a:srgbClr val="041B34"/>
                </a:solidFill>
                <a:latin typeface="Gill Sans MT" pitchFamily="34" charset="0"/>
                <a:ea typeface="Gill Sans MT" pitchFamily="34" charset="-122"/>
                <a:cs typeface="Gill Sans MT" pitchFamily="34" charset="-120"/>
              </a:rPr>
              <a:t>Regie ligt bij crisisleiding, niet alleen bij IT</a:t>
            </a:r>
            <a:endParaRPr lang="en-US" sz="1650" dirty="0"/>
          </a:p>
        </p:txBody>
      </p:sp>
      <p:sp>
        <p:nvSpPr>
          <p:cNvPr id="14" name="Text 11"/>
          <p:cNvSpPr/>
          <p:nvPr/>
        </p:nvSpPr>
        <p:spPr>
          <a:xfrm>
            <a:off x="1664208" y="3154680"/>
            <a:ext cx="6217920" cy="329184"/>
          </a:xfrm>
          <a:prstGeom prst="rect">
            <a:avLst/>
          </a:prstGeom>
          <a:noFill/>
          <a:ln/>
        </p:spPr>
        <p:txBody>
          <a:bodyPr wrap="square" lIns="0" tIns="0" rIns="0" bIns="0" rtlCol="0" anchor="ctr"/>
          <a:lstStyle/>
          <a:p>
            <a:pPr marL="0" indent="0">
              <a:buNone/>
            </a:pPr>
            <a:r>
              <a:rPr lang="en-US" sz="1280" dirty="0">
                <a:solidFill>
                  <a:srgbClr val="222222"/>
                </a:solidFill>
                <a:latin typeface="Gill Sans MT" pitchFamily="34" charset="0"/>
                <a:ea typeface="Gill Sans MT" pitchFamily="34" charset="-122"/>
                <a:cs typeface="Gill Sans MT" pitchFamily="34" charset="-120"/>
              </a:rPr>
              <a:t>Directie/management bepaalt prioriteiten, communicatie en continuïteit; IT/Security leidt het technische herstel.</a:t>
            </a:r>
            <a:endParaRPr lang="en-US" sz="1280" dirty="0"/>
          </a:p>
        </p:txBody>
      </p:sp>
      <p:sp>
        <p:nvSpPr>
          <p:cNvPr id="15" name="Shape 12"/>
          <p:cNvSpPr/>
          <p:nvPr/>
        </p:nvSpPr>
        <p:spPr>
          <a:xfrm>
            <a:off x="868680" y="3913632"/>
            <a:ext cx="7406640" cy="960120"/>
          </a:xfrm>
          <a:prstGeom prst="roundRect">
            <a:avLst/>
          </a:prstGeom>
          <a:solidFill>
            <a:srgbClr val="D8DCE1"/>
          </a:solidFill>
          <a:ln w="12700">
            <a:solidFill>
              <a:srgbClr val="163554"/>
            </a:solidFill>
            <a:prstDash val="solid"/>
          </a:ln>
        </p:spPr>
        <p:txBody>
          <a:bodyPr/>
          <a:lstStyle/>
          <a:p>
            <a:endParaRPr lang="nl-NL"/>
          </a:p>
        </p:txBody>
      </p:sp>
      <p:sp>
        <p:nvSpPr>
          <p:cNvPr id="16" name="Shape 13"/>
          <p:cNvSpPr/>
          <p:nvPr/>
        </p:nvSpPr>
        <p:spPr>
          <a:xfrm>
            <a:off x="1060704" y="4151376"/>
            <a:ext cx="420624" cy="420624"/>
          </a:xfrm>
          <a:prstGeom prst="ellipse">
            <a:avLst/>
          </a:prstGeom>
          <a:solidFill>
            <a:srgbClr val="F4C757"/>
          </a:solidFill>
          <a:ln w="12700">
            <a:solidFill>
              <a:srgbClr val="F4C757">
                <a:alpha val="0"/>
              </a:srgbClr>
            </a:solidFill>
            <a:prstDash val="solid"/>
          </a:ln>
        </p:spPr>
        <p:txBody>
          <a:bodyPr/>
          <a:lstStyle/>
          <a:p>
            <a:endParaRPr lang="nl-NL"/>
          </a:p>
        </p:txBody>
      </p:sp>
      <p:sp>
        <p:nvSpPr>
          <p:cNvPr id="17" name="Text 14"/>
          <p:cNvSpPr/>
          <p:nvPr/>
        </p:nvSpPr>
        <p:spPr>
          <a:xfrm>
            <a:off x="1060704" y="4151376"/>
            <a:ext cx="420624" cy="420624"/>
          </a:xfrm>
          <a:prstGeom prst="rect">
            <a:avLst/>
          </a:prstGeom>
          <a:noFill/>
          <a:ln/>
        </p:spPr>
        <p:txBody>
          <a:bodyPr wrap="square" lIns="0" tIns="0" rIns="0" bIns="0" rtlCol="0" anchor="ctr"/>
          <a:lstStyle/>
          <a:p>
            <a:pPr marL="0" indent="0" algn="ctr">
              <a:buNone/>
            </a:pPr>
            <a:r>
              <a:rPr lang="en-US" sz="1800" b="1" dirty="0">
                <a:solidFill>
                  <a:srgbClr val="041B34"/>
                </a:solidFill>
                <a:latin typeface="Gill Sans MT" pitchFamily="34" charset="0"/>
                <a:ea typeface="Gill Sans MT" pitchFamily="34" charset="-122"/>
                <a:cs typeface="Gill Sans MT" pitchFamily="34" charset="-120"/>
              </a:rPr>
              <a:t>3</a:t>
            </a:r>
            <a:endParaRPr lang="en-US" sz="1800" dirty="0"/>
          </a:p>
        </p:txBody>
      </p:sp>
      <p:sp>
        <p:nvSpPr>
          <p:cNvPr id="18" name="Text 15"/>
          <p:cNvSpPr/>
          <p:nvPr/>
        </p:nvSpPr>
        <p:spPr>
          <a:xfrm>
            <a:off x="1664208" y="4059936"/>
            <a:ext cx="6217920" cy="201168"/>
          </a:xfrm>
          <a:prstGeom prst="rect">
            <a:avLst/>
          </a:prstGeom>
          <a:noFill/>
          <a:ln/>
        </p:spPr>
        <p:txBody>
          <a:bodyPr wrap="square" lIns="0" tIns="0" rIns="0" bIns="0" rtlCol="0" anchor="ctr"/>
          <a:lstStyle/>
          <a:p>
            <a:pPr marL="0" indent="0">
              <a:buNone/>
            </a:pPr>
            <a:r>
              <a:rPr lang="en-US" sz="1650" b="1" dirty="0">
                <a:solidFill>
                  <a:srgbClr val="041B34"/>
                </a:solidFill>
                <a:latin typeface="Gill Sans MT" pitchFamily="34" charset="0"/>
                <a:ea typeface="Gill Sans MT" pitchFamily="34" charset="-122"/>
                <a:cs typeface="Gill Sans MT" pitchFamily="34" charset="-120"/>
              </a:rPr>
              <a:t>Preventie én herstel moeten geoefend zijn</a:t>
            </a:r>
            <a:endParaRPr lang="en-US" sz="1650" dirty="0"/>
          </a:p>
        </p:txBody>
      </p:sp>
      <p:sp>
        <p:nvSpPr>
          <p:cNvPr id="19" name="Text 16"/>
          <p:cNvSpPr/>
          <p:nvPr/>
        </p:nvSpPr>
        <p:spPr>
          <a:xfrm>
            <a:off x="1664208" y="4325112"/>
            <a:ext cx="6217920" cy="329184"/>
          </a:xfrm>
          <a:prstGeom prst="rect">
            <a:avLst/>
          </a:prstGeom>
          <a:noFill/>
          <a:ln/>
        </p:spPr>
        <p:txBody>
          <a:bodyPr wrap="square" lIns="0" tIns="0" rIns="0" bIns="0" rtlCol="0" anchor="ctr"/>
          <a:lstStyle/>
          <a:p>
            <a:pPr marL="0" indent="0">
              <a:buNone/>
            </a:pPr>
            <a:r>
              <a:rPr lang="en-US" sz="1280" dirty="0">
                <a:solidFill>
                  <a:srgbClr val="222222"/>
                </a:solidFill>
                <a:latin typeface="Gill Sans MT" pitchFamily="34" charset="0"/>
                <a:ea typeface="Gill Sans MT" pitchFamily="34" charset="-122"/>
                <a:cs typeface="Gill Sans MT" pitchFamily="34" charset="-120"/>
              </a:rPr>
              <a:t>Supply chain-risico vraagt om leveranciersbeheer, monitoring, runbooks en periodieke oefeningen.</a:t>
            </a:r>
            <a:endParaRPr lang="en-US" sz="1280" dirty="0"/>
          </a:p>
        </p:txBody>
      </p:sp>
      <p:sp>
        <p:nvSpPr>
          <p:cNvPr id="20" name="Shape 17"/>
          <p:cNvSpPr/>
          <p:nvPr/>
        </p:nvSpPr>
        <p:spPr>
          <a:xfrm>
            <a:off x="8229600" y="4206239"/>
            <a:ext cx="2926080" cy="1008611"/>
          </a:xfrm>
          <a:prstGeom prst="rect">
            <a:avLst/>
          </a:prstGeom>
          <a:solidFill>
            <a:srgbClr val="103781"/>
          </a:solidFill>
          <a:ln w="12700">
            <a:solidFill>
              <a:srgbClr val="103781">
                <a:alpha val="0"/>
              </a:srgbClr>
            </a:solidFill>
            <a:prstDash val="solid"/>
          </a:ln>
        </p:spPr>
        <p:txBody>
          <a:bodyPr/>
          <a:lstStyle/>
          <a:p>
            <a:endParaRPr lang="nl-NL"/>
          </a:p>
        </p:txBody>
      </p:sp>
      <p:sp>
        <p:nvSpPr>
          <p:cNvPr id="21" name="Text 18"/>
          <p:cNvSpPr/>
          <p:nvPr/>
        </p:nvSpPr>
        <p:spPr>
          <a:xfrm>
            <a:off x="8321040" y="4434840"/>
            <a:ext cx="2834640" cy="256032"/>
          </a:xfrm>
          <a:prstGeom prst="rect">
            <a:avLst/>
          </a:prstGeom>
          <a:noFill/>
          <a:ln/>
        </p:spPr>
        <p:txBody>
          <a:bodyPr wrap="square" lIns="0" tIns="0" rIns="0" bIns="0" rtlCol="0" anchor="ctr"/>
          <a:lstStyle/>
          <a:p>
            <a:pPr marL="0" indent="0" algn="ctr">
              <a:buNone/>
            </a:pPr>
            <a:r>
              <a:rPr lang="en-US" sz="2100" b="1" dirty="0">
                <a:solidFill>
                  <a:schemeClr val="bg1"/>
                </a:solidFill>
                <a:latin typeface="Gill Sans MT" pitchFamily="34" charset="0"/>
                <a:ea typeface="Gill Sans MT" pitchFamily="34" charset="-122"/>
                <a:cs typeface="Gill Sans MT" pitchFamily="34" charset="-120"/>
              </a:rPr>
              <a:t>Bedankt voor jullie aandacht</a:t>
            </a:r>
            <a:endParaRPr lang="en-US" sz="2100" dirty="0">
              <a:solidFill>
                <a:schemeClr val="bg1"/>
              </a:solidFill>
            </a:endParaRPr>
          </a:p>
        </p:txBody>
      </p:sp>
      <p:sp>
        <p:nvSpPr>
          <p:cNvPr id="22" name="Text 19"/>
          <p:cNvSpPr/>
          <p:nvPr/>
        </p:nvSpPr>
        <p:spPr>
          <a:xfrm>
            <a:off x="8321040" y="4910328"/>
            <a:ext cx="2834640" cy="219456"/>
          </a:xfrm>
          <a:prstGeom prst="rect">
            <a:avLst/>
          </a:prstGeom>
          <a:noFill/>
          <a:ln/>
        </p:spPr>
        <p:txBody>
          <a:bodyPr wrap="square" lIns="0" tIns="0" rIns="0" bIns="0" rtlCol="0" anchor="ctr"/>
          <a:lstStyle/>
          <a:p>
            <a:pPr marL="0" indent="0" algn="ctr">
              <a:buNone/>
            </a:pPr>
            <a:r>
              <a:rPr lang="en-US" sz="1800" dirty="0">
                <a:solidFill>
                  <a:srgbClr val="C79B2E"/>
                </a:solidFill>
                <a:latin typeface="Gill Sans MT" pitchFamily="34" charset="0"/>
                <a:ea typeface="Gill Sans MT" pitchFamily="34" charset="-122"/>
                <a:cs typeface="Gill Sans MT" pitchFamily="34" charset="-120"/>
              </a:rPr>
              <a:t>Vragen?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Technisch_en_organisatorisch_verbeterplan_Billy_Bonka/slide-11.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411480" y="219456"/>
            <a:ext cx="10058400" cy="566928"/>
          </a:xfrm>
          <a:prstGeom prst="rect">
            <a:avLst/>
          </a:prstGeom>
          <a:solidFill>
            <a:srgbClr val="103781"/>
          </a:solidFill>
          <a:ln w="12700">
            <a:solidFill>
              <a:srgbClr val="103781">
                <a:alpha val="0"/>
              </a:srgbClr>
            </a:solidFill>
            <a:prstDash val="solid"/>
          </a:ln>
        </p:spPr>
        <p:txBody>
          <a:bodyPr/>
          <a:lstStyle/>
          <a:p>
            <a:endParaRPr lang="nl-NL"/>
          </a:p>
        </p:txBody>
      </p:sp>
      <p:sp>
        <p:nvSpPr>
          <p:cNvPr id="4" name="Text 1"/>
          <p:cNvSpPr/>
          <p:nvPr/>
        </p:nvSpPr>
        <p:spPr>
          <a:xfrm>
            <a:off x="502920" y="292608"/>
            <a:ext cx="9875520" cy="402336"/>
          </a:xfrm>
          <a:prstGeom prst="rect">
            <a:avLst/>
          </a:prstGeom>
          <a:noFill/>
          <a:ln/>
        </p:spPr>
        <p:txBody>
          <a:bodyPr wrap="square" lIns="0" tIns="0" rIns="0" bIns="0" rtlCol="0" anchor="ctr"/>
          <a:lstStyle/>
          <a:p>
            <a:pPr marL="0" indent="0">
              <a:buNone/>
            </a:pPr>
            <a:r>
              <a:rPr lang="en-US" sz="2600" dirty="0">
                <a:solidFill>
                  <a:srgbClr val="FFFFFF"/>
                </a:solidFill>
                <a:latin typeface="Gill Sans MT" pitchFamily="34" charset="0"/>
                <a:ea typeface="Gill Sans MT" pitchFamily="34" charset="-122"/>
                <a:cs typeface="Gill Sans MT" pitchFamily="34" charset="-120"/>
              </a:rPr>
              <a:t>BRONNEN</a:t>
            </a:r>
            <a:endParaRPr lang="en-US" sz="2600" dirty="0"/>
          </a:p>
        </p:txBody>
      </p:sp>
      <p:sp>
        <p:nvSpPr>
          <p:cNvPr id="5" name="Shape 2"/>
          <p:cNvSpPr/>
          <p:nvPr/>
        </p:nvSpPr>
        <p:spPr>
          <a:xfrm>
            <a:off x="658368" y="1298448"/>
            <a:ext cx="3657600" cy="1600200"/>
          </a:xfrm>
          <a:prstGeom prst="roundRect">
            <a:avLst>
              <a:gd name="adj" fmla="val 4571"/>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6" name="Shape 3"/>
          <p:cNvSpPr/>
          <p:nvPr/>
        </p:nvSpPr>
        <p:spPr>
          <a:xfrm>
            <a:off x="676656" y="1371600"/>
            <a:ext cx="73152" cy="1453896"/>
          </a:xfrm>
          <a:prstGeom prst="rect">
            <a:avLst/>
          </a:prstGeom>
          <a:solidFill>
            <a:srgbClr val="F4C757"/>
          </a:solidFill>
          <a:ln w="12700">
            <a:solidFill>
              <a:srgbClr val="F4C757">
                <a:alpha val="0"/>
              </a:srgbClr>
            </a:solidFill>
            <a:prstDash val="solid"/>
          </a:ln>
        </p:spPr>
        <p:txBody>
          <a:bodyPr/>
          <a:lstStyle/>
          <a:p>
            <a:endParaRPr lang="nl-NL"/>
          </a:p>
        </p:txBody>
      </p:sp>
      <p:sp>
        <p:nvSpPr>
          <p:cNvPr id="7" name="Text 4"/>
          <p:cNvSpPr/>
          <p:nvPr/>
        </p:nvSpPr>
        <p:spPr>
          <a:xfrm>
            <a:off x="822960" y="1371600"/>
            <a:ext cx="3401568" cy="219456"/>
          </a:xfrm>
          <a:prstGeom prst="rect">
            <a:avLst/>
          </a:prstGeom>
          <a:noFill/>
          <a:ln/>
        </p:spPr>
        <p:txBody>
          <a:bodyPr wrap="square" lIns="0" tIns="0" rIns="0" bIns="0" rtlCol="0" anchor="ctr"/>
          <a:lstStyle/>
          <a:p>
            <a:pPr marL="0" indent="0">
              <a:buNone/>
            </a:pPr>
            <a:r>
              <a:rPr lang="en-US" sz="1800" b="1" dirty="0">
                <a:solidFill>
                  <a:srgbClr val="041B34"/>
                </a:solidFill>
                <a:latin typeface="Gill Sans MT" pitchFamily="34" charset="0"/>
                <a:ea typeface="Gill Sans MT" pitchFamily="34" charset="-122"/>
                <a:cs typeface="Gill Sans MT" pitchFamily="34" charset="-120"/>
              </a:rPr>
              <a:t>Gastpresentatie &amp; casus</a:t>
            </a:r>
            <a:endParaRPr lang="en-US" sz="1800" dirty="0"/>
          </a:p>
        </p:txBody>
      </p:sp>
      <p:sp>
        <p:nvSpPr>
          <p:cNvPr id="8" name="Text 5"/>
          <p:cNvSpPr/>
          <p:nvPr/>
        </p:nvSpPr>
        <p:spPr>
          <a:xfrm>
            <a:off x="822960" y="1591056"/>
            <a:ext cx="3438144" cy="1271016"/>
          </a:xfrm>
          <a:prstGeom prst="rect">
            <a:avLst/>
          </a:prstGeom>
          <a:noFill/>
          <a:ln/>
        </p:spPr>
        <p:txBody>
          <a:bodyPr wrap="square" lIns="0" tIns="0" rIns="0" bIns="0" rtlCol="0" anchor="ctr"/>
          <a:lstStyle/>
          <a:p>
            <a:pPr marL="0" indent="0">
              <a:buNone/>
            </a:pPr>
            <a:r>
              <a:rPr lang="en-US" sz="1310" dirty="0">
                <a:solidFill>
                  <a:srgbClr val="222222"/>
                </a:solidFill>
                <a:latin typeface="Gill Sans MT" pitchFamily="34" charset="0"/>
                <a:ea typeface="Gill Sans MT" pitchFamily="34" charset="-122"/>
                <a:cs typeface="Gill Sans MT" pitchFamily="34" charset="-120"/>
              </a:rPr>
              <a:t>Hoppenbrouwers / Marcel de Boer – Kick-off gastpresentatie over de Kaseya-casus en crisisaanpak.</a:t>
            </a:r>
            <a:endParaRPr lang="en-US" sz="1310" dirty="0"/>
          </a:p>
        </p:txBody>
      </p:sp>
      <p:sp>
        <p:nvSpPr>
          <p:cNvPr id="9" name="Shape 6"/>
          <p:cNvSpPr/>
          <p:nvPr/>
        </p:nvSpPr>
        <p:spPr>
          <a:xfrm>
            <a:off x="658368" y="3127248"/>
            <a:ext cx="3657600" cy="1965960"/>
          </a:xfrm>
          <a:prstGeom prst="roundRect">
            <a:avLst>
              <a:gd name="adj" fmla="val 3721"/>
            </a:avLst>
          </a:prstGeom>
          <a:solidFill>
            <a:srgbClr val="D8DCE1"/>
          </a:solidFill>
          <a:ln w="12700">
            <a:solidFill>
              <a:srgbClr val="163554">
                <a:alpha val="0"/>
              </a:srgbClr>
            </a:solidFill>
            <a:prstDash val="solid"/>
          </a:ln>
          <a:effectLst>
            <a:outerShdw blurRad="19050" dist="12700" dir="2700000" algn="bl" rotWithShape="0">
              <a:srgbClr val="000000">
                <a:alpha val="12000"/>
              </a:srgbClr>
            </a:outerShdw>
          </a:effectLst>
        </p:spPr>
        <p:txBody>
          <a:bodyPr/>
          <a:lstStyle/>
          <a:p>
            <a:endParaRPr lang="nl-NL"/>
          </a:p>
        </p:txBody>
      </p:sp>
      <p:sp>
        <p:nvSpPr>
          <p:cNvPr id="10" name="Shape 7"/>
          <p:cNvSpPr/>
          <p:nvPr/>
        </p:nvSpPr>
        <p:spPr>
          <a:xfrm>
            <a:off x="676656" y="3200400"/>
            <a:ext cx="73152" cy="1819656"/>
          </a:xfrm>
          <a:prstGeom prst="rect">
            <a:avLst/>
          </a:prstGeom>
          <a:solidFill>
            <a:srgbClr val="F4C757"/>
          </a:solidFill>
          <a:ln w="12700">
            <a:solidFill>
              <a:srgbClr val="F4C757">
                <a:alpha val="0"/>
              </a:srgbClr>
            </a:solidFill>
            <a:prstDash val="solid"/>
          </a:ln>
        </p:spPr>
        <p:txBody>
          <a:bodyPr/>
          <a:lstStyle/>
          <a:p>
            <a:endParaRPr lang="nl-NL"/>
          </a:p>
        </p:txBody>
      </p:sp>
      <p:sp>
        <p:nvSpPr>
          <p:cNvPr id="11" name="Text 8"/>
          <p:cNvSpPr/>
          <p:nvPr/>
        </p:nvSpPr>
        <p:spPr>
          <a:xfrm>
            <a:off x="822960" y="3200400"/>
            <a:ext cx="3401568" cy="219456"/>
          </a:xfrm>
          <a:prstGeom prst="rect">
            <a:avLst/>
          </a:prstGeom>
          <a:noFill/>
          <a:ln/>
        </p:spPr>
        <p:txBody>
          <a:bodyPr wrap="square" lIns="0" tIns="0" rIns="0" bIns="0" rtlCol="0" anchor="ctr"/>
          <a:lstStyle/>
          <a:p>
            <a:pPr marL="0" indent="0">
              <a:buNone/>
            </a:pPr>
            <a:r>
              <a:rPr lang="en-US" sz="1800" b="1" dirty="0">
                <a:solidFill>
                  <a:srgbClr val="041B34"/>
                </a:solidFill>
                <a:latin typeface="Gill Sans MT" pitchFamily="34" charset="0"/>
                <a:ea typeface="Gill Sans MT" pitchFamily="34" charset="-122"/>
                <a:cs typeface="Gill Sans MT" pitchFamily="34" charset="-120"/>
              </a:rPr>
              <a:t>Overige bronnen</a:t>
            </a:r>
            <a:endParaRPr lang="en-US" sz="1800" dirty="0"/>
          </a:p>
        </p:txBody>
      </p:sp>
      <p:sp>
        <p:nvSpPr>
          <p:cNvPr id="12" name="Text 9"/>
          <p:cNvSpPr/>
          <p:nvPr/>
        </p:nvSpPr>
        <p:spPr>
          <a:xfrm>
            <a:off x="822960" y="3419856"/>
            <a:ext cx="3438144" cy="1636776"/>
          </a:xfrm>
          <a:prstGeom prst="rect">
            <a:avLst/>
          </a:prstGeom>
          <a:noFill/>
          <a:ln/>
        </p:spPr>
        <p:txBody>
          <a:bodyPr wrap="square" lIns="0" tIns="0" rIns="0" bIns="0" rtlCol="0" anchor="ctr"/>
          <a:lstStyle/>
          <a:p>
            <a:pPr marL="0" indent="0">
              <a:buNone/>
            </a:pPr>
            <a:r>
              <a:rPr lang="en-US" sz="1310" dirty="0">
                <a:solidFill>
                  <a:srgbClr val="222222"/>
                </a:solidFill>
                <a:latin typeface="Gill Sans MT" pitchFamily="34" charset="0"/>
                <a:ea typeface="Gill Sans MT" pitchFamily="34" charset="-122"/>
                <a:cs typeface="Gill Sans MT" pitchFamily="34" charset="-120"/>
              </a:rPr>
              <a:t>2022 HACK e-book</a:t>
            </a:r>
            <a:endParaRPr lang="en-US" sz="1310" dirty="0"/>
          </a:p>
          <a:p>
            <a:pPr marL="0" indent="0">
              <a:buNone/>
            </a:pPr>
            <a:r>
              <a:rPr lang="en-US" sz="1310" dirty="0">
                <a:solidFill>
                  <a:srgbClr val="222222"/>
                </a:solidFill>
                <a:latin typeface="Gill Sans MT" pitchFamily="34" charset="0"/>
                <a:ea typeface="Gill Sans MT" pitchFamily="34" charset="-122"/>
                <a:cs typeface="Gill Sans MT" pitchFamily="34" charset="-120"/>
              </a:rPr>
              <a:t>Kick-off opdracht Module 2</a:t>
            </a:r>
            <a:endParaRPr lang="en-US" sz="1310" dirty="0"/>
          </a:p>
          <a:p>
            <a:pPr marL="0" indent="0">
              <a:buNone/>
            </a:pPr>
            <a:r>
              <a:rPr lang="en-US" sz="1310" dirty="0">
                <a:solidFill>
                  <a:srgbClr val="222222"/>
                </a:solidFill>
                <a:latin typeface="Gill Sans MT" pitchFamily="34" charset="0"/>
                <a:ea typeface="Gill Sans MT" pitchFamily="34" charset="-122"/>
                <a:cs typeface="Gill Sans MT" pitchFamily="34" charset="-120"/>
              </a:rPr>
              <a:t>Aantekeningen en uitwerking van de groep</a:t>
            </a:r>
            <a:endParaRPr lang="en-US" sz="1310" dirty="0"/>
          </a:p>
        </p:txBody>
      </p:sp>
      <p:sp>
        <p:nvSpPr>
          <p:cNvPr id="13" name="Shape 10"/>
          <p:cNvSpPr/>
          <p:nvPr/>
        </p:nvSpPr>
        <p:spPr>
          <a:xfrm>
            <a:off x="4572000" y="1298448"/>
            <a:ext cx="6903720" cy="4069080"/>
          </a:xfrm>
          <a:prstGeom prst="roundRect">
            <a:avLst/>
          </a:prstGeom>
          <a:solidFill>
            <a:srgbClr val="D8DCE1"/>
          </a:solidFill>
          <a:ln w="12700">
            <a:solidFill>
              <a:srgbClr val="163554"/>
            </a:solidFill>
            <a:prstDash val="solid"/>
          </a:ln>
        </p:spPr>
        <p:txBody>
          <a:bodyPr/>
          <a:lstStyle/>
          <a:p>
            <a:endParaRPr lang="nl-NL"/>
          </a:p>
        </p:txBody>
      </p:sp>
      <p:sp>
        <p:nvSpPr>
          <p:cNvPr id="14" name="Shape 11"/>
          <p:cNvSpPr/>
          <p:nvPr/>
        </p:nvSpPr>
        <p:spPr>
          <a:xfrm>
            <a:off x="4590288" y="1371600"/>
            <a:ext cx="73152" cy="3922776"/>
          </a:xfrm>
          <a:prstGeom prst="rect">
            <a:avLst/>
          </a:prstGeom>
          <a:solidFill>
            <a:srgbClr val="F4C757"/>
          </a:solidFill>
          <a:ln w="12700">
            <a:solidFill>
              <a:srgbClr val="F4C757">
                <a:alpha val="0"/>
              </a:srgbClr>
            </a:solidFill>
            <a:prstDash val="solid"/>
          </a:ln>
        </p:spPr>
        <p:txBody>
          <a:bodyPr/>
          <a:lstStyle/>
          <a:p>
            <a:endParaRPr lang="nl-NL"/>
          </a:p>
        </p:txBody>
      </p:sp>
      <p:sp>
        <p:nvSpPr>
          <p:cNvPr id="15" name="Text 12"/>
          <p:cNvSpPr/>
          <p:nvPr/>
        </p:nvSpPr>
        <p:spPr>
          <a:xfrm>
            <a:off x="4974336" y="1389888"/>
            <a:ext cx="6391656" cy="228600"/>
          </a:xfrm>
          <a:prstGeom prst="rect">
            <a:avLst/>
          </a:prstGeom>
          <a:noFill/>
          <a:ln/>
        </p:spPr>
        <p:txBody>
          <a:bodyPr wrap="square" lIns="0" tIns="0" rIns="0" bIns="0" rtlCol="0" anchor="ctr"/>
          <a:lstStyle/>
          <a:p>
            <a:pPr marL="0" indent="0">
              <a:buNone/>
            </a:pPr>
            <a:r>
              <a:rPr lang="en-US" sz="1800" b="1" dirty="0">
                <a:solidFill>
                  <a:srgbClr val="041B34"/>
                </a:solidFill>
                <a:latin typeface="Gill Sans MT" pitchFamily="34" charset="0"/>
                <a:ea typeface="Gill Sans MT" pitchFamily="34" charset="-122"/>
                <a:cs typeface="Gill Sans MT" pitchFamily="34" charset="-120"/>
              </a:rPr>
              <a:t>Bestanden gebruikt voor deze presentatie</a:t>
            </a:r>
            <a:endParaRPr lang="en-US" sz="1800" dirty="0"/>
          </a:p>
        </p:txBody>
      </p:sp>
      <p:sp>
        <p:nvSpPr>
          <p:cNvPr id="16" name="Text 13"/>
          <p:cNvSpPr/>
          <p:nvPr/>
        </p:nvSpPr>
        <p:spPr>
          <a:xfrm>
            <a:off x="4736592" y="1609344"/>
            <a:ext cx="6583680" cy="3657600"/>
          </a:xfrm>
          <a:prstGeom prst="rect">
            <a:avLst/>
          </a:prstGeom>
          <a:noFill/>
          <a:ln/>
        </p:spPr>
        <p:txBody>
          <a:bodyPr wrap="square" lIns="0" tIns="0" rIns="0" bIns="0" rtlCol="0" anchor="ctr"/>
          <a:lstStyle/>
          <a:p>
            <a:pPr marL="0" indent="0">
              <a:buNone/>
            </a:pPr>
            <a:r>
              <a:rPr lang="en-US" sz="1300" dirty="0">
                <a:solidFill>
                  <a:srgbClr val="222222"/>
                </a:solidFill>
                <a:latin typeface="Gill Sans MT" pitchFamily="34" charset="0"/>
                <a:ea typeface="Gill Sans MT" pitchFamily="34" charset="-122"/>
                <a:cs typeface="Gill Sans MT" pitchFamily="34" charset="-120"/>
              </a:rPr>
              <a:t>1. WS2.0 - Kick-off Gastpresentatie Hoppenbrouwers - Cyber 2021 Algemeen.pdf</a:t>
            </a:r>
            <a:endParaRPr lang="en-US" sz="1300" dirty="0"/>
          </a:p>
          <a:p>
            <a:pPr marL="0" indent="0">
              <a:buNone/>
            </a:pPr>
            <a:r>
              <a:rPr lang="en-US" sz="1300" dirty="0">
                <a:solidFill>
                  <a:srgbClr val="222222"/>
                </a:solidFill>
                <a:latin typeface="Gill Sans MT" pitchFamily="34" charset="0"/>
                <a:ea typeface="Gill Sans MT" pitchFamily="34" charset="-122"/>
                <a:cs typeface="Gill Sans MT" pitchFamily="34" charset="-120"/>
              </a:rPr>
              <a:t>2. 2022_HACK-ebook.pdf</a:t>
            </a:r>
            <a:endParaRPr lang="en-US" sz="1300" dirty="0"/>
          </a:p>
          <a:p>
            <a:pPr marL="0" indent="0">
              <a:buNone/>
            </a:pPr>
            <a:r>
              <a:rPr lang="en-US" sz="1300" dirty="0">
                <a:solidFill>
                  <a:srgbClr val="222222"/>
                </a:solidFill>
                <a:latin typeface="Gill Sans MT" pitchFamily="34" charset="0"/>
                <a:ea typeface="Gill Sans MT" pitchFamily="34" charset="-122"/>
                <a:cs typeface="Gill Sans MT" pitchFamily="34" charset="-120"/>
              </a:rPr>
              <a:t>3. Kick-off opdracht.docx</a:t>
            </a:r>
            <a:endParaRPr lang="en-US" sz="1300" dirty="0"/>
          </a:p>
          <a:p>
            <a:pPr marL="0" indent="0">
              <a:buNone/>
            </a:pPr>
            <a:r>
              <a:rPr lang="en-US" sz="1300" dirty="0">
                <a:solidFill>
                  <a:srgbClr val="222222"/>
                </a:solidFill>
                <a:latin typeface="Gill Sans MT" pitchFamily="34" charset="0"/>
                <a:ea typeface="Gill Sans MT" pitchFamily="34" charset="-122"/>
                <a:cs typeface="Gill Sans MT" pitchFamily="34" charset="-120"/>
              </a:rPr>
              <a:t>4. Aantekeningen kick-off gastcollege hoppenbrouwers hack.docx</a:t>
            </a:r>
            <a:endParaRPr lang="en-US" sz="1300" dirty="0"/>
          </a:p>
          <a:p>
            <a:pPr marL="0" indent="0">
              <a:buNone/>
            </a:pPr>
            <a:r>
              <a:rPr lang="en-US" sz="1300" dirty="0">
                <a:solidFill>
                  <a:srgbClr val="222222"/>
                </a:solidFill>
                <a:latin typeface="Gill Sans MT" pitchFamily="34" charset="0"/>
                <a:ea typeface="Gill Sans MT" pitchFamily="34" charset="-122"/>
                <a:cs typeface="Gill Sans MT" pitchFamily="34" charset="-120"/>
              </a:rPr>
              <a:t>5. Kick-off opdracht Jonas.docx</a:t>
            </a:r>
            <a:endParaRPr lang="en-US" sz="1300" dirty="0"/>
          </a:p>
          <a:p>
            <a:pPr marL="0" indent="0">
              <a:buNone/>
            </a:pPr>
            <a:endParaRPr lang="en-US" sz="1300" dirty="0"/>
          </a:p>
          <a:p>
            <a:pPr marL="0" indent="0">
              <a:buNone/>
            </a:pPr>
            <a:r>
              <a:rPr lang="en-US" sz="1300" dirty="0">
                <a:solidFill>
                  <a:srgbClr val="222222"/>
                </a:solidFill>
                <a:latin typeface="Gill Sans MT" pitchFamily="34" charset="0"/>
                <a:ea typeface="Gill Sans MT" pitchFamily="34" charset="-122"/>
                <a:cs typeface="Gill Sans MT" pitchFamily="34" charset="-120"/>
              </a:rPr>
              <a:t>De antwoorden zijn gebaseerd op de gastpresentatie en uitgewerkt in dezelfde visuele stijl als het template “Technisch en Organisatorisch Verbeterplan Billy Bonka”.</a:t>
            </a:r>
            <a:endParaRPr lang="en-US" sz="1300" dirty="0"/>
          </a:p>
        </p:txBody>
      </p:sp>
      <p:sp>
        <p:nvSpPr>
          <p:cNvPr id="17" name="Shape 14"/>
          <p:cNvSpPr/>
          <p:nvPr/>
        </p:nvSpPr>
        <p:spPr>
          <a:xfrm>
            <a:off x="777240" y="5486400"/>
            <a:ext cx="10424160" cy="256032"/>
          </a:xfrm>
          <a:prstGeom prst="rect">
            <a:avLst/>
          </a:prstGeom>
          <a:solidFill>
            <a:srgbClr val="103781"/>
          </a:solidFill>
          <a:ln w="12700">
            <a:solidFill>
              <a:srgbClr val="103781">
                <a:alpha val="0"/>
              </a:srgbClr>
            </a:solidFill>
            <a:prstDash val="solid"/>
          </a:ln>
        </p:spPr>
        <p:txBody>
          <a:bodyPr/>
          <a:lstStyle/>
          <a:p>
            <a:endParaRPr lang="nl-NL"/>
          </a:p>
        </p:txBody>
      </p:sp>
      <p:sp>
        <p:nvSpPr>
          <p:cNvPr id="18" name="Text 15"/>
          <p:cNvSpPr/>
          <p:nvPr/>
        </p:nvSpPr>
        <p:spPr>
          <a:xfrm>
            <a:off x="868680" y="5504688"/>
            <a:ext cx="10378440" cy="237744"/>
          </a:xfrm>
          <a:prstGeom prst="rect">
            <a:avLst/>
          </a:prstGeom>
          <a:noFill/>
          <a:ln/>
        </p:spPr>
        <p:txBody>
          <a:bodyPr wrap="square" lIns="0" tIns="0" rIns="0" bIns="0" rtlCol="0" anchor="ctr"/>
          <a:lstStyle/>
          <a:p>
            <a:pPr marL="0" indent="0" algn="ctr">
              <a:buNone/>
            </a:pPr>
            <a:r>
              <a:rPr lang="en-US" sz="1300" i="1" dirty="0">
                <a:solidFill>
                  <a:srgbClr val="163554"/>
                </a:solidFill>
                <a:latin typeface="Gill Sans MT" pitchFamily="34" charset="0"/>
                <a:ea typeface="Gill Sans MT" pitchFamily="34" charset="-122"/>
                <a:cs typeface="Gill Sans MT" pitchFamily="34" charset="-120"/>
              </a:rPr>
              <a:t>De opdracht vraagt om onderbouwing, voldoende diepgang en bronnen; die zijn hier expliciet opgenomen.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1463</Words>
  <Application>Microsoft Office PowerPoint</Application>
  <PresentationFormat>Breedbeeld</PresentationFormat>
  <Paragraphs>161</Paragraphs>
  <Slides>9</Slides>
  <Notes>9</Notes>
  <HiddenSlides>0</HiddenSlides>
  <MMClips>0</MMClips>
  <ScaleCrop>false</ScaleCrop>
  <HeadingPairs>
    <vt:vector size="6" baseType="variant">
      <vt:variant>
        <vt:lpstr>Gebruikte lettertypen</vt:lpstr>
      </vt:variant>
      <vt:variant>
        <vt:i4>2</vt:i4>
      </vt:variant>
      <vt:variant>
        <vt:lpstr>Thema</vt:lpstr>
      </vt:variant>
      <vt:variant>
        <vt:i4>1</vt:i4>
      </vt:variant>
      <vt:variant>
        <vt:lpstr>Diatitels</vt:lpstr>
      </vt:variant>
      <vt:variant>
        <vt:i4>9</vt:i4>
      </vt:variant>
    </vt:vector>
  </HeadingPairs>
  <TitlesOfParts>
    <vt:vector size="12" baseType="lpstr">
      <vt:lpstr>Arial</vt:lpstr>
      <vt:lpstr>Gill Sans MT</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Kick-off opdracht – Firewall Force</dc:title>
  <dc:subject>Module 2 Weerbaarheid kick-off opdracht</dc:subject>
  <dc:creator>OpenAI</dc:creator>
  <cp:lastModifiedBy>Bavli Armanyous</cp:lastModifiedBy>
  <cp:revision>1</cp:revision>
  <dcterms:created xsi:type="dcterms:W3CDTF">2026-03-21T23:09:03Z</dcterms:created>
  <dcterms:modified xsi:type="dcterms:W3CDTF">2026-03-21T23:19:26Z</dcterms:modified>
</cp:coreProperties>
</file>