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FF23AF-76BF-431F-9EEC-6D81D1F31A83}" v="11" dt="2026-03-14T20:39:24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88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vli Armanyous" userId="2614e947-2a9c-4f9a-b146-f5ffa7aca4cc" providerId="ADAL" clId="{F9025844-0D46-4D37-8C74-FC46BD0E6BF2}"/>
    <pc:docChg chg="custSel modSld">
      <pc:chgData name="Bavli Armanyous" userId="2614e947-2a9c-4f9a-b146-f5ffa7aca4cc" providerId="ADAL" clId="{F9025844-0D46-4D37-8C74-FC46BD0E6BF2}" dt="2026-03-14T20:39:26.943" v="11" actId="478"/>
      <pc:docMkLst>
        <pc:docMk/>
      </pc:docMkLst>
      <pc:sldChg chg="addSp modSp">
        <pc:chgData name="Bavli Armanyous" userId="2614e947-2a9c-4f9a-b146-f5ffa7aca4cc" providerId="ADAL" clId="{F9025844-0D46-4D37-8C74-FC46BD0E6BF2}" dt="2026-03-14T20:38:18.243" v="0"/>
        <pc:sldMkLst>
          <pc:docMk/>
          <pc:sldMk cId="0" sldId="256"/>
        </pc:sldMkLst>
        <pc:picChg chg="add mod">
          <ac:chgData name="Bavli Armanyous" userId="2614e947-2a9c-4f9a-b146-f5ffa7aca4cc" providerId="ADAL" clId="{F9025844-0D46-4D37-8C74-FC46BD0E6BF2}" dt="2026-03-14T20:38:18.243" v="0"/>
          <ac:picMkLst>
            <pc:docMk/>
            <pc:sldMk cId="0" sldId="256"/>
            <ac:picMk id="14" creationId="{7C7784DB-29D3-87CE-138B-06FECA05C054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05.315" v="1"/>
        <pc:sldMkLst>
          <pc:docMk/>
          <pc:sldMk cId="0" sldId="257"/>
        </pc:sldMkLst>
        <pc:picChg chg="add mod">
          <ac:chgData name="Bavli Armanyous" userId="2614e947-2a9c-4f9a-b146-f5ffa7aca4cc" providerId="ADAL" clId="{F9025844-0D46-4D37-8C74-FC46BD0E6BF2}" dt="2026-03-14T20:39:05.315" v="1"/>
          <ac:picMkLst>
            <pc:docMk/>
            <pc:sldMk cId="0" sldId="257"/>
            <ac:picMk id="35" creationId="{2BE77312-43EE-A9AF-9DDD-8B60391D6B38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08.321" v="2"/>
        <pc:sldMkLst>
          <pc:docMk/>
          <pc:sldMk cId="0" sldId="258"/>
        </pc:sldMkLst>
        <pc:picChg chg="add mod">
          <ac:chgData name="Bavli Armanyous" userId="2614e947-2a9c-4f9a-b146-f5ffa7aca4cc" providerId="ADAL" clId="{F9025844-0D46-4D37-8C74-FC46BD0E6BF2}" dt="2026-03-14T20:39:08.321" v="2"/>
          <ac:picMkLst>
            <pc:docMk/>
            <pc:sldMk cId="0" sldId="258"/>
            <ac:picMk id="42" creationId="{926C0FB8-591E-5F2A-8A5F-C9309F9C6ADE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09.966" v="3"/>
        <pc:sldMkLst>
          <pc:docMk/>
          <pc:sldMk cId="0" sldId="259"/>
        </pc:sldMkLst>
        <pc:picChg chg="add mod">
          <ac:chgData name="Bavli Armanyous" userId="2614e947-2a9c-4f9a-b146-f5ffa7aca4cc" providerId="ADAL" clId="{F9025844-0D46-4D37-8C74-FC46BD0E6BF2}" dt="2026-03-14T20:39:09.966" v="3"/>
          <ac:picMkLst>
            <pc:docMk/>
            <pc:sldMk cId="0" sldId="259"/>
            <ac:picMk id="39" creationId="{4E188645-C60D-C5AA-1BA1-B776D993D6FE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11.433" v="4"/>
        <pc:sldMkLst>
          <pc:docMk/>
          <pc:sldMk cId="0" sldId="260"/>
        </pc:sldMkLst>
        <pc:picChg chg="add mod">
          <ac:chgData name="Bavli Armanyous" userId="2614e947-2a9c-4f9a-b146-f5ffa7aca4cc" providerId="ADAL" clId="{F9025844-0D46-4D37-8C74-FC46BD0E6BF2}" dt="2026-03-14T20:39:11.433" v="4"/>
          <ac:picMkLst>
            <pc:docMk/>
            <pc:sldMk cId="0" sldId="260"/>
            <ac:picMk id="68" creationId="{2F486A8D-2A16-5B72-9073-49A4BE186026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12.791" v="5"/>
        <pc:sldMkLst>
          <pc:docMk/>
          <pc:sldMk cId="0" sldId="261"/>
        </pc:sldMkLst>
        <pc:picChg chg="add mod">
          <ac:chgData name="Bavli Armanyous" userId="2614e947-2a9c-4f9a-b146-f5ffa7aca4cc" providerId="ADAL" clId="{F9025844-0D46-4D37-8C74-FC46BD0E6BF2}" dt="2026-03-14T20:39:12.791" v="5"/>
          <ac:picMkLst>
            <pc:docMk/>
            <pc:sldMk cId="0" sldId="261"/>
            <ac:picMk id="33" creationId="{4E3FAC03-A2D3-3C94-C437-02FD853807DA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14.417" v="6"/>
        <pc:sldMkLst>
          <pc:docMk/>
          <pc:sldMk cId="0" sldId="262"/>
        </pc:sldMkLst>
        <pc:picChg chg="add mod">
          <ac:chgData name="Bavli Armanyous" userId="2614e947-2a9c-4f9a-b146-f5ffa7aca4cc" providerId="ADAL" clId="{F9025844-0D46-4D37-8C74-FC46BD0E6BF2}" dt="2026-03-14T20:39:14.417" v="6"/>
          <ac:picMkLst>
            <pc:docMk/>
            <pc:sldMk cId="0" sldId="262"/>
            <ac:picMk id="27" creationId="{4E50D7F3-AF12-9BD5-2C5D-EFC86D21DE9A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16.347" v="7"/>
        <pc:sldMkLst>
          <pc:docMk/>
          <pc:sldMk cId="0" sldId="263"/>
        </pc:sldMkLst>
        <pc:picChg chg="add mod">
          <ac:chgData name="Bavli Armanyous" userId="2614e947-2a9c-4f9a-b146-f5ffa7aca4cc" providerId="ADAL" clId="{F9025844-0D46-4D37-8C74-FC46BD0E6BF2}" dt="2026-03-14T20:39:16.347" v="7"/>
          <ac:picMkLst>
            <pc:docMk/>
            <pc:sldMk cId="0" sldId="263"/>
            <ac:picMk id="68" creationId="{313714BC-D5E8-6D07-8064-C7444146BAB6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18.180" v="8"/>
        <pc:sldMkLst>
          <pc:docMk/>
          <pc:sldMk cId="0" sldId="265"/>
        </pc:sldMkLst>
        <pc:picChg chg="add mod">
          <ac:chgData name="Bavli Armanyous" userId="2614e947-2a9c-4f9a-b146-f5ffa7aca4cc" providerId="ADAL" clId="{F9025844-0D46-4D37-8C74-FC46BD0E6BF2}" dt="2026-03-14T20:39:18.180" v="8"/>
          <ac:picMkLst>
            <pc:docMk/>
            <pc:sldMk cId="0" sldId="265"/>
            <ac:picMk id="52" creationId="{6B98A459-46E6-1DDD-DE88-9A3A90CC21BC}"/>
          </ac:picMkLst>
        </pc:picChg>
      </pc:sldChg>
      <pc:sldChg chg="addSp modSp">
        <pc:chgData name="Bavli Armanyous" userId="2614e947-2a9c-4f9a-b146-f5ffa7aca4cc" providerId="ADAL" clId="{F9025844-0D46-4D37-8C74-FC46BD0E6BF2}" dt="2026-03-14T20:39:20.710" v="9"/>
        <pc:sldMkLst>
          <pc:docMk/>
          <pc:sldMk cId="0" sldId="266"/>
        </pc:sldMkLst>
        <pc:picChg chg="add mod">
          <ac:chgData name="Bavli Armanyous" userId="2614e947-2a9c-4f9a-b146-f5ffa7aca4cc" providerId="ADAL" clId="{F9025844-0D46-4D37-8C74-FC46BD0E6BF2}" dt="2026-03-14T20:39:20.710" v="9"/>
          <ac:picMkLst>
            <pc:docMk/>
            <pc:sldMk cId="0" sldId="266"/>
            <ac:picMk id="39" creationId="{82D48003-25DA-0AE0-945C-BA86C40C5641}"/>
          </ac:picMkLst>
        </pc:picChg>
      </pc:sldChg>
      <pc:sldChg chg="addSp delSp modSp mod">
        <pc:chgData name="Bavli Armanyous" userId="2614e947-2a9c-4f9a-b146-f5ffa7aca4cc" providerId="ADAL" clId="{F9025844-0D46-4D37-8C74-FC46BD0E6BF2}" dt="2026-03-14T20:39:26.943" v="11" actId="478"/>
        <pc:sldMkLst>
          <pc:docMk/>
          <pc:sldMk cId="0" sldId="267"/>
        </pc:sldMkLst>
        <pc:picChg chg="del">
          <ac:chgData name="Bavli Armanyous" userId="2614e947-2a9c-4f9a-b146-f5ffa7aca4cc" providerId="ADAL" clId="{F9025844-0D46-4D37-8C74-FC46BD0E6BF2}" dt="2026-03-14T20:39:26.943" v="11" actId="478"/>
          <ac:picMkLst>
            <pc:docMk/>
            <pc:sldMk cId="0" sldId="267"/>
            <ac:picMk id="4" creationId="{00000000-0000-0000-0000-000000000000}"/>
          </ac:picMkLst>
        </pc:picChg>
        <pc:picChg chg="add mod">
          <ac:chgData name="Bavli Armanyous" userId="2614e947-2a9c-4f9a-b146-f5ffa7aca4cc" providerId="ADAL" clId="{F9025844-0D46-4D37-8C74-FC46BD0E6BF2}" dt="2026-03-14T20:39:24.101" v="10"/>
          <ac:picMkLst>
            <pc:docMk/>
            <pc:sldMk cId="0" sldId="267"/>
            <ac:picMk id="17" creationId="{BFD58897-2489-4B32-7A3B-73AF0B0B4B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63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a69d54b6e6c195be75e4e9541fbb676e08ca5f71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0000" r="10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80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914400" cy="762000"/>
          </a:xfrm>
          <a:prstGeom prst="roundRect">
            <a:avLst>
              <a:gd name="adj" fmla="val 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10709597" y="3810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WS2.3 Workshop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709597" y="5715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81000" y="201364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Software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81000" y="395668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5"/>
          <p:cNvSpPr/>
          <p:nvPr/>
        </p:nvSpPr>
        <p:spPr>
          <a:xfrm>
            <a:off x="381000" y="4223277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Factory Applicatie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83977" y="4873842"/>
            <a:ext cx="1396603" cy="729853"/>
          </a:xfrm>
          <a:custGeom>
            <a:avLst/>
            <a:gdLst/>
            <a:ahLst/>
            <a:cxnLst/>
            <a:rect l="l" t="t" r="r" b="b"/>
            <a:pathLst>
              <a:path w="1396603" h="729853">
                <a:moveTo>
                  <a:pt x="76197" y="0"/>
                </a:moveTo>
                <a:lnTo>
                  <a:pt x="1320406" y="0"/>
                </a:lnTo>
                <a:cubicBezTo>
                  <a:pt x="1362489" y="0"/>
                  <a:pt x="1396603" y="34114"/>
                  <a:pt x="1396603" y="76197"/>
                </a:cubicBezTo>
                <a:lnTo>
                  <a:pt x="1396603" y="653656"/>
                </a:lnTo>
                <a:cubicBezTo>
                  <a:pt x="1396603" y="695739"/>
                  <a:pt x="1362489" y="729853"/>
                  <a:pt x="1320406" y="729853"/>
                </a:cubicBezTo>
                <a:lnTo>
                  <a:pt x="76197" y="729853"/>
                </a:lnTo>
                <a:cubicBezTo>
                  <a:pt x="34114" y="729853"/>
                  <a:pt x="0" y="695739"/>
                  <a:pt x="0" y="653656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7"/>
          <p:cNvSpPr/>
          <p:nvPr/>
        </p:nvSpPr>
        <p:spPr>
          <a:xfrm>
            <a:off x="615497" y="4991044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Groep 10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15497" y="5257633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 Force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40533" y="5124338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Bavli • Jonas • Lucas • Vo</a:t>
            </a:r>
            <a:endParaRPr lang="en-US" sz="1600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7C7784DB-29D3-87CE-138B-06FECA05C0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OVERZICHT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Inhoud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226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602972"/>
            <a:ext cx="5597128" cy="1463278"/>
          </a:xfrm>
          <a:custGeom>
            <a:avLst/>
            <a:gdLst/>
            <a:ahLst/>
            <a:cxnLst/>
            <a:rect l="l" t="t" r="r" b="b"/>
            <a:pathLst>
              <a:path w="5597128" h="1463278">
                <a:moveTo>
                  <a:pt x="114297" y="0"/>
                </a:moveTo>
                <a:lnTo>
                  <a:pt x="5482831" y="0"/>
                </a:lnTo>
                <a:cubicBezTo>
                  <a:pt x="5545956" y="0"/>
                  <a:pt x="5597128" y="51172"/>
                  <a:pt x="5597128" y="114297"/>
                </a:cubicBezTo>
                <a:lnTo>
                  <a:pt x="5597128" y="1348981"/>
                </a:lnTo>
                <a:cubicBezTo>
                  <a:pt x="5597128" y="1412106"/>
                  <a:pt x="5545956" y="1463278"/>
                  <a:pt x="5482831" y="1463278"/>
                </a:cubicBezTo>
                <a:lnTo>
                  <a:pt x="114297" y="1463278"/>
                </a:lnTo>
                <a:cubicBezTo>
                  <a:pt x="51172" y="1463278"/>
                  <a:pt x="0" y="1412106"/>
                  <a:pt x="0" y="1348981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615497" y="183449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763488" y="1948718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1223" y="1834493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Introductie Future Factory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1223" y="2177355"/>
            <a:ext cx="2657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Laravel-applicatie en casus context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3202" y="1602972"/>
            <a:ext cx="5597128" cy="1463278"/>
          </a:xfrm>
          <a:custGeom>
            <a:avLst/>
            <a:gdLst/>
            <a:ahLst/>
            <a:cxnLst/>
            <a:rect l="l" t="t" r="r" b="b"/>
            <a:pathLst>
              <a:path w="5597128" h="1463278">
                <a:moveTo>
                  <a:pt x="114297" y="0"/>
                </a:moveTo>
                <a:lnTo>
                  <a:pt x="5482831" y="0"/>
                </a:lnTo>
                <a:cubicBezTo>
                  <a:pt x="5545956" y="0"/>
                  <a:pt x="5597128" y="51172"/>
                  <a:pt x="5597128" y="114297"/>
                </a:cubicBezTo>
                <a:lnTo>
                  <a:pt x="5597128" y="1348981"/>
                </a:lnTo>
                <a:cubicBezTo>
                  <a:pt x="5597128" y="1412106"/>
                  <a:pt x="5545956" y="1463278"/>
                  <a:pt x="5482831" y="1463278"/>
                </a:cubicBezTo>
                <a:lnTo>
                  <a:pt x="114297" y="1463278"/>
                </a:lnTo>
                <a:cubicBezTo>
                  <a:pt x="51172" y="1463278"/>
                  <a:pt x="0" y="1412106"/>
                  <a:pt x="0" y="1348981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6444723" y="183449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572064" y="194871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0448" y="1834493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 Resilience 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0448" y="2177355"/>
            <a:ext cx="1809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 audit en resultaten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3977" y="3304822"/>
            <a:ext cx="5597128" cy="1463278"/>
          </a:xfrm>
          <a:custGeom>
            <a:avLst/>
            <a:gdLst/>
            <a:ahLst/>
            <a:cxnLst/>
            <a:rect l="l" t="t" r="r" b="b"/>
            <a:pathLst>
              <a:path w="5597128" h="1463278">
                <a:moveTo>
                  <a:pt x="114297" y="0"/>
                </a:moveTo>
                <a:lnTo>
                  <a:pt x="5482831" y="0"/>
                </a:lnTo>
                <a:cubicBezTo>
                  <a:pt x="5545956" y="0"/>
                  <a:pt x="5597128" y="51172"/>
                  <a:pt x="5597128" y="114297"/>
                </a:cubicBezTo>
                <a:lnTo>
                  <a:pt x="5597128" y="1348981"/>
                </a:lnTo>
                <a:cubicBezTo>
                  <a:pt x="5597128" y="1412106"/>
                  <a:pt x="5545956" y="1463278"/>
                  <a:pt x="5482831" y="1463278"/>
                </a:cubicBezTo>
                <a:lnTo>
                  <a:pt x="114297" y="1463278"/>
                </a:lnTo>
                <a:cubicBezTo>
                  <a:pt x="51172" y="1463278"/>
                  <a:pt x="0" y="1412106"/>
                  <a:pt x="0" y="1348981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615497" y="35363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741815" y="365056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1223" y="3536342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Review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1223" y="3879205"/>
            <a:ext cx="2171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requirements en keuzes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3202" y="3304822"/>
            <a:ext cx="5597128" cy="1463278"/>
          </a:xfrm>
          <a:custGeom>
            <a:avLst/>
            <a:gdLst/>
            <a:ahLst/>
            <a:cxnLst/>
            <a:rect l="l" t="t" r="r" b="b"/>
            <a:pathLst>
              <a:path w="5597128" h="1463278">
                <a:moveTo>
                  <a:pt x="114297" y="0"/>
                </a:moveTo>
                <a:lnTo>
                  <a:pt x="5482831" y="0"/>
                </a:lnTo>
                <a:cubicBezTo>
                  <a:pt x="5545956" y="0"/>
                  <a:pt x="5597128" y="51172"/>
                  <a:pt x="5597128" y="114297"/>
                </a:cubicBezTo>
                <a:lnTo>
                  <a:pt x="5597128" y="1348981"/>
                </a:lnTo>
                <a:cubicBezTo>
                  <a:pt x="5597128" y="1412106"/>
                  <a:pt x="5545956" y="1463278"/>
                  <a:pt x="5482831" y="1463278"/>
                </a:cubicBezTo>
                <a:lnTo>
                  <a:pt x="114297" y="1463278"/>
                </a:lnTo>
                <a:cubicBezTo>
                  <a:pt x="51172" y="1463278"/>
                  <a:pt x="0" y="1412106"/>
                  <a:pt x="0" y="1348981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6444723" y="35363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6571134" y="3650568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0448" y="3536342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Evaluatie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0448" y="3879205"/>
            <a:ext cx="2124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surface en threat model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3977" y="5006671"/>
            <a:ext cx="5597128" cy="1463278"/>
          </a:xfrm>
          <a:custGeom>
            <a:avLst/>
            <a:gdLst/>
            <a:ahLst/>
            <a:cxnLst/>
            <a:rect l="l" t="t" r="r" b="b"/>
            <a:pathLst>
              <a:path w="5597128" h="1463278">
                <a:moveTo>
                  <a:pt x="114297" y="0"/>
                </a:moveTo>
                <a:lnTo>
                  <a:pt x="5482831" y="0"/>
                </a:lnTo>
                <a:cubicBezTo>
                  <a:pt x="5545956" y="0"/>
                  <a:pt x="5597128" y="51172"/>
                  <a:pt x="5597128" y="114297"/>
                </a:cubicBezTo>
                <a:lnTo>
                  <a:pt x="5597128" y="1348981"/>
                </a:lnTo>
                <a:cubicBezTo>
                  <a:pt x="5597128" y="1412106"/>
                  <a:pt x="5545956" y="1463278"/>
                  <a:pt x="5482831" y="1463278"/>
                </a:cubicBezTo>
                <a:lnTo>
                  <a:pt x="114297" y="1463278"/>
                </a:lnTo>
                <a:cubicBezTo>
                  <a:pt x="51172" y="1463278"/>
                  <a:pt x="0" y="1412106"/>
                  <a:pt x="0" y="1348981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615497" y="523819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743396" y="5352417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1223" y="5238192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Training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1223" y="5581055"/>
            <a:ext cx="2619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Mini-trainingsmodule voor developers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3202" y="5006671"/>
            <a:ext cx="5597128" cy="1463278"/>
          </a:xfrm>
          <a:custGeom>
            <a:avLst/>
            <a:gdLst/>
            <a:ahLst/>
            <a:cxnLst/>
            <a:rect l="l" t="t" r="r" b="b"/>
            <a:pathLst>
              <a:path w="5597128" h="1463278">
                <a:moveTo>
                  <a:pt x="114297" y="0"/>
                </a:moveTo>
                <a:lnTo>
                  <a:pt x="5482831" y="0"/>
                </a:lnTo>
                <a:cubicBezTo>
                  <a:pt x="5545956" y="0"/>
                  <a:pt x="5597128" y="51172"/>
                  <a:pt x="5597128" y="114297"/>
                </a:cubicBezTo>
                <a:lnTo>
                  <a:pt x="5597128" y="1348981"/>
                </a:lnTo>
                <a:cubicBezTo>
                  <a:pt x="5597128" y="1412106"/>
                  <a:pt x="5545956" y="1463278"/>
                  <a:pt x="5482831" y="1463278"/>
                </a:cubicBezTo>
                <a:lnTo>
                  <a:pt x="114297" y="1463278"/>
                </a:lnTo>
                <a:cubicBezTo>
                  <a:pt x="51172" y="1463278"/>
                  <a:pt x="0" y="1412106"/>
                  <a:pt x="0" y="1348981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6444723" y="523819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6570111" y="5352417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0448" y="5238192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0448" y="5581055"/>
            <a:ext cx="1914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Verbeterpunten en reflectie</a:t>
            </a:r>
            <a:endParaRPr lang="en-US" sz="1600" dirty="0"/>
          </a:p>
        </p:txBody>
      </p:sp>
      <p:pic>
        <p:nvPicPr>
          <p:cNvPr id="35" name="Afbeelding 34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2BE77312-43EE-A9AF-9DDD-8B60391D6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CASUS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Factory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1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412379"/>
            <a:ext cx="5597128" cy="1263253"/>
          </a:xfrm>
          <a:custGeom>
            <a:avLst/>
            <a:gdLst/>
            <a:ahLst/>
            <a:cxnLst/>
            <a:rect l="l" t="t" r="r" b="b"/>
            <a:pathLst>
              <a:path w="5597128" h="1263253">
                <a:moveTo>
                  <a:pt x="114299" y="0"/>
                </a:moveTo>
                <a:lnTo>
                  <a:pt x="5482829" y="0"/>
                </a:lnTo>
                <a:cubicBezTo>
                  <a:pt x="5545955" y="0"/>
                  <a:pt x="5597128" y="51173"/>
                  <a:pt x="5597128" y="114299"/>
                </a:cubicBezTo>
                <a:lnTo>
                  <a:pt x="5597128" y="1148954"/>
                </a:lnTo>
                <a:cubicBezTo>
                  <a:pt x="5597128" y="1212080"/>
                  <a:pt x="5545955" y="1263253"/>
                  <a:pt x="5482829" y="1263253"/>
                </a:cubicBezTo>
                <a:lnTo>
                  <a:pt x="114299" y="1263253"/>
                </a:lnTo>
                <a:cubicBezTo>
                  <a:pt x="51173" y="1263253"/>
                  <a:pt x="0" y="1212080"/>
                  <a:pt x="0" y="1148954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601266" y="1643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929804" y="1605855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 is Future Factory?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7453" y="1986762"/>
            <a:ext cx="5286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Een Laravel-applicatie voor het beheren van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voertuigen, modules, planningen en rollen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binnen een productiecontext.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3977" y="2833594"/>
            <a:ext cx="5597128" cy="1606153"/>
          </a:xfrm>
          <a:custGeom>
            <a:avLst/>
            <a:gdLst/>
            <a:ahLst/>
            <a:cxnLst/>
            <a:rect l="l" t="t" r="r" b="b"/>
            <a:pathLst>
              <a:path w="5597128" h="1606153">
                <a:moveTo>
                  <a:pt x="114294" y="0"/>
                </a:moveTo>
                <a:lnTo>
                  <a:pt x="5482834" y="0"/>
                </a:lnTo>
                <a:cubicBezTo>
                  <a:pt x="5545915" y="0"/>
                  <a:pt x="5597128" y="51213"/>
                  <a:pt x="5597128" y="114294"/>
                </a:cubicBezTo>
                <a:lnTo>
                  <a:pt x="5597128" y="1491859"/>
                </a:lnTo>
                <a:cubicBezTo>
                  <a:pt x="5597128" y="1554940"/>
                  <a:pt x="5545915" y="1606153"/>
                  <a:pt x="5482834" y="1606153"/>
                </a:cubicBezTo>
                <a:lnTo>
                  <a:pt x="114294" y="1606153"/>
                </a:lnTo>
                <a:cubicBezTo>
                  <a:pt x="51213" y="1606153"/>
                  <a:pt x="0" y="1554940"/>
                  <a:pt x="0" y="1491859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577453" y="306511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929804" y="3027071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Gebruikersrollen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453" y="3407978"/>
            <a:ext cx="2562225" cy="381000"/>
          </a:xfrm>
          <a:custGeom>
            <a:avLst/>
            <a:gdLst/>
            <a:ahLst/>
            <a:cxnLst/>
            <a:rect l="l" t="t" r="r" b="b"/>
            <a:pathLst>
              <a:path w="2562225" h="381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304800"/>
                </a:lnTo>
                <a:cubicBezTo>
                  <a:pt x="2562225" y="346856"/>
                  <a:pt x="2528081" y="381000"/>
                  <a:pt x="24860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653579" y="3484159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9431" y="3407978"/>
            <a:ext cx="2562225" cy="381000"/>
          </a:xfrm>
          <a:custGeom>
            <a:avLst/>
            <a:gdLst/>
            <a:ahLst/>
            <a:cxnLst/>
            <a:rect l="l" t="t" r="r" b="b"/>
            <a:pathLst>
              <a:path w="2562225" h="381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304800"/>
                </a:lnTo>
                <a:cubicBezTo>
                  <a:pt x="2562225" y="346856"/>
                  <a:pt x="2528081" y="381000"/>
                  <a:pt x="24860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295557" y="3484159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Monteur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453" y="3865066"/>
            <a:ext cx="2562225" cy="381000"/>
          </a:xfrm>
          <a:custGeom>
            <a:avLst/>
            <a:gdLst/>
            <a:ahLst/>
            <a:cxnLst/>
            <a:rect l="l" t="t" r="r" b="b"/>
            <a:pathLst>
              <a:path w="2562225" h="381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304800"/>
                </a:lnTo>
                <a:cubicBezTo>
                  <a:pt x="2562225" y="346856"/>
                  <a:pt x="2528081" y="381000"/>
                  <a:pt x="24860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653579" y="3941248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Klant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19431" y="3865066"/>
            <a:ext cx="2562225" cy="381000"/>
          </a:xfrm>
          <a:custGeom>
            <a:avLst/>
            <a:gdLst/>
            <a:ahLst/>
            <a:cxnLst/>
            <a:rect l="l" t="t" r="r" b="b"/>
            <a:pathLst>
              <a:path w="2562225" h="381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304800"/>
                </a:lnTo>
                <a:cubicBezTo>
                  <a:pt x="2562225" y="346856"/>
                  <a:pt x="2528081" y="381000"/>
                  <a:pt x="24860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295557" y="3941248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Inkoop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3202" y="1412379"/>
            <a:ext cx="5597128" cy="4139803"/>
          </a:xfrm>
          <a:custGeom>
            <a:avLst/>
            <a:gdLst/>
            <a:ahLst/>
            <a:cxnLst/>
            <a:rect l="l" t="t" r="r" b="b"/>
            <a:pathLst>
              <a:path w="5597128" h="4139803">
                <a:moveTo>
                  <a:pt x="114300" y="0"/>
                </a:moveTo>
                <a:lnTo>
                  <a:pt x="5482828" y="0"/>
                </a:lnTo>
                <a:cubicBezTo>
                  <a:pt x="5545954" y="0"/>
                  <a:pt x="5597128" y="51174"/>
                  <a:pt x="5597128" y="114300"/>
                </a:cubicBezTo>
                <a:lnTo>
                  <a:pt x="5597128" y="4025503"/>
                </a:lnTo>
                <a:cubicBezTo>
                  <a:pt x="5597128" y="4088629"/>
                  <a:pt x="5545954" y="4139803"/>
                  <a:pt x="5482828" y="4139803"/>
                </a:cubicBezTo>
                <a:lnTo>
                  <a:pt x="114300" y="4139803"/>
                </a:lnTo>
                <a:cubicBezTo>
                  <a:pt x="51174" y="4139803"/>
                  <a:pt x="0" y="4088629"/>
                  <a:pt x="0" y="4025503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6430491" y="1643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6759029" y="1605855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Applicatiearchitectuur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6679" y="20820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6511417" y="21676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6825630" y="20249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.env-bestand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25630" y="2253444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Omgevingsconfiguratie &amp; secrets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6679" y="26152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6494748" y="270095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25003"/>
                </a:moveTo>
                <a:cubicBezTo>
                  <a:pt x="133350" y="38078"/>
                  <a:pt x="117957" y="57585"/>
                  <a:pt x="111316" y="65373"/>
                </a:cubicBezTo>
                <a:cubicBezTo>
                  <a:pt x="110326" y="66519"/>
                  <a:pt x="108868" y="66961"/>
                  <a:pt x="107539" y="66675"/>
                </a:cubicBezTo>
                <a:lnTo>
                  <a:pt x="83344" y="66675"/>
                </a:lnTo>
                <a:cubicBezTo>
                  <a:pt x="78734" y="66675"/>
                  <a:pt x="75009" y="70399"/>
                  <a:pt x="75009" y="75009"/>
                </a:cubicBezTo>
                <a:cubicBezTo>
                  <a:pt x="75009" y="79619"/>
                  <a:pt x="78734" y="83344"/>
                  <a:pt x="83344" y="83344"/>
                </a:cubicBezTo>
                <a:lnTo>
                  <a:pt x="108347" y="83344"/>
                </a:lnTo>
                <a:cubicBezTo>
                  <a:pt x="122151" y="83344"/>
                  <a:pt x="133350" y="94543"/>
                  <a:pt x="133350" y="108347"/>
                </a:cubicBezTo>
                <a:cubicBezTo>
                  <a:pt x="133350" y="122151"/>
                  <a:pt x="122151" y="133350"/>
                  <a:pt x="108347" y="133350"/>
                </a:cubicBezTo>
                <a:lnTo>
                  <a:pt x="36359" y="133350"/>
                </a:lnTo>
                <a:cubicBezTo>
                  <a:pt x="38625" y="130772"/>
                  <a:pt x="41385" y="127464"/>
                  <a:pt x="44172" y="123765"/>
                </a:cubicBezTo>
                <a:cubicBezTo>
                  <a:pt x="45813" y="121578"/>
                  <a:pt x="47506" y="119182"/>
                  <a:pt x="49121" y="116681"/>
                </a:cubicBezTo>
                <a:lnTo>
                  <a:pt x="108347" y="116681"/>
                </a:lnTo>
                <a:cubicBezTo>
                  <a:pt x="112957" y="116681"/>
                  <a:pt x="116681" y="112957"/>
                  <a:pt x="116681" y="108347"/>
                </a:cubicBezTo>
                <a:cubicBezTo>
                  <a:pt x="116681" y="103737"/>
                  <a:pt x="112957" y="100013"/>
                  <a:pt x="108347" y="100013"/>
                </a:cubicBezTo>
                <a:lnTo>
                  <a:pt x="83344" y="100013"/>
                </a:lnTo>
                <a:cubicBezTo>
                  <a:pt x="69540" y="100013"/>
                  <a:pt x="58341" y="88813"/>
                  <a:pt x="58341" y="75009"/>
                </a:cubicBezTo>
                <a:cubicBezTo>
                  <a:pt x="58341" y="61206"/>
                  <a:pt x="69540" y="50006"/>
                  <a:pt x="83344" y="50006"/>
                </a:cubicBezTo>
                <a:lnTo>
                  <a:pt x="93710" y="50006"/>
                </a:lnTo>
                <a:cubicBezTo>
                  <a:pt x="88240" y="41802"/>
                  <a:pt x="83344" y="32374"/>
                  <a:pt x="83344" y="25003"/>
                </a:cubicBezTo>
                <a:cubicBezTo>
                  <a:pt x="83344" y="11199"/>
                  <a:pt x="94543" y="0"/>
                  <a:pt x="108347" y="0"/>
                </a:cubicBezTo>
                <a:cubicBezTo>
                  <a:pt x="122151" y="0"/>
                  <a:pt x="133350" y="11199"/>
                  <a:pt x="133350" y="25003"/>
                </a:cubicBezTo>
                <a:close/>
                <a:moveTo>
                  <a:pt x="30499" y="127386"/>
                </a:moveTo>
                <a:cubicBezTo>
                  <a:pt x="29509" y="128506"/>
                  <a:pt x="28623" y="129495"/>
                  <a:pt x="27868" y="130329"/>
                </a:cubicBezTo>
                <a:lnTo>
                  <a:pt x="27399" y="130850"/>
                </a:lnTo>
                <a:lnTo>
                  <a:pt x="27347" y="130798"/>
                </a:lnTo>
                <a:cubicBezTo>
                  <a:pt x="25784" y="131996"/>
                  <a:pt x="23545" y="131839"/>
                  <a:pt x="22138" y="130329"/>
                </a:cubicBezTo>
                <a:cubicBezTo>
                  <a:pt x="15575" y="123192"/>
                  <a:pt x="0" y="104831"/>
                  <a:pt x="0" y="91678"/>
                </a:cubicBezTo>
                <a:cubicBezTo>
                  <a:pt x="0" y="77874"/>
                  <a:pt x="11199" y="66675"/>
                  <a:pt x="25003" y="66675"/>
                </a:cubicBezTo>
                <a:cubicBezTo>
                  <a:pt x="38807" y="66675"/>
                  <a:pt x="50006" y="77874"/>
                  <a:pt x="50006" y="91678"/>
                </a:cubicBezTo>
                <a:cubicBezTo>
                  <a:pt x="50006" y="99492"/>
                  <a:pt x="44511" y="109128"/>
                  <a:pt x="38677" y="117176"/>
                </a:cubicBezTo>
                <a:cubicBezTo>
                  <a:pt x="35890" y="121005"/>
                  <a:pt x="33025" y="124469"/>
                  <a:pt x="30655" y="127203"/>
                </a:cubicBezTo>
                <a:lnTo>
                  <a:pt x="30499" y="127386"/>
                </a:lnTo>
                <a:close/>
                <a:moveTo>
                  <a:pt x="33337" y="91678"/>
                </a:moveTo>
                <a:cubicBezTo>
                  <a:pt x="33337" y="87078"/>
                  <a:pt x="29603" y="83344"/>
                  <a:pt x="25003" y="83344"/>
                </a:cubicBezTo>
                <a:cubicBezTo>
                  <a:pt x="20403" y="83344"/>
                  <a:pt x="16669" y="87078"/>
                  <a:pt x="16669" y="91678"/>
                </a:cubicBezTo>
                <a:cubicBezTo>
                  <a:pt x="16669" y="96278"/>
                  <a:pt x="20403" y="100013"/>
                  <a:pt x="25003" y="100013"/>
                </a:cubicBezTo>
                <a:cubicBezTo>
                  <a:pt x="29603" y="100013"/>
                  <a:pt x="33337" y="96278"/>
                  <a:pt x="33337" y="91678"/>
                </a:cubicBezTo>
                <a:close/>
                <a:moveTo>
                  <a:pt x="108347" y="33337"/>
                </a:moveTo>
                <a:cubicBezTo>
                  <a:pt x="112947" y="33337"/>
                  <a:pt x="116681" y="29603"/>
                  <a:pt x="116681" y="25003"/>
                </a:cubicBezTo>
                <a:cubicBezTo>
                  <a:pt x="116681" y="20403"/>
                  <a:pt x="112947" y="16669"/>
                  <a:pt x="108347" y="16669"/>
                </a:cubicBezTo>
                <a:cubicBezTo>
                  <a:pt x="103747" y="16669"/>
                  <a:pt x="100013" y="20403"/>
                  <a:pt x="100013" y="25003"/>
                </a:cubicBezTo>
                <a:cubicBezTo>
                  <a:pt x="100013" y="29603"/>
                  <a:pt x="103747" y="33337"/>
                  <a:pt x="108347" y="33337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6825630" y="2558169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Laravel Routes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25630" y="2786714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 routing &amp; endpoints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6679" y="31485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Shape 30"/>
          <p:cNvSpPr/>
          <p:nvPr/>
        </p:nvSpPr>
        <p:spPr>
          <a:xfrm>
            <a:off x="6478079" y="3234221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6825630" y="3091439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5630" y="3319983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logica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6679" y="368182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6" name="Shape 34"/>
          <p:cNvSpPr/>
          <p:nvPr/>
        </p:nvSpPr>
        <p:spPr>
          <a:xfrm>
            <a:off x="6503082" y="376749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6825630" y="3624709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25630" y="3853253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opslag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3202" y="5706256"/>
            <a:ext cx="5597128" cy="767953"/>
          </a:xfrm>
          <a:custGeom>
            <a:avLst/>
            <a:gdLst/>
            <a:ahLst/>
            <a:cxnLst/>
            <a:rect l="l" t="t" r="r" b="b"/>
            <a:pathLst>
              <a:path w="5597128" h="767953">
                <a:moveTo>
                  <a:pt x="114302" y="0"/>
                </a:moveTo>
                <a:lnTo>
                  <a:pt x="5482826" y="0"/>
                </a:lnTo>
                <a:cubicBezTo>
                  <a:pt x="5545911" y="0"/>
                  <a:pt x="5597128" y="51217"/>
                  <a:pt x="5597128" y="114302"/>
                </a:cubicBezTo>
                <a:lnTo>
                  <a:pt x="5597128" y="653651"/>
                </a:lnTo>
                <a:cubicBezTo>
                  <a:pt x="5597128" y="716736"/>
                  <a:pt x="5545911" y="767953"/>
                  <a:pt x="5482826" y="767953"/>
                </a:cubicBezTo>
                <a:lnTo>
                  <a:pt x="114302" y="767953"/>
                </a:lnTo>
                <a:cubicBezTo>
                  <a:pt x="51217" y="767953"/>
                  <a:pt x="0" y="716736"/>
                  <a:pt x="0" y="65365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7938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Shape 38"/>
          <p:cNvSpPr/>
          <p:nvPr/>
        </p:nvSpPr>
        <p:spPr>
          <a:xfrm>
            <a:off x="6406642" y="589731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1" name="Text 39"/>
          <p:cNvSpPr/>
          <p:nvPr/>
        </p:nvSpPr>
        <p:spPr>
          <a:xfrm>
            <a:off x="6616192" y="5861596"/>
            <a:ext cx="5114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Geschikt voor security analyse: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authenticatie, rollen, formulieren, CRUD, database-interactie</a:t>
            </a:r>
            <a:endParaRPr lang="en-US" sz="1600" dirty="0"/>
          </a:p>
        </p:txBody>
      </p:sp>
      <p:pic>
        <p:nvPicPr>
          <p:cNvPr id="42" name="Afbeelding 41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926C0FB8-591E-5F2A-8A5F-C9309F9C6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 Resilience Act (CRA)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1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412379"/>
            <a:ext cx="6759178" cy="2387203"/>
          </a:xfrm>
          <a:custGeom>
            <a:avLst/>
            <a:gdLst/>
            <a:ahLst/>
            <a:cxnLst/>
            <a:rect l="l" t="t" r="r" b="b"/>
            <a:pathLst>
              <a:path w="6759178" h="2387203">
                <a:moveTo>
                  <a:pt x="114299" y="0"/>
                </a:moveTo>
                <a:lnTo>
                  <a:pt x="6644879" y="0"/>
                </a:lnTo>
                <a:cubicBezTo>
                  <a:pt x="6708005" y="0"/>
                  <a:pt x="6759178" y="51174"/>
                  <a:pt x="6759178" y="114299"/>
                </a:cubicBezTo>
                <a:lnTo>
                  <a:pt x="6759178" y="2272904"/>
                </a:lnTo>
                <a:cubicBezTo>
                  <a:pt x="6759178" y="2336030"/>
                  <a:pt x="6708005" y="2387203"/>
                  <a:pt x="6644879" y="2387203"/>
                </a:cubicBezTo>
                <a:lnTo>
                  <a:pt x="114299" y="2387203"/>
                </a:lnTo>
                <a:cubicBezTo>
                  <a:pt x="51174" y="2387203"/>
                  <a:pt x="0" y="2336030"/>
                  <a:pt x="0" y="2272904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15497" y="1643900"/>
            <a:ext cx="6410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 is de CRA?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5497" y="2101081"/>
            <a:ext cx="6381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 Resilience Act</a:t>
            </a: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Europese wetgeving die ervoor moet zorgen dat digitale producten en software veiliger worden ontwikkeld en beter onderhouden worden.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357" y="2810433"/>
            <a:ext cx="6275784" cy="762000"/>
          </a:xfrm>
          <a:custGeom>
            <a:avLst/>
            <a:gdLst/>
            <a:ahLst/>
            <a:cxnLst/>
            <a:rect l="l" t="t" r="r" b="b"/>
            <a:pathLst>
              <a:path w="6275784" h="762000">
                <a:moveTo>
                  <a:pt x="35719" y="0"/>
                </a:moveTo>
                <a:lnTo>
                  <a:pt x="6199584" y="0"/>
                </a:lnTo>
                <a:cubicBezTo>
                  <a:pt x="6241640" y="0"/>
                  <a:pt x="6275784" y="34144"/>
                  <a:pt x="6275784" y="76200"/>
                </a:cubicBezTo>
                <a:lnTo>
                  <a:pt x="6275784" y="685800"/>
                </a:lnTo>
                <a:cubicBezTo>
                  <a:pt x="6275784" y="727856"/>
                  <a:pt x="6241640" y="762000"/>
                  <a:pt x="6199584" y="762000"/>
                </a:cubicBezTo>
                <a:lnTo>
                  <a:pt x="35719" y="762000"/>
                </a:lnTo>
                <a:cubicBezTo>
                  <a:pt x="16005" y="762000"/>
                  <a:pt x="0" y="745995"/>
                  <a:pt x="0" y="726281"/>
                </a:cubicBezTo>
                <a:lnTo>
                  <a:pt x="0" y="35719"/>
                </a:lnTo>
                <a:cubicBezTo>
                  <a:pt x="0" y="16005"/>
                  <a:pt x="16005" y="0"/>
                  <a:pt x="35719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633357" y="2810433"/>
            <a:ext cx="35719" cy="762000"/>
          </a:xfrm>
          <a:custGeom>
            <a:avLst/>
            <a:gdLst/>
            <a:ahLst/>
            <a:cxnLst/>
            <a:rect l="l" t="t" r="r" b="b"/>
            <a:pathLst>
              <a:path w="35719" h="762000">
                <a:moveTo>
                  <a:pt x="35719" y="0"/>
                </a:moveTo>
                <a:lnTo>
                  <a:pt x="35719" y="0"/>
                </a:lnTo>
                <a:lnTo>
                  <a:pt x="35719" y="762000"/>
                </a:lnTo>
                <a:lnTo>
                  <a:pt x="35719" y="762000"/>
                </a:lnTo>
                <a:cubicBezTo>
                  <a:pt x="16005" y="762000"/>
                  <a:pt x="0" y="745995"/>
                  <a:pt x="0" y="726281"/>
                </a:cubicBezTo>
                <a:lnTo>
                  <a:pt x="0" y="35719"/>
                </a:lnTo>
                <a:cubicBezTo>
                  <a:pt x="0" y="16005"/>
                  <a:pt x="16005" y="0"/>
                  <a:pt x="35719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832154" y="299851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1051229" y="2962796"/>
            <a:ext cx="5781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moet vanaf het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ontwerp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worden meegenomen, niet pas achteraf als optionele extra.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977" y="4000221"/>
            <a:ext cx="2149078" cy="901303"/>
          </a:xfrm>
          <a:custGeom>
            <a:avLst/>
            <a:gdLst/>
            <a:ahLst/>
            <a:cxnLst/>
            <a:rect l="l" t="t" r="r" b="b"/>
            <a:pathLst>
              <a:path w="2149078" h="901303">
                <a:moveTo>
                  <a:pt x="114303" y="0"/>
                </a:moveTo>
                <a:lnTo>
                  <a:pt x="2034775" y="0"/>
                </a:lnTo>
                <a:cubicBezTo>
                  <a:pt x="2097903" y="0"/>
                  <a:pt x="2149078" y="51175"/>
                  <a:pt x="2149078" y="114303"/>
                </a:cubicBezTo>
                <a:lnTo>
                  <a:pt x="2149078" y="787000"/>
                </a:lnTo>
                <a:cubicBezTo>
                  <a:pt x="2149078" y="850128"/>
                  <a:pt x="2097903" y="901303"/>
                  <a:pt x="2034775" y="901303"/>
                </a:cubicBezTo>
                <a:lnTo>
                  <a:pt x="114303" y="901303"/>
                </a:lnTo>
                <a:cubicBezTo>
                  <a:pt x="51218" y="901303"/>
                  <a:pt x="0" y="850086"/>
                  <a:pt x="0" y="787000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1317464" y="415556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501216" y="4517492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Veilige configuratie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0254" y="4000221"/>
            <a:ext cx="2149078" cy="901303"/>
          </a:xfrm>
          <a:custGeom>
            <a:avLst/>
            <a:gdLst/>
            <a:ahLst/>
            <a:cxnLst/>
            <a:rect l="l" t="t" r="r" b="b"/>
            <a:pathLst>
              <a:path w="2149078" h="901303">
                <a:moveTo>
                  <a:pt x="114303" y="0"/>
                </a:moveTo>
                <a:lnTo>
                  <a:pt x="2034775" y="0"/>
                </a:lnTo>
                <a:cubicBezTo>
                  <a:pt x="2097903" y="0"/>
                  <a:pt x="2149078" y="51175"/>
                  <a:pt x="2149078" y="114303"/>
                </a:cubicBezTo>
                <a:lnTo>
                  <a:pt x="2149078" y="787000"/>
                </a:lnTo>
                <a:cubicBezTo>
                  <a:pt x="2149078" y="850128"/>
                  <a:pt x="2097903" y="901303"/>
                  <a:pt x="2034775" y="901303"/>
                </a:cubicBezTo>
                <a:lnTo>
                  <a:pt x="114303" y="901303"/>
                </a:lnTo>
                <a:cubicBezTo>
                  <a:pt x="51218" y="901303"/>
                  <a:pt x="0" y="850086"/>
                  <a:pt x="0" y="787000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3605882" y="415556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53578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4" y="0"/>
                  <a:pt x="214313" y="23999"/>
                  <a:pt x="214313" y="53578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8"/>
                </a:lnTo>
                <a:close/>
                <a:moveTo>
                  <a:pt x="300038" y="60722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3"/>
                </a:lnTo>
                <a:cubicBezTo>
                  <a:pt x="250031" y="197904"/>
                  <a:pt x="249975" y="199411"/>
                  <a:pt x="249920" y="200862"/>
                </a:cubicBezTo>
                <a:lnTo>
                  <a:pt x="296466" y="235744"/>
                </a:lnTo>
                <a:cubicBezTo>
                  <a:pt x="304335" y="241660"/>
                  <a:pt x="305953" y="252878"/>
                  <a:pt x="300038" y="260747"/>
                </a:cubicBezTo>
                <a:cubicBezTo>
                  <a:pt x="294122" y="268616"/>
                  <a:pt x="282904" y="270235"/>
                  <a:pt x="275034" y="264319"/>
                </a:cubicBezTo>
                <a:lnTo>
                  <a:pt x="239818" y="237920"/>
                </a:lnTo>
                <a:cubicBezTo>
                  <a:pt x="226870" y="262589"/>
                  <a:pt x="202704" y="280448"/>
                  <a:pt x="174129" y="284745"/>
                </a:cubicBezTo>
                <a:lnTo>
                  <a:pt x="174129" y="156270"/>
                </a:lnTo>
                <a:cubicBezTo>
                  <a:pt x="174129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9" y="262589"/>
                  <a:pt x="81651" y="237920"/>
                </a:cubicBezTo>
                <a:lnTo>
                  <a:pt x="46434" y="264319"/>
                </a:lnTo>
                <a:cubicBezTo>
                  <a:pt x="38565" y="270235"/>
                  <a:pt x="27347" y="268616"/>
                  <a:pt x="21431" y="260747"/>
                </a:cubicBezTo>
                <a:cubicBezTo>
                  <a:pt x="15515" y="252878"/>
                  <a:pt x="17134" y="241660"/>
                  <a:pt x="25003" y="235744"/>
                </a:cubicBezTo>
                <a:lnTo>
                  <a:pt x="71549" y="200862"/>
                </a:lnTo>
                <a:cubicBezTo>
                  <a:pt x="71493" y="199411"/>
                  <a:pt x="71438" y="197960"/>
                  <a:pt x="71438" y="196453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3" y="85725"/>
                </a:lnTo>
                <a:cubicBezTo>
                  <a:pt x="17134" y="79809"/>
                  <a:pt x="15515" y="68591"/>
                  <a:pt x="21431" y="60722"/>
                </a:cubicBezTo>
                <a:cubicBezTo>
                  <a:pt x="27347" y="52853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5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3"/>
                  <a:pt x="300038" y="60722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2807494" y="4517492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Kwetsbaarheden beperken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6532" y="4000221"/>
            <a:ext cx="2149078" cy="901303"/>
          </a:xfrm>
          <a:custGeom>
            <a:avLst/>
            <a:gdLst/>
            <a:ahLst/>
            <a:cxnLst/>
            <a:rect l="l" t="t" r="r" b="b"/>
            <a:pathLst>
              <a:path w="2149078" h="901303">
                <a:moveTo>
                  <a:pt x="114303" y="0"/>
                </a:moveTo>
                <a:lnTo>
                  <a:pt x="2034775" y="0"/>
                </a:lnTo>
                <a:cubicBezTo>
                  <a:pt x="2097903" y="0"/>
                  <a:pt x="2149078" y="51175"/>
                  <a:pt x="2149078" y="114303"/>
                </a:cubicBezTo>
                <a:lnTo>
                  <a:pt x="2149078" y="787000"/>
                </a:lnTo>
                <a:cubicBezTo>
                  <a:pt x="2149078" y="850128"/>
                  <a:pt x="2097903" y="901303"/>
                  <a:pt x="2034775" y="901303"/>
                </a:cubicBezTo>
                <a:lnTo>
                  <a:pt x="114303" y="901303"/>
                </a:lnTo>
                <a:cubicBezTo>
                  <a:pt x="51218" y="901303"/>
                  <a:pt x="0" y="850086"/>
                  <a:pt x="0" y="787000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5930019" y="415556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5113772" y="4517492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 &amp; patching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9084" y="1412379"/>
            <a:ext cx="4425553" cy="5063728"/>
          </a:xfrm>
          <a:custGeom>
            <a:avLst/>
            <a:gdLst/>
            <a:ahLst/>
            <a:cxnLst/>
            <a:rect l="l" t="t" r="r" b="b"/>
            <a:pathLst>
              <a:path w="4425553" h="5063728">
                <a:moveTo>
                  <a:pt x="114312" y="0"/>
                </a:moveTo>
                <a:lnTo>
                  <a:pt x="4311241" y="0"/>
                </a:lnTo>
                <a:cubicBezTo>
                  <a:pt x="4374374" y="0"/>
                  <a:pt x="4425553" y="51179"/>
                  <a:pt x="4425553" y="114312"/>
                </a:cubicBezTo>
                <a:lnTo>
                  <a:pt x="4425553" y="4949416"/>
                </a:lnTo>
                <a:cubicBezTo>
                  <a:pt x="4425553" y="5012549"/>
                  <a:pt x="4374374" y="5063728"/>
                  <a:pt x="4311241" y="5063728"/>
                </a:cubicBezTo>
                <a:lnTo>
                  <a:pt x="114312" y="5063728"/>
                </a:lnTo>
                <a:cubicBezTo>
                  <a:pt x="51179" y="5063728"/>
                  <a:pt x="0" y="5012549"/>
                  <a:pt x="0" y="4949416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7610605" y="1643900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Lifecycle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10605" y="23567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7808640" y="247110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0149" y="2356786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Ontwerp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0149" y="2623375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requirements vastleggen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10605" y="34016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7794873" y="351597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0149" y="3401653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Ontwikkeling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0149" y="3668241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coding practices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10605" y="44466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7794222" y="456093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0149" y="4446612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0149" y="4713201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Veilige configuratie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10605" y="5491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7794222" y="5605797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0149" y="5491479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Onderhoud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0149" y="5758067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 en monitoring</a:t>
            </a:r>
            <a:endParaRPr lang="en-US" sz="1600" dirty="0"/>
          </a:p>
        </p:txBody>
      </p:sp>
      <p:pic>
        <p:nvPicPr>
          <p:cNvPr id="39" name="Afbeelding 38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4E188645-C60D-C5AA-1BA1-B776D993D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 Auditresultaten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1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374335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39316" y="1529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63141" y="16439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034542" y="1605855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Authenticatie aanwezig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55016" y="1586880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133350" y="0"/>
                </a:moveTo>
                <a:lnTo>
                  <a:pt x="257175" y="0"/>
                </a:lnTo>
                <a:cubicBezTo>
                  <a:pt x="330773" y="0"/>
                  <a:pt x="390525" y="59752"/>
                  <a:pt x="390525" y="133350"/>
                </a:cubicBezTo>
                <a:lnTo>
                  <a:pt x="390525" y="133350"/>
                </a:lnTo>
                <a:cubicBezTo>
                  <a:pt x="390525" y="206948"/>
                  <a:pt x="330773" y="266700"/>
                  <a:pt x="257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5455016" y="1586880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3977" y="2186192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539316" y="23415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663141" y="2455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1034542" y="2417713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Rollen &amp; toegangsbeperkingen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55016" y="2398737"/>
            <a:ext cx="390525" cy="266700"/>
          </a:xfrm>
          <a:custGeom>
            <a:avLst/>
            <a:gdLst/>
            <a:ahLst/>
            <a:cxnLst/>
            <a:rect l="l" t="t" r="r" b="b"/>
            <a:pathLst>
              <a:path w="390525" h="266700">
                <a:moveTo>
                  <a:pt x="133350" y="0"/>
                </a:moveTo>
                <a:lnTo>
                  <a:pt x="257175" y="0"/>
                </a:lnTo>
                <a:cubicBezTo>
                  <a:pt x="330773" y="0"/>
                  <a:pt x="390525" y="59752"/>
                  <a:pt x="390525" y="133350"/>
                </a:cubicBezTo>
                <a:lnTo>
                  <a:pt x="390525" y="133350"/>
                </a:lnTo>
                <a:cubicBezTo>
                  <a:pt x="390525" y="206948"/>
                  <a:pt x="330773" y="266700"/>
                  <a:pt x="257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455016" y="2398737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3977" y="2998050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539316" y="31533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710766" y="3267708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034542" y="322957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vanaf ontwerp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98318" y="321059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4698318" y="3210595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3977" y="3809907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539316" y="396524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710766" y="4079565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1034542" y="4041428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validatie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98318" y="4022452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4698318" y="4022452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3977" y="4621764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Shape 28"/>
          <p:cNvSpPr/>
          <p:nvPr/>
        </p:nvSpPr>
        <p:spPr>
          <a:xfrm>
            <a:off x="539316" y="47771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710766" y="4891422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1034542" y="485328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Gevoelige gegevens opslag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98318" y="4834310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4698318" y="4834310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4227" y="1374335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Shape 34"/>
          <p:cNvSpPr/>
          <p:nvPr/>
        </p:nvSpPr>
        <p:spPr>
          <a:xfrm>
            <a:off x="6349566" y="1529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Shape 35"/>
          <p:cNvSpPr/>
          <p:nvPr/>
        </p:nvSpPr>
        <p:spPr>
          <a:xfrm>
            <a:off x="6521016" y="1643993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6844792" y="1605855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Foutinformatie beperkt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508568" y="1586880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0" name="Text 38"/>
          <p:cNvSpPr/>
          <p:nvPr/>
        </p:nvSpPr>
        <p:spPr>
          <a:xfrm>
            <a:off x="10508568" y="1586880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4227" y="2186192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Shape 40"/>
          <p:cNvSpPr/>
          <p:nvPr/>
        </p:nvSpPr>
        <p:spPr>
          <a:xfrm>
            <a:off x="6349566" y="23415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3" name="Shape 41"/>
          <p:cNvSpPr/>
          <p:nvPr/>
        </p:nvSpPr>
        <p:spPr>
          <a:xfrm>
            <a:off x="6521016" y="245585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4" name="Text 42"/>
          <p:cNvSpPr/>
          <p:nvPr/>
        </p:nvSpPr>
        <p:spPr>
          <a:xfrm>
            <a:off x="6844792" y="2417713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Configuratie &amp; secrets beheer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08568" y="2398737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6" name="Text 44"/>
          <p:cNvSpPr/>
          <p:nvPr/>
        </p:nvSpPr>
        <p:spPr>
          <a:xfrm>
            <a:off x="10508568" y="2398737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4227" y="2998050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Shape 46"/>
          <p:cNvSpPr/>
          <p:nvPr/>
        </p:nvSpPr>
        <p:spPr>
          <a:xfrm>
            <a:off x="6349566" y="31533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9" name="Shape 47"/>
          <p:cNvSpPr/>
          <p:nvPr/>
        </p:nvSpPr>
        <p:spPr>
          <a:xfrm>
            <a:off x="6521016" y="3267708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0" name="Text 48"/>
          <p:cNvSpPr/>
          <p:nvPr/>
        </p:nvSpPr>
        <p:spPr>
          <a:xfrm>
            <a:off x="6844792" y="322957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beheer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508568" y="321059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2" name="Text 50"/>
          <p:cNvSpPr/>
          <p:nvPr/>
        </p:nvSpPr>
        <p:spPr>
          <a:xfrm>
            <a:off x="10508568" y="3210595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4227" y="3809907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4" name="Shape 52"/>
          <p:cNvSpPr/>
          <p:nvPr/>
        </p:nvSpPr>
        <p:spPr>
          <a:xfrm>
            <a:off x="6349566" y="396524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5" name="Shape 53"/>
          <p:cNvSpPr/>
          <p:nvPr/>
        </p:nvSpPr>
        <p:spPr>
          <a:xfrm>
            <a:off x="6482916" y="407956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6" name="Text 54"/>
          <p:cNvSpPr/>
          <p:nvPr/>
        </p:nvSpPr>
        <p:spPr>
          <a:xfrm>
            <a:off x="6844792" y="4041428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&amp; monitoring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168807" y="4022452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133350" y="0"/>
                </a:moveTo>
                <a:lnTo>
                  <a:pt x="352425" y="0"/>
                </a:lnTo>
                <a:cubicBezTo>
                  <a:pt x="426023" y="0"/>
                  <a:pt x="485775" y="59752"/>
                  <a:pt x="485775" y="133350"/>
                </a:cubicBezTo>
                <a:lnTo>
                  <a:pt x="485775" y="133350"/>
                </a:lnTo>
                <a:cubicBezTo>
                  <a:pt x="485775" y="206948"/>
                  <a:pt x="426023" y="266700"/>
                  <a:pt x="352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8" name="Text 56"/>
          <p:cNvSpPr/>
          <p:nvPr/>
        </p:nvSpPr>
        <p:spPr>
          <a:xfrm>
            <a:off x="11168807" y="4022452"/>
            <a:ext cx="5524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94227" y="4621764"/>
            <a:ext cx="5616178" cy="691753"/>
          </a:xfrm>
          <a:custGeom>
            <a:avLst/>
            <a:gdLst/>
            <a:ahLst/>
            <a:cxnLst/>
            <a:rect l="l" t="t" r="r" b="b"/>
            <a:pathLst>
              <a:path w="5616178" h="691753">
                <a:moveTo>
                  <a:pt x="114298" y="0"/>
                </a:moveTo>
                <a:lnTo>
                  <a:pt x="5501880" y="0"/>
                </a:lnTo>
                <a:cubicBezTo>
                  <a:pt x="5565005" y="0"/>
                  <a:pt x="5616178" y="51173"/>
                  <a:pt x="5616178" y="114298"/>
                </a:cubicBezTo>
                <a:lnTo>
                  <a:pt x="5616178" y="577455"/>
                </a:lnTo>
                <a:cubicBezTo>
                  <a:pt x="5616178" y="640580"/>
                  <a:pt x="5565005" y="691753"/>
                  <a:pt x="5501880" y="691753"/>
                </a:cubicBezTo>
                <a:lnTo>
                  <a:pt x="114298" y="691753"/>
                </a:lnTo>
                <a:cubicBezTo>
                  <a:pt x="51173" y="691753"/>
                  <a:pt x="0" y="640580"/>
                  <a:pt x="0" y="577455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0" name="Shape 58"/>
          <p:cNvSpPr/>
          <p:nvPr/>
        </p:nvSpPr>
        <p:spPr>
          <a:xfrm>
            <a:off x="6349566" y="47771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1" name="Shape 59"/>
          <p:cNvSpPr/>
          <p:nvPr/>
        </p:nvSpPr>
        <p:spPr>
          <a:xfrm>
            <a:off x="6521016" y="4891422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2" name="Text 60"/>
          <p:cNvSpPr/>
          <p:nvPr/>
        </p:nvSpPr>
        <p:spPr>
          <a:xfrm>
            <a:off x="6844792" y="4853285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onderhoud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508568" y="4834310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4" name="Text 62"/>
          <p:cNvSpPr/>
          <p:nvPr/>
        </p:nvSpPr>
        <p:spPr>
          <a:xfrm>
            <a:off x="10508568" y="4834310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3977" y="5706256"/>
            <a:ext cx="11426428" cy="767953"/>
          </a:xfrm>
          <a:custGeom>
            <a:avLst/>
            <a:gdLst/>
            <a:ahLst/>
            <a:cxnLst/>
            <a:rect l="l" t="t" r="r" b="b"/>
            <a:pathLst>
              <a:path w="11426428" h="767953">
                <a:moveTo>
                  <a:pt x="114302" y="0"/>
                </a:moveTo>
                <a:lnTo>
                  <a:pt x="11312126" y="0"/>
                </a:lnTo>
                <a:cubicBezTo>
                  <a:pt x="11375253" y="0"/>
                  <a:pt x="11426428" y="51175"/>
                  <a:pt x="11426428" y="114302"/>
                </a:cubicBezTo>
                <a:lnTo>
                  <a:pt x="11426428" y="653651"/>
                </a:lnTo>
                <a:cubicBezTo>
                  <a:pt x="11426428" y="716778"/>
                  <a:pt x="11375253" y="767953"/>
                  <a:pt x="11312126" y="767953"/>
                </a:cubicBezTo>
                <a:lnTo>
                  <a:pt x="114302" y="767953"/>
                </a:lnTo>
                <a:cubicBezTo>
                  <a:pt x="51217" y="767953"/>
                  <a:pt x="0" y="716736"/>
                  <a:pt x="0" y="65365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7938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6" name="Shape 64"/>
          <p:cNvSpPr/>
          <p:nvPr/>
        </p:nvSpPr>
        <p:spPr>
          <a:xfrm>
            <a:off x="577416" y="589731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7" name="Text 65"/>
          <p:cNvSpPr/>
          <p:nvPr/>
        </p:nvSpPr>
        <p:spPr>
          <a:xfrm>
            <a:off x="786966" y="5861596"/>
            <a:ext cx="1094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Conclusie: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Future Factory voldoet </a:t>
            </a:r>
            <a:r>
              <a:rPr lang="en-US" sz="120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aan de CRA. Sterke punten: authenticatie en rollen. Verbeterpunten: logging, secrets management, expliciete security requirements.</a:t>
            </a:r>
            <a:endParaRPr lang="en-US" sz="1600" dirty="0"/>
          </a:p>
        </p:txBody>
      </p:sp>
      <p:pic>
        <p:nvPicPr>
          <p:cNvPr id="68" name="Afbeelding 67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2F486A8D-2A16-5B72-9073-49A4BE186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Requirements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77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Drie essentiële requirements voor security by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58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83977" y="1755149"/>
            <a:ext cx="3673078" cy="4720828"/>
          </a:xfrm>
          <a:custGeom>
            <a:avLst/>
            <a:gdLst/>
            <a:ahLst/>
            <a:cxnLst/>
            <a:rect l="l" t="t" r="r" b="b"/>
            <a:pathLst>
              <a:path w="3673078" h="4720828">
                <a:moveTo>
                  <a:pt x="114306" y="0"/>
                </a:moveTo>
                <a:lnTo>
                  <a:pt x="3558772" y="0"/>
                </a:lnTo>
                <a:cubicBezTo>
                  <a:pt x="3621901" y="0"/>
                  <a:pt x="3673078" y="51177"/>
                  <a:pt x="3673078" y="114306"/>
                </a:cubicBezTo>
                <a:lnTo>
                  <a:pt x="3673078" y="4606522"/>
                </a:lnTo>
                <a:cubicBezTo>
                  <a:pt x="3673078" y="4669651"/>
                  <a:pt x="3621902" y="4720828"/>
                  <a:pt x="3558772" y="4720828"/>
                </a:cubicBezTo>
                <a:lnTo>
                  <a:pt x="114306" y="4720828"/>
                </a:lnTo>
                <a:cubicBezTo>
                  <a:pt x="51177" y="4720828"/>
                  <a:pt x="0" y="4669651"/>
                  <a:pt x="0" y="4606522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615497" y="19866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791635" y="217707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3572"/>
                </a:move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lose/>
                <a:moveTo>
                  <a:pt x="86752" y="135731"/>
                </a:moveTo>
                <a:lnTo>
                  <a:pt x="113273" y="135731"/>
                </a:lnTo>
                <a:cubicBezTo>
                  <a:pt x="126534" y="135731"/>
                  <a:pt x="139035" y="138991"/>
                  <a:pt x="150019" y="144706"/>
                </a:cubicBezTo>
                <a:lnTo>
                  <a:pt x="150019" y="146625"/>
                </a:lnTo>
                <a:cubicBezTo>
                  <a:pt x="141268" y="154484"/>
                  <a:pt x="135731" y="165869"/>
                  <a:pt x="135731" y="178549"/>
                </a:cubicBezTo>
                <a:lnTo>
                  <a:pt x="135731" y="221412"/>
                </a:lnTo>
                <a:cubicBezTo>
                  <a:pt x="135731" y="223867"/>
                  <a:pt x="135954" y="226278"/>
                  <a:pt x="136312" y="228600"/>
                </a:cubicBezTo>
                <a:lnTo>
                  <a:pt x="20404" y="228600"/>
                </a:lnTo>
                <a:cubicBezTo>
                  <a:pt x="13082" y="228600"/>
                  <a:pt x="7144" y="222662"/>
                  <a:pt x="7144" y="215339"/>
                </a:cubicBezTo>
                <a:cubicBezTo>
                  <a:pt x="7144" y="171361"/>
                  <a:pt x="42773" y="135731"/>
                  <a:pt x="86752" y="135731"/>
                </a:cubicBezTo>
                <a:close/>
                <a:moveTo>
                  <a:pt x="221456" y="135776"/>
                </a:moveTo>
                <a:cubicBezTo>
                  <a:pt x="221456" y="127873"/>
                  <a:pt x="215072" y="121488"/>
                  <a:pt x="207169" y="121488"/>
                </a:cubicBezTo>
                <a:cubicBezTo>
                  <a:pt x="199266" y="121488"/>
                  <a:pt x="192881" y="127873"/>
                  <a:pt x="192881" y="135776"/>
                </a:cubicBezTo>
                <a:lnTo>
                  <a:pt x="192881" y="157163"/>
                </a:lnTo>
                <a:lnTo>
                  <a:pt x="221456" y="157163"/>
                </a:lnTo>
                <a:lnTo>
                  <a:pt x="221456" y="135776"/>
                </a:lnTo>
                <a:close/>
                <a:moveTo>
                  <a:pt x="157163" y="178594"/>
                </a:moveTo>
                <a:cubicBezTo>
                  <a:pt x="157163" y="169262"/>
                  <a:pt x="163145" y="161315"/>
                  <a:pt x="171450" y="158368"/>
                </a:cubicBezTo>
                <a:lnTo>
                  <a:pt x="171450" y="135776"/>
                </a:lnTo>
                <a:cubicBezTo>
                  <a:pt x="171450" y="116041"/>
                  <a:pt x="187434" y="100057"/>
                  <a:pt x="207169" y="100057"/>
                </a:cubicBezTo>
                <a:cubicBezTo>
                  <a:pt x="226903" y="100057"/>
                  <a:pt x="242888" y="116041"/>
                  <a:pt x="242888" y="135776"/>
                </a:cubicBezTo>
                <a:lnTo>
                  <a:pt x="242888" y="158368"/>
                </a:lnTo>
                <a:cubicBezTo>
                  <a:pt x="251192" y="161315"/>
                  <a:pt x="257175" y="169262"/>
                  <a:pt x="257175" y="178594"/>
                </a:cubicBezTo>
                <a:lnTo>
                  <a:pt x="257175" y="221456"/>
                </a:lnTo>
                <a:cubicBezTo>
                  <a:pt x="257175" y="233288"/>
                  <a:pt x="247576" y="242888"/>
                  <a:pt x="235744" y="242888"/>
                </a:cubicBezTo>
                <a:lnTo>
                  <a:pt x="178594" y="242888"/>
                </a:lnTo>
                <a:cubicBezTo>
                  <a:pt x="166762" y="242888"/>
                  <a:pt x="157163" y="233288"/>
                  <a:pt x="157163" y="221456"/>
                </a:cubicBezTo>
                <a:lnTo>
                  <a:pt x="157163" y="1785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615497" y="2748576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497" y="3167621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5497" y="3548528"/>
            <a:ext cx="3286125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Alleen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geauthenticeerde gebruikers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mogen gevoelige functionaliteiten gebruiken. Functies zoals voertuigen beheren en planningen aanpassen nooit bereikbaar voor anonieme bezoekers.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5497" y="5896663"/>
            <a:ext cx="3209925" cy="5953"/>
          </a:xfrm>
          <a:custGeom>
            <a:avLst/>
            <a:gdLst/>
            <a:ahLst/>
            <a:cxnLst/>
            <a:rect l="l" t="t" r="r" b="b"/>
            <a:pathLst>
              <a:path w="3209925" h="5953">
                <a:moveTo>
                  <a:pt x="0" y="0"/>
                </a:moveTo>
                <a:lnTo>
                  <a:pt x="3209925" y="0"/>
                </a:lnTo>
                <a:lnTo>
                  <a:pt x="3209925" y="5953"/>
                </a:lnTo>
                <a:lnTo>
                  <a:pt x="0" y="59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634547" y="60817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844097" y="605200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Ingecheckt in Future Factory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7415" y="1755149"/>
            <a:ext cx="3673078" cy="4720828"/>
          </a:xfrm>
          <a:custGeom>
            <a:avLst/>
            <a:gdLst/>
            <a:ahLst/>
            <a:cxnLst/>
            <a:rect l="l" t="t" r="r" b="b"/>
            <a:pathLst>
              <a:path w="3673078" h="4720828">
                <a:moveTo>
                  <a:pt x="114306" y="0"/>
                </a:moveTo>
                <a:lnTo>
                  <a:pt x="3558772" y="0"/>
                </a:lnTo>
                <a:cubicBezTo>
                  <a:pt x="3621901" y="0"/>
                  <a:pt x="3673078" y="51177"/>
                  <a:pt x="3673078" y="114306"/>
                </a:cubicBezTo>
                <a:lnTo>
                  <a:pt x="3673078" y="4606522"/>
                </a:lnTo>
                <a:cubicBezTo>
                  <a:pt x="3673078" y="4669651"/>
                  <a:pt x="3621902" y="4720828"/>
                  <a:pt x="3558772" y="4720828"/>
                </a:cubicBezTo>
                <a:lnTo>
                  <a:pt x="114306" y="4720828"/>
                </a:lnTo>
                <a:cubicBezTo>
                  <a:pt x="51177" y="4720828"/>
                  <a:pt x="0" y="4669651"/>
                  <a:pt x="0" y="4606522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4488935" y="19866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4665073" y="217707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4488935" y="2748576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8935" y="3167621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Autorisatie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8935" y="3548528"/>
            <a:ext cx="3286125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Autorisatie moet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rol en per actie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worden afgedwongen. Een klant mag niet dezelfde handelingen uitvoeren als een planner of inkoper.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8935" y="5896663"/>
            <a:ext cx="3209925" cy="5953"/>
          </a:xfrm>
          <a:custGeom>
            <a:avLst/>
            <a:gdLst/>
            <a:ahLst/>
            <a:cxnLst/>
            <a:rect l="l" t="t" r="r" b="b"/>
            <a:pathLst>
              <a:path w="3209925" h="5953">
                <a:moveTo>
                  <a:pt x="0" y="0"/>
                </a:moveTo>
                <a:lnTo>
                  <a:pt x="3209925" y="0"/>
                </a:lnTo>
                <a:lnTo>
                  <a:pt x="3209925" y="5953"/>
                </a:lnTo>
                <a:lnTo>
                  <a:pt x="0" y="59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4507985" y="60817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4717535" y="605200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Ingecheckt in Future Factory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0946" y="1755149"/>
            <a:ext cx="3673078" cy="4720828"/>
          </a:xfrm>
          <a:custGeom>
            <a:avLst/>
            <a:gdLst/>
            <a:ahLst/>
            <a:cxnLst/>
            <a:rect l="l" t="t" r="r" b="b"/>
            <a:pathLst>
              <a:path w="3673078" h="4720828">
                <a:moveTo>
                  <a:pt x="114306" y="0"/>
                </a:moveTo>
                <a:lnTo>
                  <a:pt x="3558772" y="0"/>
                </a:lnTo>
                <a:cubicBezTo>
                  <a:pt x="3621901" y="0"/>
                  <a:pt x="3673078" y="51177"/>
                  <a:pt x="3673078" y="114306"/>
                </a:cubicBezTo>
                <a:lnTo>
                  <a:pt x="3673078" y="4606522"/>
                </a:lnTo>
                <a:cubicBezTo>
                  <a:pt x="3673078" y="4669651"/>
                  <a:pt x="3621902" y="4720828"/>
                  <a:pt x="3558772" y="4720828"/>
                </a:cubicBezTo>
                <a:lnTo>
                  <a:pt x="114306" y="4720828"/>
                </a:lnTo>
                <a:cubicBezTo>
                  <a:pt x="51177" y="4720828"/>
                  <a:pt x="0" y="4669651"/>
                  <a:pt x="0" y="4606522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8362466" y="19866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8567179" y="217707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8362466" y="2748576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2466" y="3167621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Validatie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62466" y="3548528"/>
            <a:ext cx="3286125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 invoer moet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gevalideerd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worden. Frontend-validatie alleen is nooit voldoende. Controle op type, formaat, grenzen en logische regels.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62466" y="5896663"/>
            <a:ext cx="3209925" cy="5953"/>
          </a:xfrm>
          <a:custGeom>
            <a:avLst/>
            <a:gdLst/>
            <a:ahLst/>
            <a:cxnLst/>
            <a:rect l="l" t="t" r="r" b="b"/>
            <a:pathLst>
              <a:path w="3209925" h="5953">
                <a:moveTo>
                  <a:pt x="0" y="0"/>
                </a:moveTo>
                <a:lnTo>
                  <a:pt x="3209925" y="0"/>
                </a:lnTo>
                <a:lnTo>
                  <a:pt x="3209925" y="5953"/>
                </a:lnTo>
                <a:lnTo>
                  <a:pt x="0" y="59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8381516" y="60817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8591066" y="6052003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Gedeeltelijk aanwezig</a:t>
            </a:r>
            <a:endParaRPr lang="en-US" sz="1600" dirty="0"/>
          </a:p>
        </p:txBody>
      </p:sp>
      <p:pic>
        <p:nvPicPr>
          <p:cNvPr id="33" name="Afbeelding 32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4E3FAC03-A2D3-3C94-C437-02FD85380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77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Veilige vs risicovolle designkeuzes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58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83977" y="1717104"/>
            <a:ext cx="5616178" cy="2987278"/>
          </a:xfrm>
          <a:custGeom>
            <a:avLst/>
            <a:gdLst/>
            <a:ahLst/>
            <a:cxnLst/>
            <a:rect l="l" t="t" r="r" b="b"/>
            <a:pathLst>
              <a:path w="5616178" h="2987278">
                <a:moveTo>
                  <a:pt x="114293" y="0"/>
                </a:moveTo>
                <a:lnTo>
                  <a:pt x="5501885" y="0"/>
                </a:lnTo>
                <a:cubicBezTo>
                  <a:pt x="5565007" y="0"/>
                  <a:pt x="5616178" y="51171"/>
                  <a:pt x="5616178" y="114293"/>
                </a:cubicBezTo>
                <a:lnTo>
                  <a:pt x="5616178" y="2872985"/>
                </a:lnTo>
                <a:cubicBezTo>
                  <a:pt x="5616178" y="2936107"/>
                  <a:pt x="5565007" y="2987278"/>
                  <a:pt x="5501885" y="2987278"/>
                </a:cubicBezTo>
                <a:lnTo>
                  <a:pt x="114293" y="2987278"/>
                </a:lnTo>
                <a:cubicBezTo>
                  <a:pt x="51171" y="2987278"/>
                  <a:pt x="0" y="2936107"/>
                  <a:pt x="0" y="2872985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7938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577453" y="19105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710747" y="2043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1148860" y="2005831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Veilige Keuzes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453" y="25201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Rolgebaseerde toegang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453" y="2862895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Het gebruik van meerdere rollen voorkomt dat iedere gebruiker bij alle functionaliteiten kan. Dit ondersteunt het 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least privilege-principe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453" y="3513274"/>
            <a:ext cx="5229225" cy="5953"/>
          </a:xfrm>
          <a:custGeom>
            <a:avLst/>
            <a:gdLst/>
            <a:ahLst/>
            <a:cxnLst/>
            <a:rect l="l" t="t" r="r" b="b"/>
            <a:pathLst>
              <a:path w="5229225" h="5953">
                <a:moveTo>
                  <a:pt x="0" y="0"/>
                </a:moveTo>
                <a:lnTo>
                  <a:pt x="5229225" y="0"/>
                </a:lnTo>
                <a:lnTo>
                  <a:pt x="5229225" y="5953"/>
                </a:lnTo>
                <a:lnTo>
                  <a:pt x="0" y="5953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77453" y="3668613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Server-side verwerking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7453" y="4011383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Logica, validatie en gegevensverwerking centraal via de backend plaatsen is veiliger dan frontend-only controles.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4227" y="1717104"/>
            <a:ext cx="5616178" cy="2987278"/>
          </a:xfrm>
          <a:custGeom>
            <a:avLst/>
            <a:gdLst/>
            <a:ahLst/>
            <a:cxnLst/>
            <a:rect l="l" t="t" r="r" b="b"/>
            <a:pathLst>
              <a:path w="5616178" h="2987278">
                <a:moveTo>
                  <a:pt x="114293" y="0"/>
                </a:moveTo>
                <a:lnTo>
                  <a:pt x="5501885" y="0"/>
                </a:lnTo>
                <a:cubicBezTo>
                  <a:pt x="5565007" y="0"/>
                  <a:pt x="5616178" y="51171"/>
                  <a:pt x="5616178" y="114293"/>
                </a:cubicBezTo>
                <a:lnTo>
                  <a:pt x="5616178" y="2872985"/>
                </a:lnTo>
                <a:cubicBezTo>
                  <a:pt x="5616178" y="2936107"/>
                  <a:pt x="5565007" y="2987278"/>
                  <a:pt x="5501885" y="2987278"/>
                </a:cubicBezTo>
                <a:lnTo>
                  <a:pt x="114293" y="2987278"/>
                </a:lnTo>
                <a:cubicBezTo>
                  <a:pt x="51171" y="2987278"/>
                  <a:pt x="0" y="2936107"/>
                  <a:pt x="0" y="2872985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7938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6387703" y="19105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6520997" y="2043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959110" y="2005831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Risicovolle Keuzes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7703" y="25201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Afhankelijkheid routebeveiliging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7703" y="2862895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Autorisatie alleen op routeniveau is niet altijd genoeg. Een veilige applicatie moet op 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meerdere lagen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controleren of een gebruiker iets mag doen.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7703" y="3513274"/>
            <a:ext cx="5229225" cy="5953"/>
          </a:xfrm>
          <a:custGeom>
            <a:avLst/>
            <a:gdLst/>
            <a:ahLst/>
            <a:cxnLst/>
            <a:rect l="l" t="t" r="r" b="b"/>
            <a:pathLst>
              <a:path w="5229225" h="5953">
                <a:moveTo>
                  <a:pt x="0" y="0"/>
                </a:moveTo>
                <a:lnTo>
                  <a:pt x="5229225" y="0"/>
                </a:lnTo>
                <a:lnTo>
                  <a:pt x="5229225" y="5953"/>
                </a:lnTo>
                <a:lnTo>
                  <a:pt x="0" y="5953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6387703" y="3668613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Beperkte logging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7703" y="4011383"/>
            <a:ext cx="5305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Het ontwerp lijkt vooral gericht op functionaliteit, maar minder op detectie en monitoring. Hierdoor is misbruik lastiger te signaleren.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3977" y="5706256"/>
            <a:ext cx="11426428" cy="767953"/>
          </a:xfrm>
          <a:custGeom>
            <a:avLst/>
            <a:gdLst/>
            <a:ahLst/>
            <a:cxnLst/>
            <a:rect l="l" t="t" r="r" b="b"/>
            <a:pathLst>
              <a:path w="11426428" h="767953">
                <a:moveTo>
                  <a:pt x="114302" y="0"/>
                </a:moveTo>
                <a:lnTo>
                  <a:pt x="11312126" y="0"/>
                </a:lnTo>
                <a:cubicBezTo>
                  <a:pt x="11375253" y="0"/>
                  <a:pt x="11426428" y="51175"/>
                  <a:pt x="11426428" y="114302"/>
                </a:cubicBezTo>
                <a:lnTo>
                  <a:pt x="11426428" y="653651"/>
                </a:lnTo>
                <a:cubicBezTo>
                  <a:pt x="11426428" y="716778"/>
                  <a:pt x="11375253" y="767953"/>
                  <a:pt x="11312126" y="767953"/>
                </a:cubicBezTo>
                <a:lnTo>
                  <a:pt x="114302" y="767953"/>
                </a:lnTo>
                <a:cubicBezTo>
                  <a:pt x="51217" y="767953"/>
                  <a:pt x="0" y="716736"/>
                  <a:pt x="0" y="65365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577416" y="589731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786966" y="5861596"/>
            <a:ext cx="1094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Conclusie: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Future Factory heeft een duidelijke en bruikbare basis. Verbeteringen mogelijk door autorisatie explicieter op meerdere lagen af te dwingen en logging/monitoring mee te nemen in het ontwerp.</a:t>
            </a:r>
            <a:endParaRPr lang="en-US" sz="1600" dirty="0"/>
          </a:p>
        </p:txBody>
      </p:sp>
      <p:pic>
        <p:nvPicPr>
          <p:cNvPr id="27" name="Afbeelding 26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4E50D7F3-AF12-9BD5-2C5D-EFC86D21D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Surface &amp; Threats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1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374335"/>
            <a:ext cx="4454128" cy="5101828"/>
          </a:xfrm>
          <a:custGeom>
            <a:avLst/>
            <a:gdLst/>
            <a:ahLst/>
            <a:cxnLst/>
            <a:rect l="l" t="t" r="r" b="b"/>
            <a:pathLst>
              <a:path w="4454128" h="5101828">
                <a:moveTo>
                  <a:pt x="114293" y="0"/>
                </a:moveTo>
                <a:lnTo>
                  <a:pt x="4339835" y="0"/>
                </a:lnTo>
                <a:cubicBezTo>
                  <a:pt x="4402957" y="0"/>
                  <a:pt x="4454128" y="51171"/>
                  <a:pt x="4454128" y="114293"/>
                </a:cubicBezTo>
                <a:lnTo>
                  <a:pt x="4454128" y="4987535"/>
                </a:lnTo>
                <a:cubicBezTo>
                  <a:pt x="4454128" y="5050657"/>
                  <a:pt x="4402957" y="5101828"/>
                  <a:pt x="4339835" y="5101828"/>
                </a:cubicBezTo>
                <a:lnTo>
                  <a:pt x="114293" y="5101828"/>
                </a:lnTo>
                <a:cubicBezTo>
                  <a:pt x="51171" y="5101828"/>
                  <a:pt x="0" y="5050657"/>
                  <a:pt x="0" y="4987535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77453" y="1567811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Surface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7453" y="1986855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710729" y="2139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2691" y="81260"/>
                </a:moveTo>
                <a:cubicBezTo>
                  <a:pt x="105489" y="78462"/>
                  <a:pt x="105489" y="73938"/>
                  <a:pt x="102691" y="71170"/>
                </a:cubicBezTo>
                <a:lnTo>
                  <a:pt x="59829" y="28277"/>
                </a:lnTo>
                <a:cubicBezTo>
                  <a:pt x="57775" y="26224"/>
                  <a:pt x="54709" y="25628"/>
                  <a:pt x="52030" y="26730"/>
                </a:cubicBezTo>
                <a:cubicBezTo>
                  <a:pt x="49351" y="27831"/>
                  <a:pt x="47625" y="30450"/>
                  <a:pt x="47625" y="33338"/>
                </a:cubicBezTo>
                <a:lnTo>
                  <a:pt x="47625" y="57150"/>
                </a:ln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80962"/>
                </a:lnTo>
                <a:cubicBezTo>
                  <a:pt x="0" y="88850"/>
                  <a:pt x="6400" y="95250"/>
                  <a:pt x="14288" y="95250"/>
                </a:cubicBezTo>
                <a:lnTo>
                  <a:pt x="47625" y="95250"/>
                </a:lnTo>
                <a:lnTo>
                  <a:pt x="47625" y="119062"/>
                </a:lnTo>
                <a:cubicBezTo>
                  <a:pt x="47625" y="121950"/>
                  <a:pt x="49351" y="124569"/>
                  <a:pt x="52030" y="125670"/>
                </a:cubicBezTo>
                <a:cubicBezTo>
                  <a:pt x="54709" y="126772"/>
                  <a:pt x="57775" y="126176"/>
                  <a:pt x="59829" y="124123"/>
                </a:cubicBezTo>
                <a:lnTo>
                  <a:pt x="102691" y="81260"/>
                </a:lnTo>
                <a:close/>
                <a:moveTo>
                  <a:pt x="104775" y="123825"/>
                </a:moveTo>
                <a:cubicBezTo>
                  <a:pt x="99506" y="123825"/>
                  <a:pt x="95250" y="128081"/>
                  <a:pt x="95250" y="133350"/>
                </a:cubicBezTo>
                <a:cubicBezTo>
                  <a:pt x="95250" y="138619"/>
                  <a:pt x="99506" y="142875"/>
                  <a:pt x="104775" y="142875"/>
                </a:cubicBezTo>
                <a:lnTo>
                  <a:pt x="123825" y="142875"/>
                </a:lnTo>
                <a:cubicBezTo>
                  <a:pt x="139601" y="142875"/>
                  <a:pt x="152400" y="130076"/>
                  <a:pt x="152400" y="114300"/>
                </a:cubicBezTo>
                <a:lnTo>
                  <a:pt x="152400" y="38100"/>
                </a:lnTo>
                <a:cubicBezTo>
                  <a:pt x="152400" y="22324"/>
                  <a:pt x="139601" y="9525"/>
                  <a:pt x="123825" y="9525"/>
                </a:cubicBezTo>
                <a:lnTo>
                  <a:pt x="104775" y="9525"/>
                </a:lnTo>
                <a:cubicBezTo>
                  <a:pt x="99506" y="9525"/>
                  <a:pt x="95250" y="13781"/>
                  <a:pt x="95250" y="19050"/>
                </a:cubicBezTo>
                <a:cubicBezTo>
                  <a:pt x="95250" y="24319"/>
                  <a:pt x="99506" y="28575"/>
                  <a:pt x="104775" y="28575"/>
                </a:cubicBez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114300"/>
                </a:lnTo>
                <a:cubicBezTo>
                  <a:pt x="133350" y="119569"/>
                  <a:pt x="129094" y="123825"/>
                  <a:pt x="123825" y="123825"/>
                </a:cubicBezTo>
                <a:lnTo>
                  <a:pt x="104775" y="123825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996404" y="2101081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Loginfunctionaliteit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453" y="2520032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691679" y="267230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996404" y="2634258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Gebruikersrollen &amp;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453" y="3053209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710729" y="32054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996404" y="316743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Voertuig formulieren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453" y="3586386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710729" y="37386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996404" y="3700611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formulieren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453" y="4119562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720254" y="427183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996404" y="4233788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Planning formulieren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453" y="4652739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720254" y="48050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996404" y="4766965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Profiel &amp; account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7453" y="5185916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720254" y="533818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996404" y="5300142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CRUD-operaties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7453" y="5719093"/>
            <a:ext cx="4067175" cy="457200"/>
          </a:xfrm>
          <a:custGeom>
            <a:avLst/>
            <a:gdLst/>
            <a:ahLst/>
            <a:cxnLst/>
            <a:rect l="l" t="t" r="r" b="b"/>
            <a:pathLst>
              <a:path w="4067175" h="457200">
                <a:moveTo>
                  <a:pt x="76202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380998"/>
                </a:lnTo>
                <a:cubicBezTo>
                  <a:pt x="4067175" y="423083"/>
                  <a:pt x="4033058" y="457200"/>
                  <a:pt x="3990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710729" y="58713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996404" y="5833318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Foutmeldingen &amp; responses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181" y="1371358"/>
            <a:ext cx="687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Vier Realistische Dreigingen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32158" y="1755242"/>
            <a:ext cx="6778228" cy="1072753"/>
          </a:xfrm>
          <a:custGeom>
            <a:avLst/>
            <a:gdLst/>
            <a:ahLst/>
            <a:cxnLst/>
            <a:rect l="l" t="t" r="r" b="b"/>
            <a:pathLst>
              <a:path w="6778228" h="1072753">
                <a:moveTo>
                  <a:pt x="114302" y="0"/>
                </a:moveTo>
                <a:lnTo>
                  <a:pt x="6663926" y="0"/>
                </a:lnTo>
                <a:cubicBezTo>
                  <a:pt x="6727053" y="0"/>
                  <a:pt x="6778228" y="51175"/>
                  <a:pt x="6778228" y="114302"/>
                </a:cubicBezTo>
                <a:lnTo>
                  <a:pt x="6778228" y="958451"/>
                </a:lnTo>
                <a:cubicBezTo>
                  <a:pt x="6778228" y="1021578"/>
                  <a:pt x="6727053" y="1072753"/>
                  <a:pt x="6663926" y="1072753"/>
                </a:cubicBezTo>
                <a:lnTo>
                  <a:pt x="114302" y="1072753"/>
                </a:lnTo>
                <a:cubicBezTo>
                  <a:pt x="51175" y="1072753"/>
                  <a:pt x="0" y="1021578"/>
                  <a:pt x="0" y="958451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7938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Shape 31"/>
          <p:cNvSpPr/>
          <p:nvPr/>
        </p:nvSpPr>
        <p:spPr>
          <a:xfrm>
            <a:off x="5187497" y="19105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5347488" y="1986762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82723" y="1910581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Ongeautoriseerde toegang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519544" y="1929650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190499"/>
                </a:lnTo>
                <a:cubicBezTo>
                  <a:pt x="485775" y="211542"/>
                  <a:pt x="468717" y="228600"/>
                  <a:pt x="447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10519544" y="1929650"/>
            <a:ext cx="542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078487" y="1929650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9" name="Text 37"/>
          <p:cNvSpPr/>
          <p:nvPr/>
        </p:nvSpPr>
        <p:spPr>
          <a:xfrm>
            <a:off x="11078487" y="1929650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MIDDEL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82723" y="2215214"/>
            <a:ext cx="604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Gebruiker probeert toegang te krijgen tot functies voor andere rollen via directe URL of aangepaste request.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32158" y="2947820"/>
            <a:ext cx="6778228" cy="1072753"/>
          </a:xfrm>
          <a:custGeom>
            <a:avLst/>
            <a:gdLst/>
            <a:ahLst/>
            <a:cxnLst/>
            <a:rect l="l" t="t" r="r" b="b"/>
            <a:pathLst>
              <a:path w="6778228" h="1072753">
                <a:moveTo>
                  <a:pt x="114302" y="0"/>
                </a:moveTo>
                <a:lnTo>
                  <a:pt x="6663926" y="0"/>
                </a:lnTo>
                <a:cubicBezTo>
                  <a:pt x="6727053" y="0"/>
                  <a:pt x="6778228" y="51175"/>
                  <a:pt x="6778228" y="114302"/>
                </a:cubicBezTo>
                <a:lnTo>
                  <a:pt x="6778228" y="958451"/>
                </a:lnTo>
                <a:cubicBezTo>
                  <a:pt x="6778228" y="1021578"/>
                  <a:pt x="6727053" y="1072753"/>
                  <a:pt x="6663926" y="1072753"/>
                </a:cubicBezTo>
                <a:lnTo>
                  <a:pt x="114302" y="1072753"/>
                </a:lnTo>
                <a:cubicBezTo>
                  <a:pt x="51175" y="1072753"/>
                  <a:pt x="0" y="1021578"/>
                  <a:pt x="0" y="958451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 w="7938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Shape 40"/>
          <p:cNvSpPr/>
          <p:nvPr/>
        </p:nvSpPr>
        <p:spPr>
          <a:xfrm>
            <a:off x="5187497" y="31031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3" name="Text 41"/>
          <p:cNvSpPr/>
          <p:nvPr/>
        </p:nvSpPr>
        <p:spPr>
          <a:xfrm>
            <a:off x="5333721" y="317934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682723" y="3103159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Manipulatie formulierinvoer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19544" y="3122228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6" name="Text 44"/>
          <p:cNvSpPr/>
          <p:nvPr/>
        </p:nvSpPr>
        <p:spPr>
          <a:xfrm>
            <a:off x="10519544" y="3122228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MIDDEL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69923" y="3122228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190499"/>
                </a:lnTo>
                <a:cubicBezTo>
                  <a:pt x="485775" y="211542"/>
                  <a:pt x="468717" y="228600"/>
                  <a:pt x="447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8" name="Text 46"/>
          <p:cNvSpPr/>
          <p:nvPr/>
        </p:nvSpPr>
        <p:spPr>
          <a:xfrm>
            <a:off x="11169923" y="3122228"/>
            <a:ext cx="542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682723" y="3407792"/>
            <a:ext cx="6048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Gebruiker voert expres onjuiste waarden in om gegevens te vervalsen of logische regels te omzeilen.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32158" y="4140398"/>
            <a:ext cx="6778228" cy="844153"/>
          </a:xfrm>
          <a:custGeom>
            <a:avLst/>
            <a:gdLst/>
            <a:ahLst/>
            <a:cxnLst/>
            <a:rect l="l" t="t" r="r" b="b"/>
            <a:pathLst>
              <a:path w="6778228" h="844153">
                <a:moveTo>
                  <a:pt x="114298" y="0"/>
                </a:moveTo>
                <a:lnTo>
                  <a:pt x="6663930" y="0"/>
                </a:lnTo>
                <a:cubicBezTo>
                  <a:pt x="6727055" y="0"/>
                  <a:pt x="6778228" y="51173"/>
                  <a:pt x="6778228" y="114298"/>
                </a:cubicBezTo>
                <a:lnTo>
                  <a:pt x="6778228" y="729855"/>
                </a:lnTo>
                <a:cubicBezTo>
                  <a:pt x="6778228" y="792980"/>
                  <a:pt x="6727055" y="844153"/>
                  <a:pt x="6663930" y="844153"/>
                </a:cubicBezTo>
                <a:lnTo>
                  <a:pt x="114298" y="844153"/>
                </a:lnTo>
                <a:cubicBezTo>
                  <a:pt x="51215" y="844153"/>
                  <a:pt x="0" y="792938"/>
                  <a:pt x="0" y="729855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7938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Shape 49"/>
          <p:cNvSpPr/>
          <p:nvPr/>
        </p:nvSpPr>
        <p:spPr>
          <a:xfrm>
            <a:off x="5187497" y="42957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2" name="Text 50"/>
          <p:cNvSpPr/>
          <p:nvPr/>
        </p:nvSpPr>
        <p:spPr>
          <a:xfrm>
            <a:off x="5332977" y="4371919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682723" y="4295738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Brute-force op login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519544" y="4314806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190499"/>
                </a:lnTo>
                <a:cubicBezTo>
                  <a:pt x="485775" y="211542"/>
                  <a:pt x="468717" y="228600"/>
                  <a:pt x="447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5" name="Text 53"/>
          <p:cNvSpPr/>
          <p:nvPr/>
        </p:nvSpPr>
        <p:spPr>
          <a:xfrm>
            <a:off x="10519544" y="4314806"/>
            <a:ext cx="542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78487" y="4314806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7" name="Text 55"/>
          <p:cNvSpPr/>
          <p:nvPr/>
        </p:nvSpPr>
        <p:spPr>
          <a:xfrm>
            <a:off x="11078487" y="4314806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MIDDEL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682723" y="4600370"/>
            <a:ext cx="604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Aanvaller probeert wachtwoorden te raden of hergebruikt gelekte inloggegevens.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32158" y="5104433"/>
            <a:ext cx="6778228" cy="844153"/>
          </a:xfrm>
          <a:custGeom>
            <a:avLst/>
            <a:gdLst/>
            <a:ahLst/>
            <a:cxnLst/>
            <a:rect l="l" t="t" r="r" b="b"/>
            <a:pathLst>
              <a:path w="6778228" h="844153">
                <a:moveTo>
                  <a:pt x="114298" y="0"/>
                </a:moveTo>
                <a:lnTo>
                  <a:pt x="6663930" y="0"/>
                </a:lnTo>
                <a:cubicBezTo>
                  <a:pt x="6727055" y="0"/>
                  <a:pt x="6778228" y="51173"/>
                  <a:pt x="6778228" y="114298"/>
                </a:cubicBezTo>
                <a:lnTo>
                  <a:pt x="6778228" y="729855"/>
                </a:lnTo>
                <a:cubicBezTo>
                  <a:pt x="6778228" y="792980"/>
                  <a:pt x="6727055" y="844153"/>
                  <a:pt x="6663930" y="844153"/>
                </a:cubicBezTo>
                <a:lnTo>
                  <a:pt x="114298" y="844153"/>
                </a:lnTo>
                <a:cubicBezTo>
                  <a:pt x="51215" y="844153"/>
                  <a:pt x="0" y="792938"/>
                  <a:pt x="0" y="729855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7938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0" name="Shape 58"/>
          <p:cNvSpPr/>
          <p:nvPr/>
        </p:nvSpPr>
        <p:spPr>
          <a:xfrm>
            <a:off x="5187497" y="52597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1" name="Text 59"/>
          <p:cNvSpPr/>
          <p:nvPr/>
        </p:nvSpPr>
        <p:spPr>
          <a:xfrm>
            <a:off x="5333070" y="5335953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682723" y="5259772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disclosure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519544" y="5278841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190499"/>
                </a:lnTo>
                <a:cubicBezTo>
                  <a:pt x="485775" y="211542"/>
                  <a:pt x="468717" y="228600"/>
                  <a:pt x="447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4" name="Text 62"/>
          <p:cNvSpPr/>
          <p:nvPr/>
        </p:nvSpPr>
        <p:spPr>
          <a:xfrm>
            <a:off x="10519544" y="5278841"/>
            <a:ext cx="542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078487" y="5278841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6" name="Text 64"/>
          <p:cNvSpPr/>
          <p:nvPr/>
        </p:nvSpPr>
        <p:spPr>
          <a:xfrm>
            <a:off x="11078487" y="5278841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MIDDEL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682723" y="5564405"/>
            <a:ext cx="604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Aanvaller krijgt te veel informatie via debug-output, foutmeldingen of .env-bestand.</a:t>
            </a:r>
            <a:endParaRPr lang="en-US" sz="1600" dirty="0"/>
          </a:p>
        </p:txBody>
      </p:sp>
      <p:pic>
        <p:nvPicPr>
          <p:cNvPr id="68" name="Afbeelding 67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313714BC-D5E8-6D07-8064-C7444146B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Beveiligingsmaatregelen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1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374335"/>
            <a:ext cx="5635228" cy="2006203"/>
          </a:xfrm>
          <a:custGeom>
            <a:avLst/>
            <a:gdLst/>
            <a:ahLst/>
            <a:cxnLst/>
            <a:rect l="l" t="t" r="r" b="b"/>
            <a:pathLst>
              <a:path w="5635228" h="2006203">
                <a:moveTo>
                  <a:pt x="114293" y="0"/>
                </a:moveTo>
                <a:lnTo>
                  <a:pt x="5520935" y="0"/>
                </a:lnTo>
                <a:cubicBezTo>
                  <a:pt x="5584057" y="0"/>
                  <a:pt x="5635228" y="51171"/>
                  <a:pt x="5635228" y="114293"/>
                </a:cubicBezTo>
                <a:lnTo>
                  <a:pt x="5635228" y="1891910"/>
                </a:lnTo>
                <a:cubicBezTo>
                  <a:pt x="5635228" y="1955032"/>
                  <a:pt x="5584057" y="2006203"/>
                  <a:pt x="5520935" y="2006203"/>
                </a:cubicBezTo>
                <a:lnTo>
                  <a:pt x="114293" y="2006203"/>
                </a:lnTo>
                <a:cubicBezTo>
                  <a:pt x="51171" y="2006203"/>
                  <a:pt x="0" y="1955032"/>
                  <a:pt x="0" y="1891910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77453" y="15678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710747" y="17011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148860" y="1663061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 Autorisatie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453" y="2139218"/>
            <a:ext cx="5324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Autorisatie afdwingen via 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middleware, controller checks en policies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Alleen routeniveau is niet genoeg.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453" y="2748483"/>
            <a:ext cx="5248275" cy="419100"/>
          </a:xfrm>
          <a:custGeom>
            <a:avLst/>
            <a:gdLst/>
            <a:ahLst/>
            <a:cxnLst/>
            <a:rect l="l" t="t" r="r" b="b"/>
            <a:pathLst>
              <a:path w="5248275" h="419100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42899"/>
                </a:lnTo>
                <a:cubicBezTo>
                  <a:pt x="5248275" y="384984"/>
                  <a:pt x="5214159" y="419100"/>
                  <a:pt x="51720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91679" y="2862709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Defense-in-depth principe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5158" y="1374335"/>
            <a:ext cx="5635228" cy="2006203"/>
          </a:xfrm>
          <a:custGeom>
            <a:avLst/>
            <a:gdLst/>
            <a:ahLst/>
            <a:cxnLst/>
            <a:rect l="l" t="t" r="r" b="b"/>
            <a:pathLst>
              <a:path w="5635228" h="2006203">
                <a:moveTo>
                  <a:pt x="114293" y="0"/>
                </a:moveTo>
                <a:lnTo>
                  <a:pt x="5520935" y="0"/>
                </a:lnTo>
                <a:cubicBezTo>
                  <a:pt x="5584057" y="0"/>
                  <a:pt x="5635228" y="51171"/>
                  <a:pt x="5635228" y="114293"/>
                </a:cubicBezTo>
                <a:lnTo>
                  <a:pt x="5635228" y="1891910"/>
                </a:lnTo>
                <a:cubicBezTo>
                  <a:pt x="5635228" y="1955032"/>
                  <a:pt x="5584057" y="2006203"/>
                  <a:pt x="5520935" y="2006203"/>
                </a:cubicBezTo>
                <a:lnTo>
                  <a:pt x="114293" y="2006203"/>
                </a:lnTo>
                <a:cubicBezTo>
                  <a:pt x="51171" y="2006203"/>
                  <a:pt x="0" y="1955032"/>
                  <a:pt x="0" y="1891910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6368635" y="15678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525741" y="170110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940042" y="1663061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Validatie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8635" y="2139218"/>
            <a:ext cx="532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 invoer server-side controleren op 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type, formaat, grenzen en business rules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68635" y="2500964"/>
            <a:ext cx="5248275" cy="419100"/>
          </a:xfrm>
          <a:custGeom>
            <a:avLst/>
            <a:gdLst/>
            <a:ahLst/>
            <a:cxnLst/>
            <a:rect l="l" t="t" r="r" b="b"/>
            <a:pathLst>
              <a:path w="5248275" h="419100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42899"/>
                </a:lnTo>
                <a:cubicBezTo>
                  <a:pt x="5248275" y="384984"/>
                  <a:pt x="5214159" y="419100"/>
                  <a:pt x="51720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482860" y="2615189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Laravel validatieregels toepassen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3977" y="3540249"/>
            <a:ext cx="5635228" cy="2006203"/>
          </a:xfrm>
          <a:custGeom>
            <a:avLst/>
            <a:gdLst/>
            <a:ahLst/>
            <a:cxnLst/>
            <a:rect l="l" t="t" r="r" b="b"/>
            <a:pathLst>
              <a:path w="5635228" h="2006203">
                <a:moveTo>
                  <a:pt x="114293" y="0"/>
                </a:moveTo>
                <a:lnTo>
                  <a:pt x="5520935" y="0"/>
                </a:lnTo>
                <a:cubicBezTo>
                  <a:pt x="5584057" y="0"/>
                  <a:pt x="5635228" y="51171"/>
                  <a:pt x="5635228" y="114293"/>
                </a:cubicBezTo>
                <a:lnTo>
                  <a:pt x="5635228" y="1891910"/>
                </a:lnTo>
                <a:cubicBezTo>
                  <a:pt x="5635228" y="1955032"/>
                  <a:pt x="5584057" y="2006203"/>
                  <a:pt x="5520935" y="2006203"/>
                </a:cubicBezTo>
                <a:lnTo>
                  <a:pt x="114293" y="2006203"/>
                </a:lnTo>
                <a:cubicBezTo>
                  <a:pt x="51171" y="2006203"/>
                  <a:pt x="0" y="1955032"/>
                  <a:pt x="0" y="1891910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577453" y="37337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710747" y="38670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1148860" y="3828976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453" y="4305133"/>
            <a:ext cx="5324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Tijdelijke blokkering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 meerdere mislukte pogingen en sterk wachtwoordbeleid implementeren.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453" y="4914398"/>
            <a:ext cx="5248275" cy="419100"/>
          </a:xfrm>
          <a:custGeom>
            <a:avLst/>
            <a:gdLst/>
            <a:ahLst/>
            <a:cxnLst/>
            <a:rect l="l" t="t" r="r" b="b"/>
            <a:pathLst>
              <a:path w="5248275" h="419100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42899"/>
                </a:lnTo>
                <a:cubicBezTo>
                  <a:pt x="5248275" y="384984"/>
                  <a:pt x="5214159" y="419100"/>
                  <a:pt x="51720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691679" y="5028623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Verminderd risico op brute-force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5158" y="3540249"/>
            <a:ext cx="5635228" cy="2006203"/>
          </a:xfrm>
          <a:custGeom>
            <a:avLst/>
            <a:gdLst/>
            <a:ahLst/>
            <a:cxnLst/>
            <a:rect l="l" t="t" r="r" b="b"/>
            <a:pathLst>
              <a:path w="5635228" h="2006203">
                <a:moveTo>
                  <a:pt x="114293" y="0"/>
                </a:moveTo>
                <a:lnTo>
                  <a:pt x="5520935" y="0"/>
                </a:lnTo>
                <a:cubicBezTo>
                  <a:pt x="5584057" y="0"/>
                  <a:pt x="5635228" y="51171"/>
                  <a:pt x="5635228" y="114293"/>
                </a:cubicBezTo>
                <a:lnTo>
                  <a:pt x="5635228" y="1891910"/>
                </a:lnTo>
                <a:cubicBezTo>
                  <a:pt x="5635228" y="1955032"/>
                  <a:pt x="5584057" y="2006203"/>
                  <a:pt x="5520935" y="2006203"/>
                </a:cubicBezTo>
                <a:lnTo>
                  <a:pt x="114293" y="2006203"/>
                </a:lnTo>
                <a:cubicBezTo>
                  <a:pt x="51171" y="2006203"/>
                  <a:pt x="0" y="1955032"/>
                  <a:pt x="0" y="1891910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6368635" y="37337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6490022" y="386702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75803" y="151358"/>
                </a:lnTo>
                <a:cubicBezTo>
                  <a:pt x="176808" y="150465"/>
                  <a:pt x="177812" y="149572"/>
                  <a:pt x="178780" y="148679"/>
                </a:cubicBezTo>
                <a:cubicBezTo>
                  <a:pt x="196193" y="132494"/>
                  <a:pt x="207838" y="113184"/>
                  <a:pt x="213382" y="99901"/>
                </a:cubicBezTo>
                <a:cubicBezTo>
                  <a:pt x="214610" y="96962"/>
                  <a:pt x="214610" y="93687"/>
                  <a:pt x="213382" y="90748"/>
                </a:cubicBezTo>
                <a:cubicBezTo>
                  <a:pt x="207838" y="77465"/>
                  <a:pt x="196193" y="58117"/>
                  <a:pt x="178780" y="41970"/>
                </a:cubicBezTo>
                <a:cubicBezTo>
                  <a:pt x="161255" y="25710"/>
                  <a:pt x="137182" y="11981"/>
                  <a:pt x="107119" y="11981"/>
                </a:cubicBezTo>
                <a:cubicBezTo>
                  <a:pt x="85985" y="11981"/>
                  <a:pt x="67828" y="18752"/>
                  <a:pt x="52797" y="28426"/>
                </a:cubicBezTo>
                <a:lnTo>
                  <a:pt x="15255" y="-9265"/>
                </a:lnTo>
                <a:close/>
                <a:moveTo>
                  <a:pt x="76088" y="51606"/>
                </a:moveTo>
                <a:cubicBezTo>
                  <a:pt x="84832" y="45355"/>
                  <a:pt x="95585" y="41672"/>
                  <a:pt x="107156" y="41672"/>
                </a:cubicBezTo>
                <a:cubicBezTo>
                  <a:pt x="136736" y="41672"/>
                  <a:pt x="160734" y="65670"/>
                  <a:pt x="160734" y="95250"/>
                </a:cubicBezTo>
                <a:cubicBezTo>
                  <a:pt x="160734" y="106821"/>
                  <a:pt x="157051" y="117537"/>
                  <a:pt x="150800" y="126318"/>
                </a:cubicBezTo>
                <a:lnTo>
                  <a:pt x="137889" y="113407"/>
                </a:lnTo>
                <a:cubicBezTo>
                  <a:pt x="142615" y="105445"/>
                  <a:pt x="144214" y="95659"/>
                  <a:pt x="141647" y="85985"/>
                </a:cubicBezTo>
                <a:cubicBezTo>
                  <a:pt x="136550" y="66935"/>
                  <a:pt x="116942" y="55625"/>
                  <a:pt x="97892" y="60722"/>
                </a:cubicBezTo>
                <a:cubicBezTo>
                  <a:pt x="94692" y="61578"/>
                  <a:pt x="91678" y="62843"/>
                  <a:pt x="88962" y="64443"/>
                </a:cubicBezTo>
                <a:lnTo>
                  <a:pt x="76051" y="51532"/>
                </a:lnTo>
                <a:close/>
                <a:moveTo>
                  <a:pt x="121034" y="147005"/>
                </a:moveTo>
                <a:cubicBezTo>
                  <a:pt x="116607" y="148196"/>
                  <a:pt x="111956" y="148828"/>
                  <a:pt x="107156" y="148828"/>
                </a:cubicBezTo>
                <a:cubicBezTo>
                  <a:pt x="77577" y="148828"/>
                  <a:pt x="53578" y="124830"/>
                  <a:pt x="53578" y="95250"/>
                </a:cubicBezTo>
                <a:cubicBezTo>
                  <a:pt x="53578" y="90450"/>
                  <a:pt x="54211" y="85799"/>
                  <a:pt x="55401" y="81372"/>
                </a:cubicBezTo>
                <a:lnTo>
                  <a:pt x="25822" y="51792"/>
                </a:lnTo>
                <a:cubicBezTo>
                  <a:pt x="13692" y="65484"/>
                  <a:pt x="5358" y="79995"/>
                  <a:pt x="930" y="90674"/>
                </a:cubicBezTo>
                <a:cubicBezTo>
                  <a:pt x="-298" y="93613"/>
                  <a:pt x="-298" y="96887"/>
                  <a:pt x="930" y="99826"/>
                </a:cubicBezTo>
                <a:cubicBezTo>
                  <a:pt x="6474" y="113109"/>
                  <a:pt x="18120" y="132457"/>
                  <a:pt x="35533" y="148605"/>
                </a:cubicBezTo>
                <a:cubicBezTo>
                  <a:pt x="53057" y="164864"/>
                  <a:pt x="77130" y="178594"/>
                  <a:pt x="107193" y="178594"/>
                </a:cubicBezTo>
                <a:cubicBezTo>
                  <a:pt x="121072" y="178594"/>
                  <a:pt x="133685" y="175654"/>
                  <a:pt x="144959" y="170929"/>
                </a:cubicBezTo>
                <a:lnTo>
                  <a:pt x="121072" y="147042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6940042" y="3828976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Veilige Foutafhandeling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8635" y="4305133"/>
            <a:ext cx="5324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 uitschakelen in productie, 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generieke foutmeldingen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gebruiken en .env strikt beschermen.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8635" y="4914398"/>
            <a:ext cx="5248275" cy="419100"/>
          </a:xfrm>
          <a:custGeom>
            <a:avLst/>
            <a:gdLst/>
            <a:ahLst/>
            <a:cxnLst/>
            <a:rect l="l" t="t" r="r" b="b"/>
            <a:pathLst>
              <a:path w="5248275" h="419100">
                <a:moveTo>
                  <a:pt x="76201" y="0"/>
                </a:moveTo>
                <a:lnTo>
                  <a:pt x="5172074" y="0"/>
                </a:lnTo>
                <a:cubicBezTo>
                  <a:pt x="5214159" y="0"/>
                  <a:pt x="5248275" y="34116"/>
                  <a:pt x="5248275" y="76201"/>
                </a:cubicBezTo>
                <a:lnTo>
                  <a:pt x="5248275" y="342899"/>
                </a:lnTo>
                <a:cubicBezTo>
                  <a:pt x="5248275" y="384984"/>
                  <a:pt x="5214159" y="419100"/>
                  <a:pt x="51720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6482860" y="5028623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Geen informatielekken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3977" y="5706256"/>
            <a:ext cx="11426428" cy="767953"/>
          </a:xfrm>
          <a:custGeom>
            <a:avLst/>
            <a:gdLst/>
            <a:ahLst/>
            <a:cxnLst/>
            <a:rect l="l" t="t" r="r" b="b"/>
            <a:pathLst>
              <a:path w="11426428" h="767953">
                <a:moveTo>
                  <a:pt x="114302" y="0"/>
                </a:moveTo>
                <a:lnTo>
                  <a:pt x="11312126" y="0"/>
                </a:lnTo>
                <a:cubicBezTo>
                  <a:pt x="11375253" y="0"/>
                  <a:pt x="11426428" y="51175"/>
                  <a:pt x="11426428" y="114302"/>
                </a:cubicBezTo>
                <a:lnTo>
                  <a:pt x="11426428" y="653651"/>
                </a:lnTo>
                <a:cubicBezTo>
                  <a:pt x="11426428" y="716778"/>
                  <a:pt x="11375253" y="767953"/>
                  <a:pt x="11312126" y="767953"/>
                </a:cubicBezTo>
                <a:lnTo>
                  <a:pt x="114302" y="767953"/>
                </a:lnTo>
                <a:cubicBezTo>
                  <a:pt x="51217" y="767953"/>
                  <a:pt x="0" y="716736"/>
                  <a:pt x="0" y="653651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7938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Shape 32"/>
          <p:cNvSpPr/>
          <p:nvPr/>
        </p:nvSpPr>
        <p:spPr>
          <a:xfrm>
            <a:off x="558366" y="58973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5" name="Text 33"/>
          <p:cNvSpPr/>
          <p:nvPr/>
        </p:nvSpPr>
        <p:spPr>
          <a:xfrm>
            <a:off x="786966" y="5861596"/>
            <a:ext cx="1094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Samenwerking: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Technische studenten focussen op routes, validatie en controllers. Niet-technische studenten kijken naar gebruikersperspectief, impact en procesrisico's. Deze combinatie is essentieel voor complete security.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Security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77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Mini-trainingsmodule voor nieuwe Future Factory developers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58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383977" y="1717104"/>
            <a:ext cx="3701653" cy="1225153"/>
          </a:xfrm>
          <a:custGeom>
            <a:avLst/>
            <a:gdLst/>
            <a:ahLst/>
            <a:cxnLst/>
            <a:rect l="l" t="t" r="r" b="b"/>
            <a:pathLst>
              <a:path w="3701653" h="1225153">
                <a:moveTo>
                  <a:pt x="114295" y="0"/>
                </a:moveTo>
                <a:lnTo>
                  <a:pt x="3587359" y="0"/>
                </a:lnTo>
                <a:cubicBezTo>
                  <a:pt x="3650482" y="0"/>
                  <a:pt x="3701653" y="51171"/>
                  <a:pt x="3701653" y="114295"/>
                </a:cubicBezTo>
                <a:lnTo>
                  <a:pt x="3701653" y="1110859"/>
                </a:lnTo>
                <a:cubicBezTo>
                  <a:pt x="3701653" y="1173982"/>
                  <a:pt x="3650482" y="1225153"/>
                  <a:pt x="3587359" y="1225153"/>
                </a:cubicBezTo>
                <a:lnTo>
                  <a:pt x="114295" y="1225153"/>
                </a:lnTo>
                <a:cubicBezTo>
                  <a:pt x="51214" y="1225153"/>
                  <a:pt x="0" y="1173939"/>
                  <a:pt x="0" y="111085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539316" y="18724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99306" y="194862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4542" y="192965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&amp; Autorisatie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316" y="2329625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Inloggen is niet genoeg. Elke gevoelige functie moet gekoppeld zijn aan de juiste rol.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3977" y="3062232"/>
            <a:ext cx="3701653" cy="1225153"/>
          </a:xfrm>
          <a:custGeom>
            <a:avLst/>
            <a:gdLst/>
            <a:ahLst/>
            <a:cxnLst/>
            <a:rect l="l" t="t" r="r" b="b"/>
            <a:pathLst>
              <a:path w="3701653" h="1225153">
                <a:moveTo>
                  <a:pt x="114295" y="0"/>
                </a:moveTo>
                <a:lnTo>
                  <a:pt x="3587359" y="0"/>
                </a:lnTo>
                <a:cubicBezTo>
                  <a:pt x="3650482" y="0"/>
                  <a:pt x="3701653" y="51171"/>
                  <a:pt x="3701653" y="114295"/>
                </a:cubicBezTo>
                <a:lnTo>
                  <a:pt x="3701653" y="1110859"/>
                </a:lnTo>
                <a:cubicBezTo>
                  <a:pt x="3701653" y="1173982"/>
                  <a:pt x="3650482" y="1225153"/>
                  <a:pt x="3587359" y="1225153"/>
                </a:cubicBezTo>
                <a:lnTo>
                  <a:pt x="114295" y="1225153"/>
                </a:lnTo>
                <a:cubicBezTo>
                  <a:pt x="51214" y="1225153"/>
                  <a:pt x="0" y="1173939"/>
                  <a:pt x="0" y="111085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539316" y="32175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685540" y="3293752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4542" y="3274777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Validatie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316" y="3674752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 invoer moet aan serverzijde worden gecontroleerd.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4764" y="1717104"/>
            <a:ext cx="3701653" cy="1225153"/>
          </a:xfrm>
          <a:custGeom>
            <a:avLst/>
            <a:gdLst/>
            <a:ahLst/>
            <a:cxnLst/>
            <a:rect l="l" t="t" r="r" b="b"/>
            <a:pathLst>
              <a:path w="3701653" h="1225153">
                <a:moveTo>
                  <a:pt x="114295" y="0"/>
                </a:moveTo>
                <a:lnTo>
                  <a:pt x="3587359" y="0"/>
                </a:lnTo>
                <a:cubicBezTo>
                  <a:pt x="3650482" y="0"/>
                  <a:pt x="3701653" y="51171"/>
                  <a:pt x="3701653" y="114295"/>
                </a:cubicBezTo>
                <a:lnTo>
                  <a:pt x="3701653" y="1110859"/>
                </a:lnTo>
                <a:cubicBezTo>
                  <a:pt x="3701653" y="1173982"/>
                  <a:pt x="3650482" y="1225153"/>
                  <a:pt x="3587359" y="1225153"/>
                </a:cubicBezTo>
                <a:lnTo>
                  <a:pt x="114295" y="1225153"/>
                </a:lnTo>
                <a:cubicBezTo>
                  <a:pt x="51214" y="1225153"/>
                  <a:pt x="0" y="1173939"/>
                  <a:pt x="0" y="111085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4400104" y="18724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4545583" y="19486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5329" y="19296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Secrets Management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0104" y="2329625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.env-bestand nooit in versiebeheer of publiek delen.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4764" y="3062232"/>
            <a:ext cx="3701653" cy="1225153"/>
          </a:xfrm>
          <a:custGeom>
            <a:avLst/>
            <a:gdLst/>
            <a:ahLst/>
            <a:cxnLst/>
            <a:rect l="l" t="t" r="r" b="b"/>
            <a:pathLst>
              <a:path w="3701653" h="1225153">
                <a:moveTo>
                  <a:pt x="114295" y="0"/>
                </a:moveTo>
                <a:lnTo>
                  <a:pt x="3587359" y="0"/>
                </a:lnTo>
                <a:cubicBezTo>
                  <a:pt x="3650482" y="0"/>
                  <a:pt x="3701653" y="51171"/>
                  <a:pt x="3701653" y="114295"/>
                </a:cubicBezTo>
                <a:lnTo>
                  <a:pt x="3701653" y="1110859"/>
                </a:lnTo>
                <a:cubicBezTo>
                  <a:pt x="3701653" y="1173982"/>
                  <a:pt x="3650482" y="1225153"/>
                  <a:pt x="3587359" y="1225153"/>
                </a:cubicBezTo>
                <a:lnTo>
                  <a:pt x="114295" y="1225153"/>
                </a:lnTo>
                <a:cubicBezTo>
                  <a:pt x="51214" y="1225153"/>
                  <a:pt x="0" y="1173939"/>
                  <a:pt x="0" y="111085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4400104" y="32175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4545676" y="3293752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5329" y="3274777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Veilige Foutafhandeling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0104" y="3674752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Geen technische details tonen die aanvallers helpen.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5552" y="1717104"/>
            <a:ext cx="3701653" cy="1225153"/>
          </a:xfrm>
          <a:custGeom>
            <a:avLst/>
            <a:gdLst/>
            <a:ahLst/>
            <a:cxnLst/>
            <a:rect l="l" t="t" r="r" b="b"/>
            <a:pathLst>
              <a:path w="3701653" h="1225153">
                <a:moveTo>
                  <a:pt x="114295" y="0"/>
                </a:moveTo>
                <a:lnTo>
                  <a:pt x="3587359" y="0"/>
                </a:lnTo>
                <a:cubicBezTo>
                  <a:pt x="3650482" y="0"/>
                  <a:pt x="3701653" y="51171"/>
                  <a:pt x="3701653" y="114295"/>
                </a:cubicBezTo>
                <a:lnTo>
                  <a:pt x="3701653" y="1110859"/>
                </a:lnTo>
                <a:cubicBezTo>
                  <a:pt x="3701653" y="1173982"/>
                  <a:pt x="3650482" y="1225153"/>
                  <a:pt x="3587359" y="1225153"/>
                </a:cubicBezTo>
                <a:lnTo>
                  <a:pt x="114295" y="1225153"/>
                </a:lnTo>
                <a:cubicBezTo>
                  <a:pt x="51214" y="1225153"/>
                  <a:pt x="0" y="1173939"/>
                  <a:pt x="0" y="111085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8260891" y="18724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8407487" y="19486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56117" y="192965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Beheer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60891" y="2329625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Externe packages controleren en periodiek updaten.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5552" y="3062232"/>
            <a:ext cx="3701653" cy="1225153"/>
          </a:xfrm>
          <a:custGeom>
            <a:avLst/>
            <a:gdLst/>
            <a:ahLst/>
            <a:cxnLst/>
            <a:rect l="l" t="t" r="r" b="b"/>
            <a:pathLst>
              <a:path w="3701653" h="1225153">
                <a:moveTo>
                  <a:pt x="114295" y="0"/>
                </a:moveTo>
                <a:lnTo>
                  <a:pt x="3587359" y="0"/>
                </a:lnTo>
                <a:cubicBezTo>
                  <a:pt x="3650482" y="0"/>
                  <a:pt x="3701653" y="51171"/>
                  <a:pt x="3701653" y="114295"/>
                </a:cubicBezTo>
                <a:lnTo>
                  <a:pt x="3701653" y="1110859"/>
                </a:lnTo>
                <a:cubicBezTo>
                  <a:pt x="3701653" y="1173982"/>
                  <a:pt x="3650482" y="1225153"/>
                  <a:pt x="3587359" y="1225153"/>
                </a:cubicBezTo>
                <a:lnTo>
                  <a:pt x="114295" y="1225153"/>
                </a:lnTo>
                <a:cubicBezTo>
                  <a:pt x="51214" y="1225153"/>
                  <a:pt x="0" y="1173939"/>
                  <a:pt x="0" y="111085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Shape 30"/>
          <p:cNvSpPr/>
          <p:nvPr/>
        </p:nvSpPr>
        <p:spPr>
          <a:xfrm>
            <a:off x="8260891" y="321757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8405813" y="3293752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56117" y="3274777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&amp; Review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60891" y="3674752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Belangrijke acties loggen en security meenemen in code reviews.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3977" y="4944535"/>
            <a:ext cx="5635228" cy="1529953"/>
          </a:xfrm>
          <a:custGeom>
            <a:avLst/>
            <a:gdLst/>
            <a:ahLst/>
            <a:cxnLst/>
            <a:rect l="l" t="t" r="r" b="b"/>
            <a:pathLst>
              <a:path w="5635228" h="1529953">
                <a:moveTo>
                  <a:pt x="114303" y="0"/>
                </a:moveTo>
                <a:lnTo>
                  <a:pt x="5520925" y="0"/>
                </a:lnTo>
                <a:cubicBezTo>
                  <a:pt x="5584053" y="0"/>
                  <a:pt x="5635228" y="51175"/>
                  <a:pt x="5635228" y="114303"/>
                </a:cubicBezTo>
                <a:lnTo>
                  <a:pt x="5635228" y="1415650"/>
                </a:lnTo>
                <a:cubicBezTo>
                  <a:pt x="5635228" y="1478778"/>
                  <a:pt x="5584053" y="1529953"/>
                  <a:pt x="5520925" y="1529953"/>
                </a:cubicBezTo>
                <a:lnTo>
                  <a:pt x="114303" y="1529953"/>
                </a:lnTo>
                <a:cubicBezTo>
                  <a:pt x="51175" y="1529953"/>
                  <a:pt x="0" y="1478778"/>
                  <a:pt x="0" y="1415650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7938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539316" y="509987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Meetbare Criteria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7891" y="551873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9" name="Text 37"/>
          <p:cNvSpPr/>
          <p:nvPr/>
        </p:nvSpPr>
        <p:spPr>
          <a:xfrm>
            <a:off x="805997" y="548068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gevoelige routes afgeschermd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7891" y="582345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1" name="Text 39"/>
          <p:cNvSpPr/>
          <p:nvPr/>
        </p:nvSpPr>
        <p:spPr>
          <a:xfrm>
            <a:off x="805997" y="5785414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formulieren met server-side validatie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7891" y="61281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3" name="Text 41"/>
          <p:cNvSpPr/>
          <p:nvPr/>
        </p:nvSpPr>
        <p:spPr>
          <a:xfrm>
            <a:off x="805997" y="609014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hardcoded secrets in codebase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5158" y="4944535"/>
            <a:ext cx="5635228" cy="1529953"/>
          </a:xfrm>
          <a:custGeom>
            <a:avLst/>
            <a:gdLst/>
            <a:ahLst/>
            <a:cxnLst/>
            <a:rect l="l" t="t" r="r" b="b"/>
            <a:pathLst>
              <a:path w="5635228" h="1529953">
                <a:moveTo>
                  <a:pt x="114303" y="0"/>
                </a:moveTo>
                <a:lnTo>
                  <a:pt x="5520925" y="0"/>
                </a:lnTo>
                <a:cubicBezTo>
                  <a:pt x="5584053" y="0"/>
                  <a:pt x="5635228" y="51175"/>
                  <a:pt x="5635228" y="114303"/>
                </a:cubicBezTo>
                <a:lnTo>
                  <a:pt x="5635228" y="1415650"/>
                </a:lnTo>
                <a:cubicBezTo>
                  <a:pt x="5635228" y="1478778"/>
                  <a:pt x="5584053" y="1529953"/>
                  <a:pt x="5520925" y="1529953"/>
                </a:cubicBezTo>
                <a:lnTo>
                  <a:pt x="114303" y="1529953"/>
                </a:lnTo>
                <a:cubicBezTo>
                  <a:pt x="51175" y="1529953"/>
                  <a:pt x="0" y="1478778"/>
                  <a:pt x="0" y="1415650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6330497" y="509987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Toepasbaarheid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9547" y="55187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7" name="Text 45"/>
          <p:cNvSpPr/>
          <p:nvPr/>
        </p:nvSpPr>
        <p:spPr>
          <a:xfrm>
            <a:off x="6597179" y="5480689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Elke PR krijgt security-check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9547" y="58234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9" name="Text 47"/>
          <p:cNvSpPr/>
          <p:nvPr/>
        </p:nvSpPr>
        <p:spPr>
          <a:xfrm>
            <a:off x="6597179" y="5785414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Secrets buiten gedeelde code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9547" y="61281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1" name="Text 49"/>
          <p:cNvSpPr/>
          <p:nvPr/>
        </p:nvSpPr>
        <p:spPr>
          <a:xfrm>
            <a:off x="6597179" y="609014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Periodieke dependency controle</a:t>
            </a:r>
            <a:endParaRPr lang="en-US" sz="1600" dirty="0"/>
          </a:p>
        </p:txBody>
      </p:sp>
      <p:pic>
        <p:nvPicPr>
          <p:cNvPr id="52" name="Afbeelding 51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6B98A459-46E6-1DDD-DE88-9A3A90CC2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8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Eindconclusie &amp; Verbeterpunten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14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383977" y="1374335"/>
            <a:ext cx="5616178" cy="3996928"/>
          </a:xfrm>
          <a:custGeom>
            <a:avLst/>
            <a:gdLst/>
            <a:ahLst/>
            <a:cxnLst/>
            <a:rect l="l" t="t" r="r" b="b"/>
            <a:pathLst>
              <a:path w="5616178" h="3996928">
                <a:moveTo>
                  <a:pt x="114312" y="0"/>
                </a:moveTo>
                <a:lnTo>
                  <a:pt x="5501866" y="0"/>
                </a:lnTo>
                <a:cubicBezTo>
                  <a:pt x="5564999" y="0"/>
                  <a:pt x="5616178" y="51179"/>
                  <a:pt x="5616178" y="114312"/>
                </a:cubicBezTo>
                <a:lnTo>
                  <a:pt x="5616178" y="3882616"/>
                </a:lnTo>
                <a:cubicBezTo>
                  <a:pt x="5616178" y="3945749"/>
                  <a:pt x="5564999" y="3996928"/>
                  <a:pt x="5501866" y="3996928"/>
                </a:cubicBezTo>
                <a:lnTo>
                  <a:pt x="114312" y="3996928"/>
                </a:lnTo>
                <a:cubicBezTo>
                  <a:pt x="51179" y="3996928"/>
                  <a:pt x="0" y="3945749"/>
                  <a:pt x="0" y="3882616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15497" y="1605855"/>
            <a:ext cx="526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Huidige Status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5497" y="20630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739322" y="217735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1110723" y="2063037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Goede Basis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0723" y="2367669"/>
            <a:ext cx="4733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Factory heeft een bruikbare basis voor veilige softwareontwikkeling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497" y="2980097"/>
            <a:ext cx="5153025" cy="5953"/>
          </a:xfrm>
          <a:custGeom>
            <a:avLst/>
            <a:gdLst/>
            <a:ahLst/>
            <a:cxnLst/>
            <a:rect l="l" t="t" r="r" b="b"/>
            <a:pathLst>
              <a:path w="5153025" h="5953">
                <a:moveTo>
                  <a:pt x="0" y="0"/>
                </a:moveTo>
                <a:lnTo>
                  <a:pt x="5153025" y="0"/>
                </a:lnTo>
                <a:lnTo>
                  <a:pt x="5153025" y="5953"/>
                </a:lnTo>
                <a:lnTo>
                  <a:pt x="0" y="595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15497" y="3135437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Sterke Punten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4547" y="35542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882179" y="35162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Authenticatie systeem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4547" y="3859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882179" y="3820976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Rolgebaseerde toegang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4547" y="41637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882179" y="4125702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verwerking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4227" y="1374335"/>
            <a:ext cx="5616178" cy="3996928"/>
          </a:xfrm>
          <a:custGeom>
            <a:avLst/>
            <a:gdLst/>
            <a:ahLst/>
            <a:cxnLst/>
            <a:rect l="l" t="t" r="r" b="b"/>
            <a:pathLst>
              <a:path w="5616178" h="3996928">
                <a:moveTo>
                  <a:pt x="114312" y="0"/>
                </a:moveTo>
                <a:lnTo>
                  <a:pt x="5501866" y="0"/>
                </a:lnTo>
                <a:cubicBezTo>
                  <a:pt x="5564999" y="0"/>
                  <a:pt x="5616178" y="51179"/>
                  <a:pt x="5616178" y="114312"/>
                </a:cubicBezTo>
                <a:lnTo>
                  <a:pt x="5616178" y="3882616"/>
                </a:lnTo>
                <a:cubicBezTo>
                  <a:pt x="5616178" y="3945749"/>
                  <a:pt x="5564999" y="3996928"/>
                  <a:pt x="5501866" y="3996928"/>
                </a:cubicBezTo>
                <a:lnTo>
                  <a:pt x="114312" y="3996928"/>
                </a:lnTo>
                <a:cubicBezTo>
                  <a:pt x="51179" y="3996928"/>
                  <a:pt x="0" y="3945749"/>
                  <a:pt x="0" y="3882616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solidFill>
            <a:srgbClr val="262626"/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6425747" y="1605855"/>
            <a:ext cx="526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Verbeterpunten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25747" y="2101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6551414" y="2158194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44698" y="2063037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Expliciete security requirements vastleggen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5747" y="255807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6539322" y="2615189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44698" y="2520032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en monitoring implementeren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5747" y="301507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6538764" y="307218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44698" y="2977028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Secrets management verbeteren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25747" y="34720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6538764" y="352918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4698" y="3434023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Defense-in-depth toepassen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5747" y="39290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6539694" y="398617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44698" y="3891018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Structureel security onderhoud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3977" y="5530081"/>
            <a:ext cx="11426428" cy="939403"/>
          </a:xfrm>
          <a:custGeom>
            <a:avLst/>
            <a:gdLst/>
            <a:ahLst/>
            <a:cxnLst/>
            <a:rect l="l" t="t" r="r" b="b"/>
            <a:pathLst>
              <a:path w="11426428" h="939403">
                <a:moveTo>
                  <a:pt x="114297" y="0"/>
                </a:moveTo>
                <a:lnTo>
                  <a:pt x="11312131" y="0"/>
                </a:lnTo>
                <a:cubicBezTo>
                  <a:pt x="11375256" y="0"/>
                  <a:pt x="11426428" y="51173"/>
                  <a:pt x="11426428" y="114297"/>
                </a:cubicBezTo>
                <a:lnTo>
                  <a:pt x="11426428" y="825106"/>
                </a:lnTo>
                <a:cubicBezTo>
                  <a:pt x="11426428" y="888231"/>
                  <a:pt x="11375256" y="939403"/>
                  <a:pt x="11312131" y="939403"/>
                </a:cubicBezTo>
                <a:lnTo>
                  <a:pt x="114297" y="939403"/>
                </a:lnTo>
                <a:cubicBezTo>
                  <a:pt x="51215" y="939403"/>
                  <a:pt x="0" y="888188"/>
                  <a:pt x="0" y="825106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7938">
            <a:solidFill>
              <a:srgbClr val="6366F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Shape 35"/>
          <p:cNvSpPr/>
          <p:nvPr/>
        </p:nvSpPr>
        <p:spPr>
          <a:xfrm>
            <a:off x="611981" y="577118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853678" y="5723558"/>
            <a:ext cx="108489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Reflectie: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Veilige softwareontwikkeling is een combinatie van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techniek, proces en bewustzijn</a:t>
            </a: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Security moet vanaf het ontwerp worden meegenomen, niet pas achteraf. Deze workshop laat zien waar de basis al goed is en waar verdere professionalisering nodig is.</a:t>
            </a:r>
            <a:endParaRPr lang="en-US" sz="1600" dirty="0"/>
          </a:p>
        </p:txBody>
      </p:sp>
      <p:pic>
        <p:nvPicPr>
          <p:cNvPr id="39" name="Afbeelding 38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82D48003-25DA-0AE0-945C-BA86C40C5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e89d05312578cd0453e6125b480b77af581416f7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9621" b="96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95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1"/>
          <p:cNvSpPr/>
          <p:nvPr/>
        </p:nvSpPr>
        <p:spPr>
          <a:xfrm>
            <a:off x="2642071" y="2388598"/>
            <a:ext cx="6905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Bedankt voor uw aandacht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363" y="318864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Shape 3"/>
          <p:cNvSpPr/>
          <p:nvPr/>
        </p:nvSpPr>
        <p:spPr>
          <a:xfrm>
            <a:off x="4433683" y="3534389"/>
            <a:ext cx="3320653" cy="1568053"/>
          </a:xfrm>
          <a:custGeom>
            <a:avLst/>
            <a:gdLst/>
            <a:ahLst/>
            <a:cxnLst/>
            <a:rect l="l" t="t" r="r" b="b"/>
            <a:pathLst>
              <a:path w="3320653" h="1568053">
                <a:moveTo>
                  <a:pt x="152399" y="0"/>
                </a:moveTo>
                <a:lnTo>
                  <a:pt x="3168254" y="0"/>
                </a:lnTo>
                <a:cubicBezTo>
                  <a:pt x="3252422" y="0"/>
                  <a:pt x="3320653" y="68231"/>
                  <a:pt x="3320653" y="152399"/>
                </a:cubicBezTo>
                <a:lnTo>
                  <a:pt x="3320653" y="1415654"/>
                </a:lnTo>
                <a:cubicBezTo>
                  <a:pt x="3320653" y="1499822"/>
                  <a:pt x="3252422" y="1568053"/>
                  <a:pt x="3168254" y="1568053"/>
                </a:cubicBezTo>
                <a:lnTo>
                  <a:pt x="152399" y="1568053"/>
                </a:lnTo>
                <a:cubicBezTo>
                  <a:pt x="68231" y="1568053"/>
                  <a:pt x="0" y="1499822"/>
                  <a:pt x="0" y="1415654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4"/>
          <p:cNvSpPr/>
          <p:nvPr/>
        </p:nvSpPr>
        <p:spPr>
          <a:xfrm>
            <a:off x="4760509" y="376591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Vragen?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817659" y="42992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6"/>
          <p:cNvSpPr/>
          <p:nvPr/>
        </p:nvSpPr>
        <p:spPr>
          <a:xfrm>
            <a:off x="4998486" y="4223091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Groep 10 – Firewall Force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260115" y="429927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8"/>
          <p:cNvSpPr/>
          <p:nvPr/>
        </p:nvSpPr>
        <p:spPr>
          <a:xfrm>
            <a:off x="4774797" y="4603998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Bavli • Jonas • Lucas • Vo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141050" y="5489060"/>
            <a:ext cx="1501378" cy="425053"/>
          </a:xfrm>
          <a:custGeom>
            <a:avLst/>
            <a:gdLst/>
            <a:ahLst/>
            <a:cxnLst/>
            <a:rect l="l" t="t" r="r" b="b"/>
            <a:pathLst>
              <a:path w="1501378" h="425053">
                <a:moveTo>
                  <a:pt x="76199" y="0"/>
                </a:moveTo>
                <a:lnTo>
                  <a:pt x="1425179" y="0"/>
                </a:lnTo>
                <a:cubicBezTo>
                  <a:pt x="1467263" y="0"/>
                  <a:pt x="1501378" y="34116"/>
                  <a:pt x="1501378" y="76199"/>
                </a:cubicBezTo>
                <a:lnTo>
                  <a:pt x="1501378" y="348854"/>
                </a:lnTo>
                <a:cubicBezTo>
                  <a:pt x="1501378" y="390938"/>
                  <a:pt x="1467263" y="425053"/>
                  <a:pt x="1425179" y="425053"/>
                </a:cubicBezTo>
                <a:lnTo>
                  <a:pt x="76199" y="425053"/>
                </a:lnTo>
                <a:cubicBezTo>
                  <a:pt x="34144" y="425053"/>
                  <a:pt x="0" y="390909"/>
                  <a:pt x="0" y="348854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262626">
              <a:alpha val="60000"/>
            </a:srgbClr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0"/>
          <p:cNvSpPr/>
          <p:nvPr/>
        </p:nvSpPr>
        <p:spPr>
          <a:xfrm>
            <a:off x="4339233" y="5606262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WS2.3 Workshop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797135" y="5489060"/>
            <a:ext cx="2253853" cy="425053"/>
          </a:xfrm>
          <a:custGeom>
            <a:avLst/>
            <a:gdLst/>
            <a:ahLst/>
            <a:cxnLst/>
            <a:rect l="l" t="t" r="r" b="b"/>
            <a:pathLst>
              <a:path w="2253853" h="425053">
                <a:moveTo>
                  <a:pt x="76199" y="0"/>
                </a:moveTo>
                <a:lnTo>
                  <a:pt x="2177654" y="0"/>
                </a:lnTo>
                <a:cubicBezTo>
                  <a:pt x="2219738" y="0"/>
                  <a:pt x="2253853" y="34116"/>
                  <a:pt x="2253853" y="76199"/>
                </a:cubicBezTo>
                <a:lnTo>
                  <a:pt x="2253853" y="348854"/>
                </a:lnTo>
                <a:cubicBezTo>
                  <a:pt x="2253853" y="390938"/>
                  <a:pt x="2219738" y="425053"/>
                  <a:pt x="2177654" y="425053"/>
                </a:cubicBezTo>
                <a:lnTo>
                  <a:pt x="76199" y="425053"/>
                </a:lnTo>
                <a:cubicBezTo>
                  <a:pt x="34144" y="425053"/>
                  <a:pt x="0" y="390909"/>
                  <a:pt x="0" y="348854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262626">
              <a:alpha val="60000"/>
            </a:srgbClr>
          </a:solidFill>
          <a:ln w="793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2"/>
          <p:cNvSpPr/>
          <p:nvPr/>
        </p:nvSpPr>
        <p:spPr>
          <a:xfrm>
            <a:off x="5995318" y="5606262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Software Development</a:t>
            </a:r>
            <a:endParaRPr lang="en-US" sz="1600" dirty="0"/>
          </a:p>
        </p:txBody>
      </p:sp>
      <p:pic>
        <p:nvPicPr>
          <p:cNvPr id="17" name="Afbeelding 16" descr="Afbeelding met symbool, logo, embleem, tekst&#10;&#10;Door AI gegenereerde inhoud is mogelijk onjuist.">
            <a:extLst>
              <a:ext uri="{FF2B5EF4-FFF2-40B4-BE49-F238E27FC236}">
                <a16:creationId xmlns:a16="http://schemas.microsoft.com/office/drawing/2014/main" id="{BFD58897-2489-4B32-7A3B-73AF0B0B4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674" y="-165400"/>
            <a:ext cx="1717639" cy="17176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c50b58-2ef2-423d-a4db-1fa7c84efcfa}" enabled="0" method="" siteId="{87c50b58-2ef2-423d-a4db-1fa7c84efcf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972</Words>
  <Application>Microsoft Office PowerPoint</Application>
  <PresentationFormat>Breedbeeld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5" baseType="lpstr">
      <vt:lpstr>Liter</vt:lpstr>
      <vt:lpstr>Arial</vt:lpstr>
      <vt:lpstr>Custom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WS2.3 – Secure Software Development</dc:title>
  <dc:subject>WS2.3 – Secure Software Development</dc:subject>
  <dc:creator>Kimi</dc:creator>
  <cp:lastModifiedBy>Bavli Armanyous</cp:lastModifiedBy>
  <cp:revision>1</cp:revision>
  <dcterms:created xsi:type="dcterms:W3CDTF">2026-03-14T20:36:50Z</dcterms:created>
  <dcterms:modified xsi:type="dcterms:W3CDTF">2026-03-14T20:39:33Z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{"Label":"WS2.3 – Secure Software Development","ContentProducer":"001191110108MACG2KBH8F10000","ProduceID":"19cee0fd-0ee2-8ab5-8000-0000fa94b75b","ReservedCode1":"","ContentPropagator":"001191110108MACG2KBH8F20000","PropagateID":"19cee0fd-0ee2-8ab5-8000-0000fa94b75b","ReservedCode2":""}</vt:lpwstr>
  </property>
</Properties>
</file>