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7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微软雅黑" panose="020B0503020204020204" pitchFamily="34" charset="-122"/>
      <p:regular r:id="rId11"/>
      <p:bold r:id="rId12"/>
    </p:embeddedFont>
    <p:embeddedFont>
      <p:font typeface="MiSans" panose="020B0604020202020204" charset="-122"/>
      <p:regular r:id="rId13"/>
    </p:embeddedFont>
    <p:embeddedFont>
      <p:font typeface="Noto Sans SC" panose="020B0604020202020204" charset="-128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975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54202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1246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4850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3313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072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11973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5346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5726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5995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6361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2863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911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‹nr.›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53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47675" y="2146102"/>
            <a:ext cx="11296650" cy="800100"/>
          </a:xfrm>
          <a:prstGeom prst="rect">
            <a:avLst/>
          </a:prstGeom>
          <a:noFill/>
          <a:ln/>
        </p:spPr>
        <p:txBody>
          <a:bodyPr wrap="square" lIns="0" tIns="0" rIns="0" bIns="142875" rtlCol="0" anchor="ctr"/>
          <a:lstStyle/>
          <a:p>
            <a:pPr algn="ctr"/>
            <a:r>
              <a:rPr lang="en-US" sz="3900" b="1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Kwetsbaarheden</a:t>
            </a:r>
            <a:r>
              <a:rPr lang="en-US" sz="3900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3900" b="1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Onderzoek</a:t>
            </a:r>
            <a:r>
              <a:rPr lang="en-US" sz="3900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2024-2025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4350" y="3422452"/>
            <a:ext cx="11163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 Management | Structured Output | Race Conditions | API Vulnerabilities | Side-Channel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28638" y="4597747"/>
            <a:ext cx="111347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>
                <a:latin typeface="MiSans" pitchFamily="34" charset="0"/>
                <a:ea typeface="MiSans" pitchFamily="34" charset="-122"/>
                <a:cs typeface="MiSans" pitchFamily="34" charset="-120"/>
              </a:rPr>
              <a:t>Onderzoek naar recente CVE's uit 2024-2025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47413" y="1018279"/>
            <a:ext cx="11073468" cy="27963"/>
          </a:xfrm>
          <a:custGeom>
            <a:avLst/>
            <a:gdLst/>
            <a:ahLst/>
            <a:cxnLst/>
            <a:rect l="l" t="t" r="r" b="b"/>
            <a:pathLst>
              <a:path w="11073468" h="27963">
                <a:moveTo>
                  <a:pt x="0" y="0"/>
                </a:moveTo>
                <a:lnTo>
                  <a:pt x="11073468" y="0"/>
                </a:lnTo>
                <a:lnTo>
                  <a:pt x="11073468" y="27963"/>
                </a:lnTo>
                <a:lnTo>
                  <a:pt x="0" y="279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447413" y="342499"/>
            <a:ext cx="11269211" cy="585001"/>
          </a:xfrm>
          <a:prstGeom prst="rect">
            <a:avLst/>
          </a:prstGeom>
          <a:noFill/>
          <a:ln/>
        </p:spPr>
        <p:txBody>
          <a:bodyPr wrap="square" lIns="0" tIns="0" rIns="0" bIns="139817" rtlCol="0" anchor="ctr"/>
          <a:lstStyle/>
          <a:p>
            <a:r>
              <a:rPr lang="en-US" sz="3083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Memory Management Kwetsbaarheden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6055" y="1451710"/>
            <a:ext cx="5378275" cy="4250422"/>
          </a:xfrm>
          <a:custGeom>
            <a:avLst/>
            <a:gdLst/>
            <a:ahLst/>
            <a:cxnLst/>
            <a:rect l="l" t="t" r="r" b="b"/>
            <a:pathLst>
              <a:path w="5378275" h="4250422">
                <a:moveTo>
                  <a:pt x="0" y="0"/>
                </a:moveTo>
                <a:lnTo>
                  <a:pt x="5303723" y="0"/>
                </a:lnTo>
                <a:cubicBezTo>
                  <a:pt x="5344897" y="0"/>
                  <a:pt x="5378275" y="33378"/>
                  <a:pt x="5378275" y="74552"/>
                </a:cubicBezTo>
                <a:lnTo>
                  <a:pt x="5378275" y="4175870"/>
                </a:lnTo>
                <a:cubicBezTo>
                  <a:pt x="5378275" y="4217044"/>
                  <a:pt x="5344897" y="4250422"/>
                  <a:pt x="5303723" y="4250422"/>
                </a:cubicBezTo>
                <a:lnTo>
                  <a:pt x="0" y="42504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466055" y="1451710"/>
            <a:ext cx="37284" cy="4250422"/>
          </a:xfrm>
          <a:custGeom>
            <a:avLst/>
            <a:gdLst/>
            <a:ahLst/>
            <a:cxnLst/>
            <a:rect l="l" t="t" r="r" b="b"/>
            <a:pathLst>
              <a:path w="37284" h="4250422">
                <a:moveTo>
                  <a:pt x="0" y="0"/>
                </a:moveTo>
                <a:lnTo>
                  <a:pt x="37284" y="0"/>
                </a:lnTo>
                <a:lnTo>
                  <a:pt x="37284" y="4250422"/>
                </a:lnTo>
                <a:lnTo>
                  <a:pt x="0" y="42504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671119" y="1815233"/>
            <a:ext cx="5098642" cy="32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1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CVE-2025-24085 </a:t>
            </a:r>
            <a:r>
              <a:rPr lang="en-US" sz="1174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CVSS 7.8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1119" y="2309251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Product: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Apple Core Media (iOS, iPadOS, macOS)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1119" y="2745450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Type: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Use-After-Free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1119" y="3181648"/>
            <a:ext cx="5070679" cy="80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Uitleg: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Geheugen wordt vrijgegeven maar er blijft een verwijzing bestaan. Een kwaadaardige app kan dit gebruiken om privileges te verhogen.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1119" y="4154684"/>
            <a:ext cx="5070679" cy="80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Exploitatie: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Actief misbruikt in het wild tegen iOS &lt; 17.2. Een malafide app manipuleert het vrijgegeven geheugen om code uit te voeren met verhoogde rechten.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1119" y="5127719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CVSS Vector: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CVSS:3.1/AV:L/AC:L/PR:N/UI:R/S:U/C:H/I:H/A:H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44645" y="1451710"/>
            <a:ext cx="5378275" cy="3784367"/>
          </a:xfrm>
          <a:custGeom>
            <a:avLst/>
            <a:gdLst/>
            <a:ahLst/>
            <a:cxnLst/>
            <a:rect l="l" t="t" r="r" b="b"/>
            <a:pathLst>
              <a:path w="5378275" h="3784367">
                <a:moveTo>
                  <a:pt x="0" y="0"/>
                </a:moveTo>
                <a:lnTo>
                  <a:pt x="5303723" y="0"/>
                </a:lnTo>
                <a:cubicBezTo>
                  <a:pt x="5344897" y="0"/>
                  <a:pt x="5378275" y="33378"/>
                  <a:pt x="5378275" y="74552"/>
                </a:cubicBezTo>
                <a:lnTo>
                  <a:pt x="5378275" y="3709815"/>
                </a:lnTo>
                <a:cubicBezTo>
                  <a:pt x="5378275" y="3750989"/>
                  <a:pt x="5344897" y="3784367"/>
                  <a:pt x="5303723" y="3784367"/>
                </a:cubicBezTo>
                <a:lnTo>
                  <a:pt x="0" y="37843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6144645" y="1451710"/>
            <a:ext cx="37284" cy="3784367"/>
          </a:xfrm>
          <a:custGeom>
            <a:avLst/>
            <a:gdLst/>
            <a:ahLst/>
            <a:cxnLst/>
            <a:rect l="l" t="t" r="r" b="b"/>
            <a:pathLst>
              <a:path w="37284" h="3784367">
                <a:moveTo>
                  <a:pt x="0" y="0"/>
                </a:moveTo>
                <a:lnTo>
                  <a:pt x="37284" y="0"/>
                </a:lnTo>
                <a:lnTo>
                  <a:pt x="37284" y="3784367"/>
                </a:lnTo>
                <a:lnTo>
                  <a:pt x="0" y="37843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6349709" y="1815233"/>
            <a:ext cx="5098642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1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CVE-2025-49711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9709" y="2281288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Product: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Microsoft Office Excel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49709" y="2717486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Type: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Use-After-Free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9709" y="3153685"/>
            <a:ext cx="5070679" cy="80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Uitleg: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Onjuist geheugenbeheer bij het verwerken van Excel-bestanden. Het programma gebruikt geheugen dat al is vrijgegeven.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9709" y="4126720"/>
            <a:ext cx="5070679" cy="80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Exploitatie: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Een aanvaller kan een speciaal gemaakt Excel-bestand sturen. Wanneer de gebruiker dit opent, kan de aanvaller willekeurige code uitvoeren op het systeem.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7413" y="5782515"/>
            <a:ext cx="11157358" cy="54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Waarom deze categorie: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Beide kwetsbaarheden ontstaan door fouten in het beheren van geheugen - het incorrect vrijgeven en hergebruiken van geheugenlocaties (CWE-416).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61394" y="1022546"/>
            <a:ext cx="11073468" cy="27963"/>
          </a:xfrm>
          <a:custGeom>
            <a:avLst/>
            <a:gdLst/>
            <a:ahLst/>
            <a:cxnLst/>
            <a:rect l="l" t="t" r="r" b="b"/>
            <a:pathLst>
              <a:path w="11073468" h="27963">
                <a:moveTo>
                  <a:pt x="0" y="0"/>
                </a:moveTo>
                <a:lnTo>
                  <a:pt x="11073468" y="0"/>
                </a:lnTo>
                <a:lnTo>
                  <a:pt x="11073468" y="27963"/>
                </a:lnTo>
                <a:lnTo>
                  <a:pt x="0" y="279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461394" y="346766"/>
            <a:ext cx="11269211" cy="576468"/>
          </a:xfrm>
          <a:prstGeom prst="rect">
            <a:avLst/>
          </a:prstGeom>
          <a:noFill/>
          <a:ln/>
        </p:spPr>
        <p:txBody>
          <a:bodyPr wrap="square" lIns="0" tIns="0" rIns="0" bIns="139817" rtlCol="0" anchor="ctr"/>
          <a:lstStyle/>
          <a:p>
            <a:r>
              <a:rPr lang="en-US" sz="3083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Structured Output Kwetsbaarheden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0036" y="1455977"/>
            <a:ext cx="5378275" cy="4250422"/>
          </a:xfrm>
          <a:custGeom>
            <a:avLst/>
            <a:gdLst/>
            <a:ahLst/>
            <a:cxnLst/>
            <a:rect l="l" t="t" r="r" b="b"/>
            <a:pathLst>
              <a:path w="5378275" h="4250422">
                <a:moveTo>
                  <a:pt x="0" y="0"/>
                </a:moveTo>
                <a:lnTo>
                  <a:pt x="5303723" y="0"/>
                </a:lnTo>
                <a:cubicBezTo>
                  <a:pt x="5344897" y="0"/>
                  <a:pt x="5378275" y="33378"/>
                  <a:pt x="5378275" y="74552"/>
                </a:cubicBezTo>
                <a:lnTo>
                  <a:pt x="5378275" y="4175870"/>
                </a:lnTo>
                <a:cubicBezTo>
                  <a:pt x="5378275" y="4217044"/>
                  <a:pt x="5344897" y="4250422"/>
                  <a:pt x="5303723" y="4250422"/>
                </a:cubicBezTo>
                <a:lnTo>
                  <a:pt x="0" y="42504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480036" y="1455977"/>
            <a:ext cx="37284" cy="4250422"/>
          </a:xfrm>
          <a:custGeom>
            <a:avLst/>
            <a:gdLst/>
            <a:ahLst/>
            <a:cxnLst/>
            <a:rect l="l" t="t" r="r" b="b"/>
            <a:pathLst>
              <a:path w="37284" h="4250422">
                <a:moveTo>
                  <a:pt x="0" y="0"/>
                </a:moveTo>
                <a:lnTo>
                  <a:pt x="37284" y="0"/>
                </a:lnTo>
                <a:lnTo>
                  <a:pt x="37284" y="4250422"/>
                </a:lnTo>
                <a:lnTo>
                  <a:pt x="0" y="42504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685100" y="1819500"/>
            <a:ext cx="5098642" cy="32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1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CVE-2024-29510 </a:t>
            </a:r>
            <a:r>
              <a:rPr lang="en-US" sz="1174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CVSS 6.3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100" y="2313518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Product: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Artifex Ghostscript &lt; 10.03.1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100" y="2749717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Type: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Format String Injection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100" y="3185915"/>
            <a:ext cx="5070679" cy="80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Uitleg: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Gebruiker-invoer wordt direct doorgegeven als format string naar printf-achtige functies, waardoor geheugencorruptie ontstaat.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100" y="4158951"/>
            <a:ext cx="5070679" cy="80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Exploitatie: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Een aanvaller injecteert format specifiers (zoals %s, %n) via een speciaal gemaakt bestand. Dit omzeilt de SAFER sandbox en voert willekeurige commando's uit.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100" y="5131986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CVSS Vector: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CVSS:3.1/AV:L/AC:L/PR:N/UI:R/S:C/C:H/I:N/A:N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58626" y="1455977"/>
            <a:ext cx="5378275" cy="3812330"/>
          </a:xfrm>
          <a:custGeom>
            <a:avLst/>
            <a:gdLst/>
            <a:ahLst/>
            <a:cxnLst/>
            <a:rect l="l" t="t" r="r" b="b"/>
            <a:pathLst>
              <a:path w="5378275" h="3812330">
                <a:moveTo>
                  <a:pt x="0" y="0"/>
                </a:moveTo>
                <a:lnTo>
                  <a:pt x="5303706" y="0"/>
                </a:lnTo>
                <a:cubicBezTo>
                  <a:pt x="5344889" y="0"/>
                  <a:pt x="5378275" y="33386"/>
                  <a:pt x="5378275" y="74569"/>
                </a:cubicBezTo>
                <a:lnTo>
                  <a:pt x="5378275" y="3737761"/>
                </a:lnTo>
                <a:cubicBezTo>
                  <a:pt x="5378275" y="3778945"/>
                  <a:pt x="5344889" y="3812330"/>
                  <a:pt x="5303706" y="3812330"/>
                </a:cubicBezTo>
                <a:lnTo>
                  <a:pt x="0" y="38123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6158626" y="1455977"/>
            <a:ext cx="37284" cy="3812330"/>
          </a:xfrm>
          <a:custGeom>
            <a:avLst/>
            <a:gdLst/>
            <a:ahLst/>
            <a:cxnLst/>
            <a:rect l="l" t="t" r="r" b="b"/>
            <a:pathLst>
              <a:path w="37284" h="3812330">
                <a:moveTo>
                  <a:pt x="0" y="0"/>
                </a:moveTo>
                <a:lnTo>
                  <a:pt x="37284" y="0"/>
                </a:lnTo>
                <a:lnTo>
                  <a:pt x="37284" y="3812330"/>
                </a:lnTo>
                <a:lnTo>
                  <a:pt x="0" y="38123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6363690" y="1819500"/>
            <a:ext cx="5098642" cy="32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1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CVE-2024-36522 </a:t>
            </a:r>
            <a:r>
              <a:rPr lang="en-US" sz="1174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CVSS 9.8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3690" y="2313518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Product: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Apache Wicket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63690" y="2749717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Type: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XSLT Injection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3690" y="3185915"/>
            <a:ext cx="5070679" cy="80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Uitleg: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De XSLTResourceStream.java verwerkt onvertrouwde invoer zonder validatie, waardoor kwaadaardige XSLT-code kan worden geinjecteerd.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63690" y="4158951"/>
            <a:ext cx="5070679" cy="80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Exploitatie: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Een aanvaller injecteert XSLT-code die server-side commando's kan uitvoeren. Dit geeft volledige controle over de webapplicatie.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1394" y="5795315"/>
            <a:ext cx="11157358" cy="54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Waarom deze categorie: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Beide kwetsbaarheden betreffen het manipuleren van gestructureerde output (format strings en XSLT) om ongeautoriseerde acties uit te voeren (CWE-134, CWE-74).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37882" y="906979"/>
            <a:ext cx="11116235" cy="26894"/>
          </a:xfrm>
          <a:custGeom>
            <a:avLst/>
            <a:gdLst/>
            <a:ahLst/>
            <a:cxnLst/>
            <a:rect l="l" t="t" r="r" b="b"/>
            <a:pathLst>
              <a:path w="11116235" h="26894">
                <a:moveTo>
                  <a:pt x="0" y="0"/>
                </a:moveTo>
                <a:lnTo>
                  <a:pt x="11116235" y="0"/>
                </a:lnTo>
                <a:lnTo>
                  <a:pt x="11116235" y="26894"/>
                </a:lnTo>
                <a:lnTo>
                  <a:pt x="0" y="268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37882" y="257038"/>
            <a:ext cx="11304494" cy="576763"/>
          </a:xfrm>
          <a:prstGeom prst="rect">
            <a:avLst/>
          </a:prstGeom>
          <a:noFill/>
          <a:ln/>
        </p:spPr>
        <p:txBody>
          <a:bodyPr wrap="square" lIns="0" tIns="0" rIns="0" bIns="134471" rtlCol="0" anchor="ctr"/>
          <a:lstStyle/>
          <a:p>
            <a:r>
              <a:rPr lang="en-US" sz="2965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Race Conditions Kwetsbaarheden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5812" y="1432530"/>
            <a:ext cx="5405718" cy="4347882"/>
          </a:xfrm>
          <a:custGeom>
            <a:avLst/>
            <a:gdLst/>
            <a:ahLst/>
            <a:cxnLst/>
            <a:rect l="l" t="t" r="r" b="b"/>
            <a:pathLst>
              <a:path w="5405718" h="4347882">
                <a:moveTo>
                  <a:pt x="0" y="0"/>
                </a:moveTo>
                <a:lnTo>
                  <a:pt x="5334021" y="0"/>
                </a:lnTo>
                <a:cubicBezTo>
                  <a:pt x="5373618" y="0"/>
                  <a:pt x="5405718" y="32100"/>
                  <a:pt x="5405718" y="71697"/>
                </a:cubicBezTo>
                <a:lnTo>
                  <a:pt x="5405718" y="4276186"/>
                </a:lnTo>
                <a:cubicBezTo>
                  <a:pt x="5405718" y="4315783"/>
                  <a:pt x="5373618" y="4347882"/>
                  <a:pt x="5334021" y="4347882"/>
                </a:cubicBezTo>
                <a:lnTo>
                  <a:pt x="0" y="43478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555812" y="1323838"/>
            <a:ext cx="35859" cy="4347882"/>
          </a:xfrm>
          <a:custGeom>
            <a:avLst/>
            <a:gdLst/>
            <a:ahLst/>
            <a:cxnLst/>
            <a:rect l="l" t="t" r="r" b="b"/>
            <a:pathLst>
              <a:path w="35859" h="4347882">
                <a:moveTo>
                  <a:pt x="0" y="0"/>
                </a:moveTo>
                <a:lnTo>
                  <a:pt x="35859" y="0"/>
                </a:lnTo>
                <a:lnTo>
                  <a:pt x="35859" y="4347882"/>
                </a:lnTo>
                <a:lnTo>
                  <a:pt x="0" y="43478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753035" y="1790215"/>
            <a:ext cx="5136776" cy="313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94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CVE-2024-50379 </a:t>
            </a:r>
            <a:r>
              <a:rPr lang="en-US" sz="1129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CVSS 9.8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3035" y="2148591"/>
            <a:ext cx="5109882" cy="25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Product:</a:t>
            </a:r>
            <a:r>
              <a:rPr lang="en-US" sz="1271" dirty="0">
                <a:latin typeface="MiSans" pitchFamily="34" charset="0"/>
                <a:ea typeface="MiSans" pitchFamily="34" charset="-122"/>
                <a:cs typeface="MiSans" pitchFamily="34" charset="-120"/>
              </a:rPr>
              <a:t> Apache Tomcat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3035" y="2568111"/>
            <a:ext cx="5109882" cy="25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Type:</a:t>
            </a:r>
            <a:r>
              <a:rPr lang="en-US" sz="1271" dirty="0">
                <a:latin typeface="MiSans" pitchFamily="34" charset="0"/>
                <a:ea typeface="MiSans" pitchFamily="34" charset="-122"/>
                <a:cs typeface="MiSans" pitchFamily="34" charset="-120"/>
              </a:rPr>
              <a:t> TOCTOU Race Condition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3035" y="2987631"/>
            <a:ext cx="5109882" cy="77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Uitleg:</a:t>
            </a:r>
            <a:r>
              <a:rPr lang="en-US" sz="1271" dirty="0">
                <a:latin typeface="MiSans" pitchFamily="34" charset="0"/>
                <a:ea typeface="MiSans" pitchFamily="34" charset="-122"/>
                <a:cs typeface="MiSans" pitchFamily="34" charset="-120"/>
              </a:rPr>
              <a:t> Time-of-check Time-of-use probleem tijdens JSP-compilatie. De status van een bron wordt gecontroleerd, maar kan veranderen voor het gebruik.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3035" y="3923462"/>
            <a:ext cx="5109882" cy="103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Exploitatie:</a:t>
            </a:r>
            <a:r>
              <a:rPr lang="en-US" sz="1271" dirty="0">
                <a:latin typeface="MiSans" pitchFamily="34" charset="0"/>
                <a:ea typeface="MiSans" pitchFamily="34" charset="-122"/>
                <a:cs typeface="MiSans" pitchFamily="34" charset="-120"/>
              </a:rPr>
              <a:t> Een aanvaller uploadt een JSP-bestand en vervangt het door een symlink tussen de check en het gebruik. Hierdoor kan willekeurige code worden uitgevoerd op case-insensitive bestandssystemen.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3035" y="5117449"/>
            <a:ext cx="5109882" cy="25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CVSS Vector:</a:t>
            </a:r>
            <a:r>
              <a:rPr lang="en-US" sz="1271" dirty="0">
                <a:latin typeface="MiSans" pitchFamily="34" charset="0"/>
                <a:ea typeface="MiSans" pitchFamily="34" charset="-122"/>
                <a:cs typeface="MiSans" pitchFamily="34" charset="-120"/>
              </a:rPr>
              <a:t> CVSS:3.1/AV:N/AC:L/PR:N/UI:N/S:U/C:H/I:H/A:H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8400" y="1323838"/>
            <a:ext cx="5405718" cy="3388659"/>
          </a:xfrm>
          <a:custGeom>
            <a:avLst/>
            <a:gdLst/>
            <a:ahLst/>
            <a:cxnLst/>
            <a:rect l="l" t="t" r="r" b="b"/>
            <a:pathLst>
              <a:path w="5405718" h="3388659">
                <a:moveTo>
                  <a:pt x="0" y="0"/>
                </a:moveTo>
                <a:lnTo>
                  <a:pt x="5334014" y="0"/>
                </a:lnTo>
                <a:cubicBezTo>
                  <a:pt x="5373615" y="0"/>
                  <a:pt x="5405718" y="32103"/>
                  <a:pt x="5405718" y="71704"/>
                </a:cubicBezTo>
                <a:lnTo>
                  <a:pt x="5405718" y="3316955"/>
                </a:lnTo>
                <a:cubicBezTo>
                  <a:pt x="5405718" y="3356556"/>
                  <a:pt x="5373615" y="3388659"/>
                  <a:pt x="5334014" y="3388659"/>
                </a:cubicBezTo>
                <a:lnTo>
                  <a:pt x="0" y="33886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6248400" y="1323838"/>
            <a:ext cx="35859" cy="3388659"/>
          </a:xfrm>
          <a:custGeom>
            <a:avLst/>
            <a:gdLst/>
            <a:ahLst/>
            <a:cxnLst/>
            <a:rect l="l" t="t" r="r" b="b"/>
            <a:pathLst>
              <a:path w="35859" h="3388659">
                <a:moveTo>
                  <a:pt x="0" y="0"/>
                </a:moveTo>
                <a:lnTo>
                  <a:pt x="35859" y="0"/>
                </a:lnTo>
                <a:lnTo>
                  <a:pt x="35859" y="3388659"/>
                </a:lnTo>
                <a:lnTo>
                  <a:pt x="0" y="33886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6445624" y="1853019"/>
            <a:ext cx="5136776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94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CVE-2024-12747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5624" y="2121696"/>
            <a:ext cx="5109882" cy="25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Product:</a:t>
            </a:r>
            <a:r>
              <a:rPr lang="en-US" sz="1271" dirty="0">
                <a:latin typeface="MiSans" pitchFamily="34" charset="0"/>
                <a:ea typeface="MiSans" pitchFamily="34" charset="-122"/>
                <a:cs typeface="MiSans" pitchFamily="34" charset="-120"/>
              </a:rPr>
              <a:t> rsync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5624" y="2541217"/>
            <a:ext cx="5109882" cy="25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Type:</a:t>
            </a:r>
            <a:r>
              <a:rPr lang="en-US" sz="1271" dirty="0">
                <a:latin typeface="MiSans" pitchFamily="34" charset="0"/>
                <a:ea typeface="MiSans" pitchFamily="34" charset="-122"/>
                <a:cs typeface="MiSans" pitchFamily="34" charset="-120"/>
              </a:rPr>
              <a:t> Race Condition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5624" y="2960737"/>
            <a:ext cx="5109882" cy="519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Uitleg:</a:t>
            </a:r>
            <a:r>
              <a:rPr lang="en-US" sz="1271" dirty="0">
                <a:latin typeface="MiSans" pitchFamily="34" charset="0"/>
                <a:ea typeface="MiSans" pitchFamily="34" charset="-122"/>
                <a:cs typeface="MiSans" pitchFamily="34" charset="-120"/>
              </a:rPr>
              <a:t> Een race condition bij het omgaan met symbolische links. Rsync slaat symlinks normaal over, maar dit kan worden omzeild.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5624" y="3638413"/>
            <a:ext cx="5109882" cy="77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Exploitatie:</a:t>
            </a:r>
            <a:r>
              <a:rPr lang="en-US" sz="1271" dirty="0">
                <a:latin typeface="MiSans" pitchFamily="34" charset="0"/>
                <a:ea typeface="MiSans" pitchFamily="34" charset="-122"/>
                <a:cs typeface="MiSans" pitchFamily="34" charset="-120"/>
              </a:rPr>
              <a:t> Een aanvaller vervangt een regulier bestand door een symlink op het juiste moment. Dit kan leiden tot het lekken van gevoelige informatie of privilege escalation.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7882" y="5780412"/>
            <a:ext cx="11196918" cy="519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Waarom deze categorie:</a:t>
            </a:r>
            <a:r>
              <a:rPr lang="en-US" sz="1271" dirty="0">
                <a:latin typeface="MiSans" pitchFamily="34" charset="0"/>
                <a:ea typeface="MiSans" pitchFamily="34" charset="-122"/>
                <a:cs typeface="MiSans" pitchFamily="34" charset="-120"/>
              </a:rPr>
              <a:t> Beide kwetsbaarheden ontstaan door timing-problemen waarbij een bron wordt gemanipuleerd tussen controle en gebruik (CWE-367).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71487" y="1056780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0" y="0"/>
                </a:moveTo>
                <a:lnTo>
                  <a:pt x="11049000" y="0"/>
                </a:lnTo>
                <a:lnTo>
                  <a:pt x="110490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471487" y="366218"/>
            <a:ext cx="11249025" cy="565346"/>
          </a:xfrm>
          <a:prstGeom prst="rect">
            <a:avLst/>
          </a:prstGeom>
          <a:noFill/>
          <a:ln/>
        </p:spPr>
        <p:txBody>
          <a:bodyPr wrap="square" lIns="0" tIns="0" rIns="0" bIns="142875" rtlCol="0" anchor="ctr"/>
          <a:lstStyle/>
          <a:p>
            <a:r>
              <a:rPr lang="en-US" sz="3150" b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API Vulnerabilities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0537" y="1499693"/>
            <a:ext cx="5362575" cy="4067175"/>
          </a:xfrm>
          <a:custGeom>
            <a:avLst/>
            <a:gdLst/>
            <a:ahLst/>
            <a:cxnLst/>
            <a:rect l="l" t="t" r="r" b="b"/>
            <a:pathLst>
              <a:path w="5362575" h="4067175">
                <a:moveTo>
                  <a:pt x="0" y="0"/>
                </a:moveTo>
                <a:lnTo>
                  <a:pt x="5286356" y="0"/>
                </a:lnTo>
                <a:cubicBezTo>
                  <a:pt x="5328451" y="0"/>
                  <a:pt x="5362575" y="34124"/>
                  <a:pt x="5362575" y="76219"/>
                </a:cubicBezTo>
                <a:lnTo>
                  <a:pt x="5362575" y="3990956"/>
                </a:lnTo>
                <a:cubicBezTo>
                  <a:pt x="5362575" y="4033051"/>
                  <a:pt x="5328451" y="4067175"/>
                  <a:pt x="5286356" y="4067175"/>
                </a:cubicBezTo>
                <a:lnTo>
                  <a:pt x="0" y="40671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490537" y="1499693"/>
            <a:ext cx="38100" cy="4067175"/>
          </a:xfrm>
          <a:custGeom>
            <a:avLst/>
            <a:gdLst/>
            <a:ahLst/>
            <a:cxnLst/>
            <a:rect l="l" t="t" r="r" b="b"/>
            <a:pathLst>
              <a:path w="38100" h="4067175">
                <a:moveTo>
                  <a:pt x="0" y="0"/>
                </a:moveTo>
                <a:lnTo>
                  <a:pt x="38100" y="0"/>
                </a:lnTo>
                <a:lnTo>
                  <a:pt x="38100" y="4067175"/>
                </a:lnTo>
                <a:lnTo>
                  <a:pt x="0" y="40671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700087" y="1871168"/>
            <a:ext cx="50768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CVE-2024-50645 </a:t>
            </a:r>
            <a:r>
              <a:rPr lang="en-US" sz="1200" b="1">
                <a:latin typeface="MiSans" pitchFamily="34" charset="0"/>
                <a:ea typeface="MiSans" pitchFamily="34" charset="-122"/>
                <a:cs typeface="MiSans" pitchFamily="34" charset="-120"/>
              </a:rPr>
              <a:t>CVSS 9.8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0087" y="2375993"/>
            <a:ext cx="5048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latin typeface="MiSans" pitchFamily="34" charset="0"/>
                <a:ea typeface="MiSans" pitchFamily="34" charset="-122"/>
                <a:cs typeface="MiSans" pitchFamily="34" charset="-120"/>
              </a:rPr>
              <a:t>Product:</a:t>
            </a:r>
            <a:r>
              <a:rPr lang="en-US" sz="1350">
                <a:latin typeface="MiSans" pitchFamily="34" charset="0"/>
                <a:ea typeface="MiSans" pitchFamily="34" charset="-122"/>
                <a:cs typeface="MiSans" pitchFamily="34" charset="-120"/>
              </a:rPr>
              <a:t> MallChat v1.0-SNAPSHOT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0087" y="2821733"/>
            <a:ext cx="5048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latin typeface="MiSans" pitchFamily="34" charset="0"/>
                <a:ea typeface="MiSans" pitchFamily="34" charset="-122"/>
                <a:cs typeface="MiSans" pitchFamily="34" charset="-120"/>
              </a:rPr>
              <a:t>Type:</a:t>
            </a:r>
            <a:r>
              <a:rPr lang="en-US" sz="1350">
                <a:latin typeface="MiSans" pitchFamily="34" charset="0"/>
                <a:ea typeface="MiSans" pitchFamily="34" charset="-122"/>
                <a:cs typeface="MiSans" pitchFamily="34" charset="-120"/>
              </a:rPr>
              <a:t> Authentication Bypass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0087" y="3267473"/>
            <a:ext cx="5048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latin typeface="MiSans" pitchFamily="34" charset="0"/>
                <a:ea typeface="MiSans" pitchFamily="34" charset="-122"/>
                <a:cs typeface="MiSans" pitchFamily="34" charset="-120"/>
              </a:rPr>
              <a:t>Uitleg:</a:t>
            </a:r>
            <a:r>
              <a:rPr lang="en-US" sz="1350">
                <a:latin typeface="MiSans" pitchFamily="34" charset="0"/>
                <a:ea typeface="MiSans" pitchFamily="34" charset="-122"/>
                <a:cs typeface="MiSans" pitchFamily="34" charset="-120"/>
              </a:rPr>
              <a:t> De API vereist geen authenticatietoken voor bepaalde endpoints, waardoor ongeautoriseerde toegang mogelijk is.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0087" y="3987504"/>
            <a:ext cx="5048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latin typeface="MiSans" pitchFamily="34" charset="0"/>
                <a:ea typeface="MiSans" pitchFamily="34" charset="-122"/>
                <a:cs typeface="MiSans" pitchFamily="34" charset="-120"/>
              </a:rPr>
              <a:t>Exploitatie:</a:t>
            </a:r>
            <a:r>
              <a:rPr lang="en-US" sz="1350">
                <a:latin typeface="MiSans" pitchFamily="34" charset="0"/>
                <a:ea typeface="MiSans" pitchFamily="34" charset="-122"/>
                <a:cs typeface="MiSans" pitchFamily="34" charset="-120"/>
              </a:rPr>
              <a:t> Een aanvaller kan direct API-requests sturen zonder token en toegang krijgen tot beschermde functies en gegevens van andere gebruikers.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0087" y="4981824"/>
            <a:ext cx="5048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latin typeface="MiSans" pitchFamily="34" charset="0"/>
                <a:ea typeface="MiSans" pitchFamily="34" charset="-122"/>
                <a:cs typeface="MiSans" pitchFamily="34" charset="-120"/>
              </a:rPr>
              <a:t>CVSS Vector:</a:t>
            </a:r>
            <a:r>
              <a:rPr lang="en-US" sz="1350">
                <a:latin typeface="MiSans" pitchFamily="34" charset="0"/>
                <a:ea typeface="MiSans" pitchFamily="34" charset="-122"/>
                <a:cs typeface="MiSans" pitchFamily="34" charset="-120"/>
              </a:rPr>
              <a:t> CVSS:3.1/AV:N/AC:L/PR:N/UI:N/S:U/C:H/I:H/A:H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57912" y="1499693"/>
            <a:ext cx="5362575" cy="3867150"/>
          </a:xfrm>
          <a:custGeom>
            <a:avLst/>
            <a:gdLst/>
            <a:ahLst/>
            <a:cxnLst/>
            <a:rect l="l" t="t" r="r" b="b"/>
            <a:pathLst>
              <a:path w="5362575" h="3867150">
                <a:moveTo>
                  <a:pt x="0" y="0"/>
                </a:moveTo>
                <a:lnTo>
                  <a:pt x="5286392" y="0"/>
                </a:lnTo>
                <a:cubicBezTo>
                  <a:pt x="5328439" y="0"/>
                  <a:pt x="5362575" y="34136"/>
                  <a:pt x="5362575" y="76183"/>
                </a:cubicBezTo>
                <a:lnTo>
                  <a:pt x="5362575" y="3790967"/>
                </a:lnTo>
                <a:cubicBezTo>
                  <a:pt x="5362575" y="3833042"/>
                  <a:pt x="5328467" y="3867150"/>
                  <a:pt x="5286392" y="3867150"/>
                </a:cubicBez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6157912" y="1499693"/>
            <a:ext cx="38100" cy="3867150"/>
          </a:xfrm>
          <a:custGeom>
            <a:avLst/>
            <a:gdLst/>
            <a:ahLst/>
            <a:cxnLst/>
            <a:rect l="l" t="t" r="r" b="b"/>
            <a:pathLst>
              <a:path w="38100" h="3867150">
                <a:moveTo>
                  <a:pt x="0" y="0"/>
                </a:moveTo>
                <a:lnTo>
                  <a:pt x="38100" y="0"/>
                </a:lnTo>
                <a:lnTo>
                  <a:pt x="381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6367462" y="1871168"/>
            <a:ext cx="5076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CVE-2024-42325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7462" y="2347418"/>
            <a:ext cx="5048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latin typeface="MiSans" pitchFamily="34" charset="0"/>
                <a:ea typeface="MiSans" pitchFamily="34" charset="-122"/>
                <a:cs typeface="MiSans" pitchFamily="34" charset="-120"/>
              </a:rPr>
              <a:t>Product:</a:t>
            </a:r>
            <a:r>
              <a:rPr lang="en-US" sz="1350">
                <a:latin typeface="MiSans" pitchFamily="34" charset="0"/>
                <a:ea typeface="MiSans" pitchFamily="34" charset="-122"/>
                <a:cs typeface="MiSans" pitchFamily="34" charset="-120"/>
              </a:rPr>
              <a:t> Zabbix API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67462" y="2793158"/>
            <a:ext cx="5048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latin typeface="MiSans" pitchFamily="34" charset="0"/>
                <a:ea typeface="MiSans" pitchFamily="34" charset="-122"/>
                <a:cs typeface="MiSans" pitchFamily="34" charset="-120"/>
              </a:rPr>
              <a:t>Type:</a:t>
            </a:r>
            <a:r>
              <a:rPr lang="en-US" sz="1350">
                <a:latin typeface="MiSans" pitchFamily="34" charset="0"/>
                <a:ea typeface="MiSans" pitchFamily="34" charset="-122"/>
                <a:cs typeface="MiSans" pitchFamily="34" charset="-120"/>
              </a:rPr>
              <a:t> Information Disclosure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7462" y="3238898"/>
            <a:ext cx="5048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latin typeface="MiSans" pitchFamily="34" charset="0"/>
                <a:ea typeface="MiSans" pitchFamily="34" charset="-122"/>
                <a:cs typeface="MiSans" pitchFamily="34" charset="-120"/>
              </a:rPr>
              <a:t>Uitleg:</a:t>
            </a:r>
            <a:r>
              <a:rPr lang="en-US" sz="1350">
                <a:latin typeface="MiSans" pitchFamily="34" charset="0"/>
                <a:ea typeface="MiSans" pitchFamily="34" charset="-122"/>
                <a:cs typeface="MiSans" pitchFamily="34" charset="-120"/>
              </a:rPr>
              <a:t> De user.get API endpoint retourneert te veel informatie over alle gebruikers in dezelfde groep, inclusief media en login-pogingen.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67462" y="4233219"/>
            <a:ext cx="5048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latin typeface="MiSans" pitchFamily="34" charset="0"/>
                <a:ea typeface="MiSans" pitchFamily="34" charset="-122"/>
                <a:cs typeface="MiSans" pitchFamily="34" charset="-120"/>
              </a:rPr>
              <a:t>Exploitatie:</a:t>
            </a:r>
            <a:r>
              <a:rPr lang="en-US" sz="1350">
                <a:latin typeface="MiSans" pitchFamily="34" charset="0"/>
                <a:ea typeface="MiSans" pitchFamily="34" charset="-122"/>
                <a:cs typeface="MiSans" pitchFamily="34" charset="-120"/>
              </a:rPr>
              <a:t> Een geautoriseerde gebruiker kan via de API gevoelige informatie opvragen van andere gebruikers waartoe ze normaliter geen toegang zouden moeten hebben.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1487" y="5741687"/>
            <a:ext cx="111347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latin typeface="MiSans" pitchFamily="34" charset="0"/>
                <a:ea typeface="MiSans" pitchFamily="34" charset="-122"/>
                <a:cs typeface="MiSans" pitchFamily="34" charset="-120"/>
              </a:rPr>
              <a:t>Waarom deze categorie:</a:t>
            </a:r>
            <a:r>
              <a:rPr lang="en-US" sz="1350">
                <a:latin typeface="MiSans" pitchFamily="34" charset="0"/>
                <a:ea typeface="MiSans" pitchFamily="34" charset="-122"/>
                <a:cs typeface="MiSans" pitchFamily="34" charset="-120"/>
              </a:rPr>
              <a:t> Beide kwetsbaarheden betreffen fouten in API-ontwerp: ontbrekende authenticatie en excessive data exposure (CWE-287, CWE-200).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59266" y="1310780"/>
            <a:ext cx="11073468" cy="27963"/>
          </a:xfrm>
          <a:custGeom>
            <a:avLst/>
            <a:gdLst/>
            <a:ahLst/>
            <a:cxnLst/>
            <a:rect l="l" t="t" r="r" b="b"/>
            <a:pathLst>
              <a:path w="11073468" h="27963">
                <a:moveTo>
                  <a:pt x="0" y="0"/>
                </a:moveTo>
                <a:lnTo>
                  <a:pt x="11073468" y="0"/>
                </a:lnTo>
                <a:lnTo>
                  <a:pt x="11073468" y="27963"/>
                </a:lnTo>
                <a:lnTo>
                  <a:pt x="0" y="279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59266" y="635000"/>
            <a:ext cx="11269211" cy="550869"/>
          </a:xfrm>
          <a:prstGeom prst="rect">
            <a:avLst/>
          </a:prstGeom>
          <a:noFill/>
          <a:ln/>
        </p:spPr>
        <p:txBody>
          <a:bodyPr wrap="square" lIns="0" tIns="0" rIns="0" bIns="139817" rtlCol="0" anchor="ctr"/>
          <a:lstStyle/>
          <a:p>
            <a:r>
              <a:rPr lang="en-US" sz="3083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5. Side-Channel Kwetsbaarheden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77908" y="1744211"/>
            <a:ext cx="5378275" cy="4250422"/>
          </a:xfrm>
          <a:custGeom>
            <a:avLst/>
            <a:gdLst/>
            <a:ahLst/>
            <a:cxnLst/>
            <a:rect l="l" t="t" r="r" b="b"/>
            <a:pathLst>
              <a:path w="5378275" h="4250422">
                <a:moveTo>
                  <a:pt x="0" y="0"/>
                </a:moveTo>
                <a:lnTo>
                  <a:pt x="5303723" y="0"/>
                </a:lnTo>
                <a:cubicBezTo>
                  <a:pt x="5344897" y="0"/>
                  <a:pt x="5378275" y="33378"/>
                  <a:pt x="5378275" y="74552"/>
                </a:cubicBezTo>
                <a:lnTo>
                  <a:pt x="5378275" y="4175870"/>
                </a:lnTo>
                <a:cubicBezTo>
                  <a:pt x="5378275" y="4217044"/>
                  <a:pt x="5344897" y="4250422"/>
                  <a:pt x="5303723" y="4250422"/>
                </a:cubicBezTo>
                <a:lnTo>
                  <a:pt x="0" y="42504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577908" y="1744211"/>
            <a:ext cx="37284" cy="4250422"/>
          </a:xfrm>
          <a:custGeom>
            <a:avLst/>
            <a:gdLst/>
            <a:ahLst/>
            <a:cxnLst/>
            <a:rect l="l" t="t" r="r" b="b"/>
            <a:pathLst>
              <a:path w="37284" h="4250422">
                <a:moveTo>
                  <a:pt x="0" y="0"/>
                </a:moveTo>
                <a:lnTo>
                  <a:pt x="37284" y="0"/>
                </a:lnTo>
                <a:lnTo>
                  <a:pt x="37284" y="4250422"/>
                </a:lnTo>
                <a:lnTo>
                  <a:pt x="0" y="42504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782972" y="2107734"/>
            <a:ext cx="5098642" cy="32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1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CVE-2024-25189 </a:t>
            </a:r>
            <a:r>
              <a:rPr lang="en-US" sz="1174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CVSS 9.8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2972" y="2601752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Product: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libjwt 1.15.3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2972" y="3037951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Type: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Timing Side-Channel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2972" y="3474149"/>
            <a:ext cx="5070679" cy="54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Uitleg: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De library gebruikt strcmp() voor authenticatieverificatie. Deze functie is niet constant-tijd en onthult informatie via timing.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2972" y="4178766"/>
            <a:ext cx="5070679" cy="107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Exploitatie: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Een aanvaller meet de tijd die het systeem nodig heeft om authenticatieverzoeken te verwerken. Door kleine tijdsverschillen kan het wachtwoord of token karakter voor karakter worden achterhaald.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2972" y="5420220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CVSS Vector: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CVSS:3.1/AV:N/AC:L/PR:N/UI:N/S:U/C:H/I:H/A:H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6498" y="1744211"/>
            <a:ext cx="5378275" cy="3980110"/>
          </a:xfrm>
          <a:custGeom>
            <a:avLst/>
            <a:gdLst/>
            <a:ahLst/>
            <a:cxnLst/>
            <a:rect l="l" t="t" r="r" b="b"/>
            <a:pathLst>
              <a:path w="5378275" h="3980110">
                <a:moveTo>
                  <a:pt x="0" y="0"/>
                </a:moveTo>
                <a:lnTo>
                  <a:pt x="5303688" y="0"/>
                </a:lnTo>
                <a:cubicBezTo>
                  <a:pt x="5344881" y="0"/>
                  <a:pt x="5378275" y="33394"/>
                  <a:pt x="5378275" y="74587"/>
                </a:cubicBezTo>
                <a:lnTo>
                  <a:pt x="5378275" y="3905523"/>
                </a:lnTo>
                <a:cubicBezTo>
                  <a:pt x="5378275" y="3946716"/>
                  <a:pt x="5344881" y="3980110"/>
                  <a:pt x="5303688" y="3980110"/>
                </a:cubicBezTo>
                <a:lnTo>
                  <a:pt x="0" y="39801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6256498" y="1744211"/>
            <a:ext cx="37284" cy="3980110"/>
          </a:xfrm>
          <a:custGeom>
            <a:avLst/>
            <a:gdLst/>
            <a:ahLst/>
            <a:cxnLst/>
            <a:rect l="l" t="t" r="r" b="b"/>
            <a:pathLst>
              <a:path w="37284" h="3980110">
                <a:moveTo>
                  <a:pt x="0" y="0"/>
                </a:moveTo>
                <a:lnTo>
                  <a:pt x="37284" y="0"/>
                </a:lnTo>
                <a:lnTo>
                  <a:pt x="37284" y="3980110"/>
                </a:lnTo>
                <a:lnTo>
                  <a:pt x="0" y="39801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6461562" y="2107734"/>
            <a:ext cx="5098642" cy="32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1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CVE-2024-2236 </a:t>
            </a:r>
            <a:r>
              <a:rPr lang="en-US" sz="1174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CVSS 5.9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1562" y="2601752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Product: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libgcrypt RSA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61562" y="3037951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Type: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Timing Side-Channel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1562" y="3474149"/>
            <a:ext cx="5070679" cy="54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Uitleg: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Een timing-based side-channel in de RSA-implementatie maakt een Bleichenbacher-style attack mogelijk.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1562" y="4178766"/>
            <a:ext cx="5070679" cy="80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Exploitatie: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Een aanvaller analyseert de tijd die het systeem nodig heeft voor RSA-bewerkingen. Dit kan leiden tot het ontsleutelen van RSA-ciphertexts zonder de private key.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61562" y="5151802"/>
            <a:ext cx="5070679" cy="27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CVSS Vector: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CVSS:3.1/AV:N/AC:H/PR:N/UI:N/S:U/C:H/I:N/A:N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6461" y="5785781"/>
            <a:ext cx="11157358" cy="54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Waarom deze categorie:</a:t>
            </a:r>
            <a:r>
              <a:rPr lang="en-US" sz="1321" dirty="0">
                <a:latin typeface="MiSans" pitchFamily="34" charset="0"/>
                <a:ea typeface="MiSans" pitchFamily="34" charset="-122"/>
                <a:cs typeface="MiSans" pitchFamily="34" charset="-120"/>
              </a:rPr>
              <a:t> Beide kwetsbaarheden lekken informatie via observeerbare tijdsverschillen in cryptografische operaties (CWE-208, CWE-203).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71500" y="1339453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0" y="0"/>
                </a:moveTo>
                <a:lnTo>
                  <a:pt x="11049000" y="0"/>
                </a:lnTo>
                <a:lnTo>
                  <a:pt x="110490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71500" y="648891"/>
            <a:ext cx="11249025" cy="625077"/>
          </a:xfrm>
          <a:prstGeom prst="rect">
            <a:avLst/>
          </a:prstGeom>
          <a:noFill/>
          <a:ln/>
        </p:spPr>
        <p:txBody>
          <a:bodyPr wrap="square" lIns="0" tIns="0" rIns="0" bIns="142875" rtlCol="0" anchor="ctr"/>
          <a:lstStyle/>
          <a:p>
            <a:r>
              <a:rPr lang="en-US" sz="3150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CVSS Score Opbouw - Voorbeelden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868091"/>
            <a:ext cx="549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CVE-2024-50379 (Tomcat) - 9.8 Critical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325291"/>
            <a:ext cx="5267325" cy="2305050"/>
          </a:xfrm>
          <a:prstGeom prst="rect">
            <a:avLst/>
          </a:prstGeom>
          <a:noFill/>
          <a:ln/>
        </p:spPr>
        <p:txBody>
          <a:bodyPr wrap="square" lIns="381000" tIns="0" rIns="0" bIns="0" rtlCol="0" anchor="ctr"/>
          <a:lstStyle/>
          <a:p>
            <a:pPr marL="254000" indent="-254000">
              <a:spcBef>
                <a:spcPts val="10"/>
              </a:spcBef>
              <a:buSzPct val="100000"/>
              <a:buChar char="•"/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AV:N</a:t>
            </a:r>
            <a:r>
              <a:rPr lang="en-US" sz="1350" dirty="0">
                <a:latin typeface="MiSans" pitchFamily="34" charset="0"/>
                <a:ea typeface="MiSans" pitchFamily="34" charset="-122"/>
                <a:cs typeface="MiSans" pitchFamily="34" charset="-120"/>
              </a:rPr>
              <a:t> - Attack Vector: Network (vanaf internet)</a:t>
            </a:r>
            <a:endParaRPr lang="en-US" sz="1600" dirty="0"/>
          </a:p>
          <a:p>
            <a:pPr marL="254000" indent="-254000">
              <a:spcBef>
                <a:spcPts val="10"/>
              </a:spcBef>
              <a:buSzPct val="100000"/>
              <a:buChar char="•"/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AC:L</a:t>
            </a:r>
            <a:r>
              <a:rPr lang="en-US" sz="1350" dirty="0">
                <a:latin typeface="MiSans" pitchFamily="34" charset="0"/>
                <a:ea typeface="MiSans" pitchFamily="34" charset="-122"/>
                <a:cs typeface="MiSans" pitchFamily="34" charset="-120"/>
              </a:rPr>
              <a:t> - Attack Complexity: Low (gemakkelijk uit te buiten)</a:t>
            </a:r>
            <a:endParaRPr lang="en-US" sz="1600" dirty="0"/>
          </a:p>
          <a:p>
            <a:pPr marL="254000" indent="-254000">
              <a:spcBef>
                <a:spcPts val="10"/>
              </a:spcBef>
              <a:buSzPct val="100000"/>
              <a:buChar char="•"/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PR:N</a:t>
            </a:r>
            <a:r>
              <a:rPr lang="en-US" sz="1350" dirty="0">
                <a:latin typeface="MiSans" pitchFamily="34" charset="0"/>
                <a:ea typeface="MiSans" pitchFamily="34" charset="-122"/>
                <a:cs typeface="MiSans" pitchFamily="34" charset="-120"/>
              </a:rPr>
              <a:t> - Privileges Required: None (geen rechten nodig)</a:t>
            </a:r>
            <a:endParaRPr lang="en-US" sz="1600" dirty="0"/>
          </a:p>
          <a:p>
            <a:pPr marL="254000" indent="-254000">
              <a:spcBef>
                <a:spcPts val="10"/>
              </a:spcBef>
              <a:buSzPct val="100000"/>
              <a:buChar char="•"/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UI:N</a:t>
            </a:r>
            <a:r>
              <a:rPr lang="en-US" sz="1350" dirty="0">
                <a:latin typeface="MiSans" pitchFamily="34" charset="0"/>
                <a:ea typeface="MiSans" pitchFamily="34" charset="-122"/>
                <a:cs typeface="MiSans" pitchFamily="34" charset="-120"/>
              </a:rPr>
              <a:t> - User Interaction: None (geen gebruiker nodig)</a:t>
            </a:r>
            <a:endParaRPr lang="en-US" sz="1600" dirty="0"/>
          </a:p>
          <a:p>
            <a:pPr marL="254000" indent="-254000">
              <a:spcBef>
                <a:spcPts val="10"/>
              </a:spcBef>
              <a:buSzPct val="100000"/>
              <a:buChar char="•"/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S:U</a:t>
            </a:r>
            <a:r>
              <a:rPr lang="en-US" sz="1350" dirty="0">
                <a:latin typeface="MiSans" pitchFamily="34" charset="0"/>
                <a:ea typeface="MiSans" pitchFamily="34" charset="-122"/>
                <a:cs typeface="MiSans" pitchFamily="34" charset="-120"/>
              </a:rPr>
              <a:t> - Scope: Unchanged</a:t>
            </a:r>
            <a:endParaRPr lang="en-US" sz="1600" dirty="0"/>
          </a:p>
          <a:p>
            <a:pPr marL="254000" indent="-254000">
              <a:spcBef>
                <a:spcPts val="10"/>
              </a:spcBef>
              <a:buSzPct val="100000"/>
              <a:buChar char="•"/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C:H/I:H/A:H</a:t>
            </a:r>
            <a:r>
              <a:rPr lang="en-US" sz="1350" dirty="0">
                <a:latin typeface="MiSans" pitchFamily="34" charset="0"/>
                <a:ea typeface="MiSans" pitchFamily="34" charset="-122"/>
                <a:cs typeface="MiSans" pitchFamily="34" charset="-120"/>
              </a:rPr>
              <a:t> - High impact op Confidentiality, Integrity, Availability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4797772"/>
            <a:ext cx="54673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latin typeface="MiSans" pitchFamily="34" charset="0"/>
                <a:ea typeface="MiSans" pitchFamily="34" charset="-122"/>
                <a:cs typeface="MiSans" pitchFamily="34" charset="-120"/>
              </a:rPr>
              <a:t>Maximale score door netwerk-toegankelijkheid en geen beperkingen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38875" y="1868091"/>
            <a:ext cx="549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CVE-2024-2236 (libgcrypt) - 5.9 Medium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29375" y="2325291"/>
            <a:ext cx="5267325" cy="2028825"/>
          </a:xfrm>
          <a:prstGeom prst="rect">
            <a:avLst/>
          </a:prstGeom>
          <a:noFill/>
          <a:ln/>
        </p:spPr>
        <p:txBody>
          <a:bodyPr wrap="square" lIns="381000" tIns="0" rIns="0" bIns="0" rtlCol="0" anchor="ctr"/>
          <a:lstStyle/>
          <a:p>
            <a:pPr marL="254000" indent="-254000">
              <a:spcBef>
                <a:spcPts val="10"/>
              </a:spcBef>
              <a:buSzPct val="100000"/>
              <a:buChar char="•"/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AV:N</a:t>
            </a:r>
            <a:r>
              <a:rPr lang="en-US" sz="1350" dirty="0">
                <a:latin typeface="MiSans" pitchFamily="34" charset="0"/>
                <a:ea typeface="MiSans" pitchFamily="34" charset="-122"/>
                <a:cs typeface="MiSans" pitchFamily="34" charset="-120"/>
              </a:rPr>
              <a:t> - Attack Vector: Network</a:t>
            </a:r>
            <a:endParaRPr lang="en-US" sz="1600" dirty="0"/>
          </a:p>
          <a:p>
            <a:pPr marL="254000" indent="-254000">
              <a:spcBef>
                <a:spcPts val="10"/>
              </a:spcBef>
              <a:buSzPct val="100000"/>
              <a:buChar char="•"/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AC:H</a:t>
            </a:r>
            <a:r>
              <a:rPr lang="en-US" sz="1350" dirty="0">
                <a:latin typeface="MiSans" pitchFamily="34" charset="0"/>
                <a:ea typeface="MiSans" pitchFamily="34" charset="-122"/>
                <a:cs typeface="MiSans" pitchFamily="34" charset="-120"/>
              </a:rPr>
              <a:t> - Attack Complexity: High (veel metingen nodig)</a:t>
            </a:r>
            <a:endParaRPr lang="en-US" sz="1600" dirty="0"/>
          </a:p>
          <a:p>
            <a:pPr marL="254000" indent="-254000">
              <a:spcBef>
                <a:spcPts val="10"/>
              </a:spcBef>
              <a:buSzPct val="100000"/>
              <a:buChar char="•"/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PR:N</a:t>
            </a:r>
            <a:r>
              <a:rPr lang="en-US" sz="1350" dirty="0">
                <a:latin typeface="MiSans" pitchFamily="34" charset="0"/>
                <a:ea typeface="MiSans" pitchFamily="34" charset="-122"/>
                <a:cs typeface="MiSans" pitchFamily="34" charset="-120"/>
              </a:rPr>
              <a:t> - Privileges Required: None</a:t>
            </a:r>
            <a:endParaRPr lang="en-US" sz="1600" dirty="0"/>
          </a:p>
          <a:p>
            <a:pPr marL="254000" indent="-254000">
              <a:spcBef>
                <a:spcPts val="10"/>
              </a:spcBef>
              <a:buSzPct val="100000"/>
              <a:buChar char="•"/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UI:N</a:t>
            </a:r>
            <a:r>
              <a:rPr lang="en-US" sz="1350" dirty="0">
                <a:latin typeface="MiSans" pitchFamily="34" charset="0"/>
                <a:ea typeface="MiSans" pitchFamily="34" charset="-122"/>
                <a:cs typeface="MiSans" pitchFamily="34" charset="-120"/>
              </a:rPr>
              <a:t> - User Interaction: None</a:t>
            </a:r>
            <a:endParaRPr lang="en-US" sz="1600" dirty="0"/>
          </a:p>
          <a:p>
            <a:pPr marL="254000" indent="-254000">
              <a:spcBef>
                <a:spcPts val="10"/>
              </a:spcBef>
              <a:buSzPct val="100000"/>
              <a:buChar char="•"/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S:U</a:t>
            </a:r>
            <a:r>
              <a:rPr lang="en-US" sz="1350" dirty="0">
                <a:latin typeface="MiSans" pitchFamily="34" charset="0"/>
                <a:ea typeface="MiSans" pitchFamily="34" charset="-122"/>
                <a:cs typeface="MiSans" pitchFamily="34" charset="-120"/>
              </a:rPr>
              <a:t> - Scope: Unchanged</a:t>
            </a:r>
            <a:endParaRPr lang="en-US" sz="1600" dirty="0"/>
          </a:p>
          <a:p>
            <a:pPr marL="254000" indent="-254000">
              <a:spcBef>
                <a:spcPts val="10"/>
              </a:spcBef>
              <a:buSzPct val="100000"/>
              <a:buChar char="•"/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C:H/I:N/A:N</a:t>
            </a:r>
            <a:r>
              <a:rPr lang="en-US" sz="1350" dirty="0">
                <a:latin typeface="MiSans" pitchFamily="34" charset="0"/>
                <a:ea typeface="MiSans" pitchFamily="34" charset="-122"/>
                <a:cs typeface="MiSans" pitchFamily="34" charset="-120"/>
              </a:rPr>
              <a:t> - Alleen impact op Confidentiality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38875" y="4523482"/>
            <a:ext cx="54673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latin typeface="MiSans" pitchFamily="34" charset="0"/>
                <a:ea typeface="MiSans" pitchFamily="34" charset="-122"/>
                <a:cs typeface="MiSans" pitchFamily="34" charset="-120"/>
              </a:rPr>
              <a:t>Lagere score door hoge attack complexity en beperkte impact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71500" y="1339453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0" y="0"/>
                </a:moveTo>
                <a:lnTo>
                  <a:pt x="11049000" y="0"/>
                </a:lnTo>
                <a:lnTo>
                  <a:pt x="110490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71500" y="648891"/>
            <a:ext cx="11249025" cy="625077"/>
          </a:xfrm>
          <a:prstGeom prst="rect">
            <a:avLst/>
          </a:prstGeom>
          <a:noFill/>
          <a:ln/>
        </p:spPr>
        <p:txBody>
          <a:bodyPr wrap="square" lIns="0" tIns="0" rIns="0" bIns="142875" rtlCol="0" anchor="ctr"/>
          <a:lstStyle/>
          <a:p>
            <a:r>
              <a:rPr lang="en-US" sz="3150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Samenvatting &amp; Conclusies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757994"/>
              </p:ext>
            </p:extLst>
          </p:nvPr>
        </p:nvGraphicFramePr>
        <p:xfrm>
          <a:off x="571500" y="1846525"/>
          <a:ext cx="11049000" cy="2638428"/>
        </p:xfrm>
        <a:graphic>
          <a:graphicData uri="http://schemas.openxmlformats.org/drawingml/2006/table">
            <a:tbl>
              <a:tblPr/>
              <a:tblGrid>
                <a:gridCol w="2764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0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2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1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738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Categorie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CVE's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Hoogste CVSS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Actief Misbruikt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Memory Management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CVE-2025-24085, CVE-2025-49711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7.8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Ja (Apple)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Structured Output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CVE-2024-29510, CVE-2024-36522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9.8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Nee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Race Conditions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CVE-2024-50379, CVE-2024-12747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9.8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Nee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API Vulnerabilities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CVE-2024-50645, CVE-2024-42325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9.8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Nee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Side-Channel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CVE-2024-25189, CVE-2024-2236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9.8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Nee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rugblik">
  <a:themeElements>
    <a:clrScheme name="Terugblik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Terugbli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rugbli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84AD865079C64FB2A1609C0E278A07" ma:contentTypeVersion="8" ma:contentTypeDescription="Een nieuw document maken." ma:contentTypeScope="" ma:versionID="007c038766a1c56a306316f999624245">
  <xsd:schema xmlns:xsd="http://www.w3.org/2001/XMLSchema" xmlns:xs="http://www.w3.org/2001/XMLSchema" xmlns:p="http://schemas.microsoft.com/office/2006/metadata/properties" xmlns:ns2="81db8cb5-9360-48f0-9784-c515b20ec4ce" targetNamespace="http://schemas.microsoft.com/office/2006/metadata/properties" ma:root="true" ma:fieldsID="505556352b862a5ce3d16ad6cdefa105" ns2:_="">
    <xsd:import namespace="81db8cb5-9360-48f0-9784-c515b20ec4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b8cb5-9360-48f0-9784-c515b20ec4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3569157-21B8-4B69-ACCD-8A008ED85B68}"/>
</file>

<file path=customXml/itemProps2.xml><?xml version="1.0" encoding="utf-8"?>
<ds:datastoreItem xmlns:ds="http://schemas.openxmlformats.org/officeDocument/2006/customXml" ds:itemID="{0329ED1F-2891-42BE-9B7C-CB768D9E9211}"/>
</file>

<file path=customXml/itemProps3.xml><?xml version="1.0" encoding="utf-8"?>
<ds:datastoreItem xmlns:ds="http://schemas.openxmlformats.org/officeDocument/2006/customXml" ds:itemID="{C8253C57-A497-497C-87DC-4990CD8D72CE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</TotalTime>
  <Words>1203</Words>
  <Application>Microsoft Office PowerPoint</Application>
  <PresentationFormat>Breedbeeld</PresentationFormat>
  <Paragraphs>119</Paragraphs>
  <Slides>8</Slides>
  <Notes>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4" baseType="lpstr">
      <vt:lpstr>MiSans</vt:lpstr>
      <vt:lpstr>Calibri Light</vt:lpstr>
      <vt:lpstr>微软雅黑</vt:lpstr>
      <vt:lpstr>Noto Sans SC</vt:lpstr>
      <vt:lpstr>Calibri</vt:lpstr>
      <vt:lpstr>Terugblik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Kwetsbaarheden Onderzoek 2024-2025</dc:title>
  <dc:subject>Kwetsbaarheden Onderzoek 2024-2025</dc:subject>
  <dc:creator>Vo</dc:creator>
  <cp:lastModifiedBy>Vo Nguyen</cp:lastModifiedBy>
  <cp:revision>2</cp:revision>
  <dcterms:created xsi:type="dcterms:W3CDTF">2026-03-21T03:45:57Z</dcterms:created>
  <dcterms:modified xsi:type="dcterms:W3CDTF">2026-03-21T03:55:19Z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{"Label":"Kwetsbaarheden Onderzoek 2024-2025","ContentProducer":"001191110108MACG2KBH8F10000","ProduceID":"19d0e794-7102-8717-8000-00009d625884","ReservedCode1":"","ContentPropagator":"001191110108MACG2KBH8F20000","PropagateID":"19d0e794-7102-8717-8000-00009d625884","ReservedCode2":""}</vt:lpwstr>
  </property>
  <property fmtid="{D5CDD505-2E9C-101B-9397-08002B2CF9AE}" pid="3" name="ContentTypeId">
    <vt:lpwstr>0x0101008184AD865079C64FB2A1609C0E278A07</vt:lpwstr>
  </property>
</Properties>
</file>