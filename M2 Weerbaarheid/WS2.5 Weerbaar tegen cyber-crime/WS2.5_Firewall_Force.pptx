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B34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288" y="3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vli Armanyous" userId="2614e947-2a9c-4f9a-b146-f5ffa7aca4cc" providerId="ADAL" clId="{F9025844-0D46-4D37-8C74-FC46BD0E6BF2}"/>
    <pc:docChg chg="undo custSel modSld">
      <pc:chgData name="Bavli Armanyous" userId="2614e947-2a9c-4f9a-b146-f5ffa7aca4cc" providerId="ADAL" clId="{F9025844-0D46-4D37-8C74-FC46BD0E6BF2}" dt="2026-03-21T12:07:43.078" v="14" actId="14100"/>
      <pc:docMkLst>
        <pc:docMk/>
      </pc:docMkLst>
      <pc:sldChg chg="modSp mod">
        <pc:chgData name="Bavli Armanyous" userId="2614e947-2a9c-4f9a-b146-f5ffa7aca4cc" providerId="ADAL" clId="{F9025844-0D46-4D37-8C74-FC46BD0E6BF2}" dt="2026-03-21T12:05:36.557" v="0" actId="207"/>
        <pc:sldMkLst>
          <pc:docMk/>
          <pc:sldMk cId="0" sldId="258"/>
        </pc:sldMkLst>
        <pc:spChg chg="mod">
          <ac:chgData name="Bavli Armanyous" userId="2614e947-2a9c-4f9a-b146-f5ffa7aca4cc" providerId="ADAL" clId="{F9025844-0D46-4D37-8C74-FC46BD0E6BF2}" dt="2026-03-21T12:05:36.557" v="0" actId="207"/>
          <ac:spMkLst>
            <pc:docMk/>
            <pc:sldMk cId="0" sldId="258"/>
            <ac:spMk id="10" creationId="{00000000-0000-0000-0000-000000000000}"/>
          </ac:spMkLst>
        </pc:spChg>
        <pc:spChg chg="mod">
          <ac:chgData name="Bavli Armanyous" userId="2614e947-2a9c-4f9a-b146-f5ffa7aca4cc" providerId="ADAL" clId="{F9025844-0D46-4D37-8C74-FC46BD0E6BF2}" dt="2026-03-21T12:05:36.557" v="0" actId="207"/>
          <ac:spMkLst>
            <pc:docMk/>
            <pc:sldMk cId="0" sldId="258"/>
            <ac:spMk id="12" creationId="{00000000-0000-0000-0000-000000000000}"/>
          </ac:spMkLst>
        </pc:spChg>
        <pc:spChg chg="mod">
          <ac:chgData name="Bavli Armanyous" userId="2614e947-2a9c-4f9a-b146-f5ffa7aca4cc" providerId="ADAL" clId="{F9025844-0D46-4D37-8C74-FC46BD0E6BF2}" dt="2026-03-21T12:05:36.557" v="0" actId="207"/>
          <ac:spMkLst>
            <pc:docMk/>
            <pc:sldMk cId="0" sldId="258"/>
            <ac:spMk id="14" creationId="{00000000-0000-0000-0000-000000000000}"/>
          </ac:spMkLst>
        </pc:spChg>
        <pc:spChg chg="mod">
          <ac:chgData name="Bavli Armanyous" userId="2614e947-2a9c-4f9a-b146-f5ffa7aca4cc" providerId="ADAL" clId="{F9025844-0D46-4D37-8C74-FC46BD0E6BF2}" dt="2026-03-21T12:05:36.557" v="0" actId="207"/>
          <ac:spMkLst>
            <pc:docMk/>
            <pc:sldMk cId="0" sldId="258"/>
            <ac:spMk id="16" creationId="{00000000-0000-0000-0000-000000000000}"/>
          </ac:spMkLst>
        </pc:spChg>
        <pc:spChg chg="mod">
          <ac:chgData name="Bavli Armanyous" userId="2614e947-2a9c-4f9a-b146-f5ffa7aca4cc" providerId="ADAL" clId="{F9025844-0D46-4D37-8C74-FC46BD0E6BF2}" dt="2026-03-21T12:05:36.557" v="0" actId="207"/>
          <ac:spMkLst>
            <pc:docMk/>
            <pc:sldMk cId="0" sldId="258"/>
            <ac:spMk id="18" creationId="{00000000-0000-0000-0000-000000000000}"/>
          </ac:spMkLst>
        </pc:spChg>
      </pc:sldChg>
      <pc:sldChg chg="modSp mod">
        <pc:chgData name="Bavli Armanyous" userId="2614e947-2a9c-4f9a-b146-f5ffa7aca4cc" providerId="ADAL" clId="{F9025844-0D46-4D37-8C74-FC46BD0E6BF2}" dt="2026-03-21T12:06:12.001" v="6" actId="14100"/>
        <pc:sldMkLst>
          <pc:docMk/>
          <pc:sldMk cId="0" sldId="259"/>
        </pc:sldMkLst>
        <pc:spChg chg="mod">
          <ac:chgData name="Bavli Armanyous" userId="2614e947-2a9c-4f9a-b146-f5ffa7aca4cc" providerId="ADAL" clId="{F9025844-0D46-4D37-8C74-FC46BD0E6BF2}" dt="2026-03-21T12:05:49.701" v="2" actId="1076"/>
          <ac:spMkLst>
            <pc:docMk/>
            <pc:sldMk cId="0" sldId="259"/>
            <ac:spMk id="7" creationId="{00000000-0000-0000-0000-000000000000}"/>
          </ac:spMkLst>
        </pc:spChg>
        <pc:spChg chg="mod">
          <ac:chgData name="Bavli Armanyous" userId="2614e947-2a9c-4f9a-b146-f5ffa7aca4cc" providerId="ADAL" clId="{F9025844-0D46-4D37-8C74-FC46BD0E6BF2}" dt="2026-03-21T12:06:12.001" v="6" actId="14100"/>
          <ac:spMkLst>
            <pc:docMk/>
            <pc:sldMk cId="0" sldId="259"/>
            <ac:spMk id="8" creationId="{00000000-0000-0000-0000-000000000000}"/>
          </ac:spMkLst>
        </pc:spChg>
        <pc:spChg chg="mod">
          <ac:chgData name="Bavli Armanyous" userId="2614e947-2a9c-4f9a-b146-f5ffa7aca4cc" providerId="ADAL" clId="{F9025844-0D46-4D37-8C74-FC46BD0E6BF2}" dt="2026-03-21T12:06:04.249" v="4" actId="14100"/>
          <ac:spMkLst>
            <pc:docMk/>
            <pc:sldMk cId="0" sldId="259"/>
            <ac:spMk id="9" creationId="{00000000-0000-0000-0000-000000000000}"/>
          </ac:spMkLst>
        </pc:spChg>
      </pc:sldChg>
      <pc:sldChg chg="modSp mod">
        <pc:chgData name="Bavli Armanyous" userId="2614e947-2a9c-4f9a-b146-f5ffa7aca4cc" providerId="ADAL" clId="{F9025844-0D46-4D37-8C74-FC46BD0E6BF2}" dt="2026-03-21T12:07:43.078" v="14" actId="14100"/>
        <pc:sldMkLst>
          <pc:docMk/>
          <pc:sldMk cId="0" sldId="264"/>
        </pc:sldMkLst>
        <pc:spChg chg="mod">
          <ac:chgData name="Bavli Armanyous" userId="2614e947-2a9c-4f9a-b146-f5ffa7aca4cc" providerId="ADAL" clId="{F9025844-0D46-4D37-8C74-FC46BD0E6BF2}" dt="2026-03-21T12:06:50.019" v="9" actId="1076"/>
          <ac:spMkLst>
            <pc:docMk/>
            <pc:sldMk cId="0" sldId="264"/>
            <ac:spMk id="10" creationId="{00000000-0000-0000-0000-000000000000}"/>
          </ac:spMkLst>
        </pc:spChg>
        <pc:spChg chg="mod">
          <ac:chgData name="Bavli Armanyous" userId="2614e947-2a9c-4f9a-b146-f5ffa7aca4cc" providerId="ADAL" clId="{F9025844-0D46-4D37-8C74-FC46BD0E6BF2}" dt="2026-03-21T12:07:43.078" v="14" actId="14100"/>
          <ac:spMkLst>
            <pc:docMk/>
            <pc:sldMk cId="0" sldId="264"/>
            <ac:spMk id="14" creationId="{00000000-0000-0000-0000-000000000000}"/>
          </ac:spMkLst>
        </pc:spChg>
        <pc:spChg chg="mod">
          <ac:chgData name="Bavli Armanyous" userId="2614e947-2a9c-4f9a-b146-f5ffa7aca4cc" providerId="ADAL" clId="{F9025844-0D46-4D37-8C74-FC46BD0E6BF2}" dt="2026-03-21T12:07:41.027" v="13" actId="14100"/>
          <ac:spMkLst>
            <pc:docMk/>
            <pc:sldMk cId="0" sldId="264"/>
            <ac:spMk id="19" creationId="{00000000-0000-0000-0000-000000000000}"/>
          </ac:spMkLst>
        </pc:spChg>
        <pc:spChg chg="mod">
          <ac:chgData name="Bavli Armanyous" userId="2614e947-2a9c-4f9a-b146-f5ffa7aca4cc" providerId="ADAL" clId="{F9025844-0D46-4D37-8C74-FC46BD0E6BF2}" dt="2026-03-21T12:07:28.197" v="12" actId="207"/>
          <ac:spMkLst>
            <pc:docMk/>
            <pc:sldMk cId="0" sldId="264"/>
            <ac:spMk id="2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0645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Template basis: Technisch_en_organisatorisch_verbeterplan_Billy_Bonka.pptx
- Inhoud basis: WS2.5 – Weerbaar tegen cyber-crime uitwerking.docx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Structuur gebaseerd op de inhoud uit WS2.5 – Weerbaar tegen cyber-crime uitwerking.docx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https://www.rechtspraak.nl/organisatie-en-contact/organisatie/rechtbanken/rechtbank-noord-nederland/nieuws/gevangenisstraf-voor-cybercrime-en-fraude
- WS2.5 – Weerbaar tegen cyber-crime uitwerking.docx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M2.5 - Overzicht cybercrimedelicten.pdf (art. 138ab computervredebreuk)
- https://www.rechtspraak.nl/organisatie-en-contact/organisatie/rechtbanken/rechtbank-noord-nederland/nieuws/gevangenisstraf-voor-cybercrime-en-fraude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M2.5 - Overzicht cybercrimedelicten.pdf (art. 138ab lid 1 Sr)
- WS2.5 – Weerbaar tegen cyber-crime uitwerking.docx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https://www.rechtspraak.nl/organisatie-en-contact/organisatie/rechtbanken/rechtbank-noord-nederland/nieuws/gevangenisstraf-voor-cybercrime-en-fraude
- WS2.5 – Weerbaar tegen cyber-crime uitwerking.docx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https://www.rechtspraak.nl/organisatie-en-contact/organisatie/rechtbanken/rechtbank-noord-nederland/nieuws/gevangenisstraf-voor-cybercrime-en-fraude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Inhoud gebaseerd op de opdracht-discussie in WS2.5 – Weerbaar tegen cyber-crime uitwerking.docx
- https://www.rechtspraak.nl/organisatie-en-contact/organisatie/rechtbanken/rechtbank-noord-nederland/nieuws/gevangenisstraf-voor-cybercrime-en-fraude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Samenvatting gebaseerd op WS2.5 – Weerbaar tegen cyber-crime uitwerking.docx
- M2.5 - Overzicht cybercrimedelicten.pdf
- https://www.rechtspraak.nl/organisatie-en-contact/organisatie/rechtbanken/rechtbank-noord-nederland/nieuws/gevangenisstraf-voor-cybercrime-en-fraude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pic>
        <p:nvPicPr>
          <p:cNvPr id="3" name="Image 1" descr="/mnt/data/template_unzip/ppt/media/image2.jpeg"/>
          <p:cNvPicPr>
            <a:picLocks noChangeAspect="1"/>
          </p:cNvPicPr>
          <p:nvPr/>
        </p:nvPicPr>
        <p:blipFill>
          <a:blip r:embed="rId5"/>
          <a:stretch>
            <a:fillRect/>
          </a:stretch>
        </p:blipFill>
        <p:spPr>
          <a:xfrm>
            <a:off x="0" y="6199632"/>
            <a:ext cx="12191695" cy="658368"/>
          </a:xfrm>
          <a:prstGeom prst="rect">
            <a:avLst/>
          </a:prstGeom>
        </p:spPr>
      </p:pic>
      <p:sp>
        <p:nvSpPr>
          <p:cNvPr id="4" name="Shape 0"/>
          <p:cNvSpPr/>
          <p:nvPr/>
        </p:nvSpPr>
        <p:spPr>
          <a:xfrm>
            <a:off x="4983480" y="54864"/>
            <a:ext cx="6995160" cy="6053328"/>
          </a:xfrm>
          <a:prstGeom prst="ellipse">
            <a:avLst/>
          </a:prstGeom>
          <a:solidFill>
            <a:srgbClr val="041B34"/>
          </a:solidFill>
          <a:ln w="19050">
            <a:solidFill>
              <a:srgbClr val="C79B2E"/>
            </a:solidFill>
            <a:prstDash val="solid"/>
          </a:ln>
        </p:spPr>
        <p:txBody>
          <a:bodyPr/>
          <a:lstStyle/>
          <a:p>
            <a:endParaRPr lang="nl-NL"/>
          </a:p>
        </p:txBody>
      </p:sp>
      <p:sp>
        <p:nvSpPr>
          <p:cNvPr id="5" name="Shape 1"/>
          <p:cNvSpPr/>
          <p:nvPr/>
        </p:nvSpPr>
        <p:spPr>
          <a:xfrm>
            <a:off x="5468112" y="219456"/>
            <a:ext cx="6309360" cy="5650992"/>
          </a:xfrm>
          <a:prstGeom prst="ellipse">
            <a:avLst/>
          </a:prstGeom>
          <a:solidFill>
            <a:srgbClr val="163554"/>
          </a:solidFill>
          <a:ln w="12700">
            <a:solidFill>
              <a:srgbClr val="163554">
                <a:alpha val="0"/>
              </a:srgbClr>
            </a:solidFill>
            <a:prstDash val="solid"/>
          </a:ln>
        </p:spPr>
        <p:txBody>
          <a:bodyPr/>
          <a:lstStyle/>
          <a:p>
            <a:endParaRPr lang="nl-NL"/>
          </a:p>
        </p:txBody>
      </p:sp>
      <p:sp>
        <p:nvSpPr>
          <p:cNvPr id="6" name="Text 2"/>
          <p:cNvSpPr/>
          <p:nvPr/>
        </p:nvSpPr>
        <p:spPr>
          <a:xfrm>
            <a:off x="640080" y="475488"/>
            <a:ext cx="4297680" cy="1920240"/>
          </a:xfrm>
          <a:prstGeom prst="rect">
            <a:avLst/>
          </a:prstGeom>
          <a:noFill/>
          <a:ln/>
        </p:spPr>
        <p:txBody>
          <a:bodyPr wrap="square" lIns="0" tIns="0" rIns="0" bIns="0" rtlCol="0" anchor="ctr"/>
          <a:lstStyle/>
          <a:p>
            <a:pPr marL="0" indent="0">
              <a:buNone/>
            </a:pPr>
            <a:r>
              <a:rPr lang="en-US" sz="2550" dirty="0">
                <a:solidFill>
                  <a:srgbClr val="F4C757"/>
                </a:solidFill>
                <a:latin typeface="Gill Sans MT" pitchFamily="34" charset="0"/>
                <a:ea typeface="Gill Sans MT" pitchFamily="34" charset="-122"/>
                <a:cs typeface="Gill Sans MT" pitchFamily="34" charset="-120"/>
              </a:rPr>
              <a:t>WS2.5</a:t>
            </a:r>
            <a:endParaRPr lang="en-US" sz="2550" dirty="0"/>
          </a:p>
          <a:p>
            <a:pPr marL="0" indent="0">
              <a:buNone/>
            </a:pPr>
            <a:r>
              <a:rPr lang="en-US" sz="2550" dirty="0">
                <a:solidFill>
                  <a:srgbClr val="F4C757"/>
                </a:solidFill>
                <a:latin typeface="Gill Sans MT" pitchFamily="34" charset="0"/>
                <a:ea typeface="Gill Sans MT" pitchFamily="34" charset="-122"/>
                <a:cs typeface="Gill Sans MT" pitchFamily="34" charset="-120"/>
              </a:rPr>
              <a:t>WEERBAAR TEGEN</a:t>
            </a:r>
            <a:endParaRPr lang="en-US" sz="2550" dirty="0"/>
          </a:p>
          <a:p>
            <a:pPr marL="0" indent="0">
              <a:buNone/>
            </a:pPr>
            <a:r>
              <a:rPr lang="en-US" sz="2550" dirty="0">
                <a:solidFill>
                  <a:srgbClr val="F4C757"/>
                </a:solidFill>
                <a:latin typeface="Gill Sans MT" pitchFamily="34" charset="0"/>
                <a:ea typeface="Gill Sans MT" pitchFamily="34" charset="-122"/>
                <a:cs typeface="Gill Sans MT" pitchFamily="34" charset="-120"/>
              </a:rPr>
              <a:t>CYBER-CRIME</a:t>
            </a:r>
            <a:endParaRPr lang="en-US" sz="2550" dirty="0"/>
          </a:p>
        </p:txBody>
      </p:sp>
      <p:sp>
        <p:nvSpPr>
          <p:cNvPr id="7" name="Text 3"/>
          <p:cNvSpPr/>
          <p:nvPr/>
        </p:nvSpPr>
        <p:spPr>
          <a:xfrm>
            <a:off x="640080" y="2487168"/>
            <a:ext cx="4206240" cy="685800"/>
          </a:xfrm>
          <a:prstGeom prst="rect">
            <a:avLst/>
          </a:prstGeom>
          <a:noFill/>
          <a:ln/>
        </p:spPr>
        <p:txBody>
          <a:bodyPr wrap="square" lIns="0" tIns="0" rIns="0" bIns="0" rtlCol="0" anchor="ctr"/>
          <a:lstStyle/>
          <a:p>
            <a:pPr marL="0" indent="0">
              <a:buNone/>
            </a:pPr>
            <a:r>
              <a:rPr lang="en-US" sz="1850" b="1" i="1" dirty="0">
                <a:solidFill>
                  <a:srgbClr val="FFFFFF"/>
                </a:solidFill>
                <a:latin typeface="Gill Sans MT" pitchFamily="34" charset="0"/>
                <a:ea typeface="Gill Sans MT" pitchFamily="34" charset="-122"/>
                <a:cs typeface="Gill Sans MT" pitchFamily="34" charset="-120"/>
              </a:rPr>
              <a:t>Zaak: Gevangenisstraf voor cybercrime en fraude</a:t>
            </a:r>
            <a:endParaRPr lang="en-US" sz="1850" dirty="0"/>
          </a:p>
        </p:txBody>
      </p:sp>
      <p:sp>
        <p:nvSpPr>
          <p:cNvPr id="8" name="Text 4"/>
          <p:cNvSpPr/>
          <p:nvPr/>
        </p:nvSpPr>
        <p:spPr>
          <a:xfrm>
            <a:off x="640080" y="5257800"/>
            <a:ext cx="3657600" cy="228600"/>
          </a:xfrm>
          <a:prstGeom prst="rect">
            <a:avLst/>
          </a:prstGeom>
          <a:noFill/>
          <a:ln/>
        </p:spPr>
        <p:txBody>
          <a:bodyPr wrap="square" lIns="0" tIns="0" rIns="0" bIns="0" rtlCol="0" anchor="ctr"/>
          <a:lstStyle/>
          <a:p>
            <a:pPr marL="0" indent="0">
              <a:buNone/>
            </a:pPr>
            <a:r>
              <a:rPr lang="en-US" sz="1450" dirty="0">
                <a:solidFill>
                  <a:srgbClr val="222222"/>
                </a:solidFill>
                <a:latin typeface="Gill Sans MT" pitchFamily="34" charset="0"/>
                <a:ea typeface="Gill Sans MT" pitchFamily="34" charset="-122"/>
                <a:cs typeface="Gill Sans MT" pitchFamily="34" charset="-120"/>
              </a:rPr>
              <a:t>Groep 10 – Firewall Force</a:t>
            </a:r>
            <a:endParaRPr lang="en-US" sz="1450" dirty="0"/>
          </a:p>
        </p:txBody>
      </p:sp>
      <p:sp>
        <p:nvSpPr>
          <p:cNvPr id="9" name="Text 5"/>
          <p:cNvSpPr/>
          <p:nvPr/>
        </p:nvSpPr>
        <p:spPr>
          <a:xfrm>
            <a:off x="640080" y="5532120"/>
            <a:ext cx="3931920" cy="256032"/>
          </a:xfrm>
          <a:prstGeom prst="rect">
            <a:avLst/>
          </a:prstGeom>
          <a:noFill/>
          <a:ln/>
        </p:spPr>
        <p:txBody>
          <a:bodyPr wrap="square" lIns="0" tIns="0" rIns="0" bIns="0" rtlCol="0" anchor="ctr"/>
          <a:lstStyle/>
          <a:p>
            <a:pPr marL="0" indent="0">
              <a:buNone/>
            </a:pPr>
            <a:r>
              <a:rPr lang="en-US" sz="1700" b="1" dirty="0">
                <a:solidFill>
                  <a:srgbClr val="222222"/>
                </a:solidFill>
                <a:latin typeface="Gill Sans MT" pitchFamily="34" charset="0"/>
                <a:ea typeface="Gill Sans MT" pitchFamily="34" charset="-122"/>
                <a:cs typeface="Gill Sans MT" pitchFamily="34" charset="-120"/>
              </a:rPr>
              <a:t>Bavli, Jonas, Lucas, Vo</a:t>
            </a:r>
            <a:endParaRPr lang="en-US" sz="1700" dirty="0"/>
          </a:p>
        </p:txBody>
      </p:sp>
      <p:pic>
        <p:nvPicPr>
          <p:cNvPr id="10" name="Image 2" descr="/mnt/data/template_unzip/ppt/media/image1.png"/>
          <p:cNvPicPr>
            <a:picLocks noChangeAspect="1"/>
          </p:cNvPicPr>
          <p:nvPr/>
        </p:nvPicPr>
        <p:blipFill>
          <a:blip r:embed="rId6"/>
          <a:stretch>
            <a:fillRect/>
          </a:stretch>
        </p:blipFill>
        <p:spPr>
          <a:xfrm>
            <a:off x="5961888" y="932688"/>
            <a:ext cx="3794760" cy="3794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pic>
        <p:nvPicPr>
          <p:cNvPr id="3" name="Image 1" descr="/mnt/data/template_unzip/ppt/media/image2.jpeg"/>
          <p:cNvPicPr>
            <a:picLocks noChangeAspect="1"/>
          </p:cNvPicPr>
          <p:nvPr/>
        </p:nvPicPr>
        <p:blipFill>
          <a:blip r:embed="rId5"/>
          <a:stretch>
            <a:fillRect/>
          </a:stretch>
        </p:blipFill>
        <p:spPr>
          <a:xfrm>
            <a:off x="0" y="6199632"/>
            <a:ext cx="12191695" cy="658368"/>
          </a:xfrm>
          <a:prstGeom prst="rect">
            <a:avLst/>
          </a:prstGeom>
        </p:spPr>
      </p:pic>
      <p:sp>
        <p:nvSpPr>
          <p:cNvPr id="4" name="Text 0"/>
          <p:cNvSpPr/>
          <p:nvPr/>
        </p:nvSpPr>
        <p:spPr>
          <a:xfrm>
            <a:off x="502920" y="301752"/>
            <a:ext cx="9784080" cy="384048"/>
          </a:xfrm>
          <a:prstGeom prst="rect">
            <a:avLst/>
          </a:prstGeom>
          <a:noFill/>
          <a:ln/>
        </p:spPr>
        <p:txBody>
          <a:bodyPr wrap="square" lIns="0" tIns="0" rIns="0" bIns="0" rtlCol="0" anchor="ctr"/>
          <a:lstStyle/>
          <a:p>
            <a:pPr marL="0" indent="0">
              <a:buNone/>
            </a:pPr>
            <a:r>
              <a:rPr lang="en-US" sz="2400" dirty="0">
                <a:solidFill>
                  <a:srgbClr val="FFFFFF"/>
                </a:solidFill>
                <a:latin typeface="Gill Sans MT" pitchFamily="34" charset="0"/>
                <a:ea typeface="Gill Sans MT" pitchFamily="34" charset="-122"/>
                <a:cs typeface="Gill Sans MT" pitchFamily="34" charset="-120"/>
              </a:rPr>
              <a:t>AGENDA</a:t>
            </a:r>
            <a:endParaRPr lang="en-US" sz="2400" dirty="0"/>
          </a:p>
        </p:txBody>
      </p:sp>
      <p:pic>
        <p:nvPicPr>
          <p:cNvPr id="5" name="Image 2" descr="/mnt/data/template_unzip/ppt/media/image1.png"/>
          <p:cNvPicPr>
            <a:picLocks noChangeAspect="1"/>
          </p:cNvPicPr>
          <p:nvPr/>
        </p:nvPicPr>
        <p:blipFill>
          <a:blip r:embed="rId6">
            <a:alphaModFix amt="97000"/>
          </a:blip>
          <a:stretch>
            <a:fillRect/>
          </a:stretch>
        </p:blipFill>
        <p:spPr>
          <a:xfrm>
            <a:off x="10588752" y="146304"/>
            <a:ext cx="1280160" cy="1280160"/>
          </a:xfrm>
          <a:prstGeom prst="rect">
            <a:avLst/>
          </a:prstGeom>
        </p:spPr>
      </p:pic>
      <p:sp>
        <p:nvSpPr>
          <p:cNvPr id="6" name="Shape 1"/>
          <p:cNvSpPr/>
          <p:nvPr/>
        </p:nvSpPr>
        <p:spPr>
          <a:xfrm>
            <a:off x="1325880" y="159105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7" name="Text 2"/>
          <p:cNvSpPr/>
          <p:nvPr/>
        </p:nvSpPr>
        <p:spPr>
          <a:xfrm>
            <a:off x="1481328" y="1508760"/>
            <a:ext cx="4160520" cy="411480"/>
          </a:xfrm>
          <a:prstGeom prst="rect">
            <a:avLst/>
          </a:prstGeom>
          <a:noFill/>
          <a:ln/>
        </p:spPr>
        <p:txBody>
          <a:bodyPr wrap="square" lIns="0" tIns="0" rIns="0" bIns="0" rtlCol="0" anchor="ctr"/>
          <a:lstStyle/>
          <a:p>
            <a:pPr marL="0" indent="0">
              <a:buNone/>
            </a:pPr>
            <a:r>
              <a:rPr lang="en-US" sz="1750" b="1" dirty="0">
                <a:solidFill>
                  <a:srgbClr val="FFFFFF"/>
                </a:solidFill>
                <a:latin typeface="Gill Sans MT" pitchFamily="34" charset="0"/>
                <a:ea typeface="Gill Sans MT" pitchFamily="34" charset="-122"/>
                <a:cs typeface="Gill Sans MT" pitchFamily="34" charset="-120"/>
              </a:rPr>
              <a:t>Wat is er gebeurd?</a:t>
            </a:r>
            <a:endParaRPr lang="en-US" sz="1750" dirty="0"/>
          </a:p>
        </p:txBody>
      </p:sp>
      <p:sp>
        <p:nvSpPr>
          <p:cNvPr id="8" name="Shape 3"/>
          <p:cNvSpPr/>
          <p:nvPr/>
        </p:nvSpPr>
        <p:spPr>
          <a:xfrm>
            <a:off x="1325880" y="2249424"/>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9" name="Text 4"/>
          <p:cNvSpPr/>
          <p:nvPr/>
        </p:nvSpPr>
        <p:spPr>
          <a:xfrm>
            <a:off x="1481328" y="2167128"/>
            <a:ext cx="4160520" cy="411480"/>
          </a:xfrm>
          <a:prstGeom prst="rect">
            <a:avLst/>
          </a:prstGeom>
          <a:noFill/>
          <a:ln/>
        </p:spPr>
        <p:txBody>
          <a:bodyPr wrap="square" lIns="0" tIns="0" rIns="0" bIns="0" rtlCol="0" anchor="ctr"/>
          <a:lstStyle/>
          <a:p>
            <a:pPr marL="0" indent="0">
              <a:buNone/>
            </a:pPr>
            <a:r>
              <a:rPr lang="en-US" sz="1750" b="1" dirty="0">
                <a:solidFill>
                  <a:srgbClr val="FFFFFF"/>
                </a:solidFill>
                <a:latin typeface="Gill Sans MT" pitchFamily="34" charset="0"/>
                <a:ea typeface="Gill Sans MT" pitchFamily="34" charset="-122"/>
                <a:cs typeface="Gill Sans MT" pitchFamily="34" charset="-120"/>
              </a:rPr>
              <a:t>Hoofddelict: art. 138ab Sr</a:t>
            </a:r>
            <a:endParaRPr lang="en-US" sz="1750" dirty="0"/>
          </a:p>
        </p:txBody>
      </p:sp>
      <p:sp>
        <p:nvSpPr>
          <p:cNvPr id="10" name="Shape 5"/>
          <p:cNvSpPr/>
          <p:nvPr/>
        </p:nvSpPr>
        <p:spPr>
          <a:xfrm>
            <a:off x="1325880" y="2907792"/>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1" name="Text 6"/>
          <p:cNvSpPr/>
          <p:nvPr/>
        </p:nvSpPr>
        <p:spPr>
          <a:xfrm>
            <a:off x="1481328" y="2825496"/>
            <a:ext cx="4160520" cy="411480"/>
          </a:xfrm>
          <a:prstGeom prst="rect">
            <a:avLst/>
          </a:prstGeom>
          <a:noFill/>
          <a:ln/>
        </p:spPr>
        <p:txBody>
          <a:bodyPr wrap="square" lIns="0" tIns="0" rIns="0" bIns="0" rtlCol="0" anchor="ctr"/>
          <a:lstStyle/>
          <a:p>
            <a:pPr marL="0" indent="0">
              <a:buNone/>
            </a:pPr>
            <a:r>
              <a:rPr lang="en-US" sz="1750" b="1" dirty="0">
                <a:solidFill>
                  <a:srgbClr val="FFFFFF"/>
                </a:solidFill>
                <a:latin typeface="Gill Sans MT" pitchFamily="34" charset="0"/>
                <a:ea typeface="Gill Sans MT" pitchFamily="34" charset="-122"/>
                <a:cs typeface="Gill Sans MT" pitchFamily="34" charset="-120"/>
              </a:rPr>
              <a:t>Wettekst en eigen woorden</a:t>
            </a:r>
            <a:endParaRPr lang="en-US" sz="1750" dirty="0"/>
          </a:p>
        </p:txBody>
      </p:sp>
      <p:sp>
        <p:nvSpPr>
          <p:cNvPr id="12" name="Shape 7"/>
          <p:cNvSpPr/>
          <p:nvPr/>
        </p:nvSpPr>
        <p:spPr>
          <a:xfrm>
            <a:off x="1325880" y="3566160"/>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3" name="Text 8"/>
          <p:cNvSpPr/>
          <p:nvPr/>
        </p:nvSpPr>
        <p:spPr>
          <a:xfrm>
            <a:off x="1481328" y="3483864"/>
            <a:ext cx="4160520" cy="411480"/>
          </a:xfrm>
          <a:prstGeom prst="rect">
            <a:avLst/>
          </a:prstGeom>
          <a:noFill/>
          <a:ln/>
        </p:spPr>
        <p:txBody>
          <a:bodyPr wrap="square" lIns="0" tIns="0" rIns="0" bIns="0" rtlCol="0" anchor="ctr"/>
          <a:lstStyle/>
          <a:p>
            <a:pPr marL="0" indent="0">
              <a:buNone/>
            </a:pPr>
            <a:r>
              <a:rPr lang="en-US" sz="1750" b="1" dirty="0">
                <a:solidFill>
                  <a:srgbClr val="FFFFFF"/>
                </a:solidFill>
                <a:latin typeface="Gill Sans MT" pitchFamily="34" charset="0"/>
                <a:ea typeface="Gill Sans MT" pitchFamily="34" charset="-122"/>
                <a:cs typeface="Gill Sans MT" pitchFamily="34" charset="-120"/>
              </a:rPr>
              <a:t>Oordeel van de rechtbank</a:t>
            </a:r>
            <a:endParaRPr lang="en-US" sz="1750" dirty="0"/>
          </a:p>
        </p:txBody>
      </p:sp>
      <p:sp>
        <p:nvSpPr>
          <p:cNvPr id="14" name="Shape 9"/>
          <p:cNvSpPr/>
          <p:nvPr/>
        </p:nvSpPr>
        <p:spPr>
          <a:xfrm>
            <a:off x="6583680" y="159105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5" name="Text 10"/>
          <p:cNvSpPr/>
          <p:nvPr/>
        </p:nvSpPr>
        <p:spPr>
          <a:xfrm>
            <a:off x="6739128" y="1508760"/>
            <a:ext cx="4160520" cy="411480"/>
          </a:xfrm>
          <a:prstGeom prst="rect">
            <a:avLst/>
          </a:prstGeom>
          <a:noFill/>
          <a:ln/>
        </p:spPr>
        <p:txBody>
          <a:bodyPr wrap="square" lIns="0" tIns="0" rIns="0" bIns="0" rtlCol="0" anchor="ctr"/>
          <a:lstStyle/>
          <a:p>
            <a:pPr marL="0" indent="0">
              <a:buNone/>
            </a:pPr>
            <a:r>
              <a:rPr lang="en-US" sz="1750" b="1" dirty="0">
                <a:solidFill>
                  <a:srgbClr val="FFFFFF"/>
                </a:solidFill>
                <a:latin typeface="Gill Sans MT" pitchFamily="34" charset="0"/>
                <a:ea typeface="Gill Sans MT" pitchFamily="34" charset="-122"/>
                <a:cs typeface="Gill Sans MT" pitchFamily="34" charset="-120"/>
              </a:rPr>
              <a:t>Opgelegde straf</a:t>
            </a:r>
            <a:endParaRPr lang="en-US" sz="1750" dirty="0"/>
          </a:p>
        </p:txBody>
      </p:sp>
      <p:sp>
        <p:nvSpPr>
          <p:cNvPr id="16" name="Shape 11"/>
          <p:cNvSpPr/>
          <p:nvPr/>
        </p:nvSpPr>
        <p:spPr>
          <a:xfrm>
            <a:off x="6583680" y="2249424"/>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7" name="Text 12"/>
          <p:cNvSpPr/>
          <p:nvPr/>
        </p:nvSpPr>
        <p:spPr>
          <a:xfrm>
            <a:off x="6739128" y="2167128"/>
            <a:ext cx="4160520" cy="411480"/>
          </a:xfrm>
          <a:prstGeom prst="rect">
            <a:avLst/>
          </a:prstGeom>
          <a:noFill/>
          <a:ln/>
        </p:spPr>
        <p:txBody>
          <a:bodyPr wrap="square" lIns="0" tIns="0" rIns="0" bIns="0" rtlCol="0" anchor="ctr"/>
          <a:lstStyle/>
          <a:p>
            <a:pPr marL="0" indent="0">
              <a:buNone/>
            </a:pPr>
            <a:r>
              <a:rPr lang="en-US" sz="1750" b="1" dirty="0">
                <a:solidFill>
                  <a:srgbClr val="FFFFFF"/>
                </a:solidFill>
                <a:latin typeface="Gill Sans MT" pitchFamily="34" charset="0"/>
                <a:ea typeface="Gill Sans MT" pitchFamily="34" charset="-122"/>
                <a:cs typeface="Gill Sans MT" pitchFamily="34" charset="-120"/>
              </a:rPr>
              <a:t>Waarom de straf zo zwaar is</a:t>
            </a:r>
            <a:endParaRPr lang="en-US" sz="1750" dirty="0"/>
          </a:p>
        </p:txBody>
      </p:sp>
      <p:sp>
        <p:nvSpPr>
          <p:cNvPr id="18" name="Shape 13"/>
          <p:cNvSpPr/>
          <p:nvPr/>
        </p:nvSpPr>
        <p:spPr>
          <a:xfrm>
            <a:off x="6583680" y="2907792"/>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9" name="Text 14"/>
          <p:cNvSpPr/>
          <p:nvPr/>
        </p:nvSpPr>
        <p:spPr>
          <a:xfrm>
            <a:off x="6739128" y="2825496"/>
            <a:ext cx="4160520" cy="411480"/>
          </a:xfrm>
          <a:prstGeom prst="rect">
            <a:avLst/>
          </a:prstGeom>
          <a:noFill/>
          <a:ln/>
        </p:spPr>
        <p:txBody>
          <a:bodyPr wrap="square" lIns="0" tIns="0" rIns="0" bIns="0" rtlCol="0" anchor="ctr"/>
          <a:lstStyle/>
          <a:p>
            <a:pPr marL="0" indent="0">
              <a:buNone/>
            </a:pPr>
            <a:r>
              <a:rPr lang="en-US" sz="1750" b="1" dirty="0">
                <a:solidFill>
                  <a:srgbClr val="FFFFFF"/>
                </a:solidFill>
                <a:latin typeface="Gill Sans MT" pitchFamily="34" charset="0"/>
                <a:ea typeface="Gill Sans MT" pitchFamily="34" charset="-122"/>
                <a:cs typeface="Gill Sans MT" pitchFamily="34" charset="-120"/>
              </a:rPr>
              <a:t>Is de straf rechtvaardig?</a:t>
            </a:r>
            <a:endParaRPr lang="en-US" sz="1750" dirty="0"/>
          </a:p>
        </p:txBody>
      </p:sp>
      <p:sp>
        <p:nvSpPr>
          <p:cNvPr id="20" name="Shape 15"/>
          <p:cNvSpPr/>
          <p:nvPr/>
        </p:nvSpPr>
        <p:spPr>
          <a:xfrm>
            <a:off x="6583680" y="3566160"/>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21" name="Text 16"/>
          <p:cNvSpPr/>
          <p:nvPr/>
        </p:nvSpPr>
        <p:spPr>
          <a:xfrm>
            <a:off x="6739128" y="3483864"/>
            <a:ext cx="4160520" cy="411480"/>
          </a:xfrm>
          <a:prstGeom prst="rect">
            <a:avLst/>
          </a:prstGeom>
          <a:noFill/>
          <a:ln/>
        </p:spPr>
        <p:txBody>
          <a:bodyPr wrap="square" lIns="0" tIns="0" rIns="0" bIns="0" rtlCol="0" anchor="ctr"/>
          <a:lstStyle/>
          <a:p>
            <a:pPr marL="0" indent="0">
              <a:buNone/>
            </a:pPr>
            <a:r>
              <a:rPr lang="en-US" sz="1750" b="1" dirty="0">
                <a:solidFill>
                  <a:srgbClr val="FFFFFF"/>
                </a:solidFill>
                <a:latin typeface="Gill Sans MT" pitchFamily="34" charset="0"/>
                <a:ea typeface="Gill Sans MT" pitchFamily="34" charset="-122"/>
                <a:cs typeface="Gill Sans MT" pitchFamily="34" charset="-120"/>
              </a:rPr>
              <a:t>Conclusie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pic>
        <p:nvPicPr>
          <p:cNvPr id="3" name="Image 1" descr="/mnt/data/template_unzip/ppt/media/image2.jpeg"/>
          <p:cNvPicPr>
            <a:picLocks noChangeAspect="1"/>
          </p:cNvPicPr>
          <p:nvPr/>
        </p:nvPicPr>
        <p:blipFill>
          <a:blip r:embed="rId5"/>
          <a:stretch>
            <a:fillRect/>
          </a:stretch>
        </p:blipFill>
        <p:spPr>
          <a:xfrm>
            <a:off x="0" y="6199632"/>
            <a:ext cx="12191695" cy="658368"/>
          </a:xfrm>
          <a:prstGeom prst="rect">
            <a:avLst/>
          </a:prstGeom>
        </p:spPr>
      </p:pic>
      <p:sp>
        <p:nvSpPr>
          <p:cNvPr id="4" name="Text 0"/>
          <p:cNvSpPr/>
          <p:nvPr/>
        </p:nvSpPr>
        <p:spPr>
          <a:xfrm>
            <a:off x="502920" y="301752"/>
            <a:ext cx="9784080" cy="384048"/>
          </a:xfrm>
          <a:prstGeom prst="rect">
            <a:avLst/>
          </a:prstGeom>
          <a:noFill/>
          <a:ln/>
        </p:spPr>
        <p:txBody>
          <a:bodyPr wrap="square" lIns="0" tIns="0" rIns="0" bIns="0" rtlCol="0" anchor="ctr"/>
          <a:lstStyle/>
          <a:p>
            <a:pPr marL="0" indent="0">
              <a:buNone/>
            </a:pPr>
            <a:r>
              <a:rPr lang="en-US" sz="2400" dirty="0">
                <a:solidFill>
                  <a:srgbClr val="FFFFFF"/>
                </a:solidFill>
                <a:latin typeface="Gill Sans MT" pitchFamily="34" charset="0"/>
                <a:ea typeface="Gill Sans MT" pitchFamily="34" charset="-122"/>
                <a:cs typeface="Gill Sans MT" pitchFamily="34" charset="-120"/>
              </a:rPr>
              <a:t>WAT IS ER GEBEURD?</a:t>
            </a:r>
            <a:endParaRPr lang="en-US" sz="2400" dirty="0"/>
          </a:p>
        </p:txBody>
      </p:sp>
      <p:sp>
        <p:nvSpPr>
          <p:cNvPr id="5" name="Text 1"/>
          <p:cNvSpPr/>
          <p:nvPr/>
        </p:nvSpPr>
        <p:spPr>
          <a:xfrm>
            <a:off x="502920" y="731520"/>
            <a:ext cx="8229600" cy="201168"/>
          </a:xfrm>
          <a:prstGeom prst="rect">
            <a:avLst/>
          </a:prstGeom>
          <a:noFill/>
          <a:ln/>
        </p:spPr>
        <p:txBody>
          <a:bodyPr wrap="square" lIns="0" tIns="0" rIns="0" bIns="0" rtlCol="0" anchor="ctr"/>
          <a:lstStyle/>
          <a:p>
            <a:pPr marL="0" indent="0">
              <a:buNone/>
            </a:pPr>
            <a:r>
              <a:rPr lang="en-US" sz="1350" i="1" dirty="0">
                <a:solidFill>
                  <a:srgbClr val="F4C757"/>
                </a:solidFill>
                <a:latin typeface="Gill Sans MT" pitchFamily="34" charset="0"/>
                <a:ea typeface="Gill Sans MT" pitchFamily="34" charset="-122"/>
                <a:cs typeface="Gill Sans MT" pitchFamily="34" charset="-120"/>
              </a:rPr>
              <a:t>Casus en werkwijze van de verdachte</a:t>
            </a:r>
            <a:endParaRPr lang="en-US" sz="1350" dirty="0"/>
          </a:p>
        </p:txBody>
      </p:sp>
      <p:pic>
        <p:nvPicPr>
          <p:cNvPr id="6" name="Image 2" descr="/mnt/data/template_unzip/ppt/media/image1.png"/>
          <p:cNvPicPr>
            <a:picLocks noChangeAspect="1"/>
          </p:cNvPicPr>
          <p:nvPr/>
        </p:nvPicPr>
        <p:blipFill>
          <a:blip r:embed="rId6">
            <a:alphaModFix amt="97000"/>
          </a:blip>
          <a:stretch>
            <a:fillRect/>
          </a:stretch>
        </p:blipFill>
        <p:spPr>
          <a:xfrm>
            <a:off x="10588752" y="146304"/>
            <a:ext cx="1280160" cy="1280160"/>
          </a:xfrm>
          <a:prstGeom prst="rect">
            <a:avLst/>
          </a:prstGeom>
        </p:spPr>
      </p:pic>
      <p:sp>
        <p:nvSpPr>
          <p:cNvPr id="7" name="Shape 2"/>
          <p:cNvSpPr/>
          <p:nvPr/>
        </p:nvSpPr>
        <p:spPr>
          <a:xfrm>
            <a:off x="658368" y="1207008"/>
            <a:ext cx="2057400" cy="329184"/>
          </a:xfrm>
          <a:prstGeom prst="roundRect">
            <a:avLst>
              <a:gd name="adj" fmla="val 22222"/>
            </a:avLst>
          </a:prstGeom>
          <a:solidFill>
            <a:srgbClr val="FFFFFF"/>
          </a:solidFill>
          <a:ln w="12700">
            <a:solidFill>
              <a:srgbClr val="D9E3EE"/>
            </a:solidFill>
            <a:prstDash val="solid"/>
          </a:ln>
        </p:spPr>
        <p:txBody>
          <a:bodyPr/>
          <a:lstStyle/>
          <a:p>
            <a:endParaRPr lang="nl-NL"/>
          </a:p>
        </p:txBody>
      </p:sp>
      <p:sp>
        <p:nvSpPr>
          <p:cNvPr id="8" name="Text 3"/>
          <p:cNvSpPr/>
          <p:nvPr/>
        </p:nvSpPr>
        <p:spPr>
          <a:xfrm>
            <a:off x="804672" y="1298448"/>
            <a:ext cx="1764792" cy="219456"/>
          </a:xfrm>
          <a:prstGeom prst="rect">
            <a:avLst/>
          </a:prstGeom>
          <a:noFill/>
          <a:ln/>
        </p:spPr>
        <p:txBody>
          <a:bodyPr wrap="square" lIns="0" tIns="0" rIns="0" bIns="0" rtlCol="0" anchor="ctr"/>
          <a:lstStyle/>
          <a:p>
            <a:pPr marL="0" indent="0">
              <a:buNone/>
            </a:pPr>
            <a:r>
              <a:rPr lang="en-US" sz="1250" b="1" dirty="0">
                <a:solidFill>
                  <a:srgbClr val="041B34"/>
                </a:solidFill>
                <a:latin typeface="Gill Sans MT" pitchFamily="34" charset="0"/>
                <a:ea typeface="Gill Sans MT" pitchFamily="34" charset="-122"/>
                <a:cs typeface="Gill Sans MT" pitchFamily="34" charset="-120"/>
              </a:rPr>
              <a:t>Kern van de zaak</a:t>
            </a:r>
            <a:endParaRPr lang="en-US" sz="1250" dirty="0"/>
          </a:p>
        </p:txBody>
      </p:sp>
      <p:sp>
        <p:nvSpPr>
          <p:cNvPr id="9" name="Shape 4"/>
          <p:cNvSpPr/>
          <p:nvPr/>
        </p:nvSpPr>
        <p:spPr>
          <a:xfrm>
            <a:off x="713232" y="1746504"/>
            <a:ext cx="64008" cy="64008"/>
          </a:xfrm>
          <a:prstGeom prst="ellipse">
            <a:avLst/>
          </a:prstGeom>
          <a:solidFill>
            <a:srgbClr val="C79B2E"/>
          </a:solidFill>
          <a:ln w="12700">
            <a:solidFill>
              <a:srgbClr val="C79B2E">
                <a:alpha val="0"/>
              </a:srgbClr>
            </a:solidFill>
            <a:prstDash val="solid"/>
          </a:ln>
        </p:spPr>
        <p:txBody>
          <a:bodyPr/>
          <a:lstStyle/>
          <a:p>
            <a:endParaRPr lang="nl-NL"/>
          </a:p>
        </p:txBody>
      </p:sp>
      <p:sp>
        <p:nvSpPr>
          <p:cNvPr id="10" name="Text 5"/>
          <p:cNvSpPr/>
          <p:nvPr/>
        </p:nvSpPr>
        <p:spPr>
          <a:xfrm>
            <a:off x="868680" y="1664208"/>
            <a:ext cx="4983480" cy="411480"/>
          </a:xfrm>
          <a:prstGeom prst="rect">
            <a:avLst/>
          </a:prstGeom>
          <a:noFill/>
          <a:ln/>
        </p:spPr>
        <p:txBody>
          <a:bodyPr wrap="square" lIns="0" tIns="0" rIns="0" bIns="0" rtlCol="0" anchor="ctr"/>
          <a:lstStyle/>
          <a:p>
            <a:pPr marL="0" indent="0">
              <a:buNone/>
            </a:pPr>
            <a:r>
              <a:rPr lang="en-US" sz="1550" b="1" dirty="0">
                <a:solidFill>
                  <a:schemeClr val="bg1"/>
                </a:solidFill>
                <a:latin typeface="Gill Sans MT" pitchFamily="34" charset="0"/>
                <a:ea typeface="Gill Sans MT" pitchFamily="34" charset="-122"/>
                <a:cs typeface="Gill Sans MT" pitchFamily="34" charset="-120"/>
              </a:rPr>
              <a:t>Onrechtmatig inloggen bij een T-Mobile-dealer</a:t>
            </a:r>
            <a:endParaRPr lang="en-US" sz="1550" dirty="0">
              <a:solidFill>
                <a:schemeClr val="bg1"/>
              </a:solidFill>
            </a:endParaRPr>
          </a:p>
        </p:txBody>
      </p:sp>
      <p:sp>
        <p:nvSpPr>
          <p:cNvPr id="11" name="Shape 6"/>
          <p:cNvSpPr/>
          <p:nvPr/>
        </p:nvSpPr>
        <p:spPr>
          <a:xfrm>
            <a:off x="713232" y="2414016"/>
            <a:ext cx="64008" cy="64008"/>
          </a:xfrm>
          <a:prstGeom prst="ellipse">
            <a:avLst/>
          </a:prstGeom>
          <a:solidFill>
            <a:srgbClr val="C79B2E"/>
          </a:solidFill>
          <a:ln w="12700">
            <a:solidFill>
              <a:srgbClr val="C79B2E">
                <a:alpha val="0"/>
              </a:srgbClr>
            </a:solidFill>
            <a:prstDash val="solid"/>
          </a:ln>
        </p:spPr>
        <p:txBody>
          <a:bodyPr/>
          <a:lstStyle/>
          <a:p>
            <a:endParaRPr lang="nl-NL"/>
          </a:p>
        </p:txBody>
      </p:sp>
      <p:sp>
        <p:nvSpPr>
          <p:cNvPr id="12" name="Text 7"/>
          <p:cNvSpPr/>
          <p:nvPr/>
        </p:nvSpPr>
        <p:spPr>
          <a:xfrm>
            <a:off x="868680" y="2331720"/>
            <a:ext cx="4983480" cy="411480"/>
          </a:xfrm>
          <a:prstGeom prst="rect">
            <a:avLst/>
          </a:prstGeom>
          <a:noFill/>
          <a:ln/>
        </p:spPr>
        <p:txBody>
          <a:bodyPr wrap="square" lIns="0" tIns="0" rIns="0" bIns="0" rtlCol="0" anchor="ctr"/>
          <a:lstStyle/>
          <a:p>
            <a:pPr marL="0" indent="0">
              <a:buNone/>
            </a:pPr>
            <a:r>
              <a:rPr lang="en-US" sz="1550" b="1" dirty="0">
                <a:solidFill>
                  <a:schemeClr val="bg1"/>
                </a:solidFill>
                <a:latin typeface="Gill Sans MT" pitchFamily="34" charset="0"/>
                <a:ea typeface="Gill Sans MT" pitchFamily="34" charset="-122"/>
                <a:cs typeface="Gill Sans MT" pitchFamily="34" charset="-120"/>
              </a:rPr>
              <a:t>Simswaps uitvoeren en telefoonnummers overnemen</a:t>
            </a:r>
            <a:endParaRPr lang="en-US" sz="1550" dirty="0">
              <a:solidFill>
                <a:schemeClr val="bg1"/>
              </a:solidFill>
            </a:endParaRPr>
          </a:p>
        </p:txBody>
      </p:sp>
      <p:sp>
        <p:nvSpPr>
          <p:cNvPr id="13" name="Shape 8"/>
          <p:cNvSpPr/>
          <p:nvPr/>
        </p:nvSpPr>
        <p:spPr>
          <a:xfrm>
            <a:off x="713232" y="3081528"/>
            <a:ext cx="64008" cy="64008"/>
          </a:xfrm>
          <a:prstGeom prst="ellipse">
            <a:avLst/>
          </a:prstGeom>
          <a:solidFill>
            <a:srgbClr val="C79B2E"/>
          </a:solidFill>
          <a:ln w="12700">
            <a:solidFill>
              <a:srgbClr val="C79B2E">
                <a:alpha val="0"/>
              </a:srgbClr>
            </a:solidFill>
            <a:prstDash val="solid"/>
          </a:ln>
        </p:spPr>
        <p:txBody>
          <a:bodyPr/>
          <a:lstStyle/>
          <a:p>
            <a:endParaRPr lang="nl-NL"/>
          </a:p>
        </p:txBody>
      </p:sp>
      <p:sp>
        <p:nvSpPr>
          <p:cNvPr id="14" name="Text 9"/>
          <p:cNvSpPr/>
          <p:nvPr/>
        </p:nvSpPr>
        <p:spPr>
          <a:xfrm>
            <a:off x="868680" y="2999232"/>
            <a:ext cx="4983480" cy="411480"/>
          </a:xfrm>
          <a:prstGeom prst="rect">
            <a:avLst/>
          </a:prstGeom>
          <a:noFill/>
          <a:ln/>
        </p:spPr>
        <p:txBody>
          <a:bodyPr wrap="square" lIns="0" tIns="0" rIns="0" bIns="0" rtlCol="0" anchor="ctr"/>
          <a:lstStyle/>
          <a:p>
            <a:pPr marL="0" indent="0">
              <a:buNone/>
            </a:pPr>
            <a:r>
              <a:rPr lang="en-US" sz="1550" b="1" dirty="0">
                <a:solidFill>
                  <a:schemeClr val="bg1"/>
                </a:solidFill>
                <a:latin typeface="Gill Sans MT" pitchFamily="34" charset="0"/>
                <a:ea typeface="Gill Sans MT" pitchFamily="34" charset="-122"/>
                <a:cs typeface="Gill Sans MT" pitchFamily="34" charset="-120"/>
              </a:rPr>
              <a:t>Inbreken op My T-Mobile-accounts van particulieren</a:t>
            </a:r>
            <a:endParaRPr lang="en-US" sz="1550" dirty="0">
              <a:solidFill>
                <a:schemeClr val="bg1"/>
              </a:solidFill>
            </a:endParaRPr>
          </a:p>
        </p:txBody>
      </p:sp>
      <p:sp>
        <p:nvSpPr>
          <p:cNvPr id="15" name="Shape 10"/>
          <p:cNvSpPr/>
          <p:nvPr/>
        </p:nvSpPr>
        <p:spPr>
          <a:xfrm>
            <a:off x="713232" y="3749040"/>
            <a:ext cx="64008" cy="64008"/>
          </a:xfrm>
          <a:prstGeom prst="ellipse">
            <a:avLst/>
          </a:prstGeom>
          <a:solidFill>
            <a:srgbClr val="C79B2E"/>
          </a:solidFill>
          <a:ln w="12700">
            <a:solidFill>
              <a:srgbClr val="C79B2E">
                <a:alpha val="0"/>
              </a:srgbClr>
            </a:solidFill>
            <a:prstDash val="solid"/>
          </a:ln>
        </p:spPr>
        <p:txBody>
          <a:bodyPr/>
          <a:lstStyle/>
          <a:p>
            <a:endParaRPr lang="nl-NL"/>
          </a:p>
        </p:txBody>
      </p:sp>
      <p:sp>
        <p:nvSpPr>
          <p:cNvPr id="16" name="Text 11"/>
          <p:cNvSpPr/>
          <p:nvPr/>
        </p:nvSpPr>
        <p:spPr>
          <a:xfrm>
            <a:off x="868680" y="3666744"/>
            <a:ext cx="4983480" cy="411480"/>
          </a:xfrm>
          <a:prstGeom prst="rect">
            <a:avLst/>
          </a:prstGeom>
          <a:noFill/>
          <a:ln/>
        </p:spPr>
        <p:txBody>
          <a:bodyPr wrap="square" lIns="0" tIns="0" rIns="0" bIns="0" rtlCol="0" anchor="ctr"/>
          <a:lstStyle/>
          <a:p>
            <a:pPr marL="0" indent="0">
              <a:buNone/>
            </a:pPr>
            <a:r>
              <a:rPr lang="en-US" sz="1550" b="1" dirty="0">
                <a:solidFill>
                  <a:schemeClr val="bg1"/>
                </a:solidFill>
                <a:latin typeface="Gill Sans MT" pitchFamily="34" charset="0"/>
                <a:ea typeface="Gill Sans MT" pitchFamily="34" charset="-122"/>
                <a:cs typeface="Gill Sans MT" pitchFamily="34" charset="-120"/>
              </a:rPr>
              <a:t>Crypto stelen en phishing-sms'jes versturen</a:t>
            </a:r>
            <a:endParaRPr lang="en-US" sz="1550" dirty="0">
              <a:solidFill>
                <a:schemeClr val="bg1"/>
              </a:solidFill>
            </a:endParaRPr>
          </a:p>
        </p:txBody>
      </p:sp>
      <p:sp>
        <p:nvSpPr>
          <p:cNvPr id="17" name="Shape 12"/>
          <p:cNvSpPr/>
          <p:nvPr/>
        </p:nvSpPr>
        <p:spPr>
          <a:xfrm>
            <a:off x="713232" y="4416552"/>
            <a:ext cx="64008" cy="64008"/>
          </a:xfrm>
          <a:prstGeom prst="ellipse">
            <a:avLst/>
          </a:prstGeom>
          <a:solidFill>
            <a:srgbClr val="C79B2E"/>
          </a:solidFill>
          <a:ln w="12700">
            <a:solidFill>
              <a:srgbClr val="C79B2E">
                <a:alpha val="0"/>
              </a:srgbClr>
            </a:solidFill>
            <a:prstDash val="solid"/>
          </a:ln>
        </p:spPr>
        <p:txBody>
          <a:bodyPr/>
          <a:lstStyle/>
          <a:p>
            <a:endParaRPr lang="nl-NL"/>
          </a:p>
        </p:txBody>
      </p:sp>
      <p:sp>
        <p:nvSpPr>
          <p:cNvPr id="18" name="Text 13"/>
          <p:cNvSpPr/>
          <p:nvPr/>
        </p:nvSpPr>
        <p:spPr>
          <a:xfrm>
            <a:off x="868680" y="4334256"/>
            <a:ext cx="4983480" cy="411480"/>
          </a:xfrm>
          <a:prstGeom prst="rect">
            <a:avLst/>
          </a:prstGeom>
          <a:noFill/>
          <a:ln/>
        </p:spPr>
        <p:txBody>
          <a:bodyPr wrap="square" lIns="0" tIns="0" rIns="0" bIns="0" rtlCol="0" anchor="ctr"/>
          <a:lstStyle/>
          <a:p>
            <a:pPr marL="0" indent="0">
              <a:buNone/>
            </a:pPr>
            <a:r>
              <a:rPr lang="en-US" sz="1550" b="1" dirty="0">
                <a:solidFill>
                  <a:schemeClr val="bg1"/>
                </a:solidFill>
                <a:latin typeface="Gill Sans MT" pitchFamily="34" charset="0"/>
                <a:ea typeface="Gill Sans MT" pitchFamily="34" charset="-122"/>
                <a:cs typeface="Gill Sans MT" pitchFamily="34" charset="-120"/>
              </a:rPr>
              <a:t>Slachtoffers ook telefonisch misleiden en geld afpakken</a:t>
            </a:r>
            <a:endParaRPr lang="en-US" sz="1550" dirty="0">
              <a:solidFill>
                <a:schemeClr val="bg1"/>
              </a:solidFill>
            </a:endParaRPr>
          </a:p>
        </p:txBody>
      </p:sp>
      <p:sp>
        <p:nvSpPr>
          <p:cNvPr id="19" name="Shape 14"/>
          <p:cNvSpPr/>
          <p:nvPr/>
        </p:nvSpPr>
        <p:spPr>
          <a:xfrm>
            <a:off x="6144768" y="1554480"/>
            <a:ext cx="1901952" cy="566928"/>
          </a:xfrm>
          <a:prstGeom prst="roundRect">
            <a:avLst>
              <a:gd name="adj" fmla="val 12903"/>
            </a:avLst>
          </a:prstGeom>
          <a:solidFill>
            <a:srgbClr val="FFFFFF"/>
          </a:solidFill>
          <a:ln w="12700">
            <a:solidFill>
              <a:srgbClr val="D9E3EE"/>
            </a:solidFill>
            <a:prstDash val="solid"/>
          </a:ln>
        </p:spPr>
        <p:txBody>
          <a:bodyPr/>
          <a:lstStyle/>
          <a:p>
            <a:endParaRPr lang="nl-NL"/>
          </a:p>
        </p:txBody>
      </p:sp>
      <p:sp>
        <p:nvSpPr>
          <p:cNvPr id="20" name="Text 15"/>
          <p:cNvSpPr/>
          <p:nvPr/>
        </p:nvSpPr>
        <p:spPr>
          <a:xfrm>
            <a:off x="6254496" y="1645920"/>
            <a:ext cx="1700784" cy="182880"/>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1. Dealeraccount</a:t>
            </a:r>
            <a:endParaRPr lang="en-US" sz="1320" dirty="0"/>
          </a:p>
        </p:txBody>
      </p:sp>
      <p:sp>
        <p:nvSpPr>
          <p:cNvPr id="21" name="Text 16"/>
          <p:cNvSpPr/>
          <p:nvPr/>
        </p:nvSpPr>
        <p:spPr>
          <a:xfrm>
            <a:off x="6254496" y="1865376"/>
            <a:ext cx="1700784" cy="128016"/>
          </a:xfrm>
          <a:prstGeom prst="rect">
            <a:avLst/>
          </a:prstGeom>
          <a:noFill/>
          <a:ln/>
        </p:spPr>
        <p:txBody>
          <a:bodyPr wrap="square" lIns="0" tIns="0" rIns="0" bIns="0" rtlCol="0" anchor="ctr"/>
          <a:lstStyle/>
          <a:p>
            <a:pPr marL="0" indent="0">
              <a:buNone/>
            </a:pPr>
            <a:r>
              <a:rPr lang="en-US" sz="980" dirty="0">
                <a:solidFill>
                  <a:srgbClr val="222222"/>
                </a:solidFill>
                <a:latin typeface="Gill Sans MT" pitchFamily="34" charset="0"/>
                <a:ea typeface="Gill Sans MT" pitchFamily="34" charset="-122"/>
                <a:cs typeface="Gill Sans MT" pitchFamily="34" charset="-120"/>
              </a:rPr>
              <a:t>Onrechtmatig inloggen</a:t>
            </a:r>
            <a:endParaRPr lang="en-US" sz="980" dirty="0"/>
          </a:p>
        </p:txBody>
      </p:sp>
      <p:sp>
        <p:nvSpPr>
          <p:cNvPr id="22" name="Shape 17"/>
          <p:cNvSpPr/>
          <p:nvPr/>
        </p:nvSpPr>
        <p:spPr>
          <a:xfrm>
            <a:off x="6144768" y="2487168"/>
            <a:ext cx="1901952" cy="566928"/>
          </a:xfrm>
          <a:prstGeom prst="roundRect">
            <a:avLst>
              <a:gd name="adj" fmla="val 12903"/>
            </a:avLst>
          </a:prstGeom>
          <a:solidFill>
            <a:srgbClr val="FFFFFF"/>
          </a:solidFill>
          <a:ln w="12700">
            <a:solidFill>
              <a:srgbClr val="D9E3EE"/>
            </a:solidFill>
            <a:prstDash val="solid"/>
          </a:ln>
        </p:spPr>
        <p:txBody>
          <a:bodyPr/>
          <a:lstStyle/>
          <a:p>
            <a:endParaRPr lang="nl-NL"/>
          </a:p>
        </p:txBody>
      </p:sp>
      <p:sp>
        <p:nvSpPr>
          <p:cNvPr id="23" name="Text 18"/>
          <p:cNvSpPr/>
          <p:nvPr/>
        </p:nvSpPr>
        <p:spPr>
          <a:xfrm>
            <a:off x="6254496" y="2578608"/>
            <a:ext cx="1700784" cy="182880"/>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2. Simswap</a:t>
            </a:r>
            <a:endParaRPr lang="en-US" sz="1320" dirty="0"/>
          </a:p>
        </p:txBody>
      </p:sp>
      <p:sp>
        <p:nvSpPr>
          <p:cNvPr id="24" name="Text 19"/>
          <p:cNvSpPr/>
          <p:nvPr/>
        </p:nvSpPr>
        <p:spPr>
          <a:xfrm>
            <a:off x="6254496" y="2798064"/>
            <a:ext cx="1700784" cy="128016"/>
          </a:xfrm>
          <a:prstGeom prst="rect">
            <a:avLst/>
          </a:prstGeom>
          <a:noFill/>
          <a:ln/>
        </p:spPr>
        <p:txBody>
          <a:bodyPr wrap="square" lIns="0" tIns="0" rIns="0" bIns="0" rtlCol="0" anchor="ctr"/>
          <a:lstStyle/>
          <a:p>
            <a:pPr marL="0" indent="0">
              <a:buNone/>
            </a:pPr>
            <a:r>
              <a:rPr lang="en-US" sz="980" dirty="0">
                <a:solidFill>
                  <a:srgbClr val="222222"/>
                </a:solidFill>
                <a:latin typeface="Gill Sans MT" pitchFamily="34" charset="0"/>
                <a:ea typeface="Gill Sans MT" pitchFamily="34" charset="-122"/>
                <a:cs typeface="Gill Sans MT" pitchFamily="34" charset="-120"/>
              </a:rPr>
              <a:t>Telefoonnummer overnemen</a:t>
            </a:r>
            <a:endParaRPr lang="en-US" sz="980" dirty="0"/>
          </a:p>
        </p:txBody>
      </p:sp>
      <p:sp>
        <p:nvSpPr>
          <p:cNvPr id="25" name="Shape 20"/>
          <p:cNvSpPr/>
          <p:nvPr/>
        </p:nvSpPr>
        <p:spPr>
          <a:xfrm>
            <a:off x="6144768" y="3419856"/>
            <a:ext cx="1901952" cy="566928"/>
          </a:xfrm>
          <a:prstGeom prst="roundRect">
            <a:avLst>
              <a:gd name="adj" fmla="val 12903"/>
            </a:avLst>
          </a:prstGeom>
          <a:solidFill>
            <a:srgbClr val="FFFFFF"/>
          </a:solidFill>
          <a:ln w="12700">
            <a:solidFill>
              <a:srgbClr val="D9E3EE"/>
            </a:solidFill>
            <a:prstDash val="solid"/>
          </a:ln>
        </p:spPr>
        <p:txBody>
          <a:bodyPr/>
          <a:lstStyle/>
          <a:p>
            <a:endParaRPr lang="nl-NL"/>
          </a:p>
        </p:txBody>
      </p:sp>
      <p:sp>
        <p:nvSpPr>
          <p:cNvPr id="26" name="Text 21"/>
          <p:cNvSpPr/>
          <p:nvPr/>
        </p:nvSpPr>
        <p:spPr>
          <a:xfrm>
            <a:off x="6254496" y="3511296"/>
            <a:ext cx="1700784" cy="182880"/>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3. Accounts</a:t>
            </a:r>
            <a:endParaRPr lang="en-US" sz="1320" dirty="0"/>
          </a:p>
        </p:txBody>
      </p:sp>
      <p:sp>
        <p:nvSpPr>
          <p:cNvPr id="27" name="Text 22"/>
          <p:cNvSpPr/>
          <p:nvPr/>
        </p:nvSpPr>
        <p:spPr>
          <a:xfrm>
            <a:off x="6254496" y="3730752"/>
            <a:ext cx="1700784" cy="128016"/>
          </a:xfrm>
          <a:prstGeom prst="rect">
            <a:avLst/>
          </a:prstGeom>
          <a:noFill/>
          <a:ln/>
        </p:spPr>
        <p:txBody>
          <a:bodyPr wrap="square" lIns="0" tIns="0" rIns="0" bIns="0" rtlCol="0" anchor="ctr"/>
          <a:lstStyle/>
          <a:p>
            <a:pPr marL="0" indent="0">
              <a:buNone/>
            </a:pPr>
            <a:r>
              <a:rPr lang="en-US" sz="980" dirty="0">
                <a:solidFill>
                  <a:srgbClr val="222222"/>
                </a:solidFill>
                <a:latin typeface="Gill Sans MT" pitchFamily="34" charset="0"/>
                <a:ea typeface="Gill Sans MT" pitchFamily="34" charset="-122"/>
                <a:cs typeface="Gill Sans MT" pitchFamily="34" charset="-120"/>
              </a:rPr>
              <a:t>Toegang tot slachtofferaccounts</a:t>
            </a:r>
            <a:endParaRPr lang="en-US" sz="980" dirty="0"/>
          </a:p>
        </p:txBody>
      </p:sp>
      <p:sp>
        <p:nvSpPr>
          <p:cNvPr id="28" name="Shape 23"/>
          <p:cNvSpPr/>
          <p:nvPr/>
        </p:nvSpPr>
        <p:spPr>
          <a:xfrm>
            <a:off x="6144768" y="4352544"/>
            <a:ext cx="1901952" cy="566928"/>
          </a:xfrm>
          <a:prstGeom prst="roundRect">
            <a:avLst>
              <a:gd name="adj" fmla="val 12903"/>
            </a:avLst>
          </a:prstGeom>
          <a:solidFill>
            <a:srgbClr val="FFFFFF"/>
          </a:solidFill>
          <a:ln w="12700">
            <a:solidFill>
              <a:srgbClr val="D9E3EE"/>
            </a:solidFill>
            <a:prstDash val="solid"/>
          </a:ln>
        </p:spPr>
        <p:txBody>
          <a:bodyPr/>
          <a:lstStyle/>
          <a:p>
            <a:endParaRPr lang="nl-NL"/>
          </a:p>
        </p:txBody>
      </p:sp>
      <p:sp>
        <p:nvSpPr>
          <p:cNvPr id="29" name="Text 24"/>
          <p:cNvSpPr/>
          <p:nvPr/>
        </p:nvSpPr>
        <p:spPr>
          <a:xfrm>
            <a:off x="6254496" y="4443984"/>
            <a:ext cx="1700784" cy="182880"/>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4. Phishing</a:t>
            </a:r>
            <a:endParaRPr lang="en-US" sz="1320" dirty="0"/>
          </a:p>
        </p:txBody>
      </p:sp>
      <p:sp>
        <p:nvSpPr>
          <p:cNvPr id="30" name="Text 25"/>
          <p:cNvSpPr/>
          <p:nvPr/>
        </p:nvSpPr>
        <p:spPr>
          <a:xfrm>
            <a:off x="6254496" y="4663440"/>
            <a:ext cx="1700784" cy="128016"/>
          </a:xfrm>
          <a:prstGeom prst="rect">
            <a:avLst/>
          </a:prstGeom>
          <a:noFill/>
          <a:ln/>
        </p:spPr>
        <p:txBody>
          <a:bodyPr wrap="square" lIns="0" tIns="0" rIns="0" bIns="0" rtlCol="0" anchor="ctr"/>
          <a:lstStyle/>
          <a:p>
            <a:pPr marL="0" indent="0">
              <a:buNone/>
            </a:pPr>
            <a:r>
              <a:rPr lang="en-US" sz="980" dirty="0">
                <a:solidFill>
                  <a:srgbClr val="222222"/>
                </a:solidFill>
                <a:latin typeface="Gill Sans MT" pitchFamily="34" charset="0"/>
                <a:ea typeface="Gill Sans MT" pitchFamily="34" charset="-122"/>
                <a:cs typeface="Gill Sans MT" pitchFamily="34" charset="-120"/>
              </a:rPr>
              <a:t>Sms en neptelefoontjes</a:t>
            </a:r>
            <a:endParaRPr lang="en-US" sz="980" dirty="0"/>
          </a:p>
        </p:txBody>
      </p:sp>
      <p:sp>
        <p:nvSpPr>
          <p:cNvPr id="31" name="Shape 26"/>
          <p:cNvSpPr/>
          <p:nvPr/>
        </p:nvSpPr>
        <p:spPr>
          <a:xfrm>
            <a:off x="6144768" y="5285232"/>
            <a:ext cx="1901952" cy="566928"/>
          </a:xfrm>
          <a:prstGeom prst="roundRect">
            <a:avLst>
              <a:gd name="adj" fmla="val 12903"/>
            </a:avLst>
          </a:prstGeom>
          <a:solidFill>
            <a:srgbClr val="FFFFFF"/>
          </a:solidFill>
          <a:ln w="12700">
            <a:solidFill>
              <a:srgbClr val="D9E3EE"/>
            </a:solidFill>
            <a:prstDash val="solid"/>
          </a:ln>
        </p:spPr>
        <p:txBody>
          <a:bodyPr/>
          <a:lstStyle/>
          <a:p>
            <a:endParaRPr lang="nl-NL"/>
          </a:p>
        </p:txBody>
      </p:sp>
      <p:sp>
        <p:nvSpPr>
          <p:cNvPr id="32" name="Text 27"/>
          <p:cNvSpPr/>
          <p:nvPr/>
        </p:nvSpPr>
        <p:spPr>
          <a:xfrm>
            <a:off x="6254496" y="5376672"/>
            <a:ext cx="1700784" cy="182880"/>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5. Buit</a:t>
            </a:r>
            <a:endParaRPr lang="en-US" sz="1320" dirty="0"/>
          </a:p>
        </p:txBody>
      </p:sp>
      <p:sp>
        <p:nvSpPr>
          <p:cNvPr id="33" name="Text 28"/>
          <p:cNvSpPr/>
          <p:nvPr/>
        </p:nvSpPr>
        <p:spPr>
          <a:xfrm>
            <a:off x="6254496" y="5596128"/>
            <a:ext cx="1700784" cy="128016"/>
          </a:xfrm>
          <a:prstGeom prst="rect">
            <a:avLst/>
          </a:prstGeom>
          <a:noFill/>
          <a:ln/>
        </p:spPr>
        <p:txBody>
          <a:bodyPr wrap="square" lIns="0" tIns="0" rIns="0" bIns="0" rtlCol="0" anchor="ctr"/>
          <a:lstStyle/>
          <a:p>
            <a:pPr marL="0" indent="0">
              <a:buNone/>
            </a:pPr>
            <a:r>
              <a:rPr lang="en-US" sz="980" dirty="0">
                <a:solidFill>
                  <a:srgbClr val="222222"/>
                </a:solidFill>
                <a:latin typeface="Gill Sans MT" pitchFamily="34" charset="0"/>
                <a:ea typeface="Gill Sans MT" pitchFamily="34" charset="-122"/>
                <a:cs typeface="Gill Sans MT" pitchFamily="34" charset="-120"/>
              </a:rPr>
              <a:t>Geld en cryptovaluta</a:t>
            </a:r>
            <a:endParaRPr lang="en-US" sz="980" dirty="0"/>
          </a:p>
        </p:txBody>
      </p:sp>
      <p:sp>
        <p:nvSpPr>
          <p:cNvPr id="34" name="Shape 29"/>
          <p:cNvSpPr/>
          <p:nvPr/>
        </p:nvSpPr>
        <p:spPr>
          <a:xfrm>
            <a:off x="8339328" y="2057400"/>
            <a:ext cx="3063240" cy="1993392"/>
          </a:xfrm>
          <a:prstGeom prst="roundRect">
            <a:avLst>
              <a:gd name="adj" fmla="val 3670"/>
            </a:avLst>
          </a:prstGeom>
          <a:solidFill>
            <a:srgbClr val="FFFFFF"/>
          </a:solidFill>
          <a:ln w="12700">
            <a:solidFill>
              <a:srgbClr val="D9E3EE"/>
            </a:solidFill>
            <a:prstDash val="solid"/>
          </a:ln>
        </p:spPr>
        <p:txBody>
          <a:bodyPr/>
          <a:lstStyle/>
          <a:p>
            <a:endParaRPr lang="nl-NL"/>
          </a:p>
        </p:txBody>
      </p:sp>
      <p:sp>
        <p:nvSpPr>
          <p:cNvPr id="35" name="Text 30"/>
          <p:cNvSpPr/>
          <p:nvPr/>
        </p:nvSpPr>
        <p:spPr>
          <a:xfrm>
            <a:off x="8485632" y="2148840"/>
            <a:ext cx="2770632" cy="219456"/>
          </a:xfrm>
          <a:prstGeom prst="rect">
            <a:avLst/>
          </a:prstGeom>
          <a:noFill/>
          <a:ln/>
        </p:spPr>
        <p:txBody>
          <a:bodyPr wrap="square" lIns="0" tIns="0" rIns="0" bIns="0" rtlCol="0" anchor="ctr"/>
          <a:lstStyle/>
          <a:p>
            <a:pPr marL="0" indent="0">
              <a:buNone/>
            </a:pPr>
            <a:r>
              <a:rPr lang="en-US" sz="1750" b="1" dirty="0">
                <a:solidFill>
                  <a:srgbClr val="041B34"/>
                </a:solidFill>
                <a:latin typeface="Gill Sans MT" pitchFamily="34" charset="0"/>
                <a:ea typeface="Gill Sans MT" pitchFamily="34" charset="-122"/>
                <a:cs typeface="Gill Sans MT" pitchFamily="34" charset="-120"/>
              </a:rPr>
              <a:t>Waarom dit ernstig is</a:t>
            </a:r>
            <a:endParaRPr lang="en-US" sz="1750" dirty="0"/>
          </a:p>
        </p:txBody>
      </p:sp>
      <p:sp>
        <p:nvSpPr>
          <p:cNvPr id="36" name="Text 31"/>
          <p:cNvSpPr/>
          <p:nvPr/>
        </p:nvSpPr>
        <p:spPr>
          <a:xfrm>
            <a:off x="8485632" y="2459736"/>
            <a:ext cx="2770632" cy="1481328"/>
          </a:xfrm>
          <a:prstGeom prst="rect">
            <a:avLst/>
          </a:prstGeom>
          <a:noFill/>
          <a:ln/>
        </p:spPr>
        <p:txBody>
          <a:bodyPr wrap="square" lIns="0" tIns="0" rIns="0" bIns="0" rtlCol="0" anchor="t"/>
          <a:lstStyle/>
          <a:p>
            <a:pPr marL="0" indent="0">
              <a:buNone/>
            </a:pPr>
            <a:r>
              <a:rPr lang="en-US" sz="1320" dirty="0">
                <a:solidFill>
                  <a:srgbClr val="222222"/>
                </a:solidFill>
                <a:latin typeface="Gill Sans MT" pitchFamily="34" charset="0"/>
                <a:ea typeface="Gill Sans MT" pitchFamily="34" charset="-122"/>
                <a:cs typeface="Gill Sans MT" pitchFamily="34" charset="-120"/>
              </a:rPr>
              <a:t>De verdachte combineerde hacken, accountovername, phishing en financiële fraude. Daardoor ontstond niet alleen digitale schade, maar ook directe financiële schade voor slachtoffers.</a:t>
            </a:r>
            <a:endParaRPr lang="en-US" sz="1320" dirty="0"/>
          </a:p>
        </p:txBody>
      </p:sp>
      <p:sp>
        <p:nvSpPr>
          <p:cNvPr id="37" name="Text 32"/>
          <p:cNvSpPr/>
          <p:nvPr/>
        </p:nvSpPr>
        <p:spPr>
          <a:xfrm>
            <a:off x="6254496" y="1170432"/>
            <a:ext cx="2560320" cy="201168"/>
          </a:xfrm>
          <a:prstGeom prst="rect">
            <a:avLst/>
          </a:prstGeom>
          <a:noFill/>
          <a:ln/>
        </p:spPr>
        <p:txBody>
          <a:bodyPr wrap="square" lIns="0" tIns="0" rIns="0" bIns="0" rtlCol="0" anchor="ctr"/>
          <a:lstStyle/>
          <a:p>
            <a:pPr marL="0" indent="0">
              <a:buNone/>
            </a:pPr>
            <a:r>
              <a:rPr lang="en-US" sz="1300" b="1" dirty="0">
                <a:solidFill>
                  <a:srgbClr val="C79B2E"/>
                </a:solidFill>
                <a:latin typeface="Gill Sans MT" pitchFamily="34" charset="0"/>
                <a:ea typeface="Gill Sans MT" pitchFamily="34" charset="-122"/>
                <a:cs typeface="Gill Sans MT" pitchFamily="34" charset="-120"/>
              </a:rPr>
              <a:t>Verloop van de zaak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pic>
        <p:nvPicPr>
          <p:cNvPr id="3" name="Image 1" descr="/mnt/data/template_unzip/ppt/media/image2.jpeg"/>
          <p:cNvPicPr>
            <a:picLocks noChangeAspect="1"/>
          </p:cNvPicPr>
          <p:nvPr/>
        </p:nvPicPr>
        <p:blipFill>
          <a:blip r:embed="rId5"/>
          <a:stretch>
            <a:fillRect/>
          </a:stretch>
        </p:blipFill>
        <p:spPr>
          <a:xfrm>
            <a:off x="0" y="6199632"/>
            <a:ext cx="12191695" cy="658368"/>
          </a:xfrm>
          <a:prstGeom prst="rect">
            <a:avLst/>
          </a:prstGeom>
        </p:spPr>
      </p:pic>
      <p:sp>
        <p:nvSpPr>
          <p:cNvPr id="4" name="Text 0"/>
          <p:cNvSpPr/>
          <p:nvPr/>
        </p:nvSpPr>
        <p:spPr>
          <a:xfrm>
            <a:off x="502920" y="301752"/>
            <a:ext cx="9784080" cy="384048"/>
          </a:xfrm>
          <a:prstGeom prst="rect">
            <a:avLst/>
          </a:prstGeom>
          <a:noFill/>
          <a:ln/>
        </p:spPr>
        <p:txBody>
          <a:bodyPr wrap="square" lIns="0" tIns="0" rIns="0" bIns="0" rtlCol="0" anchor="ctr"/>
          <a:lstStyle/>
          <a:p>
            <a:pPr marL="0" indent="0">
              <a:buNone/>
            </a:pPr>
            <a:r>
              <a:rPr lang="en-US" sz="2400" dirty="0">
                <a:solidFill>
                  <a:srgbClr val="FFFFFF"/>
                </a:solidFill>
                <a:latin typeface="Gill Sans MT" pitchFamily="34" charset="0"/>
                <a:ea typeface="Gill Sans MT" pitchFamily="34" charset="-122"/>
                <a:cs typeface="Gill Sans MT" pitchFamily="34" charset="-120"/>
              </a:rPr>
              <a:t>HOOFDDELICT &amp; BIJKOMENDE FEITEN</a:t>
            </a:r>
            <a:endParaRPr lang="en-US" sz="2400" dirty="0"/>
          </a:p>
        </p:txBody>
      </p:sp>
      <p:sp>
        <p:nvSpPr>
          <p:cNvPr id="5" name="Text 1"/>
          <p:cNvSpPr/>
          <p:nvPr/>
        </p:nvSpPr>
        <p:spPr>
          <a:xfrm>
            <a:off x="502920" y="731520"/>
            <a:ext cx="8229600" cy="201168"/>
          </a:xfrm>
          <a:prstGeom prst="rect">
            <a:avLst/>
          </a:prstGeom>
          <a:noFill/>
          <a:ln/>
        </p:spPr>
        <p:txBody>
          <a:bodyPr wrap="square" lIns="0" tIns="0" rIns="0" bIns="0" rtlCol="0" anchor="ctr"/>
          <a:lstStyle/>
          <a:p>
            <a:pPr marL="0" indent="0">
              <a:buNone/>
            </a:pPr>
            <a:r>
              <a:rPr lang="en-US" sz="1350" i="1" dirty="0">
                <a:solidFill>
                  <a:srgbClr val="F4C757"/>
                </a:solidFill>
                <a:latin typeface="Gill Sans MT" pitchFamily="34" charset="0"/>
                <a:ea typeface="Gill Sans MT" pitchFamily="34" charset="-122"/>
                <a:cs typeface="Gill Sans MT" pitchFamily="34" charset="-120"/>
              </a:rPr>
              <a:t>Welke strafbare feiten horen bij deze zaak?</a:t>
            </a:r>
            <a:endParaRPr lang="en-US" sz="1350" dirty="0"/>
          </a:p>
        </p:txBody>
      </p:sp>
      <p:pic>
        <p:nvPicPr>
          <p:cNvPr id="6" name="Image 2" descr="/mnt/data/template_unzip/ppt/media/image1.png"/>
          <p:cNvPicPr>
            <a:picLocks noChangeAspect="1"/>
          </p:cNvPicPr>
          <p:nvPr/>
        </p:nvPicPr>
        <p:blipFill>
          <a:blip r:embed="rId6">
            <a:alphaModFix amt="97000"/>
          </a:blip>
          <a:stretch>
            <a:fillRect/>
          </a:stretch>
        </p:blipFill>
        <p:spPr>
          <a:xfrm>
            <a:off x="10588752" y="146304"/>
            <a:ext cx="1280160" cy="1280160"/>
          </a:xfrm>
          <a:prstGeom prst="rect">
            <a:avLst/>
          </a:prstGeom>
        </p:spPr>
      </p:pic>
      <p:sp>
        <p:nvSpPr>
          <p:cNvPr id="7" name="Shape 2"/>
          <p:cNvSpPr/>
          <p:nvPr/>
        </p:nvSpPr>
        <p:spPr>
          <a:xfrm>
            <a:off x="566928" y="932688"/>
            <a:ext cx="4572000" cy="2743200"/>
          </a:xfrm>
          <a:prstGeom prst="roundRect">
            <a:avLst>
              <a:gd name="adj" fmla="val 2667"/>
            </a:avLst>
          </a:prstGeom>
          <a:solidFill>
            <a:srgbClr val="EEF1F5"/>
          </a:solidFill>
          <a:ln w="12700">
            <a:solidFill>
              <a:srgbClr val="D9E3EE"/>
            </a:solidFill>
            <a:prstDash val="solid"/>
          </a:ln>
        </p:spPr>
        <p:txBody>
          <a:bodyPr/>
          <a:lstStyle/>
          <a:p>
            <a:endParaRPr lang="nl-NL"/>
          </a:p>
        </p:txBody>
      </p:sp>
      <p:sp>
        <p:nvSpPr>
          <p:cNvPr id="8" name="Text 3"/>
          <p:cNvSpPr/>
          <p:nvPr/>
        </p:nvSpPr>
        <p:spPr>
          <a:xfrm>
            <a:off x="713232" y="1024128"/>
            <a:ext cx="4279392" cy="548640"/>
          </a:xfrm>
          <a:prstGeom prst="rect">
            <a:avLst/>
          </a:prstGeom>
          <a:noFill/>
          <a:ln/>
        </p:spPr>
        <p:txBody>
          <a:bodyPr wrap="square" lIns="0" tIns="0" rIns="0" bIns="0" rtlCol="0" anchor="ctr"/>
          <a:lstStyle/>
          <a:p>
            <a:pPr marL="0" indent="0">
              <a:buNone/>
            </a:pPr>
            <a:r>
              <a:rPr lang="en-US" b="1" dirty="0">
                <a:solidFill>
                  <a:srgbClr val="041B34"/>
                </a:solidFill>
                <a:latin typeface="Gill Sans MT" pitchFamily="34" charset="0"/>
                <a:ea typeface="Gill Sans MT" pitchFamily="34" charset="-122"/>
                <a:cs typeface="Gill Sans MT" pitchFamily="34" charset="-120"/>
              </a:rPr>
              <a:t>Hoofddelict: computervredebreuk (art. 138ab Sr)</a:t>
            </a:r>
            <a:endParaRPr lang="en-US" dirty="0"/>
          </a:p>
        </p:txBody>
      </p:sp>
      <p:sp>
        <p:nvSpPr>
          <p:cNvPr id="9" name="Text 4"/>
          <p:cNvSpPr/>
          <p:nvPr/>
        </p:nvSpPr>
        <p:spPr>
          <a:xfrm>
            <a:off x="713232" y="1728216"/>
            <a:ext cx="4279392" cy="1837944"/>
          </a:xfrm>
          <a:prstGeom prst="rect">
            <a:avLst/>
          </a:prstGeom>
          <a:noFill/>
          <a:ln/>
        </p:spPr>
        <p:txBody>
          <a:bodyPr wrap="square" lIns="0" tIns="0" rIns="0" bIns="0" rtlCol="0" anchor="t"/>
          <a:lstStyle/>
          <a:p>
            <a:pPr marL="0" indent="0">
              <a:buNone/>
            </a:pPr>
            <a:r>
              <a:rPr lang="en-US" sz="1500" dirty="0">
                <a:solidFill>
                  <a:srgbClr val="222222"/>
                </a:solidFill>
                <a:latin typeface="Gill Sans MT" pitchFamily="34" charset="0"/>
                <a:ea typeface="Gill Sans MT" pitchFamily="34" charset="-122"/>
                <a:cs typeface="Gill Sans MT" pitchFamily="34" charset="-120"/>
              </a:rPr>
              <a:t>Dit is het cyberdelict dat het best past, omdat de verdachte bewust en zonder toestemming systemen en accounts binnendrong. Die illegale toegang maakte de andere feiten mogelijk.</a:t>
            </a:r>
            <a:endParaRPr lang="en-US" sz="1500" dirty="0"/>
          </a:p>
        </p:txBody>
      </p:sp>
      <p:sp>
        <p:nvSpPr>
          <p:cNvPr id="10" name="Shape 5"/>
          <p:cNvSpPr/>
          <p:nvPr/>
        </p:nvSpPr>
        <p:spPr>
          <a:xfrm>
            <a:off x="566928" y="3886200"/>
            <a:ext cx="4572000" cy="1508760"/>
          </a:xfrm>
          <a:prstGeom prst="roundRect">
            <a:avLst>
              <a:gd name="adj" fmla="val 4848"/>
            </a:avLst>
          </a:prstGeom>
          <a:solidFill>
            <a:srgbClr val="FFFFFF"/>
          </a:solidFill>
          <a:ln w="12700">
            <a:solidFill>
              <a:srgbClr val="D9E3EE"/>
            </a:solidFill>
            <a:prstDash val="solid"/>
          </a:ln>
        </p:spPr>
        <p:txBody>
          <a:bodyPr/>
          <a:lstStyle/>
          <a:p>
            <a:endParaRPr lang="nl-NL"/>
          </a:p>
        </p:txBody>
      </p:sp>
      <p:sp>
        <p:nvSpPr>
          <p:cNvPr id="11" name="Text 6"/>
          <p:cNvSpPr/>
          <p:nvPr/>
        </p:nvSpPr>
        <p:spPr>
          <a:xfrm>
            <a:off x="713232" y="3977640"/>
            <a:ext cx="4279392" cy="219456"/>
          </a:xfrm>
          <a:prstGeom prst="rect">
            <a:avLst/>
          </a:prstGeom>
          <a:noFill/>
          <a:ln/>
        </p:spPr>
        <p:txBody>
          <a:bodyPr wrap="square" lIns="0" tIns="0" rIns="0" bIns="0" rtlCol="0" anchor="ctr"/>
          <a:lstStyle/>
          <a:p>
            <a:pPr marL="0" indent="0">
              <a:buNone/>
            </a:pPr>
            <a:r>
              <a:rPr lang="en-US" sz="1600" b="1" dirty="0">
                <a:solidFill>
                  <a:srgbClr val="041B34"/>
                </a:solidFill>
                <a:latin typeface="Gill Sans MT" pitchFamily="34" charset="0"/>
                <a:ea typeface="Gill Sans MT" pitchFamily="34" charset="-122"/>
                <a:cs typeface="Gill Sans MT" pitchFamily="34" charset="-120"/>
              </a:rPr>
              <a:t>Waarom dit het hoofddelict is</a:t>
            </a:r>
            <a:endParaRPr lang="en-US" sz="1600" dirty="0"/>
          </a:p>
        </p:txBody>
      </p:sp>
      <p:sp>
        <p:nvSpPr>
          <p:cNvPr id="12" name="Text 7"/>
          <p:cNvSpPr/>
          <p:nvPr/>
        </p:nvSpPr>
        <p:spPr>
          <a:xfrm>
            <a:off x="713232" y="4288536"/>
            <a:ext cx="4279392" cy="996696"/>
          </a:xfrm>
          <a:prstGeom prst="rect">
            <a:avLst/>
          </a:prstGeom>
          <a:noFill/>
          <a:ln/>
        </p:spPr>
        <p:txBody>
          <a:bodyPr wrap="square" lIns="0" tIns="0" rIns="0" bIns="0" rtlCol="0" anchor="t"/>
          <a:lstStyle/>
          <a:p>
            <a:pPr marL="0" indent="0">
              <a:buNone/>
            </a:pPr>
            <a:r>
              <a:rPr lang="en-US" sz="1320" dirty="0">
                <a:solidFill>
                  <a:srgbClr val="222222"/>
                </a:solidFill>
                <a:latin typeface="Gill Sans MT" pitchFamily="34" charset="0"/>
                <a:ea typeface="Gill Sans MT" pitchFamily="34" charset="-122"/>
                <a:cs typeface="Gill Sans MT" pitchFamily="34" charset="-120"/>
              </a:rPr>
              <a:t>Zonder het binnendringen in dealeraccounts, My T-Mobile-accounts en andere digitale omgevingen had hij geen simswaps kunnen doen, geen accounts kunnen overnemen en geen fraude kunnen plegen.</a:t>
            </a:r>
            <a:endParaRPr lang="en-US" sz="1320" dirty="0"/>
          </a:p>
        </p:txBody>
      </p:sp>
      <p:sp>
        <p:nvSpPr>
          <p:cNvPr id="13" name="Text 8"/>
          <p:cNvSpPr/>
          <p:nvPr/>
        </p:nvSpPr>
        <p:spPr>
          <a:xfrm>
            <a:off x="6583680" y="1051560"/>
            <a:ext cx="2926080" cy="274320"/>
          </a:xfrm>
          <a:prstGeom prst="rect">
            <a:avLst/>
          </a:prstGeom>
          <a:noFill/>
          <a:ln/>
        </p:spPr>
        <p:txBody>
          <a:bodyPr wrap="square" lIns="0" tIns="0" rIns="0" bIns="0" rtlCol="0" anchor="ctr"/>
          <a:lstStyle/>
          <a:p>
            <a:pPr marL="0" indent="0">
              <a:buNone/>
            </a:pPr>
            <a:r>
              <a:rPr lang="en-US" sz="1600" b="1" dirty="0">
                <a:solidFill>
                  <a:srgbClr val="C79B2E"/>
                </a:solidFill>
                <a:latin typeface="Gill Sans MT" pitchFamily="34" charset="0"/>
                <a:ea typeface="Gill Sans MT" pitchFamily="34" charset="-122"/>
                <a:cs typeface="Gill Sans MT" pitchFamily="34" charset="-120"/>
              </a:rPr>
              <a:t>Andere bewezen feiten</a:t>
            </a:r>
            <a:endParaRPr lang="en-US" sz="1600" dirty="0"/>
          </a:p>
        </p:txBody>
      </p:sp>
      <p:sp>
        <p:nvSpPr>
          <p:cNvPr id="14" name="Shape 9"/>
          <p:cNvSpPr/>
          <p:nvPr/>
        </p:nvSpPr>
        <p:spPr>
          <a:xfrm>
            <a:off x="6537960" y="1517904"/>
            <a:ext cx="4617720" cy="868680"/>
          </a:xfrm>
          <a:prstGeom prst="roundRect">
            <a:avLst>
              <a:gd name="adj" fmla="val 8421"/>
            </a:avLst>
          </a:prstGeom>
          <a:solidFill>
            <a:srgbClr val="FFFFFF"/>
          </a:solidFill>
          <a:ln w="12700">
            <a:solidFill>
              <a:srgbClr val="D9E3EE"/>
            </a:solidFill>
            <a:prstDash val="solid"/>
          </a:ln>
        </p:spPr>
        <p:txBody>
          <a:bodyPr/>
          <a:lstStyle/>
          <a:p>
            <a:endParaRPr lang="nl-NL"/>
          </a:p>
        </p:txBody>
      </p:sp>
      <p:sp>
        <p:nvSpPr>
          <p:cNvPr id="15" name="Shape 10"/>
          <p:cNvSpPr/>
          <p:nvPr/>
        </p:nvSpPr>
        <p:spPr>
          <a:xfrm>
            <a:off x="6720840" y="1728216"/>
            <a:ext cx="310896" cy="310896"/>
          </a:xfrm>
          <a:prstGeom prst="ellipse">
            <a:avLst/>
          </a:prstGeom>
          <a:solidFill>
            <a:srgbClr val="F4C757"/>
          </a:solidFill>
          <a:ln w="12700">
            <a:solidFill>
              <a:srgbClr val="C79B2E"/>
            </a:solidFill>
            <a:prstDash val="solid"/>
          </a:ln>
        </p:spPr>
        <p:txBody>
          <a:bodyPr/>
          <a:lstStyle/>
          <a:p>
            <a:endParaRPr lang="nl-NL"/>
          </a:p>
        </p:txBody>
      </p:sp>
      <p:sp>
        <p:nvSpPr>
          <p:cNvPr id="16" name="Text 11"/>
          <p:cNvSpPr/>
          <p:nvPr/>
        </p:nvSpPr>
        <p:spPr>
          <a:xfrm>
            <a:off x="6720840" y="1737360"/>
            <a:ext cx="310896" cy="292608"/>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1</a:t>
            </a:r>
            <a:endParaRPr lang="en-US" sz="1350" dirty="0"/>
          </a:p>
        </p:txBody>
      </p:sp>
      <p:sp>
        <p:nvSpPr>
          <p:cNvPr id="17" name="Text 12"/>
          <p:cNvSpPr/>
          <p:nvPr/>
        </p:nvSpPr>
        <p:spPr>
          <a:xfrm>
            <a:off x="7150608" y="1682496"/>
            <a:ext cx="3429000" cy="201168"/>
          </a:xfrm>
          <a:prstGeom prst="rect">
            <a:avLst/>
          </a:prstGeom>
          <a:noFill/>
          <a:ln/>
        </p:spPr>
        <p:txBody>
          <a:bodyPr wrap="square" lIns="0" tIns="0" rIns="0" bIns="0" rtlCol="0" anchor="ctr"/>
          <a:lstStyle/>
          <a:p>
            <a:pPr marL="0" indent="0">
              <a:buNone/>
            </a:pPr>
            <a:r>
              <a:rPr lang="en-US" sz="1600" b="1" dirty="0">
                <a:solidFill>
                  <a:srgbClr val="222222"/>
                </a:solidFill>
                <a:latin typeface="Gill Sans MT" pitchFamily="34" charset="0"/>
                <a:ea typeface="Gill Sans MT" pitchFamily="34" charset="-122"/>
                <a:cs typeface="Gill Sans MT" pitchFamily="34" charset="-120"/>
              </a:rPr>
              <a:t>Diefstal met valse sleutels</a:t>
            </a:r>
            <a:endParaRPr lang="en-US" sz="1600" dirty="0"/>
          </a:p>
        </p:txBody>
      </p:sp>
      <p:sp>
        <p:nvSpPr>
          <p:cNvPr id="18" name="Text 13"/>
          <p:cNvSpPr/>
          <p:nvPr/>
        </p:nvSpPr>
        <p:spPr>
          <a:xfrm>
            <a:off x="7150608" y="1938528"/>
            <a:ext cx="3429000" cy="146304"/>
          </a:xfrm>
          <a:prstGeom prst="rect">
            <a:avLst/>
          </a:prstGeom>
          <a:noFill/>
          <a:ln/>
        </p:spPr>
        <p:txBody>
          <a:bodyPr wrap="square" lIns="0" tIns="0" rIns="0" bIns="0" rtlCol="0" anchor="ctr"/>
          <a:lstStyle/>
          <a:p>
            <a:pPr marL="0" indent="0">
              <a:buNone/>
            </a:pPr>
            <a:r>
              <a:rPr lang="en-US" sz="1220" dirty="0">
                <a:solidFill>
                  <a:srgbClr val="222222"/>
                </a:solidFill>
                <a:latin typeface="Gill Sans MT" pitchFamily="34" charset="0"/>
                <a:ea typeface="Gill Sans MT" pitchFamily="34" charset="-122"/>
                <a:cs typeface="Gill Sans MT" pitchFamily="34" charset="-120"/>
              </a:rPr>
              <a:t>Misbruik van toegang en accounts</a:t>
            </a:r>
            <a:endParaRPr lang="en-US" sz="1220" dirty="0"/>
          </a:p>
        </p:txBody>
      </p:sp>
      <p:sp>
        <p:nvSpPr>
          <p:cNvPr id="19" name="Shape 14"/>
          <p:cNvSpPr/>
          <p:nvPr/>
        </p:nvSpPr>
        <p:spPr>
          <a:xfrm>
            <a:off x="6537960" y="2542032"/>
            <a:ext cx="4617720" cy="868680"/>
          </a:xfrm>
          <a:prstGeom prst="roundRect">
            <a:avLst>
              <a:gd name="adj" fmla="val 8421"/>
            </a:avLst>
          </a:prstGeom>
          <a:solidFill>
            <a:srgbClr val="FFFFFF"/>
          </a:solidFill>
          <a:ln w="12700">
            <a:solidFill>
              <a:srgbClr val="D9E3EE"/>
            </a:solidFill>
            <a:prstDash val="solid"/>
          </a:ln>
        </p:spPr>
        <p:txBody>
          <a:bodyPr/>
          <a:lstStyle/>
          <a:p>
            <a:endParaRPr lang="nl-NL"/>
          </a:p>
        </p:txBody>
      </p:sp>
      <p:sp>
        <p:nvSpPr>
          <p:cNvPr id="20" name="Shape 15"/>
          <p:cNvSpPr/>
          <p:nvPr/>
        </p:nvSpPr>
        <p:spPr>
          <a:xfrm>
            <a:off x="6720840" y="2752344"/>
            <a:ext cx="310896" cy="310896"/>
          </a:xfrm>
          <a:prstGeom prst="ellipse">
            <a:avLst/>
          </a:prstGeom>
          <a:solidFill>
            <a:srgbClr val="F4C757"/>
          </a:solidFill>
          <a:ln w="12700">
            <a:solidFill>
              <a:srgbClr val="C79B2E"/>
            </a:solidFill>
            <a:prstDash val="solid"/>
          </a:ln>
        </p:spPr>
        <p:txBody>
          <a:bodyPr/>
          <a:lstStyle/>
          <a:p>
            <a:endParaRPr lang="nl-NL"/>
          </a:p>
        </p:txBody>
      </p:sp>
      <p:sp>
        <p:nvSpPr>
          <p:cNvPr id="21" name="Text 16"/>
          <p:cNvSpPr/>
          <p:nvPr/>
        </p:nvSpPr>
        <p:spPr>
          <a:xfrm>
            <a:off x="6720840" y="2761488"/>
            <a:ext cx="310896" cy="292608"/>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2</a:t>
            </a:r>
            <a:endParaRPr lang="en-US" sz="1350" dirty="0"/>
          </a:p>
        </p:txBody>
      </p:sp>
      <p:sp>
        <p:nvSpPr>
          <p:cNvPr id="22" name="Text 17"/>
          <p:cNvSpPr/>
          <p:nvPr/>
        </p:nvSpPr>
        <p:spPr>
          <a:xfrm>
            <a:off x="7150608" y="2706624"/>
            <a:ext cx="3429000" cy="201168"/>
          </a:xfrm>
          <a:prstGeom prst="rect">
            <a:avLst/>
          </a:prstGeom>
          <a:noFill/>
          <a:ln/>
        </p:spPr>
        <p:txBody>
          <a:bodyPr wrap="square" lIns="0" tIns="0" rIns="0" bIns="0" rtlCol="0" anchor="ctr"/>
          <a:lstStyle/>
          <a:p>
            <a:pPr marL="0" indent="0">
              <a:buNone/>
            </a:pPr>
            <a:r>
              <a:rPr lang="en-US" sz="1600" b="1" dirty="0">
                <a:solidFill>
                  <a:srgbClr val="222222"/>
                </a:solidFill>
                <a:latin typeface="Gill Sans MT" pitchFamily="34" charset="0"/>
                <a:ea typeface="Gill Sans MT" pitchFamily="34" charset="-122"/>
                <a:cs typeface="Gill Sans MT" pitchFamily="34" charset="-120"/>
              </a:rPr>
              <a:t>Oplichting</a:t>
            </a:r>
            <a:endParaRPr lang="en-US" sz="1600" dirty="0"/>
          </a:p>
        </p:txBody>
      </p:sp>
      <p:sp>
        <p:nvSpPr>
          <p:cNvPr id="23" name="Text 18"/>
          <p:cNvSpPr/>
          <p:nvPr/>
        </p:nvSpPr>
        <p:spPr>
          <a:xfrm>
            <a:off x="7150608" y="2962656"/>
            <a:ext cx="3429000" cy="146304"/>
          </a:xfrm>
          <a:prstGeom prst="rect">
            <a:avLst/>
          </a:prstGeom>
          <a:noFill/>
          <a:ln/>
        </p:spPr>
        <p:txBody>
          <a:bodyPr wrap="square" lIns="0" tIns="0" rIns="0" bIns="0" rtlCol="0" anchor="ctr"/>
          <a:lstStyle/>
          <a:p>
            <a:pPr marL="0" indent="0">
              <a:buNone/>
            </a:pPr>
            <a:r>
              <a:rPr lang="en-US" sz="1220" dirty="0">
                <a:solidFill>
                  <a:srgbClr val="222222"/>
                </a:solidFill>
                <a:latin typeface="Gill Sans MT" pitchFamily="34" charset="0"/>
                <a:ea typeface="Gill Sans MT" pitchFamily="34" charset="-122"/>
                <a:cs typeface="Gill Sans MT" pitchFamily="34" charset="-120"/>
              </a:rPr>
              <a:t>Slachtoffers misleiden voor geld</a:t>
            </a:r>
            <a:endParaRPr lang="en-US" sz="1220" dirty="0"/>
          </a:p>
        </p:txBody>
      </p:sp>
      <p:sp>
        <p:nvSpPr>
          <p:cNvPr id="24" name="Shape 19"/>
          <p:cNvSpPr/>
          <p:nvPr/>
        </p:nvSpPr>
        <p:spPr>
          <a:xfrm>
            <a:off x="6537960" y="3566160"/>
            <a:ext cx="4617720" cy="868680"/>
          </a:xfrm>
          <a:prstGeom prst="roundRect">
            <a:avLst>
              <a:gd name="adj" fmla="val 8421"/>
            </a:avLst>
          </a:prstGeom>
          <a:solidFill>
            <a:srgbClr val="FFFFFF"/>
          </a:solidFill>
          <a:ln w="12700">
            <a:solidFill>
              <a:srgbClr val="D9E3EE"/>
            </a:solidFill>
            <a:prstDash val="solid"/>
          </a:ln>
        </p:spPr>
        <p:txBody>
          <a:bodyPr/>
          <a:lstStyle/>
          <a:p>
            <a:endParaRPr lang="nl-NL"/>
          </a:p>
        </p:txBody>
      </p:sp>
      <p:sp>
        <p:nvSpPr>
          <p:cNvPr id="25" name="Shape 20"/>
          <p:cNvSpPr/>
          <p:nvPr/>
        </p:nvSpPr>
        <p:spPr>
          <a:xfrm>
            <a:off x="6720840" y="3776472"/>
            <a:ext cx="310896" cy="310896"/>
          </a:xfrm>
          <a:prstGeom prst="ellipse">
            <a:avLst/>
          </a:prstGeom>
          <a:solidFill>
            <a:srgbClr val="F4C757"/>
          </a:solidFill>
          <a:ln w="12700">
            <a:solidFill>
              <a:srgbClr val="C79B2E"/>
            </a:solidFill>
            <a:prstDash val="solid"/>
          </a:ln>
        </p:spPr>
        <p:txBody>
          <a:bodyPr/>
          <a:lstStyle/>
          <a:p>
            <a:endParaRPr lang="nl-NL"/>
          </a:p>
        </p:txBody>
      </p:sp>
      <p:sp>
        <p:nvSpPr>
          <p:cNvPr id="26" name="Text 21"/>
          <p:cNvSpPr/>
          <p:nvPr/>
        </p:nvSpPr>
        <p:spPr>
          <a:xfrm>
            <a:off x="6720840" y="3785616"/>
            <a:ext cx="310896" cy="292608"/>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3</a:t>
            </a:r>
            <a:endParaRPr lang="en-US" sz="1350" dirty="0"/>
          </a:p>
        </p:txBody>
      </p:sp>
      <p:sp>
        <p:nvSpPr>
          <p:cNvPr id="27" name="Text 22"/>
          <p:cNvSpPr/>
          <p:nvPr/>
        </p:nvSpPr>
        <p:spPr>
          <a:xfrm>
            <a:off x="7150608" y="3730752"/>
            <a:ext cx="3429000" cy="201168"/>
          </a:xfrm>
          <a:prstGeom prst="rect">
            <a:avLst/>
          </a:prstGeom>
          <a:noFill/>
          <a:ln/>
        </p:spPr>
        <p:txBody>
          <a:bodyPr wrap="square" lIns="0" tIns="0" rIns="0" bIns="0" rtlCol="0" anchor="ctr"/>
          <a:lstStyle/>
          <a:p>
            <a:pPr marL="0" indent="0">
              <a:buNone/>
            </a:pPr>
            <a:r>
              <a:rPr lang="en-US" sz="1600" b="1" dirty="0">
                <a:solidFill>
                  <a:srgbClr val="222222"/>
                </a:solidFill>
                <a:latin typeface="Gill Sans MT" pitchFamily="34" charset="0"/>
                <a:ea typeface="Gill Sans MT" pitchFamily="34" charset="-122"/>
                <a:cs typeface="Gill Sans MT" pitchFamily="34" charset="-120"/>
              </a:rPr>
              <a:t>Poging tot oplichting</a:t>
            </a:r>
            <a:endParaRPr lang="en-US" sz="1600" dirty="0"/>
          </a:p>
        </p:txBody>
      </p:sp>
      <p:sp>
        <p:nvSpPr>
          <p:cNvPr id="28" name="Text 23"/>
          <p:cNvSpPr/>
          <p:nvPr/>
        </p:nvSpPr>
        <p:spPr>
          <a:xfrm>
            <a:off x="7150608" y="3986784"/>
            <a:ext cx="3429000" cy="146304"/>
          </a:xfrm>
          <a:prstGeom prst="rect">
            <a:avLst/>
          </a:prstGeom>
          <a:noFill/>
          <a:ln/>
        </p:spPr>
        <p:txBody>
          <a:bodyPr wrap="square" lIns="0" tIns="0" rIns="0" bIns="0" rtlCol="0" anchor="ctr"/>
          <a:lstStyle/>
          <a:p>
            <a:pPr marL="0" indent="0">
              <a:buNone/>
            </a:pPr>
            <a:r>
              <a:rPr lang="en-US" sz="1220" dirty="0">
                <a:solidFill>
                  <a:srgbClr val="222222"/>
                </a:solidFill>
                <a:latin typeface="Gill Sans MT" pitchFamily="34" charset="0"/>
                <a:ea typeface="Gill Sans MT" pitchFamily="34" charset="-122"/>
                <a:cs typeface="Gill Sans MT" pitchFamily="34" charset="-120"/>
              </a:rPr>
              <a:t>Niet elke poging lukte volledig</a:t>
            </a:r>
            <a:endParaRPr lang="en-US" sz="1220" dirty="0"/>
          </a:p>
        </p:txBody>
      </p:sp>
      <p:sp>
        <p:nvSpPr>
          <p:cNvPr id="29" name="Shape 24"/>
          <p:cNvSpPr/>
          <p:nvPr/>
        </p:nvSpPr>
        <p:spPr>
          <a:xfrm>
            <a:off x="6537960" y="4709160"/>
            <a:ext cx="4572000" cy="804672"/>
          </a:xfrm>
          <a:prstGeom prst="roundRect">
            <a:avLst>
              <a:gd name="adj" fmla="val 9091"/>
            </a:avLst>
          </a:prstGeom>
          <a:solidFill>
            <a:srgbClr val="FFFFFF"/>
          </a:solidFill>
          <a:ln w="12700">
            <a:solidFill>
              <a:srgbClr val="D9E3EE"/>
            </a:solidFill>
            <a:prstDash val="solid"/>
          </a:ln>
        </p:spPr>
        <p:txBody>
          <a:bodyPr/>
          <a:lstStyle/>
          <a:p>
            <a:endParaRPr lang="nl-NL"/>
          </a:p>
        </p:txBody>
      </p:sp>
      <p:sp>
        <p:nvSpPr>
          <p:cNvPr id="30" name="Text 25"/>
          <p:cNvSpPr/>
          <p:nvPr/>
        </p:nvSpPr>
        <p:spPr>
          <a:xfrm>
            <a:off x="6684264" y="4800600"/>
            <a:ext cx="4279392" cy="219456"/>
          </a:xfrm>
          <a:prstGeom prst="rect">
            <a:avLst/>
          </a:prstGeom>
          <a:noFill/>
          <a:ln/>
        </p:spPr>
        <p:txBody>
          <a:bodyPr wrap="square" lIns="0" tIns="0" rIns="0" bIns="0" rtlCol="0" anchor="ctr"/>
          <a:lstStyle/>
          <a:p>
            <a:pPr marL="0" indent="0">
              <a:buNone/>
            </a:pPr>
            <a:r>
              <a:rPr lang="en-US" sz="1550" b="1" dirty="0">
                <a:solidFill>
                  <a:srgbClr val="041B34"/>
                </a:solidFill>
                <a:latin typeface="Gill Sans MT" pitchFamily="34" charset="0"/>
                <a:ea typeface="Gill Sans MT" pitchFamily="34" charset="-122"/>
                <a:cs typeface="Gill Sans MT" pitchFamily="34" charset="-120"/>
              </a:rPr>
              <a:t>Samenvatting</a:t>
            </a:r>
            <a:endParaRPr lang="en-US" sz="1550" dirty="0"/>
          </a:p>
        </p:txBody>
      </p:sp>
      <p:sp>
        <p:nvSpPr>
          <p:cNvPr id="31" name="Text 26"/>
          <p:cNvSpPr/>
          <p:nvPr/>
        </p:nvSpPr>
        <p:spPr>
          <a:xfrm>
            <a:off x="6684264" y="5111496"/>
            <a:ext cx="4279392" cy="292608"/>
          </a:xfrm>
          <a:prstGeom prst="rect">
            <a:avLst/>
          </a:prstGeom>
          <a:noFill/>
          <a:ln/>
        </p:spPr>
        <p:txBody>
          <a:bodyPr wrap="square" lIns="0" tIns="0" rIns="0" bIns="0" rtlCol="0" anchor="t"/>
          <a:lstStyle/>
          <a:p>
            <a:pPr marL="0" indent="0">
              <a:buNone/>
            </a:pPr>
            <a:r>
              <a:rPr lang="en-US" sz="1260" dirty="0">
                <a:solidFill>
                  <a:srgbClr val="222222"/>
                </a:solidFill>
                <a:latin typeface="Gill Sans MT" pitchFamily="34" charset="0"/>
                <a:ea typeface="Gill Sans MT" pitchFamily="34" charset="-122"/>
                <a:cs typeface="Gill Sans MT" pitchFamily="34" charset="-120"/>
              </a:rPr>
              <a:t>Computervredebreuk is de digitale basis; diefstal en oplichting zijn de gevolgen die daarop volgden.</a:t>
            </a:r>
            <a:endParaRPr lang="en-US" sz="12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pic>
        <p:nvPicPr>
          <p:cNvPr id="3" name="Image 1" descr="/mnt/data/template_unzip/ppt/media/image2.jpeg"/>
          <p:cNvPicPr>
            <a:picLocks noChangeAspect="1"/>
          </p:cNvPicPr>
          <p:nvPr/>
        </p:nvPicPr>
        <p:blipFill>
          <a:blip r:embed="rId5"/>
          <a:stretch>
            <a:fillRect/>
          </a:stretch>
        </p:blipFill>
        <p:spPr>
          <a:xfrm>
            <a:off x="0" y="6199632"/>
            <a:ext cx="12191695" cy="658368"/>
          </a:xfrm>
          <a:prstGeom prst="rect">
            <a:avLst/>
          </a:prstGeom>
        </p:spPr>
      </p:pic>
      <p:sp>
        <p:nvSpPr>
          <p:cNvPr id="4" name="Text 0"/>
          <p:cNvSpPr/>
          <p:nvPr/>
        </p:nvSpPr>
        <p:spPr>
          <a:xfrm>
            <a:off x="502920" y="301752"/>
            <a:ext cx="9784080" cy="384048"/>
          </a:xfrm>
          <a:prstGeom prst="rect">
            <a:avLst/>
          </a:prstGeom>
          <a:noFill/>
          <a:ln/>
        </p:spPr>
        <p:txBody>
          <a:bodyPr wrap="square" lIns="0" tIns="0" rIns="0" bIns="0" rtlCol="0" anchor="ctr"/>
          <a:lstStyle/>
          <a:p>
            <a:pPr marL="0" indent="0">
              <a:buNone/>
            </a:pPr>
            <a:r>
              <a:rPr lang="en-US" sz="2400" dirty="0">
                <a:solidFill>
                  <a:srgbClr val="FFFFFF"/>
                </a:solidFill>
                <a:latin typeface="Gill Sans MT" pitchFamily="34" charset="0"/>
                <a:ea typeface="Gill Sans MT" pitchFamily="34" charset="-122"/>
                <a:cs typeface="Gill Sans MT" pitchFamily="34" charset="-120"/>
              </a:rPr>
              <a:t>WETTEKST &amp; EIGEN WOORDEN</a:t>
            </a:r>
            <a:endParaRPr lang="en-US" sz="2400" dirty="0"/>
          </a:p>
        </p:txBody>
      </p:sp>
      <p:sp>
        <p:nvSpPr>
          <p:cNvPr id="5" name="Text 1"/>
          <p:cNvSpPr/>
          <p:nvPr/>
        </p:nvSpPr>
        <p:spPr>
          <a:xfrm>
            <a:off x="502920" y="731520"/>
            <a:ext cx="8229600" cy="201168"/>
          </a:xfrm>
          <a:prstGeom prst="rect">
            <a:avLst/>
          </a:prstGeom>
          <a:noFill/>
          <a:ln/>
        </p:spPr>
        <p:txBody>
          <a:bodyPr wrap="square" lIns="0" tIns="0" rIns="0" bIns="0" rtlCol="0" anchor="ctr"/>
          <a:lstStyle/>
          <a:p>
            <a:pPr marL="0" indent="0">
              <a:buNone/>
            </a:pPr>
            <a:r>
              <a:rPr lang="en-US" sz="1350" i="1" dirty="0">
                <a:solidFill>
                  <a:srgbClr val="F4C757"/>
                </a:solidFill>
                <a:latin typeface="Gill Sans MT" pitchFamily="34" charset="0"/>
                <a:ea typeface="Gill Sans MT" pitchFamily="34" charset="-122"/>
                <a:cs typeface="Gill Sans MT" pitchFamily="34" charset="-120"/>
              </a:rPr>
              <a:t>Art. 138ab Sr uitgelegd</a:t>
            </a:r>
            <a:endParaRPr lang="en-US" sz="1350" dirty="0"/>
          </a:p>
        </p:txBody>
      </p:sp>
      <p:pic>
        <p:nvPicPr>
          <p:cNvPr id="6" name="Image 2" descr="/mnt/data/template_unzip/ppt/media/image1.png"/>
          <p:cNvPicPr>
            <a:picLocks noChangeAspect="1"/>
          </p:cNvPicPr>
          <p:nvPr/>
        </p:nvPicPr>
        <p:blipFill>
          <a:blip r:embed="rId6">
            <a:alphaModFix amt="97000"/>
          </a:blip>
          <a:stretch>
            <a:fillRect/>
          </a:stretch>
        </p:blipFill>
        <p:spPr>
          <a:xfrm>
            <a:off x="10588752" y="146304"/>
            <a:ext cx="1280160" cy="1280160"/>
          </a:xfrm>
          <a:prstGeom prst="rect">
            <a:avLst/>
          </a:prstGeom>
        </p:spPr>
      </p:pic>
      <p:sp>
        <p:nvSpPr>
          <p:cNvPr id="7" name="Shape 2"/>
          <p:cNvSpPr/>
          <p:nvPr/>
        </p:nvSpPr>
        <p:spPr>
          <a:xfrm>
            <a:off x="658368" y="1097280"/>
            <a:ext cx="5897880" cy="4526280"/>
          </a:xfrm>
          <a:prstGeom prst="roundRect">
            <a:avLst>
              <a:gd name="adj" fmla="val 1616"/>
            </a:avLst>
          </a:prstGeom>
          <a:solidFill>
            <a:srgbClr val="FFFFFF"/>
          </a:solidFill>
          <a:ln w="12700">
            <a:solidFill>
              <a:srgbClr val="D9E3EE"/>
            </a:solidFill>
            <a:prstDash val="solid"/>
          </a:ln>
        </p:spPr>
        <p:txBody>
          <a:bodyPr/>
          <a:lstStyle/>
          <a:p>
            <a:endParaRPr lang="nl-NL"/>
          </a:p>
        </p:txBody>
      </p:sp>
      <p:sp>
        <p:nvSpPr>
          <p:cNvPr id="8" name="Text 3"/>
          <p:cNvSpPr/>
          <p:nvPr/>
        </p:nvSpPr>
        <p:spPr>
          <a:xfrm>
            <a:off x="804672" y="1188720"/>
            <a:ext cx="5605272" cy="219456"/>
          </a:xfrm>
          <a:prstGeom prst="rect">
            <a:avLst/>
          </a:prstGeom>
          <a:noFill/>
          <a:ln/>
        </p:spPr>
        <p:txBody>
          <a:bodyPr wrap="square" lIns="0" tIns="0" rIns="0" bIns="0" rtlCol="0" anchor="ctr"/>
          <a:lstStyle/>
          <a:p>
            <a:pPr marL="0" indent="0">
              <a:buNone/>
            </a:pPr>
            <a:r>
              <a:rPr lang="en-US" sz="1800" b="1" dirty="0">
                <a:solidFill>
                  <a:srgbClr val="041B34"/>
                </a:solidFill>
                <a:latin typeface="Gill Sans MT" pitchFamily="34" charset="0"/>
                <a:ea typeface="Gill Sans MT" pitchFamily="34" charset="-122"/>
                <a:cs typeface="Gill Sans MT" pitchFamily="34" charset="-120"/>
              </a:rPr>
              <a:t>Wettekst (verkorte kern)</a:t>
            </a:r>
            <a:endParaRPr lang="en-US" sz="1800" dirty="0"/>
          </a:p>
        </p:txBody>
      </p:sp>
      <p:sp>
        <p:nvSpPr>
          <p:cNvPr id="9" name="Text 4"/>
          <p:cNvSpPr/>
          <p:nvPr/>
        </p:nvSpPr>
        <p:spPr>
          <a:xfrm>
            <a:off x="804672" y="1499616"/>
            <a:ext cx="5605272" cy="4014216"/>
          </a:xfrm>
          <a:prstGeom prst="rect">
            <a:avLst/>
          </a:prstGeom>
          <a:noFill/>
          <a:ln/>
        </p:spPr>
        <p:txBody>
          <a:bodyPr wrap="square" lIns="0" tIns="0" rIns="0" bIns="0" rtlCol="0" anchor="t"/>
          <a:lstStyle/>
          <a:p>
            <a:pPr marL="0" indent="0">
              <a:buNone/>
            </a:pPr>
            <a:r>
              <a:rPr lang="en-US" sz="1440" dirty="0">
                <a:solidFill>
                  <a:srgbClr val="222222"/>
                </a:solidFill>
                <a:latin typeface="Gill Sans MT" pitchFamily="34" charset="0"/>
                <a:ea typeface="Gill Sans MT" pitchFamily="34" charset="-122"/>
                <a:cs typeface="Gill Sans MT" pitchFamily="34" charset="-120"/>
              </a:rPr>
              <a:t>“Hij die opzettelijk en wederrechtelijk binnendringt in een geautomatiseerd werk of in een deel daarvan...”</a:t>
            </a:r>
            <a:endParaRPr lang="en-US" sz="1440" dirty="0"/>
          </a:p>
          <a:p>
            <a:pPr marL="0" indent="0">
              <a:buNone/>
            </a:pPr>
            <a:endParaRPr lang="en-US" sz="1440" dirty="0"/>
          </a:p>
          <a:p>
            <a:pPr marL="0" indent="0">
              <a:buNone/>
            </a:pPr>
            <a:r>
              <a:rPr lang="en-US" sz="1440" dirty="0">
                <a:solidFill>
                  <a:srgbClr val="222222"/>
                </a:solidFill>
                <a:latin typeface="Gill Sans MT" pitchFamily="34" charset="0"/>
                <a:ea typeface="Gill Sans MT" pitchFamily="34" charset="-122"/>
                <a:cs typeface="Gill Sans MT" pitchFamily="34" charset="-120"/>
              </a:rPr>
              <a:t>Van binnendringen is in ieder geval sprake bij:</a:t>
            </a:r>
            <a:endParaRPr lang="en-US" sz="1440" dirty="0"/>
          </a:p>
          <a:p>
            <a:pPr marL="0" indent="0">
              <a:buNone/>
            </a:pPr>
            <a:r>
              <a:rPr lang="en-US" sz="1440" dirty="0">
                <a:solidFill>
                  <a:srgbClr val="222222"/>
                </a:solidFill>
                <a:latin typeface="Gill Sans MT" pitchFamily="34" charset="0"/>
                <a:ea typeface="Gill Sans MT" pitchFamily="34" charset="-122"/>
                <a:cs typeface="Gill Sans MT" pitchFamily="34" charset="-120"/>
              </a:rPr>
              <a:t>• doorbreken van beveiliging</a:t>
            </a:r>
            <a:endParaRPr lang="en-US" sz="1440" dirty="0"/>
          </a:p>
          <a:p>
            <a:pPr marL="0" indent="0">
              <a:buNone/>
            </a:pPr>
            <a:r>
              <a:rPr lang="en-US" sz="1440" dirty="0">
                <a:solidFill>
                  <a:srgbClr val="222222"/>
                </a:solidFill>
                <a:latin typeface="Gill Sans MT" pitchFamily="34" charset="0"/>
                <a:ea typeface="Gill Sans MT" pitchFamily="34" charset="-122"/>
                <a:cs typeface="Gill Sans MT" pitchFamily="34" charset="-120"/>
              </a:rPr>
              <a:t>• technische ingreep</a:t>
            </a:r>
            <a:endParaRPr lang="en-US" sz="1440" dirty="0"/>
          </a:p>
          <a:p>
            <a:pPr marL="0" indent="0">
              <a:buNone/>
            </a:pPr>
            <a:r>
              <a:rPr lang="en-US" sz="1440" dirty="0">
                <a:solidFill>
                  <a:srgbClr val="222222"/>
                </a:solidFill>
                <a:latin typeface="Gill Sans MT" pitchFamily="34" charset="0"/>
                <a:ea typeface="Gill Sans MT" pitchFamily="34" charset="-122"/>
                <a:cs typeface="Gill Sans MT" pitchFamily="34" charset="-120"/>
              </a:rPr>
              <a:t>• gebruik van valse signalen of een valse sleutel</a:t>
            </a:r>
            <a:endParaRPr lang="en-US" sz="1440" dirty="0"/>
          </a:p>
          <a:p>
            <a:pPr marL="0" indent="0">
              <a:buNone/>
            </a:pPr>
            <a:r>
              <a:rPr lang="en-US" sz="1440" dirty="0">
                <a:solidFill>
                  <a:srgbClr val="222222"/>
                </a:solidFill>
                <a:latin typeface="Gill Sans MT" pitchFamily="34" charset="0"/>
                <a:ea typeface="Gill Sans MT" pitchFamily="34" charset="-122"/>
                <a:cs typeface="Gill Sans MT" pitchFamily="34" charset="-120"/>
              </a:rPr>
              <a:t>• aannemen van een valse hoedanigheid</a:t>
            </a:r>
            <a:endParaRPr lang="en-US" sz="1440" dirty="0"/>
          </a:p>
        </p:txBody>
      </p:sp>
      <p:sp>
        <p:nvSpPr>
          <p:cNvPr id="10" name="Shape 5"/>
          <p:cNvSpPr/>
          <p:nvPr/>
        </p:nvSpPr>
        <p:spPr>
          <a:xfrm>
            <a:off x="6812280" y="1572768"/>
            <a:ext cx="4370832" cy="1783080"/>
          </a:xfrm>
          <a:prstGeom prst="roundRect">
            <a:avLst>
              <a:gd name="adj" fmla="val 4103"/>
            </a:avLst>
          </a:prstGeom>
          <a:solidFill>
            <a:srgbClr val="FFFFFF"/>
          </a:solidFill>
          <a:ln w="12700">
            <a:solidFill>
              <a:srgbClr val="D9E3EE"/>
            </a:solidFill>
            <a:prstDash val="solid"/>
          </a:ln>
        </p:spPr>
        <p:txBody>
          <a:bodyPr/>
          <a:lstStyle/>
          <a:p>
            <a:endParaRPr lang="nl-NL"/>
          </a:p>
        </p:txBody>
      </p:sp>
      <p:sp>
        <p:nvSpPr>
          <p:cNvPr id="11" name="Text 6"/>
          <p:cNvSpPr/>
          <p:nvPr/>
        </p:nvSpPr>
        <p:spPr>
          <a:xfrm>
            <a:off x="6958584" y="1664208"/>
            <a:ext cx="4078224" cy="219456"/>
          </a:xfrm>
          <a:prstGeom prst="rect">
            <a:avLst/>
          </a:prstGeom>
          <a:noFill/>
          <a:ln/>
        </p:spPr>
        <p:txBody>
          <a:bodyPr wrap="square" lIns="0" tIns="0" rIns="0" bIns="0" rtlCol="0" anchor="ctr"/>
          <a:lstStyle/>
          <a:p>
            <a:pPr marL="0" indent="0">
              <a:buNone/>
            </a:pPr>
            <a:r>
              <a:rPr lang="en-US" sz="1700" b="1" dirty="0">
                <a:solidFill>
                  <a:srgbClr val="041B34"/>
                </a:solidFill>
                <a:latin typeface="Gill Sans MT" pitchFamily="34" charset="0"/>
                <a:ea typeface="Gill Sans MT" pitchFamily="34" charset="-122"/>
                <a:cs typeface="Gill Sans MT" pitchFamily="34" charset="-120"/>
              </a:rPr>
              <a:t>In eigen woorden</a:t>
            </a:r>
            <a:endParaRPr lang="en-US" sz="1700" dirty="0"/>
          </a:p>
        </p:txBody>
      </p:sp>
      <p:sp>
        <p:nvSpPr>
          <p:cNvPr id="12" name="Text 7"/>
          <p:cNvSpPr/>
          <p:nvPr/>
        </p:nvSpPr>
        <p:spPr>
          <a:xfrm>
            <a:off x="6958584" y="1975104"/>
            <a:ext cx="4078224" cy="1271016"/>
          </a:xfrm>
          <a:prstGeom prst="rect">
            <a:avLst/>
          </a:prstGeom>
          <a:noFill/>
          <a:ln/>
        </p:spPr>
        <p:txBody>
          <a:bodyPr wrap="square" lIns="0" tIns="0" rIns="0" bIns="0" rtlCol="0" anchor="t"/>
          <a:lstStyle/>
          <a:p>
            <a:pPr marL="0" indent="0">
              <a:buNone/>
            </a:pPr>
            <a:r>
              <a:rPr lang="en-US" sz="1320" dirty="0">
                <a:solidFill>
                  <a:srgbClr val="222222"/>
                </a:solidFill>
                <a:latin typeface="Gill Sans MT" pitchFamily="34" charset="0"/>
                <a:ea typeface="Gill Sans MT" pitchFamily="34" charset="-122"/>
                <a:cs typeface="Gill Sans MT" pitchFamily="34" charset="-120"/>
              </a:rPr>
              <a:t>Als iemand bewust zonder toestemming een computersysteem, account of online omgeving binnengaat, dan is dat strafbaar — zeker als daar trucs, valse gegevens of een omzeilde beveiliging voor worden gebruikt.</a:t>
            </a:r>
            <a:endParaRPr lang="en-US" sz="1320" dirty="0"/>
          </a:p>
        </p:txBody>
      </p:sp>
      <p:sp>
        <p:nvSpPr>
          <p:cNvPr id="13" name="Shape 8"/>
          <p:cNvSpPr/>
          <p:nvPr/>
        </p:nvSpPr>
        <p:spPr>
          <a:xfrm>
            <a:off x="6812280" y="3703320"/>
            <a:ext cx="4370832" cy="1828800"/>
          </a:xfrm>
          <a:prstGeom prst="roundRect">
            <a:avLst>
              <a:gd name="adj" fmla="val 4000"/>
            </a:avLst>
          </a:prstGeom>
          <a:solidFill>
            <a:srgbClr val="FFFFFF"/>
          </a:solidFill>
          <a:ln w="12700">
            <a:solidFill>
              <a:srgbClr val="D9E3EE"/>
            </a:solidFill>
            <a:prstDash val="solid"/>
          </a:ln>
        </p:spPr>
        <p:txBody>
          <a:bodyPr/>
          <a:lstStyle/>
          <a:p>
            <a:endParaRPr lang="nl-NL"/>
          </a:p>
        </p:txBody>
      </p:sp>
      <p:sp>
        <p:nvSpPr>
          <p:cNvPr id="14" name="Text 9"/>
          <p:cNvSpPr/>
          <p:nvPr/>
        </p:nvSpPr>
        <p:spPr>
          <a:xfrm>
            <a:off x="6958584" y="3794760"/>
            <a:ext cx="4078224" cy="219456"/>
          </a:xfrm>
          <a:prstGeom prst="rect">
            <a:avLst/>
          </a:prstGeom>
          <a:noFill/>
          <a:ln/>
        </p:spPr>
        <p:txBody>
          <a:bodyPr wrap="square" lIns="0" tIns="0" rIns="0" bIns="0" rtlCol="0" anchor="ctr"/>
          <a:lstStyle/>
          <a:p>
            <a:pPr marL="0" indent="0">
              <a:buNone/>
            </a:pPr>
            <a:r>
              <a:rPr lang="en-US" sz="1700" b="1" dirty="0">
                <a:solidFill>
                  <a:srgbClr val="041B34"/>
                </a:solidFill>
                <a:latin typeface="Gill Sans MT" pitchFamily="34" charset="0"/>
                <a:ea typeface="Gill Sans MT" pitchFamily="34" charset="-122"/>
                <a:cs typeface="Gill Sans MT" pitchFamily="34" charset="-120"/>
              </a:rPr>
              <a:t>Belangrijke begrippen</a:t>
            </a:r>
            <a:endParaRPr lang="en-US" sz="1700" dirty="0"/>
          </a:p>
        </p:txBody>
      </p:sp>
      <p:sp>
        <p:nvSpPr>
          <p:cNvPr id="15" name="Text 10"/>
          <p:cNvSpPr/>
          <p:nvPr/>
        </p:nvSpPr>
        <p:spPr>
          <a:xfrm>
            <a:off x="6958584" y="4105656"/>
            <a:ext cx="4078224" cy="1316736"/>
          </a:xfrm>
          <a:prstGeom prst="rect">
            <a:avLst/>
          </a:prstGeom>
          <a:noFill/>
          <a:ln/>
        </p:spPr>
        <p:txBody>
          <a:bodyPr wrap="square" lIns="0" tIns="0" rIns="0" bIns="0" rtlCol="0" anchor="t"/>
          <a:lstStyle/>
          <a:p>
            <a:pPr marL="0" indent="0">
              <a:buNone/>
            </a:pPr>
            <a:r>
              <a:rPr lang="en-US" sz="1320" dirty="0">
                <a:solidFill>
                  <a:srgbClr val="222222"/>
                </a:solidFill>
                <a:latin typeface="Gill Sans MT" pitchFamily="34" charset="0"/>
                <a:ea typeface="Gill Sans MT" pitchFamily="34" charset="-122"/>
                <a:cs typeface="Gill Sans MT" pitchFamily="34" charset="-120"/>
              </a:rPr>
              <a:t>• opzettelijk = expres</a:t>
            </a:r>
            <a:endParaRPr lang="en-US" sz="1320" dirty="0"/>
          </a:p>
          <a:p>
            <a:pPr marL="0" indent="0">
              <a:buNone/>
            </a:pPr>
            <a:r>
              <a:rPr lang="en-US" sz="1320" dirty="0">
                <a:solidFill>
                  <a:srgbClr val="222222"/>
                </a:solidFill>
                <a:latin typeface="Gill Sans MT" pitchFamily="34" charset="0"/>
                <a:ea typeface="Gill Sans MT" pitchFamily="34" charset="-122"/>
                <a:cs typeface="Gill Sans MT" pitchFamily="34" charset="-120"/>
              </a:rPr>
              <a:t>• wederrechtelijk = zonder toestemming</a:t>
            </a:r>
            <a:endParaRPr lang="en-US" sz="1320" dirty="0"/>
          </a:p>
          <a:p>
            <a:pPr marL="0" indent="0">
              <a:buNone/>
            </a:pPr>
            <a:r>
              <a:rPr lang="en-US" sz="1320" dirty="0">
                <a:solidFill>
                  <a:srgbClr val="222222"/>
                </a:solidFill>
                <a:latin typeface="Gill Sans MT" pitchFamily="34" charset="0"/>
                <a:ea typeface="Gill Sans MT" pitchFamily="34" charset="-122"/>
                <a:cs typeface="Gill Sans MT" pitchFamily="34" charset="-120"/>
              </a:rPr>
              <a:t>• binnendringen = toegang krijgen</a:t>
            </a:r>
            <a:endParaRPr lang="en-US" sz="1320" dirty="0"/>
          </a:p>
          <a:p>
            <a:pPr marL="0" indent="0">
              <a:buNone/>
            </a:pPr>
            <a:r>
              <a:rPr lang="en-US" sz="1320" dirty="0">
                <a:solidFill>
                  <a:srgbClr val="222222"/>
                </a:solidFill>
                <a:latin typeface="Gill Sans MT" pitchFamily="34" charset="0"/>
                <a:ea typeface="Gill Sans MT" pitchFamily="34" charset="-122"/>
                <a:cs typeface="Gill Sans MT" pitchFamily="34" charset="-120"/>
              </a:rPr>
              <a:t>• geautomatiseerd werk = systeem, account of digitale omgeving</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pic>
        <p:nvPicPr>
          <p:cNvPr id="3" name="Image 1" descr="/mnt/data/template_unzip/ppt/media/image2.jpeg"/>
          <p:cNvPicPr>
            <a:picLocks noChangeAspect="1"/>
          </p:cNvPicPr>
          <p:nvPr/>
        </p:nvPicPr>
        <p:blipFill>
          <a:blip r:embed="rId5"/>
          <a:stretch>
            <a:fillRect/>
          </a:stretch>
        </p:blipFill>
        <p:spPr>
          <a:xfrm>
            <a:off x="0" y="6199632"/>
            <a:ext cx="12191695" cy="658368"/>
          </a:xfrm>
          <a:prstGeom prst="rect">
            <a:avLst/>
          </a:prstGeom>
        </p:spPr>
      </p:pic>
      <p:sp>
        <p:nvSpPr>
          <p:cNvPr id="4" name="Text 0"/>
          <p:cNvSpPr/>
          <p:nvPr/>
        </p:nvSpPr>
        <p:spPr>
          <a:xfrm>
            <a:off x="502920" y="301752"/>
            <a:ext cx="9784080" cy="384048"/>
          </a:xfrm>
          <a:prstGeom prst="rect">
            <a:avLst/>
          </a:prstGeom>
          <a:noFill/>
          <a:ln/>
        </p:spPr>
        <p:txBody>
          <a:bodyPr wrap="square" lIns="0" tIns="0" rIns="0" bIns="0" rtlCol="0" anchor="ctr"/>
          <a:lstStyle/>
          <a:p>
            <a:pPr marL="0" indent="0">
              <a:buNone/>
            </a:pPr>
            <a:r>
              <a:rPr lang="en-US" sz="2400" dirty="0">
                <a:solidFill>
                  <a:srgbClr val="FFFFFF"/>
                </a:solidFill>
                <a:latin typeface="Gill Sans MT" pitchFamily="34" charset="0"/>
                <a:ea typeface="Gill Sans MT" pitchFamily="34" charset="-122"/>
                <a:cs typeface="Gill Sans MT" pitchFamily="34" charset="-120"/>
              </a:rPr>
              <a:t>OORDEEL VAN DE RECHTBANK</a:t>
            </a:r>
            <a:endParaRPr lang="en-US" sz="2400" dirty="0"/>
          </a:p>
        </p:txBody>
      </p:sp>
      <p:sp>
        <p:nvSpPr>
          <p:cNvPr id="5" name="Text 1"/>
          <p:cNvSpPr/>
          <p:nvPr/>
        </p:nvSpPr>
        <p:spPr>
          <a:xfrm>
            <a:off x="502920" y="731520"/>
            <a:ext cx="8229600" cy="201168"/>
          </a:xfrm>
          <a:prstGeom prst="rect">
            <a:avLst/>
          </a:prstGeom>
          <a:noFill/>
          <a:ln/>
        </p:spPr>
        <p:txBody>
          <a:bodyPr wrap="square" lIns="0" tIns="0" rIns="0" bIns="0" rtlCol="0" anchor="ctr"/>
          <a:lstStyle/>
          <a:p>
            <a:pPr marL="0" indent="0">
              <a:buNone/>
            </a:pPr>
            <a:r>
              <a:rPr lang="en-US" sz="1350" i="1" dirty="0">
                <a:solidFill>
                  <a:srgbClr val="F4C757"/>
                </a:solidFill>
                <a:latin typeface="Gill Sans MT" pitchFamily="34" charset="0"/>
                <a:ea typeface="Gill Sans MT" pitchFamily="34" charset="-122"/>
                <a:cs typeface="Gill Sans MT" pitchFamily="34" charset="-120"/>
              </a:rPr>
              <a:t>Waarom vond de rechtbank dit zo ernstig?</a:t>
            </a:r>
            <a:endParaRPr lang="en-US" sz="1350" dirty="0"/>
          </a:p>
        </p:txBody>
      </p:sp>
      <p:pic>
        <p:nvPicPr>
          <p:cNvPr id="6" name="Image 2" descr="/mnt/data/template_unzip/ppt/media/image1.png"/>
          <p:cNvPicPr>
            <a:picLocks noChangeAspect="1"/>
          </p:cNvPicPr>
          <p:nvPr/>
        </p:nvPicPr>
        <p:blipFill>
          <a:blip r:embed="rId6">
            <a:alphaModFix amt="97000"/>
          </a:blip>
          <a:stretch>
            <a:fillRect/>
          </a:stretch>
        </p:blipFill>
        <p:spPr>
          <a:xfrm>
            <a:off x="10588752" y="146304"/>
            <a:ext cx="1280160" cy="1280160"/>
          </a:xfrm>
          <a:prstGeom prst="rect">
            <a:avLst/>
          </a:prstGeom>
        </p:spPr>
      </p:pic>
      <p:sp>
        <p:nvSpPr>
          <p:cNvPr id="7" name="Shape 2"/>
          <p:cNvSpPr/>
          <p:nvPr/>
        </p:nvSpPr>
        <p:spPr>
          <a:xfrm>
            <a:off x="749808" y="1124712"/>
            <a:ext cx="4800600" cy="621792"/>
          </a:xfrm>
          <a:prstGeom prst="roundRect">
            <a:avLst>
              <a:gd name="adj" fmla="val 11765"/>
            </a:avLst>
          </a:prstGeom>
          <a:solidFill>
            <a:srgbClr val="FFFFFF"/>
          </a:solidFill>
          <a:ln w="12700">
            <a:solidFill>
              <a:srgbClr val="D9E3EE"/>
            </a:solidFill>
            <a:prstDash val="solid"/>
          </a:ln>
        </p:spPr>
        <p:txBody>
          <a:bodyPr/>
          <a:lstStyle/>
          <a:p>
            <a:endParaRPr lang="nl-NL"/>
          </a:p>
        </p:txBody>
      </p:sp>
      <p:sp>
        <p:nvSpPr>
          <p:cNvPr id="8" name="Shape 3"/>
          <p:cNvSpPr/>
          <p:nvPr/>
        </p:nvSpPr>
        <p:spPr>
          <a:xfrm>
            <a:off x="932688" y="1271016"/>
            <a:ext cx="301752" cy="301752"/>
          </a:xfrm>
          <a:prstGeom prst="ellipse">
            <a:avLst/>
          </a:prstGeom>
          <a:solidFill>
            <a:srgbClr val="F4C757"/>
          </a:solidFill>
          <a:ln w="12700">
            <a:solidFill>
              <a:srgbClr val="C79B2E"/>
            </a:solidFill>
            <a:prstDash val="solid"/>
          </a:ln>
        </p:spPr>
        <p:txBody>
          <a:bodyPr/>
          <a:lstStyle/>
          <a:p>
            <a:endParaRPr lang="nl-NL"/>
          </a:p>
        </p:txBody>
      </p:sp>
      <p:sp>
        <p:nvSpPr>
          <p:cNvPr id="9" name="Text 4"/>
          <p:cNvSpPr/>
          <p:nvPr/>
        </p:nvSpPr>
        <p:spPr>
          <a:xfrm>
            <a:off x="932688" y="1280160"/>
            <a:ext cx="301752" cy="283464"/>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1</a:t>
            </a:r>
            <a:endParaRPr lang="en-US" sz="1350" dirty="0"/>
          </a:p>
        </p:txBody>
      </p:sp>
      <p:sp>
        <p:nvSpPr>
          <p:cNvPr id="10" name="Text 5"/>
          <p:cNvSpPr/>
          <p:nvPr/>
        </p:nvSpPr>
        <p:spPr>
          <a:xfrm>
            <a:off x="1353312" y="1234440"/>
            <a:ext cx="3566160" cy="182880"/>
          </a:xfrm>
          <a:prstGeom prst="rect">
            <a:avLst/>
          </a:prstGeom>
          <a:noFill/>
          <a:ln/>
        </p:spPr>
        <p:txBody>
          <a:bodyPr wrap="square" lIns="0" tIns="0" rIns="0" bIns="0" rtlCol="0" anchor="ctr"/>
          <a:lstStyle/>
          <a:p>
            <a:pPr marL="0" indent="0">
              <a:buNone/>
            </a:pPr>
            <a:r>
              <a:rPr lang="en-US" sz="1520" b="1" dirty="0">
                <a:solidFill>
                  <a:srgbClr val="222222"/>
                </a:solidFill>
                <a:latin typeface="Gill Sans MT" pitchFamily="34" charset="0"/>
                <a:ea typeface="Gill Sans MT" pitchFamily="34" charset="-122"/>
                <a:cs typeface="Gill Sans MT" pitchFamily="34" charset="-120"/>
              </a:rPr>
              <a:t>Ernst van de feiten</a:t>
            </a:r>
            <a:endParaRPr lang="en-US" sz="1520" dirty="0"/>
          </a:p>
        </p:txBody>
      </p:sp>
      <p:sp>
        <p:nvSpPr>
          <p:cNvPr id="11" name="Text 6"/>
          <p:cNvSpPr/>
          <p:nvPr/>
        </p:nvSpPr>
        <p:spPr>
          <a:xfrm>
            <a:off x="1353312" y="1463040"/>
            <a:ext cx="3566160" cy="137160"/>
          </a:xfrm>
          <a:prstGeom prst="rect">
            <a:avLst/>
          </a:prstGeom>
          <a:noFill/>
          <a:ln/>
        </p:spPr>
        <p:txBody>
          <a:bodyPr wrap="square" lIns="0" tIns="0" rIns="0" bIns="0" rtlCol="0" anchor="ctr"/>
          <a:lstStyle/>
          <a:p>
            <a:pPr marL="0" indent="0">
              <a:buNone/>
            </a:pPr>
            <a:r>
              <a:rPr lang="en-US" sz="1140" dirty="0">
                <a:solidFill>
                  <a:srgbClr val="222222"/>
                </a:solidFill>
                <a:latin typeface="Gill Sans MT" pitchFamily="34" charset="0"/>
                <a:ea typeface="Gill Sans MT" pitchFamily="34" charset="-122"/>
                <a:cs typeface="Gill Sans MT" pitchFamily="34" charset="-120"/>
              </a:rPr>
              <a:t>Hacken, fraude, phishing en diefstal in één zaak</a:t>
            </a:r>
            <a:endParaRPr lang="en-US" sz="1140" dirty="0"/>
          </a:p>
        </p:txBody>
      </p:sp>
      <p:sp>
        <p:nvSpPr>
          <p:cNvPr id="12" name="Shape 7"/>
          <p:cNvSpPr/>
          <p:nvPr/>
        </p:nvSpPr>
        <p:spPr>
          <a:xfrm>
            <a:off x="749808" y="1947672"/>
            <a:ext cx="4800600" cy="621792"/>
          </a:xfrm>
          <a:prstGeom prst="roundRect">
            <a:avLst>
              <a:gd name="adj" fmla="val 11765"/>
            </a:avLst>
          </a:prstGeom>
          <a:solidFill>
            <a:srgbClr val="FFFFFF"/>
          </a:solidFill>
          <a:ln w="12700">
            <a:solidFill>
              <a:srgbClr val="D9E3EE"/>
            </a:solidFill>
            <a:prstDash val="solid"/>
          </a:ln>
        </p:spPr>
        <p:txBody>
          <a:bodyPr/>
          <a:lstStyle/>
          <a:p>
            <a:endParaRPr lang="nl-NL"/>
          </a:p>
        </p:txBody>
      </p:sp>
      <p:sp>
        <p:nvSpPr>
          <p:cNvPr id="13" name="Shape 8"/>
          <p:cNvSpPr/>
          <p:nvPr/>
        </p:nvSpPr>
        <p:spPr>
          <a:xfrm>
            <a:off x="932688" y="2093976"/>
            <a:ext cx="301752" cy="301752"/>
          </a:xfrm>
          <a:prstGeom prst="ellipse">
            <a:avLst/>
          </a:prstGeom>
          <a:solidFill>
            <a:srgbClr val="F4C757"/>
          </a:solidFill>
          <a:ln w="12700">
            <a:solidFill>
              <a:srgbClr val="C79B2E"/>
            </a:solidFill>
            <a:prstDash val="solid"/>
          </a:ln>
        </p:spPr>
        <p:txBody>
          <a:bodyPr/>
          <a:lstStyle/>
          <a:p>
            <a:endParaRPr lang="nl-NL"/>
          </a:p>
        </p:txBody>
      </p:sp>
      <p:sp>
        <p:nvSpPr>
          <p:cNvPr id="14" name="Text 9"/>
          <p:cNvSpPr/>
          <p:nvPr/>
        </p:nvSpPr>
        <p:spPr>
          <a:xfrm>
            <a:off x="932688" y="2103120"/>
            <a:ext cx="301752" cy="283464"/>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2</a:t>
            </a:r>
            <a:endParaRPr lang="en-US" sz="1350" dirty="0"/>
          </a:p>
        </p:txBody>
      </p:sp>
      <p:sp>
        <p:nvSpPr>
          <p:cNvPr id="15" name="Text 10"/>
          <p:cNvSpPr/>
          <p:nvPr/>
        </p:nvSpPr>
        <p:spPr>
          <a:xfrm>
            <a:off x="1353312" y="2057400"/>
            <a:ext cx="3566160" cy="182880"/>
          </a:xfrm>
          <a:prstGeom prst="rect">
            <a:avLst/>
          </a:prstGeom>
          <a:noFill/>
          <a:ln/>
        </p:spPr>
        <p:txBody>
          <a:bodyPr wrap="square" lIns="0" tIns="0" rIns="0" bIns="0" rtlCol="0" anchor="ctr"/>
          <a:lstStyle/>
          <a:p>
            <a:pPr marL="0" indent="0">
              <a:buNone/>
            </a:pPr>
            <a:r>
              <a:rPr lang="en-US" sz="1520" b="1" dirty="0">
                <a:solidFill>
                  <a:srgbClr val="222222"/>
                </a:solidFill>
                <a:latin typeface="Gill Sans MT" pitchFamily="34" charset="0"/>
                <a:ea typeface="Gill Sans MT" pitchFamily="34" charset="-122"/>
                <a:cs typeface="Gill Sans MT" pitchFamily="34" charset="-120"/>
              </a:rPr>
              <a:t>Grote schaal</a:t>
            </a:r>
            <a:endParaRPr lang="en-US" sz="1520" dirty="0"/>
          </a:p>
        </p:txBody>
      </p:sp>
      <p:sp>
        <p:nvSpPr>
          <p:cNvPr id="16" name="Text 11"/>
          <p:cNvSpPr/>
          <p:nvPr/>
        </p:nvSpPr>
        <p:spPr>
          <a:xfrm>
            <a:off x="1353312" y="2286000"/>
            <a:ext cx="3566160" cy="137160"/>
          </a:xfrm>
          <a:prstGeom prst="rect">
            <a:avLst/>
          </a:prstGeom>
          <a:noFill/>
          <a:ln/>
        </p:spPr>
        <p:txBody>
          <a:bodyPr wrap="square" lIns="0" tIns="0" rIns="0" bIns="0" rtlCol="0" anchor="ctr"/>
          <a:lstStyle/>
          <a:p>
            <a:pPr marL="0" indent="0">
              <a:buNone/>
            </a:pPr>
            <a:r>
              <a:rPr lang="en-US" sz="1140" dirty="0">
                <a:solidFill>
                  <a:srgbClr val="222222"/>
                </a:solidFill>
                <a:latin typeface="Gill Sans MT" pitchFamily="34" charset="0"/>
                <a:ea typeface="Gill Sans MT" pitchFamily="34" charset="-122"/>
                <a:cs typeface="Gill Sans MT" pitchFamily="34" charset="-120"/>
              </a:rPr>
              <a:t>Meerdere maanden en meerdere slachtoffers</a:t>
            </a:r>
            <a:endParaRPr lang="en-US" sz="1140" dirty="0"/>
          </a:p>
        </p:txBody>
      </p:sp>
      <p:sp>
        <p:nvSpPr>
          <p:cNvPr id="17" name="Shape 12"/>
          <p:cNvSpPr/>
          <p:nvPr/>
        </p:nvSpPr>
        <p:spPr>
          <a:xfrm>
            <a:off x="749808" y="2770632"/>
            <a:ext cx="4800600" cy="621792"/>
          </a:xfrm>
          <a:prstGeom prst="roundRect">
            <a:avLst>
              <a:gd name="adj" fmla="val 11765"/>
            </a:avLst>
          </a:prstGeom>
          <a:solidFill>
            <a:srgbClr val="FFFFFF"/>
          </a:solidFill>
          <a:ln w="12700">
            <a:solidFill>
              <a:srgbClr val="D9E3EE"/>
            </a:solidFill>
            <a:prstDash val="solid"/>
          </a:ln>
        </p:spPr>
        <p:txBody>
          <a:bodyPr/>
          <a:lstStyle/>
          <a:p>
            <a:endParaRPr lang="nl-NL"/>
          </a:p>
        </p:txBody>
      </p:sp>
      <p:sp>
        <p:nvSpPr>
          <p:cNvPr id="18" name="Shape 13"/>
          <p:cNvSpPr/>
          <p:nvPr/>
        </p:nvSpPr>
        <p:spPr>
          <a:xfrm>
            <a:off x="932688" y="2916936"/>
            <a:ext cx="301752" cy="301752"/>
          </a:xfrm>
          <a:prstGeom prst="ellipse">
            <a:avLst/>
          </a:prstGeom>
          <a:solidFill>
            <a:srgbClr val="F4C757"/>
          </a:solidFill>
          <a:ln w="12700">
            <a:solidFill>
              <a:srgbClr val="C79B2E"/>
            </a:solidFill>
            <a:prstDash val="solid"/>
          </a:ln>
        </p:spPr>
        <p:txBody>
          <a:bodyPr/>
          <a:lstStyle/>
          <a:p>
            <a:endParaRPr lang="nl-NL"/>
          </a:p>
        </p:txBody>
      </p:sp>
      <p:sp>
        <p:nvSpPr>
          <p:cNvPr id="19" name="Text 14"/>
          <p:cNvSpPr/>
          <p:nvPr/>
        </p:nvSpPr>
        <p:spPr>
          <a:xfrm>
            <a:off x="932688" y="2926080"/>
            <a:ext cx="301752" cy="283464"/>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3</a:t>
            </a:r>
            <a:endParaRPr lang="en-US" sz="1350" dirty="0"/>
          </a:p>
        </p:txBody>
      </p:sp>
      <p:sp>
        <p:nvSpPr>
          <p:cNvPr id="20" name="Text 15"/>
          <p:cNvSpPr/>
          <p:nvPr/>
        </p:nvSpPr>
        <p:spPr>
          <a:xfrm>
            <a:off x="1353312" y="2880360"/>
            <a:ext cx="3566160" cy="182880"/>
          </a:xfrm>
          <a:prstGeom prst="rect">
            <a:avLst/>
          </a:prstGeom>
          <a:noFill/>
          <a:ln/>
        </p:spPr>
        <p:txBody>
          <a:bodyPr wrap="square" lIns="0" tIns="0" rIns="0" bIns="0" rtlCol="0" anchor="ctr"/>
          <a:lstStyle/>
          <a:p>
            <a:pPr marL="0" indent="0">
              <a:buNone/>
            </a:pPr>
            <a:r>
              <a:rPr lang="en-US" sz="1520" b="1" dirty="0">
                <a:solidFill>
                  <a:srgbClr val="222222"/>
                </a:solidFill>
                <a:latin typeface="Gill Sans MT" pitchFamily="34" charset="0"/>
                <a:ea typeface="Gill Sans MT" pitchFamily="34" charset="-122"/>
                <a:cs typeface="Gill Sans MT" pitchFamily="34" charset="-120"/>
              </a:rPr>
              <a:t>Tijdens proeftijd</a:t>
            </a:r>
            <a:endParaRPr lang="en-US" sz="1520" dirty="0"/>
          </a:p>
        </p:txBody>
      </p:sp>
      <p:sp>
        <p:nvSpPr>
          <p:cNvPr id="21" name="Text 16"/>
          <p:cNvSpPr/>
          <p:nvPr/>
        </p:nvSpPr>
        <p:spPr>
          <a:xfrm>
            <a:off x="1353312" y="3108960"/>
            <a:ext cx="3566160" cy="137160"/>
          </a:xfrm>
          <a:prstGeom prst="rect">
            <a:avLst/>
          </a:prstGeom>
          <a:noFill/>
          <a:ln/>
        </p:spPr>
        <p:txBody>
          <a:bodyPr wrap="square" lIns="0" tIns="0" rIns="0" bIns="0" rtlCol="0" anchor="ctr"/>
          <a:lstStyle/>
          <a:p>
            <a:pPr marL="0" indent="0">
              <a:buNone/>
            </a:pPr>
            <a:r>
              <a:rPr lang="en-US" sz="1140" dirty="0">
                <a:solidFill>
                  <a:srgbClr val="222222"/>
                </a:solidFill>
                <a:latin typeface="Gill Sans MT" pitchFamily="34" charset="0"/>
                <a:ea typeface="Gill Sans MT" pitchFamily="34" charset="-122"/>
                <a:cs typeface="Gill Sans MT" pitchFamily="34" charset="-120"/>
              </a:rPr>
              <a:t>Hij ging opnieuw de fout in na een eerdere veroordeling</a:t>
            </a:r>
            <a:endParaRPr lang="en-US" sz="1140" dirty="0"/>
          </a:p>
        </p:txBody>
      </p:sp>
      <p:sp>
        <p:nvSpPr>
          <p:cNvPr id="22" name="Shape 17"/>
          <p:cNvSpPr/>
          <p:nvPr/>
        </p:nvSpPr>
        <p:spPr>
          <a:xfrm>
            <a:off x="749808" y="3593592"/>
            <a:ext cx="4800600" cy="621792"/>
          </a:xfrm>
          <a:prstGeom prst="roundRect">
            <a:avLst>
              <a:gd name="adj" fmla="val 11765"/>
            </a:avLst>
          </a:prstGeom>
          <a:solidFill>
            <a:srgbClr val="FFFFFF"/>
          </a:solidFill>
          <a:ln w="12700">
            <a:solidFill>
              <a:srgbClr val="D9E3EE"/>
            </a:solidFill>
            <a:prstDash val="solid"/>
          </a:ln>
        </p:spPr>
        <p:txBody>
          <a:bodyPr/>
          <a:lstStyle/>
          <a:p>
            <a:endParaRPr lang="nl-NL"/>
          </a:p>
        </p:txBody>
      </p:sp>
      <p:sp>
        <p:nvSpPr>
          <p:cNvPr id="23" name="Shape 18"/>
          <p:cNvSpPr/>
          <p:nvPr/>
        </p:nvSpPr>
        <p:spPr>
          <a:xfrm>
            <a:off x="932688" y="3739896"/>
            <a:ext cx="301752" cy="301752"/>
          </a:xfrm>
          <a:prstGeom prst="ellipse">
            <a:avLst/>
          </a:prstGeom>
          <a:solidFill>
            <a:srgbClr val="F4C757"/>
          </a:solidFill>
          <a:ln w="12700">
            <a:solidFill>
              <a:srgbClr val="C79B2E"/>
            </a:solidFill>
            <a:prstDash val="solid"/>
          </a:ln>
        </p:spPr>
        <p:txBody>
          <a:bodyPr/>
          <a:lstStyle/>
          <a:p>
            <a:endParaRPr lang="nl-NL"/>
          </a:p>
        </p:txBody>
      </p:sp>
      <p:sp>
        <p:nvSpPr>
          <p:cNvPr id="24" name="Text 19"/>
          <p:cNvSpPr/>
          <p:nvPr/>
        </p:nvSpPr>
        <p:spPr>
          <a:xfrm>
            <a:off x="932688" y="3749040"/>
            <a:ext cx="301752" cy="283464"/>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4</a:t>
            </a:r>
            <a:endParaRPr lang="en-US" sz="1350" dirty="0"/>
          </a:p>
        </p:txBody>
      </p:sp>
      <p:sp>
        <p:nvSpPr>
          <p:cNvPr id="25" name="Text 20"/>
          <p:cNvSpPr/>
          <p:nvPr/>
        </p:nvSpPr>
        <p:spPr>
          <a:xfrm>
            <a:off x="1353312" y="3703320"/>
            <a:ext cx="3566160" cy="182880"/>
          </a:xfrm>
          <a:prstGeom prst="rect">
            <a:avLst/>
          </a:prstGeom>
          <a:noFill/>
          <a:ln/>
        </p:spPr>
        <p:txBody>
          <a:bodyPr wrap="square" lIns="0" tIns="0" rIns="0" bIns="0" rtlCol="0" anchor="ctr"/>
          <a:lstStyle/>
          <a:p>
            <a:pPr marL="0" indent="0">
              <a:buNone/>
            </a:pPr>
            <a:r>
              <a:rPr lang="en-US" sz="1520" b="1" dirty="0">
                <a:solidFill>
                  <a:srgbClr val="222222"/>
                </a:solidFill>
                <a:latin typeface="Gill Sans MT" pitchFamily="34" charset="0"/>
                <a:ea typeface="Gill Sans MT" pitchFamily="34" charset="-122"/>
                <a:cs typeface="Gill Sans MT" pitchFamily="34" charset="-120"/>
              </a:rPr>
              <a:t>Recidive</a:t>
            </a:r>
            <a:endParaRPr lang="en-US" sz="1520" dirty="0"/>
          </a:p>
        </p:txBody>
      </p:sp>
      <p:sp>
        <p:nvSpPr>
          <p:cNvPr id="26" name="Text 21"/>
          <p:cNvSpPr/>
          <p:nvPr/>
        </p:nvSpPr>
        <p:spPr>
          <a:xfrm>
            <a:off x="1353312" y="3931920"/>
            <a:ext cx="3566160" cy="137160"/>
          </a:xfrm>
          <a:prstGeom prst="rect">
            <a:avLst/>
          </a:prstGeom>
          <a:noFill/>
          <a:ln/>
        </p:spPr>
        <p:txBody>
          <a:bodyPr wrap="square" lIns="0" tIns="0" rIns="0" bIns="0" rtlCol="0" anchor="ctr"/>
          <a:lstStyle/>
          <a:p>
            <a:pPr marL="0" indent="0">
              <a:buNone/>
            </a:pPr>
            <a:r>
              <a:rPr lang="en-US" sz="1140" dirty="0">
                <a:solidFill>
                  <a:srgbClr val="222222"/>
                </a:solidFill>
                <a:latin typeface="Gill Sans MT" pitchFamily="34" charset="0"/>
                <a:ea typeface="Gill Sans MT" pitchFamily="34" charset="-122"/>
                <a:cs typeface="Gill Sans MT" pitchFamily="34" charset="-120"/>
              </a:rPr>
              <a:t>Soortgelijke cyberfeiten kwamen al eerder voor</a:t>
            </a:r>
            <a:endParaRPr lang="en-US" sz="1140" dirty="0"/>
          </a:p>
        </p:txBody>
      </p:sp>
      <p:sp>
        <p:nvSpPr>
          <p:cNvPr id="27" name="Shape 22"/>
          <p:cNvSpPr/>
          <p:nvPr/>
        </p:nvSpPr>
        <p:spPr>
          <a:xfrm>
            <a:off x="749808" y="4416552"/>
            <a:ext cx="4800600" cy="621792"/>
          </a:xfrm>
          <a:prstGeom prst="roundRect">
            <a:avLst>
              <a:gd name="adj" fmla="val 11765"/>
            </a:avLst>
          </a:prstGeom>
          <a:solidFill>
            <a:srgbClr val="FFFFFF"/>
          </a:solidFill>
          <a:ln w="12700">
            <a:solidFill>
              <a:srgbClr val="D9E3EE"/>
            </a:solidFill>
            <a:prstDash val="solid"/>
          </a:ln>
        </p:spPr>
        <p:txBody>
          <a:bodyPr/>
          <a:lstStyle/>
          <a:p>
            <a:endParaRPr lang="nl-NL"/>
          </a:p>
        </p:txBody>
      </p:sp>
      <p:sp>
        <p:nvSpPr>
          <p:cNvPr id="28" name="Shape 23"/>
          <p:cNvSpPr/>
          <p:nvPr/>
        </p:nvSpPr>
        <p:spPr>
          <a:xfrm>
            <a:off x="932688" y="4562856"/>
            <a:ext cx="301752" cy="301752"/>
          </a:xfrm>
          <a:prstGeom prst="ellipse">
            <a:avLst/>
          </a:prstGeom>
          <a:solidFill>
            <a:srgbClr val="F4C757"/>
          </a:solidFill>
          <a:ln w="12700">
            <a:solidFill>
              <a:srgbClr val="C79B2E"/>
            </a:solidFill>
            <a:prstDash val="solid"/>
          </a:ln>
        </p:spPr>
        <p:txBody>
          <a:bodyPr/>
          <a:lstStyle/>
          <a:p>
            <a:endParaRPr lang="nl-NL"/>
          </a:p>
        </p:txBody>
      </p:sp>
      <p:sp>
        <p:nvSpPr>
          <p:cNvPr id="29" name="Text 24"/>
          <p:cNvSpPr/>
          <p:nvPr/>
        </p:nvSpPr>
        <p:spPr>
          <a:xfrm>
            <a:off x="932688" y="4572000"/>
            <a:ext cx="301752" cy="283464"/>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5</a:t>
            </a:r>
            <a:endParaRPr lang="en-US" sz="1350" dirty="0"/>
          </a:p>
        </p:txBody>
      </p:sp>
      <p:sp>
        <p:nvSpPr>
          <p:cNvPr id="30" name="Text 25"/>
          <p:cNvSpPr/>
          <p:nvPr/>
        </p:nvSpPr>
        <p:spPr>
          <a:xfrm>
            <a:off x="1353312" y="4526280"/>
            <a:ext cx="3566160" cy="182880"/>
          </a:xfrm>
          <a:prstGeom prst="rect">
            <a:avLst/>
          </a:prstGeom>
          <a:noFill/>
          <a:ln/>
        </p:spPr>
        <p:txBody>
          <a:bodyPr wrap="square" lIns="0" tIns="0" rIns="0" bIns="0" rtlCol="0" anchor="ctr"/>
          <a:lstStyle/>
          <a:p>
            <a:pPr marL="0" indent="0">
              <a:buNone/>
            </a:pPr>
            <a:r>
              <a:rPr lang="en-US" sz="1520" b="1" dirty="0">
                <a:solidFill>
                  <a:srgbClr val="222222"/>
                </a:solidFill>
                <a:latin typeface="Gill Sans MT" pitchFamily="34" charset="0"/>
                <a:ea typeface="Gill Sans MT" pitchFamily="34" charset="-122"/>
                <a:cs typeface="Gill Sans MT" pitchFamily="34" charset="-120"/>
              </a:rPr>
              <a:t>Hoog risico op herhaling</a:t>
            </a:r>
            <a:endParaRPr lang="en-US" sz="1520" dirty="0"/>
          </a:p>
        </p:txBody>
      </p:sp>
      <p:sp>
        <p:nvSpPr>
          <p:cNvPr id="31" name="Text 26"/>
          <p:cNvSpPr/>
          <p:nvPr/>
        </p:nvSpPr>
        <p:spPr>
          <a:xfrm>
            <a:off x="1353312" y="4754880"/>
            <a:ext cx="3566160" cy="137160"/>
          </a:xfrm>
          <a:prstGeom prst="rect">
            <a:avLst/>
          </a:prstGeom>
          <a:noFill/>
          <a:ln/>
        </p:spPr>
        <p:txBody>
          <a:bodyPr wrap="square" lIns="0" tIns="0" rIns="0" bIns="0" rtlCol="0" anchor="ctr"/>
          <a:lstStyle/>
          <a:p>
            <a:pPr marL="0" indent="0">
              <a:buNone/>
            </a:pPr>
            <a:r>
              <a:rPr lang="en-US" sz="1140" dirty="0">
                <a:solidFill>
                  <a:srgbClr val="222222"/>
                </a:solidFill>
                <a:latin typeface="Gill Sans MT" pitchFamily="34" charset="0"/>
                <a:ea typeface="Gill Sans MT" pitchFamily="34" charset="-122"/>
                <a:cs typeface="Gill Sans MT" pitchFamily="34" charset="-120"/>
              </a:rPr>
              <a:t>De rechtbank schatte de kans op herhaling groot in</a:t>
            </a:r>
            <a:endParaRPr lang="en-US" sz="1140" dirty="0"/>
          </a:p>
        </p:txBody>
      </p:sp>
      <p:sp>
        <p:nvSpPr>
          <p:cNvPr id="32" name="Shape 27"/>
          <p:cNvSpPr/>
          <p:nvPr/>
        </p:nvSpPr>
        <p:spPr>
          <a:xfrm>
            <a:off x="5961888" y="1508760"/>
            <a:ext cx="4754880" cy="2743200"/>
          </a:xfrm>
          <a:prstGeom prst="roundRect">
            <a:avLst>
              <a:gd name="adj" fmla="val 2667"/>
            </a:avLst>
          </a:prstGeom>
          <a:solidFill>
            <a:srgbClr val="FFFFFF"/>
          </a:solidFill>
          <a:ln w="12700">
            <a:solidFill>
              <a:srgbClr val="D9E3EE"/>
            </a:solidFill>
            <a:prstDash val="solid"/>
          </a:ln>
        </p:spPr>
        <p:txBody>
          <a:bodyPr/>
          <a:lstStyle/>
          <a:p>
            <a:endParaRPr lang="nl-NL"/>
          </a:p>
        </p:txBody>
      </p:sp>
      <p:sp>
        <p:nvSpPr>
          <p:cNvPr id="33" name="Text 28"/>
          <p:cNvSpPr/>
          <p:nvPr/>
        </p:nvSpPr>
        <p:spPr>
          <a:xfrm>
            <a:off x="6108192" y="1600200"/>
            <a:ext cx="4462272" cy="219456"/>
          </a:xfrm>
          <a:prstGeom prst="rect">
            <a:avLst/>
          </a:prstGeom>
          <a:noFill/>
          <a:ln/>
        </p:spPr>
        <p:txBody>
          <a:bodyPr wrap="square" lIns="0" tIns="0" rIns="0" bIns="0" rtlCol="0" anchor="ctr"/>
          <a:lstStyle/>
          <a:p>
            <a:pPr marL="0" indent="0">
              <a:buNone/>
            </a:pPr>
            <a:r>
              <a:rPr lang="en-US" sz="1800" b="1" dirty="0">
                <a:solidFill>
                  <a:srgbClr val="041B34"/>
                </a:solidFill>
                <a:latin typeface="Gill Sans MT" pitchFamily="34" charset="0"/>
                <a:ea typeface="Gill Sans MT" pitchFamily="34" charset="-122"/>
                <a:cs typeface="Gill Sans MT" pitchFamily="34" charset="-120"/>
              </a:rPr>
              <a:t>Kern van het oordeel</a:t>
            </a:r>
            <a:endParaRPr lang="en-US" sz="1800" dirty="0"/>
          </a:p>
        </p:txBody>
      </p:sp>
      <p:sp>
        <p:nvSpPr>
          <p:cNvPr id="34" name="Text 29"/>
          <p:cNvSpPr/>
          <p:nvPr/>
        </p:nvSpPr>
        <p:spPr>
          <a:xfrm>
            <a:off x="6108192" y="1911096"/>
            <a:ext cx="4462272" cy="2231136"/>
          </a:xfrm>
          <a:prstGeom prst="rect">
            <a:avLst/>
          </a:prstGeom>
          <a:noFill/>
          <a:ln/>
        </p:spPr>
        <p:txBody>
          <a:bodyPr wrap="square" lIns="0" tIns="0" rIns="0" bIns="0" rtlCol="0" anchor="t"/>
          <a:lstStyle/>
          <a:p>
            <a:pPr marL="0" indent="0">
              <a:buNone/>
            </a:pPr>
            <a:r>
              <a:rPr lang="en-US" sz="1400" dirty="0">
                <a:solidFill>
                  <a:srgbClr val="222222"/>
                </a:solidFill>
                <a:latin typeface="Gill Sans MT" pitchFamily="34" charset="0"/>
                <a:ea typeface="Gill Sans MT" pitchFamily="34" charset="-122"/>
                <a:cs typeface="Gill Sans MT" pitchFamily="34" charset="-120"/>
              </a:rPr>
              <a:t>De rechtbank zag dit niet als één losse fout, maar als een patroon van ernstige cybercrime. De verdachte ging doelgericht te werk, had al een strafblad en stopte niet, zelfs niet tijdens zijn proeftijd.</a:t>
            </a:r>
            <a:endParaRPr lang="en-US" sz="1400" dirty="0"/>
          </a:p>
        </p:txBody>
      </p:sp>
      <p:sp>
        <p:nvSpPr>
          <p:cNvPr id="35" name="Shape 30"/>
          <p:cNvSpPr/>
          <p:nvPr/>
        </p:nvSpPr>
        <p:spPr>
          <a:xfrm>
            <a:off x="5961888" y="4526280"/>
            <a:ext cx="4754880" cy="1143000"/>
          </a:xfrm>
          <a:prstGeom prst="roundRect">
            <a:avLst>
              <a:gd name="adj" fmla="val 6400"/>
            </a:avLst>
          </a:prstGeom>
          <a:solidFill>
            <a:srgbClr val="FFFFFF"/>
          </a:solidFill>
          <a:ln w="12700">
            <a:solidFill>
              <a:srgbClr val="D9E3EE"/>
            </a:solidFill>
            <a:prstDash val="solid"/>
          </a:ln>
        </p:spPr>
        <p:txBody>
          <a:bodyPr/>
          <a:lstStyle/>
          <a:p>
            <a:endParaRPr lang="nl-NL"/>
          </a:p>
        </p:txBody>
      </p:sp>
      <p:sp>
        <p:nvSpPr>
          <p:cNvPr id="36" name="Text 31"/>
          <p:cNvSpPr/>
          <p:nvPr/>
        </p:nvSpPr>
        <p:spPr>
          <a:xfrm>
            <a:off x="6108192" y="4617720"/>
            <a:ext cx="4462272" cy="219456"/>
          </a:xfrm>
          <a:prstGeom prst="rect">
            <a:avLst/>
          </a:prstGeom>
          <a:noFill/>
          <a:ln/>
        </p:spPr>
        <p:txBody>
          <a:bodyPr wrap="square" lIns="0" tIns="0" rIns="0" bIns="0" rtlCol="0" anchor="ctr"/>
          <a:lstStyle/>
          <a:p>
            <a:pPr marL="0" indent="0">
              <a:buNone/>
            </a:pPr>
            <a:r>
              <a:rPr lang="en-US" sz="1700" b="1" dirty="0">
                <a:solidFill>
                  <a:srgbClr val="041B34"/>
                </a:solidFill>
                <a:latin typeface="Gill Sans MT" pitchFamily="34" charset="0"/>
                <a:ea typeface="Gill Sans MT" pitchFamily="34" charset="-122"/>
                <a:cs typeface="Gill Sans MT" pitchFamily="34" charset="-120"/>
              </a:rPr>
              <a:t>Gevolg</a:t>
            </a:r>
            <a:endParaRPr lang="en-US" sz="1700" dirty="0"/>
          </a:p>
        </p:txBody>
      </p:sp>
      <p:sp>
        <p:nvSpPr>
          <p:cNvPr id="37" name="Text 32"/>
          <p:cNvSpPr/>
          <p:nvPr/>
        </p:nvSpPr>
        <p:spPr>
          <a:xfrm>
            <a:off x="6108192" y="4928616"/>
            <a:ext cx="4462272" cy="630936"/>
          </a:xfrm>
          <a:prstGeom prst="rect">
            <a:avLst/>
          </a:prstGeom>
          <a:noFill/>
          <a:ln/>
        </p:spPr>
        <p:txBody>
          <a:bodyPr wrap="square" lIns="0" tIns="0" rIns="0" bIns="0" rtlCol="0" anchor="t"/>
          <a:lstStyle/>
          <a:p>
            <a:pPr marL="0" indent="0">
              <a:buNone/>
            </a:pPr>
            <a:r>
              <a:rPr lang="en-US" sz="1350" dirty="0">
                <a:solidFill>
                  <a:srgbClr val="222222"/>
                </a:solidFill>
                <a:latin typeface="Gill Sans MT" pitchFamily="34" charset="0"/>
                <a:ea typeface="Gill Sans MT" pitchFamily="34" charset="-122"/>
                <a:cs typeface="Gill Sans MT" pitchFamily="34" charset="-120"/>
              </a:rPr>
              <a:t>Daarom vond de rechtbank een lange onvoorwaardelijke gevangenisstraf passend en noodzakelijk.</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pic>
        <p:nvPicPr>
          <p:cNvPr id="3" name="Image 1" descr="/mnt/data/template_unzip/ppt/media/image2.jpeg"/>
          <p:cNvPicPr>
            <a:picLocks noChangeAspect="1"/>
          </p:cNvPicPr>
          <p:nvPr/>
        </p:nvPicPr>
        <p:blipFill>
          <a:blip r:embed="rId5"/>
          <a:stretch>
            <a:fillRect/>
          </a:stretch>
        </p:blipFill>
        <p:spPr>
          <a:xfrm>
            <a:off x="0" y="6199632"/>
            <a:ext cx="12191695" cy="658368"/>
          </a:xfrm>
          <a:prstGeom prst="rect">
            <a:avLst/>
          </a:prstGeom>
        </p:spPr>
      </p:pic>
      <p:sp>
        <p:nvSpPr>
          <p:cNvPr id="4" name="Text 0"/>
          <p:cNvSpPr/>
          <p:nvPr/>
        </p:nvSpPr>
        <p:spPr>
          <a:xfrm>
            <a:off x="502920" y="301752"/>
            <a:ext cx="9784080" cy="384048"/>
          </a:xfrm>
          <a:prstGeom prst="rect">
            <a:avLst/>
          </a:prstGeom>
          <a:noFill/>
          <a:ln/>
        </p:spPr>
        <p:txBody>
          <a:bodyPr wrap="square" lIns="0" tIns="0" rIns="0" bIns="0" rtlCol="0" anchor="ctr"/>
          <a:lstStyle/>
          <a:p>
            <a:pPr marL="0" indent="0">
              <a:buNone/>
            </a:pPr>
            <a:r>
              <a:rPr lang="en-US" sz="2400" dirty="0">
                <a:solidFill>
                  <a:srgbClr val="FFFFFF"/>
                </a:solidFill>
                <a:latin typeface="Gill Sans MT" pitchFamily="34" charset="0"/>
                <a:ea typeface="Gill Sans MT" pitchFamily="34" charset="-122"/>
                <a:cs typeface="Gill Sans MT" pitchFamily="34" charset="-120"/>
              </a:rPr>
              <a:t>WELKE STRAF IS OPGELEGD?</a:t>
            </a:r>
            <a:endParaRPr lang="en-US" sz="2400" dirty="0"/>
          </a:p>
        </p:txBody>
      </p:sp>
      <p:sp>
        <p:nvSpPr>
          <p:cNvPr id="5" name="Text 1"/>
          <p:cNvSpPr/>
          <p:nvPr/>
        </p:nvSpPr>
        <p:spPr>
          <a:xfrm>
            <a:off x="502920" y="731520"/>
            <a:ext cx="8229600" cy="201168"/>
          </a:xfrm>
          <a:prstGeom prst="rect">
            <a:avLst/>
          </a:prstGeom>
          <a:noFill/>
          <a:ln/>
        </p:spPr>
        <p:txBody>
          <a:bodyPr wrap="square" lIns="0" tIns="0" rIns="0" bIns="0" rtlCol="0" anchor="ctr"/>
          <a:lstStyle/>
          <a:p>
            <a:pPr marL="0" indent="0">
              <a:buNone/>
            </a:pPr>
            <a:r>
              <a:rPr lang="en-US" sz="1350" i="1" dirty="0">
                <a:solidFill>
                  <a:srgbClr val="F4C757"/>
                </a:solidFill>
                <a:latin typeface="Gill Sans MT" pitchFamily="34" charset="0"/>
                <a:ea typeface="Gill Sans MT" pitchFamily="34" charset="-122"/>
                <a:cs typeface="Gill Sans MT" pitchFamily="34" charset="-120"/>
              </a:rPr>
              <a:t>De uitspraak in één oogopslag</a:t>
            </a:r>
            <a:endParaRPr lang="en-US" sz="1350" dirty="0"/>
          </a:p>
        </p:txBody>
      </p:sp>
      <p:pic>
        <p:nvPicPr>
          <p:cNvPr id="6" name="Image 2" descr="/mnt/data/template_unzip/ppt/media/image1.png"/>
          <p:cNvPicPr>
            <a:picLocks noChangeAspect="1"/>
          </p:cNvPicPr>
          <p:nvPr/>
        </p:nvPicPr>
        <p:blipFill>
          <a:blip r:embed="rId6">
            <a:alphaModFix amt="97000"/>
          </a:blip>
          <a:stretch>
            <a:fillRect/>
          </a:stretch>
        </p:blipFill>
        <p:spPr>
          <a:xfrm>
            <a:off x="10588752" y="146304"/>
            <a:ext cx="1280160" cy="1280160"/>
          </a:xfrm>
          <a:prstGeom prst="rect">
            <a:avLst/>
          </a:prstGeom>
        </p:spPr>
      </p:pic>
      <p:sp>
        <p:nvSpPr>
          <p:cNvPr id="7" name="Shape 2"/>
          <p:cNvSpPr/>
          <p:nvPr/>
        </p:nvSpPr>
        <p:spPr>
          <a:xfrm>
            <a:off x="868680" y="1536192"/>
            <a:ext cx="2971800" cy="2971800"/>
          </a:xfrm>
          <a:prstGeom prst="roundRect">
            <a:avLst>
              <a:gd name="adj" fmla="val 2462"/>
            </a:avLst>
          </a:prstGeom>
          <a:solidFill>
            <a:srgbClr val="FFFFFF"/>
          </a:solidFill>
          <a:ln w="12700">
            <a:solidFill>
              <a:srgbClr val="D9E3EE"/>
            </a:solidFill>
            <a:prstDash val="solid"/>
          </a:ln>
        </p:spPr>
        <p:txBody>
          <a:bodyPr/>
          <a:lstStyle/>
          <a:p>
            <a:endParaRPr lang="nl-NL"/>
          </a:p>
        </p:txBody>
      </p:sp>
      <p:sp>
        <p:nvSpPr>
          <p:cNvPr id="8" name="Shape 3"/>
          <p:cNvSpPr/>
          <p:nvPr/>
        </p:nvSpPr>
        <p:spPr>
          <a:xfrm>
            <a:off x="1069848" y="1536192"/>
            <a:ext cx="310896" cy="310896"/>
          </a:xfrm>
          <a:prstGeom prst="ellipse">
            <a:avLst/>
          </a:prstGeom>
          <a:solidFill>
            <a:srgbClr val="F4C757"/>
          </a:solidFill>
          <a:ln w="12700">
            <a:solidFill>
              <a:srgbClr val="C79B2E"/>
            </a:solidFill>
            <a:prstDash val="solid"/>
          </a:ln>
        </p:spPr>
        <p:txBody>
          <a:bodyPr/>
          <a:lstStyle/>
          <a:p>
            <a:endParaRPr lang="nl-NL"/>
          </a:p>
        </p:txBody>
      </p:sp>
      <p:sp>
        <p:nvSpPr>
          <p:cNvPr id="9" name="Text 4"/>
          <p:cNvSpPr/>
          <p:nvPr/>
        </p:nvSpPr>
        <p:spPr>
          <a:xfrm>
            <a:off x="1069848" y="1545336"/>
            <a:ext cx="310896" cy="292608"/>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1</a:t>
            </a:r>
            <a:endParaRPr lang="en-US" sz="1350" dirty="0"/>
          </a:p>
        </p:txBody>
      </p:sp>
      <p:sp>
        <p:nvSpPr>
          <p:cNvPr id="10" name="Text 5"/>
          <p:cNvSpPr/>
          <p:nvPr/>
        </p:nvSpPr>
        <p:spPr>
          <a:xfrm>
            <a:off x="1435608" y="1737360"/>
            <a:ext cx="2103120" cy="256032"/>
          </a:xfrm>
          <a:prstGeom prst="rect">
            <a:avLst/>
          </a:prstGeom>
          <a:noFill/>
          <a:ln/>
        </p:spPr>
        <p:txBody>
          <a:bodyPr wrap="square" lIns="0" tIns="0" rIns="0" bIns="0" rtlCol="0" anchor="ctr"/>
          <a:lstStyle/>
          <a:p>
            <a:pPr marL="0" indent="0">
              <a:buNone/>
            </a:pPr>
            <a:r>
              <a:rPr lang="en-US" sz="1720" b="1" dirty="0">
                <a:solidFill>
                  <a:srgbClr val="222222"/>
                </a:solidFill>
                <a:latin typeface="Gill Sans MT" pitchFamily="34" charset="0"/>
                <a:ea typeface="Gill Sans MT" pitchFamily="34" charset="-122"/>
                <a:cs typeface="Gill Sans MT" pitchFamily="34" charset="-120"/>
              </a:rPr>
              <a:t>42 maanden cel</a:t>
            </a:r>
            <a:endParaRPr lang="en-US" sz="1720" dirty="0"/>
          </a:p>
        </p:txBody>
      </p:sp>
      <p:sp>
        <p:nvSpPr>
          <p:cNvPr id="11" name="Text 6"/>
          <p:cNvSpPr/>
          <p:nvPr/>
        </p:nvSpPr>
        <p:spPr>
          <a:xfrm>
            <a:off x="1069848" y="2148840"/>
            <a:ext cx="2514600" cy="1417320"/>
          </a:xfrm>
          <a:prstGeom prst="rect">
            <a:avLst/>
          </a:prstGeom>
          <a:noFill/>
          <a:ln/>
        </p:spPr>
        <p:txBody>
          <a:bodyPr wrap="square" lIns="0" tIns="0" rIns="0" bIns="0" rtlCol="0" anchor="ctr"/>
          <a:lstStyle/>
          <a:p>
            <a:pPr marL="0" indent="0">
              <a:buNone/>
            </a:pPr>
            <a:r>
              <a:rPr lang="en-US" sz="1320" dirty="0">
                <a:solidFill>
                  <a:srgbClr val="222222"/>
                </a:solidFill>
                <a:latin typeface="Gill Sans MT" pitchFamily="34" charset="0"/>
                <a:ea typeface="Gill Sans MT" pitchFamily="34" charset="-122"/>
                <a:cs typeface="Gill Sans MT" pitchFamily="34" charset="-120"/>
              </a:rPr>
              <a:t>Nieuwe onvoorwaardelijke gevangenisstraf</a:t>
            </a:r>
            <a:endParaRPr lang="en-US" sz="1320" dirty="0"/>
          </a:p>
        </p:txBody>
      </p:sp>
      <p:sp>
        <p:nvSpPr>
          <p:cNvPr id="12" name="Shape 7"/>
          <p:cNvSpPr/>
          <p:nvPr/>
        </p:nvSpPr>
        <p:spPr>
          <a:xfrm>
            <a:off x="4480560" y="1536192"/>
            <a:ext cx="2971800" cy="2971800"/>
          </a:xfrm>
          <a:prstGeom prst="roundRect">
            <a:avLst>
              <a:gd name="adj" fmla="val 2462"/>
            </a:avLst>
          </a:prstGeom>
          <a:solidFill>
            <a:srgbClr val="FFFFFF"/>
          </a:solidFill>
          <a:ln w="12700">
            <a:solidFill>
              <a:srgbClr val="D9E3EE"/>
            </a:solidFill>
            <a:prstDash val="solid"/>
          </a:ln>
        </p:spPr>
        <p:txBody>
          <a:bodyPr/>
          <a:lstStyle/>
          <a:p>
            <a:endParaRPr lang="nl-NL"/>
          </a:p>
        </p:txBody>
      </p:sp>
      <p:sp>
        <p:nvSpPr>
          <p:cNvPr id="13" name="Shape 8"/>
          <p:cNvSpPr/>
          <p:nvPr/>
        </p:nvSpPr>
        <p:spPr>
          <a:xfrm>
            <a:off x="4681728" y="1536192"/>
            <a:ext cx="310896" cy="310896"/>
          </a:xfrm>
          <a:prstGeom prst="ellipse">
            <a:avLst/>
          </a:prstGeom>
          <a:solidFill>
            <a:srgbClr val="F4C757"/>
          </a:solidFill>
          <a:ln w="12700">
            <a:solidFill>
              <a:srgbClr val="C79B2E"/>
            </a:solidFill>
            <a:prstDash val="solid"/>
          </a:ln>
        </p:spPr>
        <p:txBody>
          <a:bodyPr/>
          <a:lstStyle/>
          <a:p>
            <a:endParaRPr lang="nl-NL"/>
          </a:p>
        </p:txBody>
      </p:sp>
      <p:sp>
        <p:nvSpPr>
          <p:cNvPr id="14" name="Text 9"/>
          <p:cNvSpPr/>
          <p:nvPr/>
        </p:nvSpPr>
        <p:spPr>
          <a:xfrm>
            <a:off x="4681728" y="1545336"/>
            <a:ext cx="310896" cy="292608"/>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2</a:t>
            </a:r>
            <a:endParaRPr lang="en-US" sz="1350" dirty="0"/>
          </a:p>
        </p:txBody>
      </p:sp>
      <p:sp>
        <p:nvSpPr>
          <p:cNvPr id="15" name="Text 10"/>
          <p:cNvSpPr/>
          <p:nvPr/>
        </p:nvSpPr>
        <p:spPr>
          <a:xfrm>
            <a:off x="5047488" y="1737360"/>
            <a:ext cx="2103120" cy="256032"/>
          </a:xfrm>
          <a:prstGeom prst="rect">
            <a:avLst/>
          </a:prstGeom>
          <a:noFill/>
          <a:ln/>
        </p:spPr>
        <p:txBody>
          <a:bodyPr wrap="square" lIns="0" tIns="0" rIns="0" bIns="0" rtlCol="0" anchor="ctr"/>
          <a:lstStyle/>
          <a:p>
            <a:pPr marL="0" indent="0">
              <a:buNone/>
            </a:pPr>
            <a:r>
              <a:rPr lang="en-US" sz="1720" b="1" dirty="0">
                <a:solidFill>
                  <a:srgbClr val="222222"/>
                </a:solidFill>
                <a:latin typeface="Gill Sans MT" pitchFamily="34" charset="0"/>
                <a:ea typeface="Gill Sans MT" pitchFamily="34" charset="-122"/>
                <a:cs typeface="Gill Sans MT" pitchFamily="34" charset="-120"/>
              </a:rPr>
              <a:t>24 maanden extra</a:t>
            </a:r>
            <a:endParaRPr lang="en-US" sz="1720" dirty="0"/>
          </a:p>
        </p:txBody>
      </p:sp>
      <p:sp>
        <p:nvSpPr>
          <p:cNvPr id="16" name="Text 11"/>
          <p:cNvSpPr/>
          <p:nvPr/>
        </p:nvSpPr>
        <p:spPr>
          <a:xfrm>
            <a:off x="4681728" y="2148840"/>
            <a:ext cx="2514600" cy="1417320"/>
          </a:xfrm>
          <a:prstGeom prst="rect">
            <a:avLst/>
          </a:prstGeom>
          <a:noFill/>
          <a:ln/>
        </p:spPr>
        <p:txBody>
          <a:bodyPr wrap="square" lIns="0" tIns="0" rIns="0" bIns="0" rtlCol="0" anchor="ctr"/>
          <a:lstStyle/>
          <a:p>
            <a:pPr marL="0" indent="0">
              <a:buNone/>
            </a:pPr>
            <a:r>
              <a:rPr lang="en-US" sz="1320" dirty="0">
                <a:solidFill>
                  <a:srgbClr val="222222"/>
                </a:solidFill>
                <a:latin typeface="Gill Sans MT" pitchFamily="34" charset="0"/>
                <a:ea typeface="Gill Sans MT" pitchFamily="34" charset="-122"/>
                <a:cs typeface="Gill Sans MT" pitchFamily="34" charset="-120"/>
              </a:rPr>
              <a:t>Eerdere voorwaardelijke straf moet alsnog worden uitgezeten</a:t>
            </a:r>
            <a:endParaRPr lang="en-US" sz="1320" dirty="0"/>
          </a:p>
        </p:txBody>
      </p:sp>
      <p:sp>
        <p:nvSpPr>
          <p:cNvPr id="17" name="Shape 12"/>
          <p:cNvSpPr/>
          <p:nvPr/>
        </p:nvSpPr>
        <p:spPr>
          <a:xfrm>
            <a:off x="8092440" y="1536192"/>
            <a:ext cx="2971800" cy="2971800"/>
          </a:xfrm>
          <a:prstGeom prst="roundRect">
            <a:avLst>
              <a:gd name="adj" fmla="val 2462"/>
            </a:avLst>
          </a:prstGeom>
          <a:solidFill>
            <a:srgbClr val="FFFFFF"/>
          </a:solidFill>
          <a:ln w="12700">
            <a:solidFill>
              <a:srgbClr val="D9E3EE"/>
            </a:solidFill>
            <a:prstDash val="solid"/>
          </a:ln>
        </p:spPr>
        <p:txBody>
          <a:bodyPr/>
          <a:lstStyle/>
          <a:p>
            <a:endParaRPr lang="nl-NL"/>
          </a:p>
        </p:txBody>
      </p:sp>
      <p:sp>
        <p:nvSpPr>
          <p:cNvPr id="18" name="Shape 13"/>
          <p:cNvSpPr/>
          <p:nvPr/>
        </p:nvSpPr>
        <p:spPr>
          <a:xfrm>
            <a:off x="8293608" y="1536192"/>
            <a:ext cx="310896" cy="310896"/>
          </a:xfrm>
          <a:prstGeom prst="ellipse">
            <a:avLst/>
          </a:prstGeom>
          <a:solidFill>
            <a:srgbClr val="F4C757"/>
          </a:solidFill>
          <a:ln w="12700">
            <a:solidFill>
              <a:srgbClr val="C79B2E"/>
            </a:solidFill>
            <a:prstDash val="solid"/>
          </a:ln>
        </p:spPr>
        <p:txBody>
          <a:bodyPr/>
          <a:lstStyle/>
          <a:p>
            <a:endParaRPr lang="nl-NL"/>
          </a:p>
        </p:txBody>
      </p:sp>
      <p:sp>
        <p:nvSpPr>
          <p:cNvPr id="19" name="Text 14"/>
          <p:cNvSpPr/>
          <p:nvPr/>
        </p:nvSpPr>
        <p:spPr>
          <a:xfrm>
            <a:off x="8293608" y="1545336"/>
            <a:ext cx="310896" cy="292608"/>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3</a:t>
            </a:r>
            <a:endParaRPr lang="en-US" sz="1350" dirty="0"/>
          </a:p>
        </p:txBody>
      </p:sp>
      <p:sp>
        <p:nvSpPr>
          <p:cNvPr id="20" name="Text 15"/>
          <p:cNvSpPr/>
          <p:nvPr/>
        </p:nvSpPr>
        <p:spPr>
          <a:xfrm>
            <a:off x="8659368" y="1737360"/>
            <a:ext cx="2103120" cy="256032"/>
          </a:xfrm>
          <a:prstGeom prst="rect">
            <a:avLst/>
          </a:prstGeom>
          <a:noFill/>
          <a:ln/>
        </p:spPr>
        <p:txBody>
          <a:bodyPr wrap="square" lIns="0" tIns="0" rIns="0" bIns="0" rtlCol="0" anchor="ctr"/>
          <a:lstStyle/>
          <a:p>
            <a:pPr marL="0" indent="0">
              <a:buNone/>
            </a:pPr>
            <a:r>
              <a:rPr lang="en-US" sz="1720" b="1" dirty="0">
                <a:solidFill>
                  <a:srgbClr val="222222"/>
                </a:solidFill>
                <a:latin typeface="Gill Sans MT" pitchFamily="34" charset="0"/>
                <a:ea typeface="Gill Sans MT" pitchFamily="34" charset="-122"/>
                <a:cs typeface="Gill Sans MT" pitchFamily="34" charset="-120"/>
              </a:rPr>
              <a:t>Schadevergoeding</a:t>
            </a:r>
            <a:endParaRPr lang="en-US" sz="1720" dirty="0"/>
          </a:p>
        </p:txBody>
      </p:sp>
      <p:sp>
        <p:nvSpPr>
          <p:cNvPr id="21" name="Text 16"/>
          <p:cNvSpPr/>
          <p:nvPr/>
        </p:nvSpPr>
        <p:spPr>
          <a:xfrm>
            <a:off x="8293608" y="2148840"/>
            <a:ext cx="2514600" cy="1417320"/>
          </a:xfrm>
          <a:prstGeom prst="rect">
            <a:avLst/>
          </a:prstGeom>
          <a:noFill/>
          <a:ln/>
        </p:spPr>
        <p:txBody>
          <a:bodyPr wrap="square" lIns="0" tIns="0" rIns="0" bIns="0" rtlCol="0" anchor="ctr"/>
          <a:lstStyle/>
          <a:p>
            <a:pPr marL="0" indent="0">
              <a:buNone/>
            </a:pPr>
            <a:r>
              <a:rPr lang="en-US" sz="1320" dirty="0">
                <a:solidFill>
                  <a:srgbClr val="222222"/>
                </a:solidFill>
                <a:latin typeface="Gill Sans MT" pitchFamily="34" charset="0"/>
                <a:ea typeface="Gill Sans MT" pitchFamily="34" charset="-122"/>
                <a:cs typeface="Gill Sans MT" pitchFamily="34" charset="-120"/>
              </a:rPr>
              <a:t>Twee benadeelde partijen krijgen vergoeding</a:t>
            </a:r>
            <a:endParaRPr lang="en-US" sz="1320" dirty="0"/>
          </a:p>
        </p:txBody>
      </p:sp>
      <p:sp>
        <p:nvSpPr>
          <p:cNvPr id="22" name="Text 17"/>
          <p:cNvSpPr/>
          <p:nvPr/>
        </p:nvSpPr>
        <p:spPr>
          <a:xfrm>
            <a:off x="868680" y="4892040"/>
            <a:ext cx="2286000" cy="201168"/>
          </a:xfrm>
          <a:prstGeom prst="rect">
            <a:avLst/>
          </a:prstGeom>
          <a:noFill/>
          <a:ln/>
        </p:spPr>
        <p:txBody>
          <a:bodyPr wrap="square" lIns="0" tIns="0" rIns="0" bIns="0" rtlCol="0" anchor="ctr"/>
          <a:lstStyle/>
          <a:p>
            <a:pPr marL="0" indent="0">
              <a:buNone/>
            </a:pPr>
            <a:r>
              <a:rPr lang="en-US" sz="1280" i="1" dirty="0">
                <a:solidFill>
                  <a:srgbClr val="C79B2E"/>
                </a:solidFill>
                <a:latin typeface="Gill Sans MT" pitchFamily="34" charset="0"/>
                <a:ea typeface="Gill Sans MT" pitchFamily="34" charset="-122"/>
                <a:cs typeface="Gill Sans MT" pitchFamily="34" charset="-120"/>
              </a:rPr>
              <a:t>Waarom is de straf zwaar?</a:t>
            </a:r>
            <a:endParaRPr lang="en-US" sz="1280" dirty="0"/>
          </a:p>
        </p:txBody>
      </p:sp>
      <p:sp>
        <p:nvSpPr>
          <p:cNvPr id="23" name="Text 18"/>
          <p:cNvSpPr/>
          <p:nvPr/>
        </p:nvSpPr>
        <p:spPr>
          <a:xfrm>
            <a:off x="868680" y="5102352"/>
            <a:ext cx="7955280" cy="384048"/>
          </a:xfrm>
          <a:prstGeom prst="rect">
            <a:avLst/>
          </a:prstGeom>
          <a:noFill/>
          <a:ln/>
        </p:spPr>
        <p:txBody>
          <a:bodyPr wrap="square" lIns="0" tIns="0" rIns="0" bIns="0" rtlCol="0" anchor="ctr"/>
          <a:lstStyle/>
          <a:p>
            <a:pPr marL="0" indent="0">
              <a:buNone/>
            </a:pPr>
            <a:r>
              <a:rPr lang="en-US" sz="1420" dirty="0">
                <a:solidFill>
                  <a:srgbClr val="222222"/>
                </a:solidFill>
                <a:latin typeface="Gill Sans MT" pitchFamily="34" charset="0"/>
                <a:ea typeface="Gill Sans MT" pitchFamily="34" charset="-122"/>
                <a:cs typeface="Gill Sans MT" pitchFamily="34" charset="-120"/>
              </a:rPr>
              <a:t>Omdat de feiten ernstig, herhaald en doelgericht waren — en omdat de verdachte ondanks een eerdere kans toch opnieuw doorging.</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pic>
        <p:nvPicPr>
          <p:cNvPr id="3" name="Image 1" descr="/mnt/data/template_unzip/ppt/media/image2.jpeg"/>
          <p:cNvPicPr>
            <a:picLocks noChangeAspect="1"/>
          </p:cNvPicPr>
          <p:nvPr/>
        </p:nvPicPr>
        <p:blipFill>
          <a:blip r:embed="rId5"/>
          <a:stretch>
            <a:fillRect/>
          </a:stretch>
        </p:blipFill>
        <p:spPr>
          <a:xfrm>
            <a:off x="0" y="6199632"/>
            <a:ext cx="12191695" cy="658368"/>
          </a:xfrm>
          <a:prstGeom prst="rect">
            <a:avLst/>
          </a:prstGeom>
        </p:spPr>
      </p:pic>
      <p:sp>
        <p:nvSpPr>
          <p:cNvPr id="4" name="Text 0"/>
          <p:cNvSpPr/>
          <p:nvPr/>
        </p:nvSpPr>
        <p:spPr>
          <a:xfrm>
            <a:off x="502920" y="301752"/>
            <a:ext cx="9784080" cy="384048"/>
          </a:xfrm>
          <a:prstGeom prst="rect">
            <a:avLst/>
          </a:prstGeom>
          <a:noFill/>
          <a:ln/>
        </p:spPr>
        <p:txBody>
          <a:bodyPr wrap="square" lIns="0" tIns="0" rIns="0" bIns="0" rtlCol="0" anchor="ctr"/>
          <a:lstStyle/>
          <a:p>
            <a:pPr marL="0" indent="0">
              <a:buNone/>
            </a:pPr>
            <a:r>
              <a:rPr lang="en-US" sz="2400" dirty="0">
                <a:solidFill>
                  <a:srgbClr val="FFFFFF"/>
                </a:solidFill>
                <a:latin typeface="Gill Sans MT" pitchFamily="34" charset="0"/>
                <a:ea typeface="Gill Sans MT" pitchFamily="34" charset="-122"/>
                <a:cs typeface="Gill Sans MT" pitchFamily="34" charset="-120"/>
              </a:rPr>
              <a:t>IS DE STRAF RECHTVAARDIG?</a:t>
            </a:r>
            <a:endParaRPr lang="en-US" sz="2400" dirty="0"/>
          </a:p>
        </p:txBody>
      </p:sp>
      <p:sp>
        <p:nvSpPr>
          <p:cNvPr id="5" name="Text 1"/>
          <p:cNvSpPr/>
          <p:nvPr/>
        </p:nvSpPr>
        <p:spPr>
          <a:xfrm>
            <a:off x="502920" y="731520"/>
            <a:ext cx="8229600" cy="201168"/>
          </a:xfrm>
          <a:prstGeom prst="rect">
            <a:avLst/>
          </a:prstGeom>
          <a:noFill/>
          <a:ln/>
        </p:spPr>
        <p:txBody>
          <a:bodyPr wrap="square" lIns="0" tIns="0" rIns="0" bIns="0" rtlCol="0" anchor="ctr"/>
          <a:lstStyle/>
          <a:p>
            <a:pPr marL="0" indent="0">
              <a:buNone/>
            </a:pPr>
            <a:r>
              <a:rPr lang="en-US" sz="1350" i="1" dirty="0">
                <a:solidFill>
                  <a:srgbClr val="F4C757"/>
                </a:solidFill>
                <a:latin typeface="Gill Sans MT" pitchFamily="34" charset="0"/>
                <a:ea typeface="Gill Sans MT" pitchFamily="34" charset="-122"/>
                <a:cs typeface="Gill Sans MT" pitchFamily="34" charset="-120"/>
              </a:rPr>
              <a:t>Discussiepunt voor de groep</a:t>
            </a:r>
            <a:endParaRPr lang="en-US" sz="1350" dirty="0"/>
          </a:p>
        </p:txBody>
      </p:sp>
      <p:pic>
        <p:nvPicPr>
          <p:cNvPr id="6" name="Image 2" descr="/mnt/data/template_unzip/ppt/media/image1.png"/>
          <p:cNvPicPr>
            <a:picLocks noChangeAspect="1"/>
          </p:cNvPicPr>
          <p:nvPr/>
        </p:nvPicPr>
        <p:blipFill>
          <a:blip r:embed="rId6">
            <a:alphaModFix amt="97000"/>
          </a:blip>
          <a:stretch>
            <a:fillRect/>
          </a:stretch>
        </p:blipFill>
        <p:spPr>
          <a:xfrm>
            <a:off x="10588752" y="146304"/>
            <a:ext cx="1280160" cy="1280160"/>
          </a:xfrm>
          <a:prstGeom prst="rect">
            <a:avLst/>
          </a:prstGeom>
        </p:spPr>
      </p:pic>
      <p:sp>
        <p:nvSpPr>
          <p:cNvPr id="7" name="Shape 2"/>
          <p:cNvSpPr/>
          <p:nvPr/>
        </p:nvSpPr>
        <p:spPr>
          <a:xfrm>
            <a:off x="713232" y="1481328"/>
            <a:ext cx="2834640" cy="4114800"/>
          </a:xfrm>
          <a:prstGeom prst="roundRect">
            <a:avLst>
              <a:gd name="adj" fmla="val 2581"/>
            </a:avLst>
          </a:prstGeom>
          <a:solidFill>
            <a:srgbClr val="FFFFFF"/>
          </a:solidFill>
          <a:ln w="12700">
            <a:solidFill>
              <a:srgbClr val="D9E3EE"/>
            </a:solidFill>
            <a:prstDash val="solid"/>
          </a:ln>
        </p:spPr>
        <p:txBody>
          <a:bodyPr/>
          <a:lstStyle/>
          <a:p>
            <a:endParaRPr lang="nl-NL"/>
          </a:p>
        </p:txBody>
      </p:sp>
      <p:sp>
        <p:nvSpPr>
          <p:cNvPr id="8" name="Text 3"/>
          <p:cNvSpPr/>
          <p:nvPr/>
        </p:nvSpPr>
        <p:spPr>
          <a:xfrm>
            <a:off x="859536" y="1572768"/>
            <a:ext cx="2542032" cy="219456"/>
          </a:xfrm>
          <a:prstGeom prst="rect">
            <a:avLst/>
          </a:prstGeom>
          <a:noFill/>
          <a:ln/>
        </p:spPr>
        <p:txBody>
          <a:bodyPr wrap="square" lIns="0" tIns="0" rIns="0" bIns="0" rtlCol="0" anchor="ctr"/>
          <a:lstStyle/>
          <a:p>
            <a:pPr marL="0" indent="0">
              <a:buNone/>
            </a:pPr>
            <a:r>
              <a:rPr lang="en-US" sz="1700" b="1" dirty="0">
                <a:solidFill>
                  <a:srgbClr val="041B34"/>
                </a:solidFill>
                <a:latin typeface="Gill Sans MT" pitchFamily="34" charset="0"/>
                <a:ea typeface="Gill Sans MT" pitchFamily="34" charset="-122"/>
                <a:cs typeface="Gill Sans MT" pitchFamily="34" charset="-120"/>
              </a:rPr>
              <a:t>Waarom wij: JA</a:t>
            </a:r>
            <a:endParaRPr lang="en-US" sz="1700" dirty="0"/>
          </a:p>
        </p:txBody>
      </p:sp>
      <p:sp>
        <p:nvSpPr>
          <p:cNvPr id="9" name="Text 4"/>
          <p:cNvSpPr/>
          <p:nvPr/>
        </p:nvSpPr>
        <p:spPr>
          <a:xfrm>
            <a:off x="859536" y="1883664"/>
            <a:ext cx="2542032" cy="3602736"/>
          </a:xfrm>
          <a:prstGeom prst="rect">
            <a:avLst/>
          </a:prstGeom>
          <a:noFill/>
          <a:ln/>
        </p:spPr>
        <p:txBody>
          <a:bodyPr wrap="square" lIns="0" tIns="0" rIns="0" bIns="0" rtlCol="0" anchor="t"/>
          <a:lstStyle/>
          <a:p>
            <a:pPr marL="0" indent="0">
              <a:buNone/>
            </a:pPr>
            <a:r>
              <a:rPr lang="en-US" sz="1320" dirty="0">
                <a:solidFill>
                  <a:srgbClr val="222222"/>
                </a:solidFill>
                <a:latin typeface="Gill Sans MT" pitchFamily="34" charset="0"/>
                <a:ea typeface="Gill Sans MT" pitchFamily="34" charset="-122"/>
                <a:cs typeface="Gill Sans MT" pitchFamily="34" charset="-120"/>
              </a:rPr>
              <a:t>• echte slachtoffers en echte financiële schade</a:t>
            </a:r>
            <a:endParaRPr lang="en-US" sz="1320" dirty="0"/>
          </a:p>
          <a:p>
            <a:pPr marL="0" indent="0">
              <a:buNone/>
            </a:pPr>
            <a:r>
              <a:rPr lang="en-US" sz="1320" dirty="0">
                <a:solidFill>
                  <a:srgbClr val="222222"/>
                </a:solidFill>
                <a:latin typeface="Gill Sans MT" pitchFamily="34" charset="0"/>
                <a:ea typeface="Gill Sans MT" pitchFamily="34" charset="-122"/>
                <a:cs typeface="Gill Sans MT" pitchFamily="34" charset="-120"/>
              </a:rPr>
              <a:t>• misbruik van digitale systemen en vertrouwen</a:t>
            </a:r>
            <a:endParaRPr lang="en-US" sz="1320" dirty="0"/>
          </a:p>
          <a:p>
            <a:pPr marL="0" indent="0">
              <a:buNone/>
            </a:pPr>
            <a:r>
              <a:rPr lang="en-US" sz="1320" dirty="0">
                <a:solidFill>
                  <a:srgbClr val="222222"/>
                </a:solidFill>
                <a:latin typeface="Gill Sans MT" pitchFamily="34" charset="0"/>
                <a:ea typeface="Gill Sans MT" pitchFamily="34" charset="-122"/>
                <a:cs typeface="Gill Sans MT" pitchFamily="34" charset="-120"/>
              </a:rPr>
              <a:t>• meerdere feiten, niet één incident</a:t>
            </a:r>
            <a:endParaRPr lang="en-US" sz="1320" dirty="0"/>
          </a:p>
          <a:p>
            <a:pPr marL="0" indent="0">
              <a:buNone/>
            </a:pPr>
            <a:r>
              <a:rPr lang="en-US" sz="1320" dirty="0">
                <a:solidFill>
                  <a:srgbClr val="222222"/>
                </a:solidFill>
                <a:latin typeface="Gill Sans MT" pitchFamily="34" charset="0"/>
                <a:ea typeface="Gill Sans MT" pitchFamily="34" charset="-122"/>
                <a:cs typeface="Gill Sans MT" pitchFamily="34" charset="-120"/>
              </a:rPr>
              <a:t>• eerdere veroordeling heeft niet geholpen</a:t>
            </a:r>
            <a:endParaRPr lang="en-US" sz="1320" dirty="0"/>
          </a:p>
          <a:p>
            <a:pPr marL="0" indent="0">
              <a:buNone/>
            </a:pPr>
            <a:r>
              <a:rPr lang="en-US" sz="1320" dirty="0">
                <a:solidFill>
                  <a:srgbClr val="222222"/>
                </a:solidFill>
                <a:latin typeface="Gill Sans MT" pitchFamily="34" charset="0"/>
                <a:ea typeface="Gill Sans MT" pitchFamily="34" charset="-122"/>
                <a:cs typeface="Gill Sans MT" pitchFamily="34" charset="-120"/>
              </a:rPr>
              <a:t>• maatschappij moet worden beschermd tegen herhaling</a:t>
            </a:r>
            <a:endParaRPr lang="en-US" sz="1320" dirty="0"/>
          </a:p>
        </p:txBody>
      </p:sp>
      <p:sp>
        <p:nvSpPr>
          <p:cNvPr id="10" name="Shape 5"/>
          <p:cNvSpPr/>
          <p:nvPr/>
        </p:nvSpPr>
        <p:spPr>
          <a:xfrm>
            <a:off x="3785616" y="1481328"/>
            <a:ext cx="4160520" cy="4114800"/>
          </a:xfrm>
          <a:prstGeom prst="roundRect">
            <a:avLst>
              <a:gd name="adj" fmla="val 1778"/>
            </a:avLst>
          </a:prstGeom>
          <a:solidFill>
            <a:srgbClr val="FFFFFF"/>
          </a:solidFill>
          <a:ln w="12700">
            <a:solidFill>
              <a:srgbClr val="D9E3EE"/>
            </a:solidFill>
            <a:prstDash val="solid"/>
          </a:ln>
        </p:spPr>
        <p:txBody>
          <a:bodyPr/>
          <a:lstStyle/>
          <a:p>
            <a:endParaRPr lang="nl-NL"/>
          </a:p>
        </p:txBody>
      </p:sp>
      <p:sp>
        <p:nvSpPr>
          <p:cNvPr id="11" name="Text 6"/>
          <p:cNvSpPr/>
          <p:nvPr/>
        </p:nvSpPr>
        <p:spPr>
          <a:xfrm>
            <a:off x="3931920" y="1572768"/>
            <a:ext cx="3867912" cy="219456"/>
          </a:xfrm>
          <a:prstGeom prst="rect">
            <a:avLst/>
          </a:prstGeom>
          <a:noFill/>
          <a:ln/>
        </p:spPr>
        <p:txBody>
          <a:bodyPr wrap="square" lIns="0" tIns="0" rIns="0" bIns="0" rtlCol="0" anchor="ctr"/>
          <a:lstStyle/>
          <a:p>
            <a:pPr marL="0" indent="0">
              <a:buNone/>
            </a:pPr>
            <a:r>
              <a:rPr lang="en-US" sz="1700" b="1" dirty="0">
                <a:solidFill>
                  <a:srgbClr val="041B34"/>
                </a:solidFill>
                <a:latin typeface="Gill Sans MT" pitchFamily="34" charset="0"/>
                <a:ea typeface="Gill Sans MT" pitchFamily="34" charset="-122"/>
                <a:cs typeface="Gill Sans MT" pitchFamily="34" charset="-120"/>
              </a:rPr>
              <a:t>Mogelijk tegenargument</a:t>
            </a:r>
            <a:endParaRPr lang="en-US" sz="1700" dirty="0"/>
          </a:p>
        </p:txBody>
      </p:sp>
      <p:sp>
        <p:nvSpPr>
          <p:cNvPr id="12" name="Text 7"/>
          <p:cNvSpPr/>
          <p:nvPr/>
        </p:nvSpPr>
        <p:spPr>
          <a:xfrm>
            <a:off x="3931920" y="1883664"/>
            <a:ext cx="3867912" cy="3602736"/>
          </a:xfrm>
          <a:prstGeom prst="rect">
            <a:avLst/>
          </a:prstGeom>
          <a:noFill/>
          <a:ln/>
        </p:spPr>
        <p:txBody>
          <a:bodyPr wrap="square" lIns="0" tIns="0" rIns="0" bIns="0" rtlCol="0" anchor="t"/>
          <a:lstStyle/>
          <a:p>
            <a:pPr marL="0" indent="0">
              <a:buNone/>
            </a:pPr>
            <a:r>
              <a:rPr lang="en-US" sz="1320" dirty="0">
                <a:solidFill>
                  <a:srgbClr val="222222"/>
                </a:solidFill>
                <a:latin typeface="Gill Sans MT" pitchFamily="34" charset="0"/>
                <a:ea typeface="Gill Sans MT" pitchFamily="34" charset="-122"/>
                <a:cs typeface="Gill Sans MT" pitchFamily="34" charset="-120"/>
              </a:rPr>
              <a:t>De verdachte is nog jong. Een zeer lange gevangenisstraf kan resocialisatie moeilijker maken. Je kunt dus bespreken of naast straf ook behandeling, toezicht of begeleiding nodig is.</a:t>
            </a:r>
            <a:endParaRPr lang="en-US" sz="1320" dirty="0"/>
          </a:p>
        </p:txBody>
      </p:sp>
      <p:sp>
        <p:nvSpPr>
          <p:cNvPr id="13" name="Shape 8"/>
          <p:cNvSpPr/>
          <p:nvPr/>
        </p:nvSpPr>
        <p:spPr>
          <a:xfrm>
            <a:off x="8138160" y="1481328"/>
            <a:ext cx="3017520" cy="4114800"/>
          </a:xfrm>
          <a:prstGeom prst="roundRect">
            <a:avLst>
              <a:gd name="adj" fmla="val 2424"/>
            </a:avLst>
          </a:prstGeom>
          <a:solidFill>
            <a:srgbClr val="FFFFFF"/>
          </a:solidFill>
          <a:ln w="12700">
            <a:solidFill>
              <a:srgbClr val="D9E3EE"/>
            </a:solidFill>
            <a:prstDash val="solid"/>
          </a:ln>
        </p:spPr>
        <p:txBody>
          <a:bodyPr/>
          <a:lstStyle/>
          <a:p>
            <a:endParaRPr lang="nl-NL"/>
          </a:p>
        </p:txBody>
      </p:sp>
      <p:sp>
        <p:nvSpPr>
          <p:cNvPr id="14" name="Text 9"/>
          <p:cNvSpPr/>
          <p:nvPr/>
        </p:nvSpPr>
        <p:spPr>
          <a:xfrm>
            <a:off x="8284464" y="1572768"/>
            <a:ext cx="2724912" cy="219456"/>
          </a:xfrm>
          <a:prstGeom prst="rect">
            <a:avLst/>
          </a:prstGeom>
          <a:noFill/>
          <a:ln/>
        </p:spPr>
        <p:txBody>
          <a:bodyPr wrap="square" lIns="0" tIns="0" rIns="0" bIns="0" rtlCol="0" anchor="ctr"/>
          <a:lstStyle/>
          <a:p>
            <a:pPr marL="0" indent="0">
              <a:buNone/>
            </a:pPr>
            <a:r>
              <a:rPr lang="en-US" sz="1700" b="1" dirty="0">
                <a:solidFill>
                  <a:srgbClr val="041B34"/>
                </a:solidFill>
                <a:latin typeface="Gill Sans MT" pitchFamily="34" charset="0"/>
                <a:ea typeface="Gill Sans MT" pitchFamily="34" charset="-122"/>
                <a:cs typeface="Gill Sans MT" pitchFamily="34" charset="-120"/>
              </a:rPr>
              <a:t>Ons eindoordeel</a:t>
            </a:r>
            <a:endParaRPr lang="en-US" sz="1700" dirty="0"/>
          </a:p>
        </p:txBody>
      </p:sp>
      <p:sp>
        <p:nvSpPr>
          <p:cNvPr id="15" name="Text 10"/>
          <p:cNvSpPr/>
          <p:nvPr/>
        </p:nvSpPr>
        <p:spPr>
          <a:xfrm>
            <a:off x="8284464" y="1883664"/>
            <a:ext cx="2724912" cy="3602736"/>
          </a:xfrm>
          <a:prstGeom prst="rect">
            <a:avLst/>
          </a:prstGeom>
          <a:noFill/>
          <a:ln/>
        </p:spPr>
        <p:txBody>
          <a:bodyPr wrap="square" lIns="0" tIns="0" rIns="0" bIns="0" rtlCol="0" anchor="t"/>
          <a:lstStyle/>
          <a:p>
            <a:pPr marL="0" indent="0">
              <a:buNone/>
            </a:pPr>
            <a:r>
              <a:rPr lang="en-US" sz="1320" dirty="0">
                <a:solidFill>
                  <a:srgbClr val="222222"/>
                </a:solidFill>
                <a:latin typeface="Gill Sans MT" pitchFamily="34" charset="0"/>
                <a:ea typeface="Gill Sans MT" pitchFamily="34" charset="-122"/>
                <a:cs typeface="Gill Sans MT" pitchFamily="34" charset="-120"/>
              </a:rPr>
              <a:t>Wij vinden de straf verdedigbaar en passend. Juist omdat de verdachte al eerder was veroordeeld en toch opnieuw op grote schaal cybercrime pleegde, is een stevige reactie van de rechtbank logisch.</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1695" cy="6858000"/>
          </a:xfrm>
          <a:prstGeom prst="rect">
            <a:avLst/>
          </a:prstGeom>
        </p:spPr>
      </p:pic>
      <p:pic>
        <p:nvPicPr>
          <p:cNvPr id="3" name="Image 1" descr="/mnt/data/template_unzip/ppt/media/image2.jpeg"/>
          <p:cNvPicPr>
            <a:picLocks noChangeAspect="1"/>
          </p:cNvPicPr>
          <p:nvPr/>
        </p:nvPicPr>
        <p:blipFill>
          <a:blip r:embed="rId5"/>
          <a:stretch>
            <a:fillRect/>
          </a:stretch>
        </p:blipFill>
        <p:spPr>
          <a:xfrm>
            <a:off x="0" y="6199632"/>
            <a:ext cx="12191695" cy="658368"/>
          </a:xfrm>
          <a:prstGeom prst="rect">
            <a:avLst/>
          </a:prstGeom>
        </p:spPr>
      </p:pic>
      <p:sp>
        <p:nvSpPr>
          <p:cNvPr id="4" name="Text 0"/>
          <p:cNvSpPr/>
          <p:nvPr/>
        </p:nvSpPr>
        <p:spPr>
          <a:xfrm>
            <a:off x="502920" y="301752"/>
            <a:ext cx="9784080" cy="384048"/>
          </a:xfrm>
          <a:prstGeom prst="rect">
            <a:avLst/>
          </a:prstGeom>
          <a:noFill/>
          <a:ln/>
        </p:spPr>
        <p:txBody>
          <a:bodyPr wrap="square" lIns="0" tIns="0" rIns="0" bIns="0" rtlCol="0" anchor="ctr"/>
          <a:lstStyle/>
          <a:p>
            <a:pPr marL="0" indent="0">
              <a:buNone/>
            </a:pPr>
            <a:r>
              <a:rPr lang="en-US" sz="2400" dirty="0">
                <a:solidFill>
                  <a:srgbClr val="FFFFFF"/>
                </a:solidFill>
                <a:latin typeface="Gill Sans MT" pitchFamily="34" charset="0"/>
                <a:ea typeface="Gill Sans MT" pitchFamily="34" charset="-122"/>
                <a:cs typeface="Gill Sans MT" pitchFamily="34" charset="-120"/>
              </a:rPr>
              <a:t>CONCLUSIE</a:t>
            </a:r>
            <a:endParaRPr lang="en-US" sz="2400" dirty="0"/>
          </a:p>
        </p:txBody>
      </p:sp>
      <p:pic>
        <p:nvPicPr>
          <p:cNvPr id="5" name="Image 2" descr="/mnt/data/template_unzip/ppt/media/image1.png"/>
          <p:cNvPicPr>
            <a:picLocks noChangeAspect="1"/>
          </p:cNvPicPr>
          <p:nvPr/>
        </p:nvPicPr>
        <p:blipFill>
          <a:blip r:embed="rId6">
            <a:alphaModFix amt="97000"/>
          </a:blip>
          <a:stretch>
            <a:fillRect/>
          </a:stretch>
        </p:blipFill>
        <p:spPr>
          <a:xfrm>
            <a:off x="10588752" y="146304"/>
            <a:ext cx="1280160" cy="1280160"/>
          </a:xfrm>
          <a:prstGeom prst="rect">
            <a:avLst/>
          </a:prstGeom>
        </p:spPr>
      </p:pic>
      <p:sp>
        <p:nvSpPr>
          <p:cNvPr id="6" name="Shape 1"/>
          <p:cNvSpPr/>
          <p:nvPr/>
        </p:nvSpPr>
        <p:spPr>
          <a:xfrm>
            <a:off x="3749040" y="1417320"/>
            <a:ext cx="5166360" cy="658368"/>
          </a:xfrm>
          <a:prstGeom prst="roundRect">
            <a:avLst>
              <a:gd name="adj" fmla="val 11111"/>
            </a:avLst>
          </a:prstGeom>
          <a:solidFill>
            <a:srgbClr val="FFFFFF"/>
          </a:solidFill>
          <a:ln w="12700">
            <a:solidFill>
              <a:srgbClr val="D9E3EE"/>
            </a:solidFill>
            <a:prstDash val="solid"/>
          </a:ln>
        </p:spPr>
        <p:txBody>
          <a:bodyPr/>
          <a:lstStyle/>
          <a:p>
            <a:endParaRPr lang="nl-NL"/>
          </a:p>
        </p:txBody>
      </p:sp>
      <p:sp>
        <p:nvSpPr>
          <p:cNvPr id="7" name="Shape 2"/>
          <p:cNvSpPr/>
          <p:nvPr/>
        </p:nvSpPr>
        <p:spPr>
          <a:xfrm>
            <a:off x="3913632" y="1591056"/>
            <a:ext cx="310896" cy="310896"/>
          </a:xfrm>
          <a:prstGeom prst="ellipse">
            <a:avLst/>
          </a:prstGeom>
          <a:solidFill>
            <a:srgbClr val="F4C757"/>
          </a:solidFill>
          <a:ln w="12700">
            <a:solidFill>
              <a:srgbClr val="C79B2E"/>
            </a:solidFill>
            <a:prstDash val="solid"/>
          </a:ln>
        </p:spPr>
        <p:txBody>
          <a:bodyPr/>
          <a:lstStyle/>
          <a:p>
            <a:endParaRPr lang="nl-NL"/>
          </a:p>
        </p:txBody>
      </p:sp>
      <p:sp>
        <p:nvSpPr>
          <p:cNvPr id="8" name="Text 3"/>
          <p:cNvSpPr/>
          <p:nvPr/>
        </p:nvSpPr>
        <p:spPr>
          <a:xfrm>
            <a:off x="3913632" y="1600200"/>
            <a:ext cx="310896" cy="292608"/>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1</a:t>
            </a:r>
            <a:endParaRPr lang="en-US" sz="1350" dirty="0"/>
          </a:p>
        </p:txBody>
      </p:sp>
      <p:sp>
        <p:nvSpPr>
          <p:cNvPr id="9" name="Text 4"/>
          <p:cNvSpPr/>
          <p:nvPr/>
        </p:nvSpPr>
        <p:spPr>
          <a:xfrm>
            <a:off x="4343400" y="1527048"/>
            <a:ext cx="2011680" cy="173736"/>
          </a:xfrm>
          <a:prstGeom prst="rect">
            <a:avLst/>
          </a:prstGeom>
          <a:noFill/>
          <a:ln/>
        </p:spPr>
        <p:txBody>
          <a:bodyPr wrap="square" lIns="0" tIns="0" rIns="0" bIns="0" rtlCol="0" anchor="ctr"/>
          <a:lstStyle/>
          <a:p>
            <a:pPr marL="0" indent="0">
              <a:buNone/>
            </a:pPr>
            <a:r>
              <a:rPr lang="en-US" sz="1550" b="1" dirty="0">
                <a:solidFill>
                  <a:srgbClr val="222222"/>
                </a:solidFill>
                <a:latin typeface="Gill Sans MT" pitchFamily="34" charset="0"/>
                <a:ea typeface="Gill Sans MT" pitchFamily="34" charset="-122"/>
                <a:cs typeface="Gill Sans MT" pitchFamily="34" charset="-120"/>
              </a:rPr>
              <a:t>Cybercrime in keten</a:t>
            </a:r>
            <a:endParaRPr lang="en-US" sz="1550" dirty="0"/>
          </a:p>
        </p:txBody>
      </p:sp>
      <p:sp>
        <p:nvSpPr>
          <p:cNvPr id="10" name="Text 5"/>
          <p:cNvSpPr/>
          <p:nvPr/>
        </p:nvSpPr>
        <p:spPr>
          <a:xfrm>
            <a:off x="6382512" y="1455558"/>
            <a:ext cx="2373561" cy="495716"/>
          </a:xfrm>
          <a:prstGeom prst="rect">
            <a:avLst/>
          </a:prstGeom>
          <a:noFill/>
          <a:ln/>
        </p:spPr>
        <p:txBody>
          <a:bodyPr wrap="square" lIns="0" tIns="0" rIns="0" bIns="0" rtlCol="0" anchor="ctr"/>
          <a:lstStyle/>
          <a:p>
            <a:pPr marL="0" indent="0">
              <a:buNone/>
            </a:pPr>
            <a:r>
              <a:rPr lang="en-US" sz="1140" dirty="0">
                <a:solidFill>
                  <a:srgbClr val="222222"/>
                </a:solidFill>
                <a:latin typeface="Gill Sans MT" pitchFamily="34" charset="0"/>
                <a:ea typeface="Gill Sans MT" pitchFamily="34" charset="-122"/>
                <a:cs typeface="Gill Sans MT" pitchFamily="34" charset="-120"/>
              </a:rPr>
              <a:t>De zaak begon met computervredebreuk en liep door naar simswaps, phishing, diefstal en fraude.</a:t>
            </a:r>
            <a:endParaRPr lang="en-US" sz="1140" dirty="0"/>
          </a:p>
        </p:txBody>
      </p:sp>
      <p:sp>
        <p:nvSpPr>
          <p:cNvPr id="11" name="Shape 6"/>
          <p:cNvSpPr/>
          <p:nvPr/>
        </p:nvSpPr>
        <p:spPr>
          <a:xfrm>
            <a:off x="3749040" y="2468880"/>
            <a:ext cx="5166360" cy="658368"/>
          </a:xfrm>
          <a:prstGeom prst="roundRect">
            <a:avLst>
              <a:gd name="adj" fmla="val 11111"/>
            </a:avLst>
          </a:prstGeom>
          <a:solidFill>
            <a:srgbClr val="FFFFFF"/>
          </a:solidFill>
          <a:ln w="12700">
            <a:solidFill>
              <a:srgbClr val="D9E3EE"/>
            </a:solidFill>
            <a:prstDash val="solid"/>
          </a:ln>
        </p:spPr>
        <p:txBody>
          <a:bodyPr/>
          <a:lstStyle/>
          <a:p>
            <a:endParaRPr lang="nl-NL"/>
          </a:p>
        </p:txBody>
      </p:sp>
      <p:sp>
        <p:nvSpPr>
          <p:cNvPr id="12" name="Shape 7"/>
          <p:cNvSpPr/>
          <p:nvPr/>
        </p:nvSpPr>
        <p:spPr>
          <a:xfrm>
            <a:off x="3913632" y="2642616"/>
            <a:ext cx="310896" cy="310896"/>
          </a:xfrm>
          <a:prstGeom prst="ellipse">
            <a:avLst/>
          </a:prstGeom>
          <a:solidFill>
            <a:srgbClr val="F4C757"/>
          </a:solidFill>
          <a:ln w="12700">
            <a:solidFill>
              <a:srgbClr val="C79B2E"/>
            </a:solidFill>
            <a:prstDash val="solid"/>
          </a:ln>
        </p:spPr>
        <p:txBody>
          <a:bodyPr/>
          <a:lstStyle/>
          <a:p>
            <a:endParaRPr lang="nl-NL"/>
          </a:p>
        </p:txBody>
      </p:sp>
      <p:sp>
        <p:nvSpPr>
          <p:cNvPr id="13" name="Text 8"/>
          <p:cNvSpPr/>
          <p:nvPr/>
        </p:nvSpPr>
        <p:spPr>
          <a:xfrm>
            <a:off x="3913632" y="2651760"/>
            <a:ext cx="310896" cy="292608"/>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2</a:t>
            </a:r>
            <a:endParaRPr lang="en-US" sz="1350" dirty="0"/>
          </a:p>
        </p:txBody>
      </p:sp>
      <p:sp>
        <p:nvSpPr>
          <p:cNvPr id="14" name="Text 9"/>
          <p:cNvSpPr/>
          <p:nvPr/>
        </p:nvSpPr>
        <p:spPr>
          <a:xfrm>
            <a:off x="4343400" y="2578608"/>
            <a:ext cx="2011680" cy="292608"/>
          </a:xfrm>
          <a:prstGeom prst="rect">
            <a:avLst/>
          </a:prstGeom>
          <a:noFill/>
          <a:ln/>
        </p:spPr>
        <p:txBody>
          <a:bodyPr wrap="square" lIns="0" tIns="0" rIns="0" bIns="0" rtlCol="0" anchor="ctr"/>
          <a:lstStyle/>
          <a:p>
            <a:pPr marL="0" indent="0">
              <a:buNone/>
            </a:pPr>
            <a:r>
              <a:rPr lang="en-US" sz="1550" b="1" dirty="0">
                <a:solidFill>
                  <a:srgbClr val="222222"/>
                </a:solidFill>
                <a:latin typeface="Gill Sans MT" pitchFamily="34" charset="0"/>
                <a:ea typeface="Gill Sans MT" pitchFamily="34" charset="-122"/>
                <a:cs typeface="Gill Sans MT" pitchFamily="34" charset="-120"/>
              </a:rPr>
              <a:t>Art. 138ab past het best</a:t>
            </a:r>
            <a:endParaRPr lang="en-US" sz="1550" dirty="0"/>
          </a:p>
        </p:txBody>
      </p:sp>
      <p:sp>
        <p:nvSpPr>
          <p:cNvPr id="15" name="Text 10"/>
          <p:cNvSpPr/>
          <p:nvPr/>
        </p:nvSpPr>
        <p:spPr>
          <a:xfrm>
            <a:off x="6382512" y="2578608"/>
            <a:ext cx="2240280" cy="320040"/>
          </a:xfrm>
          <a:prstGeom prst="rect">
            <a:avLst/>
          </a:prstGeom>
          <a:noFill/>
          <a:ln/>
        </p:spPr>
        <p:txBody>
          <a:bodyPr wrap="square" lIns="0" tIns="0" rIns="0" bIns="0" rtlCol="0" anchor="ctr"/>
          <a:lstStyle/>
          <a:p>
            <a:pPr marL="0" indent="0">
              <a:buNone/>
            </a:pPr>
            <a:r>
              <a:rPr lang="en-US" sz="1140" dirty="0">
                <a:solidFill>
                  <a:srgbClr val="222222"/>
                </a:solidFill>
                <a:latin typeface="Gill Sans MT" pitchFamily="34" charset="0"/>
                <a:ea typeface="Gill Sans MT" pitchFamily="34" charset="-122"/>
                <a:cs typeface="Gill Sans MT" pitchFamily="34" charset="-120"/>
              </a:rPr>
              <a:t>Computervredebreuk is het hoofddelict, omdat illegale digitale toegang de basis van alles vormde.</a:t>
            </a:r>
            <a:endParaRPr lang="en-US" sz="1140" dirty="0"/>
          </a:p>
        </p:txBody>
      </p:sp>
      <p:sp>
        <p:nvSpPr>
          <p:cNvPr id="16" name="Shape 11"/>
          <p:cNvSpPr/>
          <p:nvPr/>
        </p:nvSpPr>
        <p:spPr>
          <a:xfrm>
            <a:off x="3749040" y="3520440"/>
            <a:ext cx="5166360" cy="658368"/>
          </a:xfrm>
          <a:prstGeom prst="roundRect">
            <a:avLst>
              <a:gd name="adj" fmla="val 11111"/>
            </a:avLst>
          </a:prstGeom>
          <a:solidFill>
            <a:srgbClr val="FFFFFF"/>
          </a:solidFill>
          <a:ln w="12700">
            <a:solidFill>
              <a:srgbClr val="D9E3EE"/>
            </a:solidFill>
            <a:prstDash val="solid"/>
          </a:ln>
        </p:spPr>
        <p:txBody>
          <a:bodyPr/>
          <a:lstStyle/>
          <a:p>
            <a:endParaRPr lang="nl-NL"/>
          </a:p>
        </p:txBody>
      </p:sp>
      <p:sp>
        <p:nvSpPr>
          <p:cNvPr id="17" name="Shape 12"/>
          <p:cNvSpPr/>
          <p:nvPr/>
        </p:nvSpPr>
        <p:spPr>
          <a:xfrm>
            <a:off x="3913632" y="3694176"/>
            <a:ext cx="310896" cy="310896"/>
          </a:xfrm>
          <a:prstGeom prst="ellipse">
            <a:avLst/>
          </a:prstGeom>
          <a:solidFill>
            <a:srgbClr val="F4C757"/>
          </a:solidFill>
          <a:ln w="12700">
            <a:solidFill>
              <a:srgbClr val="C79B2E"/>
            </a:solidFill>
            <a:prstDash val="solid"/>
          </a:ln>
        </p:spPr>
        <p:txBody>
          <a:bodyPr/>
          <a:lstStyle/>
          <a:p>
            <a:endParaRPr lang="nl-NL"/>
          </a:p>
        </p:txBody>
      </p:sp>
      <p:sp>
        <p:nvSpPr>
          <p:cNvPr id="18" name="Text 13"/>
          <p:cNvSpPr/>
          <p:nvPr/>
        </p:nvSpPr>
        <p:spPr>
          <a:xfrm>
            <a:off x="3913632" y="3703320"/>
            <a:ext cx="310896" cy="292608"/>
          </a:xfrm>
          <a:prstGeom prst="rect">
            <a:avLst/>
          </a:prstGeom>
          <a:noFill/>
          <a:ln/>
        </p:spPr>
        <p:txBody>
          <a:bodyPr wrap="square" lIns="0" tIns="0" rIns="0" bIns="0" rtlCol="0" anchor="ctr"/>
          <a:lstStyle/>
          <a:p>
            <a:pPr marL="0" indent="0" algn="ctr">
              <a:buNone/>
            </a:pPr>
            <a:r>
              <a:rPr lang="en-US" sz="1350" b="1" dirty="0">
                <a:solidFill>
                  <a:srgbClr val="222222"/>
                </a:solidFill>
                <a:latin typeface="Gill Sans MT" pitchFamily="34" charset="0"/>
                <a:ea typeface="Gill Sans MT" pitchFamily="34" charset="-122"/>
                <a:cs typeface="Gill Sans MT" pitchFamily="34" charset="-120"/>
              </a:rPr>
              <a:t>3</a:t>
            </a:r>
            <a:endParaRPr lang="en-US" sz="1350" dirty="0"/>
          </a:p>
        </p:txBody>
      </p:sp>
      <p:sp>
        <p:nvSpPr>
          <p:cNvPr id="19" name="Text 14"/>
          <p:cNvSpPr/>
          <p:nvPr/>
        </p:nvSpPr>
        <p:spPr>
          <a:xfrm>
            <a:off x="4343400" y="3630167"/>
            <a:ext cx="2011680" cy="292607"/>
          </a:xfrm>
          <a:prstGeom prst="rect">
            <a:avLst/>
          </a:prstGeom>
          <a:noFill/>
          <a:ln/>
        </p:spPr>
        <p:txBody>
          <a:bodyPr wrap="square" lIns="0" tIns="0" rIns="0" bIns="0" rtlCol="0" anchor="ctr"/>
          <a:lstStyle/>
          <a:p>
            <a:pPr marL="0" indent="0">
              <a:buNone/>
            </a:pPr>
            <a:r>
              <a:rPr lang="en-US" sz="1550" b="1" dirty="0">
                <a:solidFill>
                  <a:srgbClr val="222222"/>
                </a:solidFill>
                <a:latin typeface="Gill Sans MT" pitchFamily="34" charset="0"/>
                <a:ea typeface="Gill Sans MT" pitchFamily="34" charset="-122"/>
                <a:cs typeface="Gill Sans MT" pitchFamily="34" charset="-120"/>
              </a:rPr>
              <a:t>Zware straf is verklaarbaar</a:t>
            </a:r>
            <a:endParaRPr lang="en-US" sz="1550" dirty="0"/>
          </a:p>
        </p:txBody>
      </p:sp>
      <p:sp>
        <p:nvSpPr>
          <p:cNvPr id="20" name="Text 15"/>
          <p:cNvSpPr/>
          <p:nvPr/>
        </p:nvSpPr>
        <p:spPr>
          <a:xfrm>
            <a:off x="6382512" y="3630168"/>
            <a:ext cx="2240280" cy="320040"/>
          </a:xfrm>
          <a:prstGeom prst="rect">
            <a:avLst/>
          </a:prstGeom>
          <a:noFill/>
          <a:ln/>
        </p:spPr>
        <p:txBody>
          <a:bodyPr wrap="square" lIns="0" tIns="0" rIns="0" bIns="0" rtlCol="0" anchor="ctr"/>
          <a:lstStyle/>
          <a:p>
            <a:pPr marL="0" indent="0">
              <a:buNone/>
            </a:pPr>
            <a:r>
              <a:rPr lang="en-US" sz="1140" dirty="0">
                <a:solidFill>
                  <a:srgbClr val="222222"/>
                </a:solidFill>
                <a:latin typeface="Gill Sans MT" pitchFamily="34" charset="0"/>
                <a:ea typeface="Gill Sans MT" pitchFamily="34" charset="-122"/>
                <a:cs typeface="Gill Sans MT" pitchFamily="34" charset="-120"/>
              </a:rPr>
              <a:t>De rechtbank woog ernst, schaal, recidive, proeftijd en herhalingsrisico zwaar mee.</a:t>
            </a:r>
            <a:endParaRPr lang="en-US" sz="1140" dirty="0"/>
          </a:p>
        </p:txBody>
      </p:sp>
      <p:sp>
        <p:nvSpPr>
          <p:cNvPr id="21" name="Text 16"/>
          <p:cNvSpPr/>
          <p:nvPr/>
        </p:nvSpPr>
        <p:spPr>
          <a:xfrm>
            <a:off x="9509760" y="4526279"/>
            <a:ext cx="1463040" cy="1187335"/>
          </a:xfrm>
          <a:prstGeom prst="rect">
            <a:avLst/>
          </a:prstGeom>
          <a:noFill/>
          <a:ln/>
        </p:spPr>
        <p:txBody>
          <a:bodyPr wrap="square" lIns="0" tIns="0" rIns="0" bIns="0" rtlCol="0" anchor="ctr"/>
          <a:lstStyle/>
          <a:p>
            <a:pPr marL="0" indent="0" algn="ctr">
              <a:buNone/>
            </a:pPr>
            <a:r>
              <a:rPr lang="en-US" sz="1950" dirty="0">
                <a:solidFill>
                  <a:srgbClr val="FFFFFF"/>
                </a:solidFill>
                <a:latin typeface="Gill Sans MT" pitchFamily="34" charset="0"/>
                <a:ea typeface="Gill Sans MT" pitchFamily="34" charset="-122"/>
                <a:cs typeface="Gill Sans MT" pitchFamily="34" charset="-120"/>
              </a:rPr>
              <a:t>Bedankt voor jullie</a:t>
            </a:r>
            <a:endParaRPr lang="en-US" sz="1950" dirty="0">
              <a:solidFill>
                <a:srgbClr val="FFFFFF"/>
              </a:solidFill>
            </a:endParaRPr>
          </a:p>
          <a:p>
            <a:pPr marL="0" indent="0" algn="ctr">
              <a:buNone/>
            </a:pPr>
            <a:r>
              <a:rPr lang="en-US" sz="1950" dirty="0">
                <a:solidFill>
                  <a:srgbClr val="FFFFFF"/>
                </a:solidFill>
                <a:latin typeface="Gill Sans MT" pitchFamily="34" charset="0"/>
                <a:ea typeface="Gill Sans MT" pitchFamily="34" charset="-122"/>
                <a:cs typeface="Gill Sans MT" pitchFamily="34" charset="-120"/>
              </a:rPr>
              <a:t>aandacht</a:t>
            </a:r>
            <a:endParaRPr lang="en-US" sz="1950" dirty="0">
              <a:solidFill>
                <a:srgbClr val="FFFFFF"/>
              </a:solidFill>
            </a:endParaRPr>
          </a:p>
          <a:p>
            <a:pPr marL="0" indent="0" algn="ctr">
              <a:buNone/>
            </a:pPr>
            <a:r>
              <a:rPr lang="en-US" sz="1950" dirty="0">
                <a:solidFill>
                  <a:srgbClr val="E0B349"/>
                </a:solidFill>
                <a:latin typeface="Gill Sans MT" pitchFamily="34" charset="0"/>
                <a:ea typeface="Gill Sans MT" pitchFamily="34" charset="-122"/>
                <a:cs typeface="Gill Sans MT" pitchFamily="34" charset="-120"/>
              </a:rPr>
              <a:t>Vragen?</a:t>
            </a:r>
            <a:endParaRPr lang="en-US" sz="1950" dirty="0">
              <a:solidFill>
                <a:srgbClr val="E0B34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1144</Words>
  <Application>Microsoft Office PowerPoint</Application>
  <PresentationFormat>Breedbeeld</PresentationFormat>
  <Paragraphs>148</Paragraphs>
  <Slides>9</Slides>
  <Notes>9</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9</vt:i4>
      </vt:variant>
    </vt:vector>
  </HeadingPairs>
  <TitlesOfParts>
    <vt:vector size="12" baseType="lpstr">
      <vt:lpstr>Arial</vt:lpstr>
      <vt:lpstr>Gill Sans MT</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WS2.5 – Weerbaar tegen cyber-crime</dc:title>
  <dc:subject>WS2.5 presentatie</dc:subject>
  <dc:creator>OpenAI</dc:creator>
  <cp:lastModifiedBy>Bavli Armanyous</cp:lastModifiedBy>
  <cp:revision>1</cp:revision>
  <dcterms:created xsi:type="dcterms:W3CDTF">2026-03-21T11:52:16Z</dcterms:created>
  <dcterms:modified xsi:type="dcterms:W3CDTF">2026-03-21T12:07:49Z</dcterms:modified>
</cp:coreProperties>
</file>