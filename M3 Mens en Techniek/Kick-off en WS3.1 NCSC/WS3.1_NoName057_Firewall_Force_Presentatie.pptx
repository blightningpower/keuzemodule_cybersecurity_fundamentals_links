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2A72"/>
    <a:srgbClr val="F6F7F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3E087B-2491-4C72-AFB5-09ACFBDB66BE}" v="35" dt="2026-03-23T21:09:09.49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6" d="100"/>
          <a:sy n="86" d="100"/>
        </p:scale>
        <p:origin x="288" y="27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avli Armanyous" userId="2614e947-2a9c-4f9a-b146-f5ffa7aca4cc" providerId="ADAL" clId="{F9025844-0D46-4D37-8C74-FC46BD0E6BF2}"/>
    <pc:docChg chg="undo custSel modSld">
      <pc:chgData name="Bavli Armanyous" userId="2614e947-2a9c-4f9a-b146-f5ffa7aca4cc" providerId="ADAL" clId="{F9025844-0D46-4D37-8C74-FC46BD0E6BF2}" dt="2026-03-23T21:09:09.496" v="91"/>
      <pc:docMkLst>
        <pc:docMk/>
      </pc:docMkLst>
      <pc:sldChg chg="addSp delSp modSp mod">
        <pc:chgData name="Bavli Armanyous" userId="2614e947-2a9c-4f9a-b146-f5ffa7aca4cc" providerId="ADAL" clId="{F9025844-0D46-4D37-8C74-FC46BD0E6BF2}" dt="2026-03-23T21:04:15.943" v="33" actId="478"/>
        <pc:sldMkLst>
          <pc:docMk/>
          <pc:sldMk cId="0" sldId="256"/>
        </pc:sldMkLst>
        <pc:spChg chg="del">
          <ac:chgData name="Bavli Armanyous" userId="2614e947-2a9c-4f9a-b146-f5ffa7aca4cc" providerId="ADAL" clId="{F9025844-0D46-4D37-8C74-FC46BD0E6BF2}" dt="2026-03-23T21:04:15.943" v="33" actId="478"/>
          <ac:spMkLst>
            <pc:docMk/>
            <pc:sldMk cId="0" sldId="256"/>
            <ac:spMk id="7" creationId="{00000000-0000-0000-0000-000000000000}"/>
          </ac:spMkLst>
        </pc:spChg>
        <pc:picChg chg="del mod modCrop">
          <ac:chgData name="Bavli Armanyous" userId="2614e947-2a9c-4f9a-b146-f5ffa7aca4cc" providerId="ADAL" clId="{F9025844-0D46-4D37-8C74-FC46BD0E6BF2}" dt="2026-03-23T21:03:47.806" v="28" actId="478"/>
          <ac:picMkLst>
            <pc:docMk/>
            <pc:sldMk cId="0" sldId="256"/>
            <ac:picMk id="11" creationId="{00000000-0000-0000-0000-000000000000}"/>
          </ac:picMkLst>
        </pc:picChg>
        <pc:picChg chg="add mod">
          <ac:chgData name="Bavli Armanyous" userId="2614e947-2a9c-4f9a-b146-f5ffa7aca4cc" providerId="ADAL" clId="{F9025844-0D46-4D37-8C74-FC46BD0E6BF2}" dt="2026-03-23T21:04:05.351" v="32" actId="1076"/>
          <ac:picMkLst>
            <pc:docMk/>
            <pc:sldMk cId="0" sldId="256"/>
            <ac:picMk id="13" creationId="{300CC656-5CF4-B141-059D-64FEA4551D3E}"/>
          </ac:picMkLst>
        </pc:picChg>
      </pc:sldChg>
      <pc:sldChg chg="addSp delSp modSp mod">
        <pc:chgData name="Bavli Armanyous" userId="2614e947-2a9c-4f9a-b146-f5ffa7aca4cc" providerId="ADAL" clId="{F9025844-0D46-4D37-8C74-FC46BD0E6BF2}" dt="2026-03-23T21:08:52.174" v="83" actId="1076"/>
        <pc:sldMkLst>
          <pc:docMk/>
          <pc:sldMk cId="0" sldId="257"/>
        </pc:sldMkLst>
        <pc:spChg chg="add mod">
          <ac:chgData name="Bavli Armanyous" userId="2614e947-2a9c-4f9a-b146-f5ffa7aca4cc" providerId="ADAL" clId="{F9025844-0D46-4D37-8C74-FC46BD0E6BF2}" dt="2026-03-23T21:06:35.788" v="60" actId="2085"/>
          <ac:spMkLst>
            <pc:docMk/>
            <pc:sldMk cId="0" sldId="257"/>
            <ac:spMk id="37" creationId="{2A8EC242-030E-BB58-FA7B-89791D565F8A}"/>
          </ac:spMkLst>
        </pc:spChg>
        <pc:picChg chg="add del mod">
          <ac:chgData name="Bavli Armanyous" userId="2614e947-2a9c-4f9a-b146-f5ffa7aca4cc" providerId="ADAL" clId="{F9025844-0D46-4D37-8C74-FC46BD0E6BF2}" dt="2026-03-23T21:04:56.258" v="43" actId="478"/>
          <ac:picMkLst>
            <pc:docMk/>
            <pc:sldMk cId="0" sldId="257"/>
            <ac:picMk id="36" creationId="{638DFAA2-C13E-35CE-6E69-BD755F427B42}"/>
          </ac:picMkLst>
        </pc:picChg>
        <pc:picChg chg="add del mod">
          <ac:chgData name="Bavli Armanyous" userId="2614e947-2a9c-4f9a-b146-f5ffa7aca4cc" providerId="ADAL" clId="{F9025844-0D46-4D37-8C74-FC46BD0E6BF2}" dt="2026-03-23T21:06:03.937" v="56" actId="21"/>
          <ac:picMkLst>
            <pc:docMk/>
            <pc:sldMk cId="0" sldId="257"/>
            <ac:picMk id="39" creationId="{0BB6B3D2-D3EE-22C5-0770-2AB0F5017694}"/>
          </ac:picMkLst>
        </pc:picChg>
        <pc:picChg chg="add del mod">
          <ac:chgData name="Bavli Armanyous" userId="2614e947-2a9c-4f9a-b146-f5ffa7aca4cc" providerId="ADAL" clId="{F9025844-0D46-4D37-8C74-FC46BD0E6BF2}" dt="2026-03-23T21:06:27.986" v="59" actId="21"/>
          <ac:picMkLst>
            <pc:docMk/>
            <pc:sldMk cId="0" sldId="257"/>
            <ac:picMk id="40" creationId="{0BB6B3D2-D3EE-22C5-0770-2AB0F5017694}"/>
          </ac:picMkLst>
        </pc:picChg>
        <pc:picChg chg="add del mod">
          <ac:chgData name="Bavli Armanyous" userId="2614e947-2a9c-4f9a-b146-f5ffa7aca4cc" providerId="ADAL" clId="{F9025844-0D46-4D37-8C74-FC46BD0E6BF2}" dt="2026-03-23T21:06:45.642" v="62" actId="21"/>
          <ac:picMkLst>
            <pc:docMk/>
            <pc:sldMk cId="0" sldId="257"/>
            <ac:picMk id="41" creationId="{0BB6B3D2-D3EE-22C5-0770-2AB0F5017694}"/>
          </ac:picMkLst>
        </pc:picChg>
        <pc:picChg chg="add mod">
          <ac:chgData name="Bavli Armanyous" userId="2614e947-2a9c-4f9a-b146-f5ffa7aca4cc" providerId="ADAL" clId="{F9025844-0D46-4D37-8C74-FC46BD0E6BF2}" dt="2026-03-23T21:08:52.174" v="83" actId="1076"/>
          <ac:picMkLst>
            <pc:docMk/>
            <pc:sldMk cId="0" sldId="257"/>
            <ac:picMk id="42" creationId="{0BB6B3D2-D3EE-22C5-0770-2AB0F5017694}"/>
          </ac:picMkLst>
        </pc:picChg>
      </pc:sldChg>
      <pc:sldChg chg="addSp modSp">
        <pc:chgData name="Bavli Armanyous" userId="2614e947-2a9c-4f9a-b146-f5ffa7aca4cc" providerId="ADAL" clId="{F9025844-0D46-4D37-8C74-FC46BD0E6BF2}" dt="2026-03-23T21:08:55.779" v="84"/>
        <pc:sldMkLst>
          <pc:docMk/>
          <pc:sldMk cId="0" sldId="258"/>
        </pc:sldMkLst>
        <pc:spChg chg="add mod">
          <ac:chgData name="Bavli Armanyous" userId="2614e947-2a9c-4f9a-b146-f5ffa7aca4cc" providerId="ADAL" clId="{F9025844-0D46-4D37-8C74-FC46BD0E6BF2}" dt="2026-03-23T21:07:03.604" v="65"/>
          <ac:spMkLst>
            <pc:docMk/>
            <pc:sldMk cId="0" sldId="258"/>
            <ac:spMk id="22" creationId="{5B989F70-E411-C655-94C8-F45B4A1FDC0B}"/>
          </ac:spMkLst>
        </pc:spChg>
        <pc:picChg chg="add mod">
          <ac:chgData name="Bavli Armanyous" userId="2614e947-2a9c-4f9a-b146-f5ffa7aca4cc" providerId="ADAL" clId="{F9025844-0D46-4D37-8C74-FC46BD0E6BF2}" dt="2026-03-23T21:08:55.779" v="84"/>
          <ac:picMkLst>
            <pc:docMk/>
            <pc:sldMk cId="0" sldId="258"/>
            <ac:picMk id="23" creationId="{D45290FE-20CD-58A2-62F0-ED2A27BFE02A}"/>
          </ac:picMkLst>
        </pc:picChg>
      </pc:sldChg>
      <pc:sldChg chg="addSp modSp">
        <pc:chgData name="Bavli Armanyous" userId="2614e947-2a9c-4f9a-b146-f5ffa7aca4cc" providerId="ADAL" clId="{F9025844-0D46-4D37-8C74-FC46BD0E6BF2}" dt="2026-03-23T21:08:57.311" v="85"/>
        <pc:sldMkLst>
          <pc:docMk/>
          <pc:sldMk cId="0" sldId="259"/>
        </pc:sldMkLst>
        <pc:spChg chg="add mod">
          <ac:chgData name="Bavli Armanyous" userId="2614e947-2a9c-4f9a-b146-f5ffa7aca4cc" providerId="ADAL" clId="{F9025844-0D46-4D37-8C74-FC46BD0E6BF2}" dt="2026-03-23T21:07:07.072" v="66"/>
          <ac:spMkLst>
            <pc:docMk/>
            <pc:sldMk cId="0" sldId="259"/>
            <ac:spMk id="26" creationId="{C0CD4047-CB5F-825D-28E4-84623F6A02BA}"/>
          </ac:spMkLst>
        </pc:spChg>
        <pc:picChg chg="add mod">
          <ac:chgData name="Bavli Armanyous" userId="2614e947-2a9c-4f9a-b146-f5ffa7aca4cc" providerId="ADAL" clId="{F9025844-0D46-4D37-8C74-FC46BD0E6BF2}" dt="2026-03-23T21:08:57.311" v="85"/>
          <ac:picMkLst>
            <pc:docMk/>
            <pc:sldMk cId="0" sldId="259"/>
            <ac:picMk id="27" creationId="{E051AA6A-9B07-4AC0-898C-7FF3C278EF38}"/>
          </ac:picMkLst>
        </pc:picChg>
      </pc:sldChg>
      <pc:sldChg chg="addSp modSp">
        <pc:chgData name="Bavli Armanyous" userId="2614e947-2a9c-4f9a-b146-f5ffa7aca4cc" providerId="ADAL" clId="{F9025844-0D46-4D37-8C74-FC46BD0E6BF2}" dt="2026-03-23T21:08:59.434" v="86"/>
        <pc:sldMkLst>
          <pc:docMk/>
          <pc:sldMk cId="0" sldId="260"/>
        </pc:sldMkLst>
        <pc:spChg chg="add mod">
          <ac:chgData name="Bavli Armanyous" userId="2614e947-2a9c-4f9a-b146-f5ffa7aca4cc" providerId="ADAL" clId="{F9025844-0D46-4D37-8C74-FC46BD0E6BF2}" dt="2026-03-23T21:07:10.873" v="67"/>
          <ac:spMkLst>
            <pc:docMk/>
            <pc:sldMk cId="0" sldId="260"/>
            <ac:spMk id="20" creationId="{0EAE06A3-7C72-16F9-D9FC-C57A1BDC9026}"/>
          </ac:spMkLst>
        </pc:spChg>
        <pc:picChg chg="add mod">
          <ac:chgData name="Bavli Armanyous" userId="2614e947-2a9c-4f9a-b146-f5ffa7aca4cc" providerId="ADAL" clId="{F9025844-0D46-4D37-8C74-FC46BD0E6BF2}" dt="2026-03-23T21:08:59.434" v="86"/>
          <ac:picMkLst>
            <pc:docMk/>
            <pc:sldMk cId="0" sldId="260"/>
            <ac:picMk id="21" creationId="{92A4F462-8FF6-8E21-879F-5BBCDA028FAB}"/>
          </ac:picMkLst>
        </pc:picChg>
      </pc:sldChg>
      <pc:sldChg chg="addSp modSp mod">
        <pc:chgData name="Bavli Armanyous" userId="2614e947-2a9c-4f9a-b146-f5ffa7aca4cc" providerId="ADAL" clId="{F9025844-0D46-4D37-8C74-FC46BD0E6BF2}" dt="2026-03-23T21:09:00.806" v="87"/>
        <pc:sldMkLst>
          <pc:docMk/>
          <pc:sldMk cId="0" sldId="261"/>
        </pc:sldMkLst>
        <pc:spChg chg="mod">
          <ac:chgData name="Bavli Armanyous" userId="2614e947-2a9c-4f9a-b146-f5ffa7aca4cc" providerId="ADAL" clId="{F9025844-0D46-4D37-8C74-FC46BD0E6BF2}" dt="2026-03-23T20:58:18.559" v="12" actId="20577"/>
          <ac:spMkLst>
            <pc:docMk/>
            <pc:sldMk cId="0" sldId="261"/>
            <ac:spMk id="20" creationId="{00000000-0000-0000-0000-000000000000}"/>
          </ac:spMkLst>
        </pc:spChg>
        <pc:spChg chg="mod">
          <ac:chgData name="Bavli Armanyous" userId="2614e947-2a9c-4f9a-b146-f5ffa7aca4cc" providerId="ADAL" clId="{F9025844-0D46-4D37-8C74-FC46BD0E6BF2}" dt="2026-03-23T20:57:25.870" v="2" actId="14100"/>
          <ac:spMkLst>
            <pc:docMk/>
            <pc:sldMk cId="0" sldId="261"/>
            <ac:spMk id="25" creationId="{00000000-0000-0000-0000-000000000000}"/>
          </ac:spMkLst>
        </pc:spChg>
        <pc:spChg chg="mod">
          <ac:chgData name="Bavli Armanyous" userId="2614e947-2a9c-4f9a-b146-f5ffa7aca4cc" providerId="ADAL" clId="{F9025844-0D46-4D37-8C74-FC46BD0E6BF2}" dt="2026-03-23T20:57:31.300" v="3"/>
          <ac:spMkLst>
            <pc:docMk/>
            <pc:sldMk cId="0" sldId="261"/>
            <ac:spMk id="26" creationId="{00000000-0000-0000-0000-000000000000}"/>
          </ac:spMkLst>
        </pc:spChg>
        <pc:spChg chg="mod">
          <ac:chgData name="Bavli Armanyous" userId="2614e947-2a9c-4f9a-b146-f5ffa7aca4cc" providerId="ADAL" clId="{F9025844-0D46-4D37-8C74-FC46BD0E6BF2}" dt="2026-03-23T20:57:21.842" v="1" actId="14100"/>
          <ac:spMkLst>
            <pc:docMk/>
            <pc:sldMk cId="0" sldId="261"/>
            <ac:spMk id="27" creationId="{00000000-0000-0000-0000-000000000000}"/>
          </ac:spMkLst>
        </pc:spChg>
        <pc:spChg chg="add mod">
          <ac:chgData name="Bavli Armanyous" userId="2614e947-2a9c-4f9a-b146-f5ffa7aca4cc" providerId="ADAL" clId="{F9025844-0D46-4D37-8C74-FC46BD0E6BF2}" dt="2026-03-23T21:07:12.777" v="68"/>
          <ac:spMkLst>
            <pc:docMk/>
            <pc:sldMk cId="0" sldId="261"/>
            <ac:spMk id="29" creationId="{266070A4-63C7-D666-17EE-6D5411337B6C}"/>
          </ac:spMkLst>
        </pc:spChg>
        <pc:spChg chg="add mod">
          <ac:chgData name="Bavli Armanyous" userId="2614e947-2a9c-4f9a-b146-f5ffa7aca4cc" providerId="ADAL" clId="{F9025844-0D46-4D37-8C74-FC46BD0E6BF2}" dt="2026-03-23T20:58:09.266" v="10" actId="571"/>
          <ac:spMkLst>
            <pc:docMk/>
            <pc:sldMk cId="0" sldId="261"/>
            <ac:spMk id="29" creationId="{409A21F8-59C3-9331-649A-6045551626A8}"/>
          </ac:spMkLst>
        </pc:spChg>
        <pc:spChg chg="add mod">
          <ac:chgData name="Bavli Armanyous" userId="2614e947-2a9c-4f9a-b146-f5ffa7aca4cc" providerId="ADAL" clId="{F9025844-0D46-4D37-8C74-FC46BD0E6BF2}" dt="2026-03-23T20:58:35.279" v="14" actId="1076"/>
          <ac:spMkLst>
            <pc:docMk/>
            <pc:sldMk cId="0" sldId="261"/>
            <ac:spMk id="30" creationId="{9BF45A4F-8D1F-561A-0276-6B6DED3B5A0F}"/>
          </ac:spMkLst>
        </pc:spChg>
        <pc:picChg chg="add mod">
          <ac:chgData name="Bavli Armanyous" userId="2614e947-2a9c-4f9a-b146-f5ffa7aca4cc" providerId="ADAL" clId="{F9025844-0D46-4D37-8C74-FC46BD0E6BF2}" dt="2026-03-23T21:09:00.806" v="87"/>
          <ac:picMkLst>
            <pc:docMk/>
            <pc:sldMk cId="0" sldId="261"/>
            <ac:picMk id="31" creationId="{93254E8A-4427-0A2D-59C8-9DC00AABC785}"/>
          </ac:picMkLst>
        </pc:picChg>
      </pc:sldChg>
      <pc:sldChg chg="addSp delSp modSp mod">
        <pc:chgData name="Bavli Armanyous" userId="2614e947-2a9c-4f9a-b146-f5ffa7aca4cc" providerId="ADAL" clId="{F9025844-0D46-4D37-8C74-FC46BD0E6BF2}" dt="2026-03-23T21:09:04.659" v="88"/>
        <pc:sldMkLst>
          <pc:docMk/>
          <pc:sldMk cId="0" sldId="262"/>
        </pc:sldMkLst>
        <pc:spChg chg="mod">
          <ac:chgData name="Bavli Armanyous" userId="2614e947-2a9c-4f9a-b146-f5ffa7aca4cc" providerId="ADAL" clId="{F9025844-0D46-4D37-8C74-FC46BD0E6BF2}" dt="2026-03-23T21:07:25.580" v="71" actId="14100"/>
          <ac:spMkLst>
            <pc:docMk/>
            <pc:sldMk cId="0" sldId="262"/>
            <ac:spMk id="20" creationId="{00000000-0000-0000-0000-000000000000}"/>
          </ac:spMkLst>
        </pc:spChg>
        <pc:spChg chg="mod">
          <ac:chgData name="Bavli Armanyous" userId="2614e947-2a9c-4f9a-b146-f5ffa7aca4cc" providerId="ADAL" clId="{F9025844-0D46-4D37-8C74-FC46BD0E6BF2}" dt="2026-03-23T21:08:20.269" v="78" actId="1076"/>
          <ac:spMkLst>
            <pc:docMk/>
            <pc:sldMk cId="0" sldId="262"/>
            <ac:spMk id="26" creationId="{00000000-0000-0000-0000-000000000000}"/>
          </ac:spMkLst>
        </pc:spChg>
        <pc:spChg chg="mod">
          <ac:chgData name="Bavli Armanyous" userId="2614e947-2a9c-4f9a-b146-f5ffa7aca4cc" providerId="ADAL" clId="{F9025844-0D46-4D37-8C74-FC46BD0E6BF2}" dt="2026-03-23T21:07:39.175" v="73" actId="14100"/>
          <ac:spMkLst>
            <pc:docMk/>
            <pc:sldMk cId="0" sldId="262"/>
            <ac:spMk id="27" creationId="{00000000-0000-0000-0000-000000000000}"/>
          </ac:spMkLst>
        </pc:spChg>
        <pc:spChg chg="add mod">
          <ac:chgData name="Bavli Armanyous" userId="2614e947-2a9c-4f9a-b146-f5ffa7aca4cc" providerId="ADAL" clId="{F9025844-0D46-4D37-8C74-FC46BD0E6BF2}" dt="2026-03-23T21:07:14.729" v="69"/>
          <ac:spMkLst>
            <pc:docMk/>
            <pc:sldMk cId="0" sldId="262"/>
            <ac:spMk id="31" creationId="{E6A40A1F-A920-BE07-A118-309235DEB78F}"/>
          </ac:spMkLst>
        </pc:spChg>
        <pc:spChg chg="add del mod">
          <ac:chgData name="Bavli Armanyous" userId="2614e947-2a9c-4f9a-b146-f5ffa7aca4cc" providerId="ADAL" clId="{F9025844-0D46-4D37-8C74-FC46BD0E6BF2}" dt="2026-03-23T21:07:57.295" v="76" actId="478"/>
          <ac:spMkLst>
            <pc:docMk/>
            <pc:sldMk cId="0" sldId="262"/>
            <ac:spMk id="32" creationId="{A5A3D762-18A7-57C9-F36D-DF762595453A}"/>
          </ac:spMkLst>
        </pc:spChg>
        <pc:picChg chg="add mod">
          <ac:chgData name="Bavli Armanyous" userId="2614e947-2a9c-4f9a-b146-f5ffa7aca4cc" providerId="ADAL" clId="{F9025844-0D46-4D37-8C74-FC46BD0E6BF2}" dt="2026-03-23T21:09:04.659" v="88"/>
          <ac:picMkLst>
            <pc:docMk/>
            <pc:sldMk cId="0" sldId="262"/>
            <ac:picMk id="33" creationId="{0985D03B-E3B6-ED7D-6924-FE2B0A7B3F3C}"/>
          </ac:picMkLst>
        </pc:picChg>
      </pc:sldChg>
      <pc:sldChg chg="addSp modSp">
        <pc:chgData name="Bavli Armanyous" userId="2614e947-2a9c-4f9a-b146-f5ffa7aca4cc" providerId="ADAL" clId="{F9025844-0D46-4D37-8C74-FC46BD0E6BF2}" dt="2026-03-23T21:09:06.398" v="89"/>
        <pc:sldMkLst>
          <pc:docMk/>
          <pc:sldMk cId="0" sldId="263"/>
        </pc:sldMkLst>
        <pc:spChg chg="add mod">
          <ac:chgData name="Bavli Armanyous" userId="2614e947-2a9c-4f9a-b146-f5ffa7aca4cc" providerId="ADAL" clId="{F9025844-0D46-4D37-8C74-FC46BD0E6BF2}" dt="2026-03-23T21:08:35.474" v="79"/>
          <ac:spMkLst>
            <pc:docMk/>
            <pc:sldMk cId="0" sldId="263"/>
            <ac:spMk id="21" creationId="{1E062AF9-83D4-798D-D50C-58579D170410}"/>
          </ac:spMkLst>
        </pc:spChg>
        <pc:picChg chg="add mod">
          <ac:chgData name="Bavli Armanyous" userId="2614e947-2a9c-4f9a-b146-f5ffa7aca4cc" providerId="ADAL" clId="{F9025844-0D46-4D37-8C74-FC46BD0E6BF2}" dt="2026-03-23T21:09:06.398" v="89"/>
          <ac:picMkLst>
            <pc:docMk/>
            <pc:sldMk cId="0" sldId="263"/>
            <ac:picMk id="22" creationId="{948B7A2E-89C0-6C9C-A899-358289306C19}"/>
          </ac:picMkLst>
        </pc:picChg>
      </pc:sldChg>
      <pc:sldChg chg="addSp modSp">
        <pc:chgData name="Bavli Armanyous" userId="2614e947-2a9c-4f9a-b146-f5ffa7aca4cc" providerId="ADAL" clId="{F9025844-0D46-4D37-8C74-FC46BD0E6BF2}" dt="2026-03-23T21:09:07.777" v="90"/>
        <pc:sldMkLst>
          <pc:docMk/>
          <pc:sldMk cId="0" sldId="264"/>
        </pc:sldMkLst>
        <pc:spChg chg="add mod">
          <ac:chgData name="Bavli Armanyous" userId="2614e947-2a9c-4f9a-b146-f5ffa7aca4cc" providerId="ADAL" clId="{F9025844-0D46-4D37-8C74-FC46BD0E6BF2}" dt="2026-03-23T21:08:36.973" v="80"/>
          <ac:spMkLst>
            <pc:docMk/>
            <pc:sldMk cId="0" sldId="264"/>
            <ac:spMk id="17" creationId="{E1F215CB-9B46-A2E9-3C16-5683C4C7230C}"/>
          </ac:spMkLst>
        </pc:spChg>
        <pc:picChg chg="add mod">
          <ac:chgData name="Bavli Armanyous" userId="2614e947-2a9c-4f9a-b146-f5ffa7aca4cc" providerId="ADAL" clId="{F9025844-0D46-4D37-8C74-FC46BD0E6BF2}" dt="2026-03-23T21:09:07.777" v="90"/>
          <ac:picMkLst>
            <pc:docMk/>
            <pc:sldMk cId="0" sldId="264"/>
            <ac:picMk id="18" creationId="{4853F81F-045D-5299-2577-F40666242D9E}"/>
          </ac:picMkLst>
        </pc:picChg>
      </pc:sldChg>
      <pc:sldChg chg="addSp modSp">
        <pc:chgData name="Bavli Armanyous" userId="2614e947-2a9c-4f9a-b146-f5ffa7aca4cc" providerId="ADAL" clId="{F9025844-0D46-4D37-8C74-FC46BD0E6BF2}" dt="2026-03-23T21:09:09.496" v="91"/>
        <pc:sldMkLst>
          <pc:docMk/>
          <pc:sldMk cId="0" sldId="265"/>
        </pc:sldMkLst>
        <pc:spChg chg="add mod">
          <ac:chgData name="Bavli Armanyous" userId="2614e947-2a9c-4f9a-b146-f5ffa7aca4cc" providerId="ADAL" clId="{F9025844-0D46-4D37-8C74-FC46BD0E6BF2}" dt="2026-03-23T21:08:38.819" v="81"/>
          <ac:spMkLst>
            <pc:docMk/>
            <pc:sldMk cId="0" sldId="265"/>
            <ac:spMk id="14" creationId="{91FAA8B7-90B1-B3C5-51CC-7DACDC33931A}"/>
          </ac:spMkLst>
        </pc:spChg>
        <pc:picChg chg="add mod">
          <ac:chgData name="Bavli Armanyous" userId="2614e947-2a9c-4f9a-b146-f5ffa7aca4cc" providerId="ADAL" clId="{F9025844-0D46-4D37-8C74-FC46BD0E6BF2}" dt="2026-03-23T21:09:09.496" v="91"/>
          <ac:picMkLst>
            <pc:docMk/>
            <pc:sldMk cId="0" sldId="265"/>
            <ac:picMk id="15" creationId="{F9546548-6D3A-B42B-7360-028FEAF67F8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8197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WS3.1_NoName057_Firewall_Force_Presentatie.pptx (template/palette/logo)
- NCSC Avans gastcollege.pdf (WS3.1 opdracht, datasetperiode, onderzoeksvragen)
- Uitwerking WS3.1 – NCSC.docx
- anomalies_summary.csv
- anomalies_details.csv</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NCSC Avans gastcollege.pdf (slides 28-30: opdracht, data, vragen)
- analyse-script.py
- anomalies_summary.csv
- Uitwerking WS3.1 – NCSC.docx</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Uitwerking WS3.1 – NCSC.docx
- https://www.ncsc.nl/alerts/ddos-aanvallen-op-nederlandse-organisaties-rondom-navo-top
- https://www.ncsc.gov.uk/news/pro-russia-hacktivist-activity-continues-to-target-uk-organisations
- https://www.enisa.europa.eu/sites/default/files/2026-01/ENISA%20Threat%20Landscape%202025_v1.2.pdf</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Uitwerking WS3.1 – NCSC.docx
- anomalies_summary.csv (top hostnamen)
- https://www.enisa.europa.eu/publications/enisa-sectorial-threat-landscape-public-administration
- https://www.enisa.europa.eu/sites/default/files/2026-01/ENISA%20Threat%20Landscape%202025_v1.2.pdf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Uitwerking WS3.1 – NCSC.docx
- https://www.ncsc.nl/alerts/ddos-aanvallen-op-nederlandse-organisaties-rondom-navo-top
- https://www.ncsc.nl/nieuws/nederlandse-organisaties-opnieuw-doelwit-van-ddos-aanvallen
- https://www.ncsc.nl/nieuws/opnieuw-ddos-aanvallen-rondom-navo-top-vervoerssector-ook-doelwit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NCSC Avans gastcollege.pdf (datasetperiode 7 januari t/m 31 augustus 2025)
- anomalies_summary.csv
- analyse-script.py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anomalies_summary.csv
- anomalies_details.csv
- analyse-script.py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Uitwerking WS3.1 – NCSC.docx
- anomalies_summary.csv
- anomalies_details.csv
- https://www.ncsc.nl/alerts/ddos-aanvallen-op-nederlandse-organisaties-rondom-navo-top
- https://www.ncsc.nl/nieuws/opnieuw-ddos-aanvallen-rondom-navo-top-vervoerssector-ook-doelwit
- https://www.ncsc.gov.uk/news/pro-russia-hacktivist-activity-continues-to-target-uk-organisations
- https://www.enisa.europa.eu/publications/enisa-sectorial-threat-landscape-public-administration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Uitwerking WS3.1 – NCSC.docx
- anomalies_summary.csv
- https://www.ncsc.nl/alerts/ddos-aanvallen-op-nederlandse-organisaties-rondom-navo-top
- https://www.ncsc.nl/nieuws/nederlandse-organisaties-opnieuw-doelwit-van-ddos-aanvallen
- https://www.ncsc.gov.uk/news/pro-russia-hacktivist-activity-continues-to-target-uk-organisations
- https://www.enisa.europa.eu/publications/enisa-sectorial-threat-landscape-public-administration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[Sources]
- NCSC Avans gastcollege.pdf (TLP-status en opdracht)
- Uitwerking WS3.1 – NCSC.docx
- analyse-script.py
- anomalies_summary.csv
- anomalies_details.csv
- https://www.ncsc.nl/alerts/ddos-aanvallen-op-nederlandse-organisaties-rondom-navo-top
- https://www.ncsc.nl/nieuws/nederlandse-organisaties-opnieuw-doelwit-van-ddos-aanvallen
- https://www.ncsc.nl/nieuws/opnieuw-ddos-aanvallen-rondom-navo-top-vervoerssector-ook-doelwit
- https://www.ncsc.gov.uk/news/pro-russia-hacktivist-activity-continues-to-target-uk-organisations
- https://www.enisa.europa.eu/publications/enisa-sectorial-threat-landscape-public-administration
- https://www.enisa.europa.eu/sites/default/files/2026-01/ENISA%20Threat%20Landscape%202025_v1.2.pdf</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S31_MASTER">
    <p:bg>
      <p:bgPr>
        <a:solidFill>
          <a:srgbClr val="062A72"/>
        </a:solidFill>
        <a:effectLst/>
      </p:bgPr>
    </p:bg>
    <p:spTree>
      <p:nvGrpSpPr>
        <p:cNvPr id="1" name=""/>
        <p:cNvGrpSpPr/>
        <p:nvPr/>
      </p:nvGrpSpPr>
      <p:grpSpPr>
        <a:xfrm>
          <a:off x="0" y="0"/>
          <a:ext cx="0" cy="0"/>
          <a:chOff x="0" y="0"/>
          <a:chExt cx="0" cy="0"/>
        </a:xfrm>
      </p:grpSpPr>
      <p:pic>
        <p:nvPicPr>
          <p:cNvPr id="2" name="Image 0" descr="/mnt/data/floor_strip.png"/>
          <p:cNvPicPr>
            <a:picLocks noChangeAspect="1"/>
          </p:cNvPicPr>
          <p:nvPr/>
        </p:nvPicPr>
        <p:blipFill>
          <a:blip r:embed="rId2"/>
          <a:stretch>
            <a:fillRect/>
          </a:stretch>
        </p:blipFill>
        <p:spPr>
          <a:xfrm>
            <a:off x="0" y="6236208"/>
            <a:ext cx="12191695" cy="621792"/>
          </a:xfrm>
          <a:prstGeom prst="rect">
            <a:avLst/>
          </a:prstGeom>
        </p:spPr>
      </p:pic>
      <p:sp>
        <p:nvSpPr>
          <p:cNvPr id="3" name="Shape 0"/>
          <p:cNvSpPr/>
          <p:nvPr/>
        </p:nvSpPr>
        <p:spPr>
          <a:xfrm>
            <a:off x="0" y="6208776"/>
            <a:ext cx="12191695" cy="27432"/>
          </a:xfrm>
          <a:prstGeom prst="rect">
            <a:avLst/>
          </a:prstGeom>
          <a:solidFill>
            <a:srgbClr val="29B6F6"/>
          </a:solidFill>
          <a:ln w="12700">
            <a:solidFill>
              <a:srgbClr val="29B6F6"/>
            </a:solidFill>
            <a:prstDash val="solid"/>
          </a:ln>
        </p:spPr>
      </p:sp>
      <p:pic>
        <p:nvPicPr>
          <p:cNvPr id="4" name="Image 1" descr="/mnt/data/firewall_small_logo.png"/>
          <p:cNvPicPr>
            <a:picLocks noChangeAspect="1"/>
          </p:cNvPicPr>
          <p:nvPr/>
        </p:nvPicPr>
        <p:blipFill>
          <a:blip r:embed="rId3"/>
          <a:stretch>
            <a:fillRect/>
          </a:stretch>
        </p:blipFill>
        <p:spPr>
          <a:xfrm>
            <a:off x="11292840" y="292608"/>
            <a:ext cx="658368" cy="566928"/>
          </a:xfrm>
          <a:prstGeom prst="rect">
            <a:avLst/>
          </a:prstGeom>
        </p:spPr>
      </p:pic>
      <p:sp>
        <p:nvSpPr>
          <p:cNvPr id="5" name="Text 1"/>
          <p:cNvSpPr/>
          <p:nvPr/>
        </p:nvSpPr>
        <p:spPr>
          <a:xfrm>
            <a:off x="658368" y="5971032"/>
            <a:ext cx="1920240" cy="182880"/>
          </a:xfrm>
          <a:prstGeom prst="rect">
            <a:avLst/>
          </a:prstGeom>
          <a:noFill/>
          <a:ln/>
        </p:spPr>
        <p:txBody>
          <a:bodyPr wrap="square" lIns="0" tIns="0" rIns="0" bIns="0" rtlCol="0" anchor="ctr"/>
          <a:lstStyle/>
          <a:p>
            <a:pPr marL="0" indent="0">
              <a:buNone/>
            </a:pPr>
            <a:r>
              <a:rPr lang="en-US" sz="900" dirty="0">
                <a:solidFill>
                  <a:srgbClr val="8BD8FF"/>
                </a:solidFill>
                <a:latin typeface="Aptos" pitchFamily="34" charset="0"/>
                <a:ea typeface="Aptos" pitchFamily="34" charset="-122"/>
                <a:cs typeface="Aptos" pitchFamily="34" charset="-120"/>
              </a:rPr>
              <a:t>Firewall Force</a:t>
            </a:r>
            <a:endParaRPr lang="en-US" sz="90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‹nr.›</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‹nr.›</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2A72"/>
        </a:solidFill>
        <a:effectLst/>
      </p:bgPr>
    </p:bg>
    <p:spTree>
      <p:nvGrpSpPr>
        <p:cNvPr id="1" name=""/>
        <p:cNvGrpSpPr/>
        <p:nvPr/>
      </p:nvGrpSpPr>
      <p:grpSpPr>
        <a:xfrm>
          <a:off x="0" y="0"/>
          <a:ext cx="0" cy="0"/>
          <a:chOff x="0" y="0"/>
          <a:chExt cx="0" cy="0"/>
        </a:xfrm>
      </p:grpSpPr>
      <p:pic>
        <p:nvPicPr>
          <p:cNvPr id="2" name="Image 0" descr="/mnt/data/floor_strip.png"/>
          <p:cNvPicPr>
            <a:picLocks noChangeAspect="1"/>
          </p:cNvPicPr>
          <p:nvPr/>
        </p:nvPicPr>
        <p:blipFill>
          <a:blip r:embed="rId3"/>
          <a:stretch>
            <a:fillRect/>
          </a:stretch>
        </p:blipFill>
        <p:spPr>
          <a:xfrm>
            <a:off x="0" y="6236208"/>
            <a:ext cx="12191695" cy="621792"/>
          </a:xfrm>
          <a:prstGeom prst="rect">
            <a:avLst/>
          </a:prstGeom>
        </p:spPr>
      </p:pic>
      <p:sp>
        <p:nvSpPr>
          <p:cNvPr id="3" name="Shape 0"/>
          <p:cNvSpPr/>
          <p:nvPr/>
        </p:nvSpPr>
        <p:spPr>
          <a:xfrm>
            <a:off x="0" y="6208776"/>
            <a:ext cx="12191695" cy="27432"/>
          </a:xfrm>
          <a:prstGeom prst="rect">
            <a:avLst/>
          </a:prstGeom>
          <a:solidFill>
            <a:srgbClr val="2FB3E9"/>
          </a:solidFill>
          <a:ln w="12700">
            <a:solidFill>
              <a:srgbClr val="2FB3E9"/>
            </a:solidFill>
            <a:prstDash val="solid"/>
          </a:ln>
        </p:spPr>
        <p:txBody>
          <a:bodyPr/>
          <a:lstStyle/>
          <a:p>
            <a:endParaRPr lang="nl-NL"/>
          </a:p>
        </p:txBody>
      </p:sp>
      <p:sp>
        <p:nvSpPr>
          <p:cNvPr id="4" name="Text 1"/>
          <p:cNvSpPr/>
          <p:nvPr/>
        </p:nvSpPr>
        <p:spPr>
          <a:xfrm>
            <a:off x="658368" y="685800"/>
            <a:ext cx="4389120" cy="292608"/>
          </a:xfrm>
          <a:prstGeom prst="rect">
            <a:avLst/>
          </a:prstGeom>
          <a:noFill/>
          <a:ln/>
        </p:spPr>
        <p:txBody>
          <a:bodyPr wrap="square" lIns="0" tIns="0" rIns="0" bIns="0" rtlCol="0" anchor="ctr"/>
          <a:lstStyle/>
          <a:p>
            <a:pPr marL="0" indent="0">
              <a:buNone/>
            </a:pPr>
            <a:r>
              <a:rPr lang="en-US" sz="1800" dirty="0">
                <a:solidFill>
                  <a:srgbClr val="F2C54B"/>
                </a:solidFill>
                <a:latin typeface="Aptos" pitchFamily="34" charset="0"/>
                <a:ea typeface="Aptos" pitchFamily="34" charset="-122"/>
                <a:cs typeface="Aptos" pitchFamily="34" charset="-120"/>
              </a:rPr>
              <a:t>WS3.1 – GASTCOLLEGE NCSC</a:t>
            </a:r>
            <a:endParaRPr lang="en-US" sz="1800" dirty="0"/>
          </a:p>
        </p:txBody>
      </p:sp>
      <p:sp>
        <p:nvSpPr>
          <p:cNvPr id="5" name="Text 2"/>
          <p:cNvSpPr/>
          <p:nvPr/>
        </p:nvSpPr>
        <p:spPr>
          <a:xfrm>
            <a:off x="658368" y="1005840"/>
            <a:ext cx="4663440" cy="457200"/>
          </a:xfrm>
          <a:prstGeom prst="rect">
            <a:avLst/>
          </a:prstGeom>
          <a:noFill/>
          <a:ln/>
        </p:spPr>
        <p:txBody>
          <a:bodyPr wrap="square" lIns="0" tIns="0" rIns="0" bIns="0" rtlCol="0" anchor="ctr"/>
          <a:lstStyle/>
          <a:p>
            <a:pPr marL="0" indent="0">
              <a:buNone/>
            </a:pPr>
            <a:r>
              <a:rPr lang="en-US" sz="3000" b="1" dirty="0">
                <a:solidFill>
                  <a:srgbClr val="FFFFFF"/>
                </a:solidFill>
                <a:latin typeface="Aptos Display" pitchFamily="34" charset="0"/>
                <a:ea typeface="Aptos Display" pitchFamily="34" charset="-122"/>
                <a:cs typeface="Aptos Display" pitchFamily="34" charset="-120"/>
              </a:rPr>
              <a:t>NoName057(16)</a:t>
            </a:r>
            <a:endParaRPr lang="en-US" sz="3000" dirty="0"/>
          </a:p>
        </p:txBody>
      </p:sp>
      <p:sp>
        <p:nvSpPr>
          <p:cNvPr id="6" name="Text 3"/>
          <p:cNvSpPr/>
          <p:nvPr/>
        </p:nvSpPr>
        <p:spPr>
          <a:xfrm>
            <a:off x="658368" y="1856232"/>
            <a:ext cx="4754880" cy="822960"/>
          </a:xfrm>
          <a:prstGeom prst="rect">
            <a:avLst/>
          </a:prstGeom>
          <a:noFill/>
          <a:ln/>
        </p:spPr>
        <p:txBody>
          <a:bodyPr wrap="square" lIns="0" tIns="0" rIns="0" bIns="0" rtlCol="0" anchor="ctr"/>
          <a:lstStyle/>
          <a:p>
            <a:pPr marL="0" indent="0">
              <a:buNone/>
            </a:pPr>
            <a:r>
              <a:rPr lang="en-US" sz="2100" b="1" dirty="0">
                <a:solidFill>
                  <a:srgbClr val="FFFFFF"/>
                </a:solidFill>
                <a:latin typeface="Aptos Display" pitchFamily="34" charset="0"/>
                <a:ea typeface="Aptos Display" pitchFamily="34" charset="-122"/>
                <a:cs typeface="Aptos Display" pitchFamily="34" charset="-120"/>
              </a:rPr>
              <a:t>Motivatie, werkwijze, doelwitten</a:t>
            </a:r>
            <a:endParaRPr lang="en-US" sz="2100" dirty="0"/>
          </a:p>
          <a:p>
            <a:pPr marL="0" indent="0">
              <a:buNone/>
            </a:pPr>
            <a:r>
              <a:rPr lang="en-US" sz="2100" b="1" dirty="0">
                <a:solidFill>
                  <a:srgbClr val="FFFFFF"/>
                </a:solidFill>
                <a:latin typeface="Aptos Display" pitchFamily="34" charset="0"/>
                <a:ea typeface="Aptos Display" pitchFamily="34" charset="-122"/>
                <a:cs typeface="Aptos Display" pitchFamily="34" charset="-120"/>
              </a:rPr>
              <a:t>en relevantie voor Nederland</a:t>
            </a:r>
            <a:endParaRPr lang="en-US" sz="2100" dirty="0"/>
          </a:p>
        </p:txBody>
      </p:sp>
      <p:sp>
        <p:nvSpPr>
          <p:cNvPr id="8" name="Text 5"/>
          <p:cNvSpPr/>
          <p:nvPr/>
        </p:nvSpPr>
        <p:spPr>
          <a:xfrm>
            <a:off x="658368" y="5468112"/>
            <a:ext cx="2560320" cy="210312"/>
          </a:xfrm>
          <a:prstGeom prst="rect">
            <a:avLst/>
          </a:prstGeom>
          <a:noFill/>
          <a:ln/>
        </p:spPr>
        <p:txBody>
          <a:bodyPr wrap="square" lIns="0" tIns="0" rIns="0" bIns="0" rtlCol="0" anchor="ctr"/>
          <a:lstStyle/>
          <a:p>
            <a:pPr marL="0" indent="0">
              <a:buNone/>
            </a:pPr>
            <a:r>
              <a:rPr lang="en-US" sz="1250" dirty="0">
                <a:solidFill>
                  <a:srgbClr val="53D0FF"/>
                </a:solidFill>
                <a:latin typeface="Aptos" pitchFamily="34" charset="0"/>
                <a:ea typeface="Aptos" pitchFamily="34" charset="-122"/>
                <a:cs typeface="Aptos" pitchFamily="34" charset="-120"/>
              </a:rPr>
              <a:t>Groep 10 – Firewall Force</a:t>
            </a:r>
            <a:endParaRPr lang="en-US" sz="1250" dirty="0"/>
          </a:p>
        </p:txBody>
      </p:sp>
      <p:sp>
        <p:nvSpPr>
          <p:cNvPr id="9" name="Text 6"/>
          <p:cNvSpPr/>
          <p:nvPr/>
        </p:nvSpPr>
        <p:spPr>
          <a:xfrm>
            <a:off x="658368" y="5742432"/>
            <a:ext cx="2834640" cy="219456"/>
          </a:xfrm>
          <a:prstGeom prst="rect">
            <a:avLst/>
          </a:prstGeom>
          <a:noFill/>
          <a:ln/>
        </p:spPr>
        <p:txBody>
          <a:bodyPr wrap="square" lIns="0" tIns="0" rIns="0" bIns="0" rtlCol="0" anchor="ctr"/>
          <a:lstStyle/>
          <a:p>
            <a:pPr marL="0" indent="0">
              <a:buNone/>
            </a:pPr>
            <a:r>
              <a:rPr lang="en-US" sz="1400" b="1" dirty="0">
                <a:solidFill>
                  <a:srgbClr val="FFFFFF"/>
                </a:solidFill>
                <a:latin typeface="Aptos" pitchFamily="34" charset="0"/>
                <a:ea typeface="Aptos" pitchFamily="34" charset="-122"/>
                <a:cs typeface="Aptos" pitchFamily="34" charset="-120"/>
              </a:rPr>
              <a:t>Bavli, Jonas, Lucas, Vo</a:t>
            </a:r>
            <a:endParaRPr lang="en-US" sz="1400" dirty="0"/>
          </a:p>
        </p:txBody>
      </p:sp>
      <p:sp>
        <p:nvSpPr>
          <p:cNvPr id="10" name="Shape 7"/>
          <p:cNvSpPr/>
          <p:nvPr/>
        </p:nvSpPr>
        <p:spPr>
          <a:xfrm>
            <a:off x="6903720" y="347472"/>
            <a:ext cx="4526280" cy="5440680"/>
          </a:xfrm>
          <a:prstGeom prst="ellipse">
            <a:avLst/>
          </a:prstGeom>
          <a:solidFill>
            <a:srgbClr val="062A72">
              <a:alpha val="0"/>
            </a:srgbClr>
          </a:solidFill>
          <a:ln w="12700">
            <a:solidFill>
              <a:srgbClr val="F2C54B"/>
            </a:solidFill>
            <a:prstDash val="solid"/>
          </a:ln>
        </p:spPr>
        <p:txBody>
          <a:bodyPr/>
          <a:lstStyle/>
          <a:p>
            <a:endParaRPr lang="nl-NL"/>
          </a:p>
        </p:txBody>
      </p:sp>
      <p:pic>
        <p:nvPicPr>
          <p:cNvPr id="13" name="Afbeelding 12">
            <a:extLst>
              <a:ext uri="{FF2B5EF4-FFF2-40B4-BE49-F238E27FC236}">
                <a16:creationId xmlns:a16="http://schemas.microsoft.com/office/drawing/2014/main" id="{300CC656-5CF4-B141-059D-64FEA4551D3E}"/>
              </a:ext>
            </a:extLst>
          </p:cNvPr>
          <p:cNvPicPr>
            <a:picLocks noChangeAspect="1"/>
          </p:cNvPicPr>
          <p:nvPr/>
        </p:nvPicPr>
        <p:blipFill>
          <a:blip r:embed="rId4"/>
          <a:stretch>
            <a:fillRect/>
          </a:stretch>
        </p:blipFill>
        <p:spPr>
          <a:xfrm>
            <a:off x="6548489" y="449441"/>
            <a:ext cx="5236741" cy="5236741"/>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Onderzoeksvragen en aanpak</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Wat WS3.1 vroeg en hoe we het hebben aangepakt</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Vraag + aanpak</a:t>
            </a:r>
            <a:endParaRPr lang="en-US" sz="960" dirty="0"/>
          </a:p>
        </p:txBody>
      </p:sp>
      <p:sp>
        <p:nvSpPr>
          <p:cNvPr id="5" name="Shape 3"/>
          <p:cNvSpPr/>
          <p:nvPr/>
        </p:nvSpPr>
        <p:spPr>
          <a:xfrm>
            <a:off x="621792" y="1234440"/>
            <a:ext cx="4572000" cy="4434840"/>
          </a:xfrm>
          <a:prstGeom prst="roundRect">
            <a:avLst>
              <a:gd name="adj" fmla="val 1649"/>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68680" y="1508760"/>
            <a:ext cx="347472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moest WS3.1 beantwoorden?</a:t>
            </a:r>
            <a:endParaRPr lang="en-US" sz="1650" dirty="0"/>
          </a:p>
        </p:txBody>
      </p:sp>
      <p:sp>
        <p:nvSpPr>
          <p:cNvPr id="7" name="Text 5"/>
          <p:cNvSpPr/>
          <p:nvPr/>
        </p:nvSpPr>
        <p:spPr>
          <a:xfrm>
            <a:off x="868680" y="1865376"/>
            <a:ext cx="164592" cy="228600"/>
          </a:xfrm>
          <a:prstGeom prst="rect">
            <a:avLst/>
          </a:prstGeom>
          <a:noFill/>
          <a:ln/>
        </p:spPr>
        <p:txBody>
          <a:bodyPr wrap="square" lIns="0" tIns="0" rIns="0" bIns="0" rtlCol="0" anchor="ctr"/>
          <a:lstStyle/>
          <a:p>
            <a:pPr marL="0" indent="0">
              <a:buNone/>
            </a:pPr>
            <a:r>
              <a:rPr lang="en-US" sz="1650" b="1" dirty="0">
                <a:solidFill>
                  <a:srgbClr val="F2C54B"/>
                </a:solidFill>
                <a:latin typeface="Aptos" pitchFamily="34" charset="0"/>
                <a:ea typeface="Aptos" pitchFamily="34" charset="-122"/>
                <a:cs typeface="Aptos" pitchFamily="34" charset="-120"/>
              </a:rPr>
              <a:t>•</a:t>
            </a:r>
            <a:endParaRPr lang="en-US" sz="1650" dirty="0"/>
          </a:p>
        </p:txBody>
      </p:sp>
      <p:sp>
        <p:nvSpPr>
          <p:cNvPr id="8" name="Text 6"/>
          <p:cNvSpPr/>
          <p:nvPr/>
        </p:nvSpPr>
        <p:spPr>
          <a:xfrm>
            <a:off x="1069848" y="1874520"/>
            <a:ext cx="3630168" cy="374904"/>
          </a:xfrm>
          <a:prstGeom prst="rect">
            <a:avLst/>
          </a:prstGeom>
          <a:noFill/>
          <a:ln/>
        </p:spPr>
        <p:txBody>
          <a:bodyPr wrap="square" rtlCol="0" anchor="t"/>
          <a:lstStyle/>
          <a:p>
            <a:pPr marL="0" indent="0">
              <a:buNone/>
            </a:pPr>
            <a:r>
              <a:rPr lang="en-US" sz="1550" dirty="0">
                <a:solidFill>
                  <a:srgbClr val="0C2C6B"/>
                </a:solidFill>
                <a:latin typeface="Aptos" pitchFamily="34" charset="0"/>
                <a:ea typeface="Aptos" pitchFamily="34" charset="-122"/>
                <a:cs typeface="Aptos" pitchFamily="34" charset="-120"/>
              </a:rPr>
              <a:t>Wat is de motivatie van NoName057(16)?</a:t>
            </a:r>
            <a:endParaRPr lang="en-US" sz="1550" dirty="0"/>
          </a:p>
        </p:txBody>
      </p:sp>
      <p:sp>
        <p:nvSpPr>
          <p:cNvPr id="9" name="Text 7"/>
          <p:cNvSpPr/>
          <p:nvPr/>
        </p:nvSpPr>
        <p:spPr>
          <a:xfrm>
            <a:off x="868680" y="2350008"/>
            <a:ext cx="164592" cy="228600"/>
          </a:xfrm>
          <a:prstGeom prst="rect">
            <a:avLst/>
          </a:prstGeom>
          <a:noFill/>
          <a:ln/>
        </p:spPr>
        <p:txBody>
          <a:bodyPr wrap="square" lIns="0" tIns="0" rIns="0" bIns="0" rtlCol="0" anchor="ctr"/>
          <a:lstStyle/>
          <a:p>
            <a:pPr marL="0" indent="0">
              <a:buNone/>
            </a:pPr>
            <a:r>
              <a:rPr lang="en-US" sz="1650" b="1" dirty="0">
                <a:solidFill>
                  <a:srgbClr val="F2C54B"/>
                </a:solidFill>
                <a:latin typeface="Aptos" pitchFamily="34" charset="0"/>
                <a:ea typeface="Aptos" pitchFamily="34" charset="-122"/>
                <a:cs typeface="Aptos" pitchFamily="34" charset="-120"/>
              </a:rPr>
              <a:t>•</a:t>
            </a:r>
            <a:endParaRPr lang="en-US" sz="1650" dirty="0"/>
          </a:p>
        </p:txBody>
      </p:sp>
      <p:sp>
        <p:nvSpPr>
          <p:cNvPr id="10" name="Text 8"/>
          <p:cNvSpPr/>
          <p:nvPr/>
        </p:nvSpPr>
        <p:spPr>
          <a:xfrm>
            <a:off x="1069848" y="2359152"/>
            <a:ext cx="3630168" cy="374904"/>
          </a:xfrm>
          <a:prstGeom prst="rect">
            <a:avLst/>
          </a:prstGeom>
          <a:noFill/>
          <a:ln/>
        </p:spPr>
        <p:txBody>
          <a:bodyPr wrap="square" rtlCol="0" anchor="t"/>
          <a:lstStyle/>
          <a:p>
            <a:pPr marL="0" indent="0">
              <a:buNone/>
            </a:pPr>
            <a:r>
              <a:rPr lang="en-US" sz="1550" dirty="0">
                <a:solidFill>
                  <a:srgbClr val="0C2C6B"/>
                </a:solidFill>
                <a:latin typeface="Aptos" pitchFamily="34" charset="0"/>
                <a:ea typeface="Aptos" pitchFamily="34" charset="-122"/>
                <a:cs typeface="Aptos" pitchFamily="34" charset="-120"/>
              </a:rPr>
              <a:t>Gebruikt de groep alleen DDoS of ook andere methoden?</a:t>
            </a:r>
            <a:endParaRPr lang="en-US" sz="1550" dirty="0"/>
          </a:p>
        </p:txBody>
      </p:sp>
      <p:sp>
        <p:nvSpPr>
          <p:cNvPr id="11" name="Text 9"/>
          <p:cNvSpPr/>
          <p:nvPr/>
        </p:nvSpPr>
        <p:spPr>
          <a:xfrm>
            <a:off x="868680" y="2834640"/>
            <a:ext cx="164592" cy="228600"/>
          </a:xfrm>
          <a:prstGeom prst="rect">
            <a:avLst/>
          </a:prstGeom>
          <a:noFill/>
          <a:ln/>
        </p:spPr>
        <p:txBody>
          <a:bodyPr wrap="square" lIns="0" tIns="0" rIns="0" bIns="0" rtlCol="0" anchor="ctr"/>
          <a:lstStyle/>
          <a:p>
            <a:pPr marL="0" indent="0">
              <a:buNone/>
            </a:pPr>
            <a:r>
              <a:rPr lang="en-US" sz="1650" b="1" dirty="0">
                <a:solidFill>
                  <a:srgbClr val="F2C54B"/>
                </a:solidFill>
                <a:latin typeface="Aptos" pitchFamily="34" charset="0"/>
                <a:ea typeface="Aptos" pitchFamily="34" charset="-122"/>
                <a:cs typeface="Aptos" pitchFamily="34" charset="-120"/>
              </a:rPr>
              <a:t>•</a:t>
            </a:r>
            <a:endParaRPr lang="en-US" sz="1650" dirty="0"/>
          </a:p>
        </p:txBody>
      </p:sp>
      <p:sp>
        <p:nvSpPr>
          <p:cNvPr id="12" name="Text 10"/>
          <p:cNvSpPr/>
          <p:nvPr/>
        </p:nvSpPr>
        <p:spPr>
          <a:xfrm>
            <a:off x="1069848" y="2843784"/>
            <a:ext cx="3630168" cy="374904"/>
          </a:xfrm>
          <a:prstGeom prst="rect">
            <a:avLst/>
          </a:prstGeom>
          <a:noFill/>
          <a:ln/>
        </p:spPr>
        <p:txBody>
          <a:bodyPr wrap="square" rtlCol="0" anchor="t"/>
          <a:lstStyle/>
          <a:p>
            <a:pPr marL="0" indent="0">
              <a:buNone/>
            </a:pPr>
            <a:r>
              <a:rPr lang="en-US" sz="1550" dirty="0">
                <a:solidFill>
                  <a:srgbClr val="0C2C6B"/>
                </a:solidFill>
                <a:latin typeface="Aptos" pitchFamily="34" charset="0"/>
                <a:ea typeface="Aptos" pitchFamily="34" charset="-122"/>
                <a:cs typeface="Aptos" pitchFamily="34" charset="-120"/>
              </a:rPr>
              <a:t>Welke landen en organisaties worden het vaakst geraakt?</a:t>
            </a:r>
            <a:endParaRPr lang="en-US" sz="1550" dirty="0"/>
          </a:p>
        </p:txBody>
      </p:sp>
      <p:sp>
        <p:nvSpPr>
          <p:cNvPr id="13" name="Text 11"/>
          <p:cNvSpPr/>
          <p:nvPr/>
        </p:nvSpPr>
        <p:spPr>
          <a:xfrm>
            <a:off x="868680" y="3319272"/>
            <a:ext cx="164592" cy="228600"/>
          </a:xfrm>
          <a:prstGeom prst="rect">
            <a:avLst/>
          </a:prstGeom>
          <a:noFill/>
          <a:ln/>
        </p:spPr>
        <p:txBody>
          <a:bodyPr wrap="square" lIns="0" tIns="0" rIns="0" bIns="0" rtlCol="0" anchor="ctr"/>
          <a:lstStyle/>
          <a:p>
            <a:pPr marL="0" indent="0">
              <a:buNone/>
            </a:pPr>
            <a:r>
              <a:rPr lang="en-US" sz="1650" b="1" dirty="0">
                <a:solidFill>
                  <a:srgbClr val="F2C54B"/>
                </a:solidFill>
                <a:latin typeface="Aptos" pitchFamily="34" charset="0"/>
                <a:ea typeface="Aptos" pitchFamily="34" charset="-122"/>
                <a:cs typeface="Aptos" pitchFamily="34" charset="-120"/>
              </a:rPr>
              <a:t>•</a:t>
            </a:r>
            <a:endParaRPr lang="en-US" sz="1650" dirty="0"/>
          </a:p>
        </p:txBody>
      </p:sp>
      <p:sp>
        <p:nvSpPr>
          <p:cNvPr id="14" name="Text 12"/>
          <p:cNvSpPr/>
          <p:nvPr/>
        </p:nvSpPr>
        <p:spPr>
          <a:xfrm>
            <a:off x="1069848" y="3328416"/>
            <a:ext cx="3630168" cy="374904"/>
          </a:xfrm>
          <a:prstGeom prst="rect">
            <a:avLst/>
          </a:prstGeom>
          <a:noFill/>
          <a:ln/>
        </p:spPr>
        <p:txBody>
          <a:bodyPr wrap="square" rtlCol="0" anchor="t"/>
          <a:lstStyle/>
          <a:p>
            <a:pPr marL="0" indent="0">
              <a:buNone/>
            </a:pPr>
            <a:r>
              <a:rPr lang="en-US" sz="1550" dirty="0">
                <a:solidFill>
                  <a:srgbClr val="0C2C6B"/>
                </a:solidFill>
                <a:latin typeface="Aptos" pitchFamily="34" charset="0"/>
                <a:ea typeface="Aptos" pitchFamily="34" charset="-122"/>
                <a:cs typeface="Aptos" pitchFamily="34" charset="-120"/>
              </a:rPr>
              <a:t>Wat is daarvan relevant voor Nederland?</a:t>
            </a:r>
            <a:endParaRPr lang="en-US" sz="1550" dirty="0"/>
          </a:p>
        </p:txBody>
      </p:sp>
      <p:sp>
        <p:nvSpPr>
          <p:cNvPr id="15" name="Text 13"/>
          <p:cNvSpPr/>
          <p:nvPr/>
        </p:nvSpPr>
        <p:spPr>
          <a:xfrm>
            <a:off x="868680" y="3803904"/>
            <a:ext cx="164592" cy="228600"/>
          </a:xfrm>
          <a:prstGeom prst="rect">
            <a:avLst/>
          </a:prstGeom>
          <a:noFill/>
          <a:ln/>
        </p:spPr>
        <p:txBody>
          <a:bodyPr wrap="square" lIns="0" tIns="0" rIns="0" bIns="0" rtlCol="0" anchor="ctr"/>
          <a:lstStyle/>
          <a:p>
            <a:pPr marL="0" indent="0">
              <a:buNone/>
            </a:pPr>
            <a:r>
              <a:rPr lang="en-US" sz="1650" b="1" dirty="0">
                <a:solidFill>
                  <a:srgbClr val="F2C54B"/>
                </a:solidFill>
                <a:latin typeface="Aptos" pitchFamily="34" charset="0"/>
                <a:ea typeface="Aptos" pitchFamily="34" charset="-122"/>
                <a:cs typeface="Aptos" pitchFamily="34" charset="-120"/>
              </a:rPr>
              <a:t>•</a:t>
            </a:r>
            <a:endParaRPr lang="en-US" sz="1650" dirty="0"/>
          </a:p>
        </p:txBody>
      </p:sp>
      <p:sp>
        <p:nvSpPr>
          <p:cNvPr id="16" name="Text 14"/>
          <p:cNvSpPr/>
          <p:nvPr/>
        </p:nvSpPr>
        <p:spPr>
          <a:xfrm>
            <a:off x="1069848" y="3813048"/>
            <a:ext cx="3630168" cy="374904"/>
          </a:xfrm>
          <a:prstGeom prst="rect">
            <a:avLst/>
          </a:prstGeom>
          <a:noFill/>
          <a:ln/>
        </p:spPr>
        <p:txBody>
          <a:bodyPr wrap="square" rtlCol="0" anchor="t"/>
          <a:lstStyle/>
          <a:p>
            <a:pPr marL="0" indent="0">
              <a:buNone/>
            </a:pPr>
            <a:r>
              <a:rPr lang="en-US" sz="1550" dirty="0">
                <a:solidFill>
                  <a:srgbClr val="0C2C6B"/>
                </a:solidFill>
                <a:latin typeface="Aptos" pitchFamily="34" charset="0"/>
                <a:ea typeface="Aptos" pitchFamily="34" charset="-122"/>
                <a:cs typeface="Aptos" pitchFamily="34" charset="-120"/>
              </a:rPr>
              <a:t>Moet je alleen naar Nederlandse slachtoffers kijken?</a:t>
            </a:r>
            <a:endParaRPr lang="en-US" sz="1550" dirty="0"/>
          </a:p>
        </p:txBody>
      </p:sp>
      <p:sp>
        <p:nvSpPr>
          <p:cNvPr id="17" name="Shape 15"/>
          <p:cNvSpPr/>
          <p:nvPr/>
        </p:nvSpPr>
        <p:spPr>
          <a:xfrm>
            <a:off x="5440680" y="1645920"/>
            <a:ext cx="1737360" cy="1353312"/>
          </a:xfrm>
          <a:prstGeom prst="roundRect">
            <a:avLst>
              <a:gd name="adj" fmla="val 5405"/>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18" name="Text 16"/>
          <p:cNvSpPr/>
          <p:nvPr/>
        </p:nvSpPr>
        <p:spPr>
          <a:xfrm>
            <a:off x="5751576" y="1920240"/>
            <a:ext cx="1316736" cy="201168"/>
          </a:xfrm>
          <a:prstGeom prst="rect">
            <a:avLst/>
          </a:prstGeom>
          <a:noFill/>
          <a:ln/>
        </p:spPr>
        <p:txBody>
          <a:bodyPr wrap="square" lIns="0" tIns="0" rIns="0" bIns="0" rtlCol="0" anchor="ctr"/>
          <a:lstStyle/>
          <a:p>
            <a:pPr marL="0" indent="0" algn="ctr">
              <a:buNone/>
            </a:pPr>
            <a:r>
              <a:rPr lang="en-US" sz="1470" b="1" dirty="0">
                <a:solidFill>
                  <a:srgbClr val="0C2C6B"/>
                </a:solidFill>
                <a:latin typeface="Aptos Display" pitchFamily="34" charset="0"/>
                <a:ea typeface="Aptos Display" pitchFamily="34" charset="-122"/>
                <a:cs typeface="Aptos Display" pitchFamily="34" charset="-120"/>
              </a:rPr>
              <a:t>Bronnen</a:t>
            </a:r>
            <a:endParaRPr lang="en-US" sz="1470" dirty="0"/>
          </a:p>
        </p:txBody>
      </p:sp>
      <p:sp>
        <p:nvSpPr>
          <p:cNvPr id="19" name="Text 17"/>
          <p:cNvSpPr/>
          <p:nvPr/>
        </p:nvSpPr>
        <p:spPr>
          <a:xfrm>
            <a:off x="5586984" y="2414016"/>
            <a:ext cx="1481328" cy="347472"/>
          </a:xfrm>
          <a:prstGeom prst="rect">
            <a:avLst/>
          </a:prstGeom>
          <a:noFill/>
          <a:ln/>
        </p:spPr>
        <p:txBody>
          <a:bodyPr wrap="square" lIns="127" tIns="127" rIns="127" bIns="127" rtlCol="0" anchor="ctr"/>
          <a:lstStyle/>
          <a:p>
            <a:pPr marL="0" indent="0" algn="ctr">
              <a:buNone/>
            </a:pPr>
            <a:r>
              <a:rPr lang="en-US" sz="1000" dirty="0">
                <a:solidFill>
                  <a:srgbClr val="0C2C6B"/>
                </a:solidFill>
              </a:rPr>
              <a:t>Gastcollege</a:t>
            </a:r>
            <a:endParaRPr lang="en-US" sz="1000" dirty="0"/>
          </a:p>
          <a:p>
            <a:pPr marL="0" indent="0" algn="ctr">
              <a:buNone/>
            </a:pPr>
            <a:r>
              <a:rPr lang="en-US" sz="1000" dirty="0">
                <a:solidFill>
                  <a:srgbClr val="0C2C6B"/>
                </a:solidFill>
              </a:rPr>
              <a:t>+ officiële bronnen</a:t>
            </a:r>
            <a:endParaRPr lang="en-US" sz="1000" dirty="0"/>
          </a:p>
          <a:p>
            <a:pPr marL="0" indent="0" algn="ctr">
              <a:buNone/>
            </a:pPr>
            <a:r>
              <a:rPr lang="en-US" sz="1000" dirty="0">
                <a:solidFill>
                  <a:srgbClr val="0C2C6B"/>
                </a:solidFill>
              </a:rPr>
              <a:t>(NCSC / ENISA / UK NCSC)</a:t>
            </a:r>
            <a:endParaRPr lang="en-US" sz="1000" dirty="0"/>
          </a:p>
        </p:txBody>
      </p:sp>
      <p:sp>
        <p:nvSpPr>
          <p:cNvPr id="20" name="Shape 18"/>
          <p:cNvSpPr/>
          <p:nvPr/>
        </p:nvSpPr>
        <p:spPr>
          <a:xfrm>
            <a:off x="7607808" y="1645920"/>
            <a:ext cx="1737360" cy="1353312"/>
          </a:xfrm>
          <a:prstGeom prst="roundRect">
            <a:avLst>
              <a:gd name="adj" fmla="val 5405"/>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21" name="Text 19"/>
          <p:cNvSpPr/>
          <p:nvPr/>
        </p:nvSpPr>
        <p:spPr>
          <a:xfrm>
            <a:off x="7918704" y="1920240"/>
            <a:ext cx="1316736" cy="201168"/>
          </a:xfrm>
          <a:prstGeom prst="rect">
            <a:avLst/>
          </a:prstGeom>
          <a:noFill/>
          <a:ln/>
        </p:spPr>
        <p:txBody>
          <a:bodyPr wrap="square" lIns="0" tIns="0" rIns="0" bIns="0" rtlCol="0" anchor="ctr"/>
          <a:lstStyle/>
          <a:p>
            <a:pPr marL="0" indent="0" algn="ctr">
              <a:buNone/>
            </a:pPr>
            <a:r>
              <a:rPr lang="en-US" sz="1470" b="1" dirty="0">
                <a:solidFill>
                  <a:srgbClr val="0C2C6B"/>
                </a:solidFill>
                <a:latin typeface="Aptos Display" pitchFamily="34" charset="0"/>
                <a:ea typeface="Aptos Display" pitchFamily="34" charset="-122"/>
                <a:cs typeface="Aptos Display" pitchFamily="34" charset="-120"/>
              </a:rPr>
              <a:t>Eigen script</a:t>
            </a:r>
            <a:endParaRPr lang="en-US" sz="1470" dirty="0"/>
          </a:p>
        </p:txBody>
      </p:sp>
      <p:sp>
        <p:nvSpPr>
          <p:cNvPr id="22" name="Text 20"/>
          <p:cNvSpPr/>
          <p:nvPr/>
        </p:nvSpPr>
        <p:spPr>
          <a:xfrm>
            <a:off x="7754112" y="2414016"/>
            <a:ext cx="1481328" cy="347472"/>
          </a:xfrm>
          <a:prstGeom prst="rect">
            <a:avLst/>
          </a:prstGeom>
          <a:noFill/>
          <a:ln/>
        </p:spPr>
        <p:txBody>
          <a:bodyPr wrap="square" lIns="127" tIns="127" rIns="127" bIns="127" rtlCol="0" anchor="ctr"/>
          <a:lstStyle/>
          <a:p>
            <a:pPr marL="0" indent="0" algn="ctr">
              <a:buNone/>
            </a:pPr>
            <a:r>
              <a:rPr lang="en-US" sz="1000" dirty="0">
                <a:solidFill>
                  <a:srgbClr val="0C2C6B"/>
                </a:solidFill>
              </a:rPr>
              <a:t>CSV-bestanden en</a:t>
            </a:r>
            <a:endParaRPr lang="en-US" sz="1000" dirty="0"/>
          </a:p>
          <a:p>
            <a:pPr marL="0" indent="0" algn="ctr">
              <a:buNone/>
            </a:pPr>
            <a:r>
              <a:rPr lang="en-US" sz="1000" dirty="0">
                <a:solidFill>
                  <a:srgbClr val="0C2C6B"/>
                </a:solidFill>
              </a:rPr>
              <a:t>anomaly-script voor</a:t>
            </a:r>
            <a:endParaRPr lang="en-US" sz="1000" dirty="0"/>
          </a:p>
          <a:p>
            <a:pPr marL="0" indent="0" algn="ctr">
              <a:buNone/>
            </a:pPr>
            <a:r>
              <a:rPr lang="en-US" sz="1000" dirty="0">
                <a:solidFill>
                  <a:srgbClr val="0C2C6B"/>
                </a:solidFill>
              </a:rPr>
              <a:t>patronen en datakwaliteit</a:t>
            </a:r>
            <a:endParaRPr lang="en-US" sz="1000" dirty="0"/>
          </a:p>
        </p:txBody>
      </p:sp>
      <p:sp>
        <p:nvSpPr>
          <p:cNvPr id="23" name="Shape 21"/>
          <p:cNvSpPr/>
          <p:nvPr/>
        </p:nvSpPr>
        <p:spPr>
          <a:xfrm>
            <a:off x="9774936" y="1645920"/>
            <a:ext cx="1737360" cy="1353312"/>
          </a:xfrm>
          <a:prstGeom prst="roundRect">
            <a:avLst>
              <a:gd name="adj" fmla="val 5405"/>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24" name="Text 22"/>
          <p:cNvSpPr/>
          <p:nvPr/>
        </p:nvSpPr>
        <p:spPr>
          <a:xfrm>
            <a:off x="10085832" y="1920240"/>
            <a:ext cx="1316736" cy="201168"/>
          </a:xfrm>
          <a:prstGeom prst="rect">
            <a:avLst/>
          </a:prstGeom>
          <a:noFill/>
          <a:ln/>
        </p:spPr>
        <p:txBody>
          <a:bodyPr wrap="square" lIns="0" tIns="0" rIns="0" bIns="0" rtlCol="0" anchor="ctr"/>
          <a:lstStyle/>
          <a:p>
            <a:pPr marL="0" indent="0" algn="ctr">
              <a:buNone/>
            </a:pPr>
            <a:r>
              <a:rPr lang="en-US" sz="1470" b="1" dirty="0">
                <a:solidFill>
                  <a:srgbClr val="0C2C6B"/>
                </a:solidFill>
                <a:latin typeface="Aptos Display" pitchFamily="34" charset="0"/>
                <a:ea typeface="Aptos Display" pitchFamily="34" charset="-122"/>
                <a:cs typeface="Aptos Display" pitchFamily="34" charset="-120"/>
              </a:rPr>
              <a:t>Duiding</a:t>
            </a:r>
            <a:endParaRPr lang="en-US" sz="1470" dirty="0"/>
          </a:p>
        </p:txBody>
      </p:sp>
      <p:sp>
        <p:nvSpPr>
          <p:cNvPr id="25" name="Text 23"/>
          <p:cNvSpPr/>
          <p:nvPr/>
        </p:nvSpPr>
        <p:spPr>
          <a:xfrm>
            <a:off x="9921240" y="2414016"/>
            <a:ext cx="1481328" cy="347472"/>
          </a:xfrm>
          <a:prstGeom prst="rect">
            <a:avLst/>
          </a:prstGeom>
          <a:noFill/>
          <a:ln/>
        </p:spPr>
        <p:txBody>
          <a:bodyPr wrap="square" lIns="127" tIns="127" rIns="127" bIns="127" rtlCol="0" anchor="ctr"/>
          <a:lstStyle/>
          <a:p>
            <a:pPr marL="0" indent="0" algn="ctr">
              <a:buNone/>
            </a:pPr>
            <a:r>
              <a:rPr lang="en-US" sz="1000" dirty="0">
                <a:solidFill>
                  <a:srgbClr val="0C2C6B"/>
                </a:solidFill>
              </a:rPr>
              <a:t>Conclusies voor</a:t>
            </a:r>
            <a:endParaRPr lang="en-US" sz="1000" dirty="0"/>
          </a:p>
          <a:p>
            <a:pPr marL="0" indent="0" algn="ctr">
              <a:buNone/>
            </a:pPr>
            <a:r>
              <a:rPr lang="en-US" sz="1000" dirty="0">
                <a:solidFill>
                  <a:srgbClr val="0C2C6B"/>
                </a:solidFill>
              </a:rPr>
              <a:t>doelwitten, methode</a:t>
            </a:r>
            <a:endParaRPr lang="en-US" sz="1000" dirty="0"/>
          </a:p>
          <a:p>
            <a:pPr marL="0" indent="0" algn="ctr">
              <a:buNone/>
            </a:pPr>
            <a:r>
              <a:rPr lang="en-US" sz="1000" dirty="0">
                <a:solidFill>
                  <a:srgbClr val="0C2C6B"/>
                </a:solidFill>
              </a:rPr>
              <a:t>en relevantie voor NL</a:t>
            </a:r>
            <a:endParaRPr lang="en-US" sz="1000" dirty="0"/>
          </a:p>
        </p:txBody>
      </p:sp>
      <p:sp>
        <p:nvSpPr>
          <p:cNvPr id="26" name="Shape 24"/>
          <p:cNvSpPr/>
          <p:nvPr/>
        </p:nvSpPr>
        <p:spPr>
          <a:xfrm>
            <a:off x="5413248" y="3328416"/>
            <a:ext cx="6053328" cy="2084832"/>
          </a:xfrm>
          <a:prstGeom prst="roundRect">
            <a:avLst>
              <a:gd name="adj" fmla="val 3509"/>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27" name="Text 25"/>
          <p:cNvSpPr/>
          <p:nvPr/>
        </p:nvSpPr>
        <p:spPr>
          <a:xfrm>
            <a:off x="5650992" y="3611880"/>
            <a:ext cx="356616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deze presentatie beter laat zien</a:t>
            </a:r>
            <a:endParaRPr lang="en-US" sz="1650" dirty="0"/>
          </a:p>
        </p:txBody>
      </p:sp>
      <p:sp>
        <p:nvSpPr>
          <p:cNvPr id="28" name="Text 26"/>
          <p:cNvSpPr/>
          <p:nvPr/>
        </p:nvSpPr>
        <p:spPr>
          <a:xfrm>
            <a:off x="5650992" y="3959352"/>
            <a:ext cx="164592" cy="228600"/>
          </a:xfrm>
          <a:prstGeom prst="rect">
            <a:avLst/>
          </a:prstGeom>
          <a:noFill/>
          <a:ln/>
        </p:spPr>
        <p:txBody>
          <a:bodyPr wrap="square" lIns="0" tIns="0" rIns="0" bIns="0" rtlCol="0" anchor="ctr"/>
          <a:lstStyle/>
          <a:p>
            <a:pPr marL="0" indent="0">
              <a:buNone/>
            </a:pPr>
            <a:r>
              <a:rPr lang="en-US" sz="1630" b="1" dirty="0">
                <a:solidFill>
                  <a:srgbClr val="F2C54B"/>
                </a:solidFill>
                <a:latin typeface="Aptos" pitchFamily="34" charset="0"/>
                <a:ea typeface="Aptos" pitchFamily="34" charset="-122"/>
                <a:cs typeface="Aptos" pitchFamily="34" charset="-120"/>
              </a:rPr>
              <a:t>•</a:t>
            </a:r>
            <a:endParaRPr lang="en-US" sz="1630" dirty="0"/>
          </a:p>
        </p:txBody>
      </p:sp>
      <p:sp>
        <p:nvSpPr>
          <p:cNvPr id="29" name="Text 27"/>
          <p:cNvSpPr/>
          <p:nvPr/>
        </p:nvSpPr>
        <p:spPr>
          <a:xfrm>
            <a:off x="5852160" y="3968496"/>
            <a:ext cx="5276088" cy="374904"/>
          </a:xfrm>
          <a:prstGeom prst="rect">
            <a:avLst/>
          </a:prstGeom>
          <a:noFill/>
          <a:ln/>
        </p:spPr>
        <p:txBody>
          <a:bodyPr wrap="square" rtlCol="0" anchor="t"/>
          <a:lstStyle/>
          <a:p>
            <a:pPr marL="0" indent="0">
              <a:buNone/>
            </a:pPr>
            <a:r>
              <a:rPr lang="en-US" sz="1530" dirty="0">
                <a:solidFill>
                  <a:srgbClr val="0C2C6B"/>
                </a:solidFill>
                <a:latin typeface="Aptos" pitchFamily="34" charset="0"/>
                <a:ea typeface="Aptos" pitchFamily="34" charset="-122"/>
                <a:cs typeface="Aptos" pitchFamily="34" charset="-120"/>
              </a:rPr>
              <a:t>Niet alleen de theorie, maar ook wat onze eigen dataset wél en níet laat zien.</a:t>
            </a:r>
            <a:endParaRPr lang="en-US" sz="1530" dirty="0"/>
          </a:p>
        </p:txBody>
      </p:sp>
      <p:sp>
        <p:nvSpPr>
          <p:cNvPr id="30" name="Text 28"/>
          <p:cNvSpPr/>
          <p:nvPr/>
        </p:nvSpPr>
        <p:spPr>
          <a:xfrm>
            <a:off x="5650992" y="4443984"/>
            <a:ext cx="164592" cy="228600"/>
          </a:xfrm>
          <a:prstGeom prst="rect">
            <a:avLst/>
          </a:prstGeom>
          <a:noFill/>
          <a:ln/>
        </p:spPr>
        <p:txBody>
          <a:bodyPr wrap="square" lIns="0" tIns="0" rIns="0" bIns="0" rtlCol="0" anchor="ctr"/>
          <a:lstStyle/>
          <a:p>
            <a:pPr marL="0" indent="0">
              <a:buNone/>
            </a:pPr>
            <a:r>
              <a:rPr lang="en-US" sz="1630" b="1" dirty="0">
                <a:solidFill>
                  <a:srgbClr val="F2C54B"/>
                </a:solidFill>
                <a:latin typeface="Aptos" pitchFamily="34" charset="0"/>
                <a:ea typeface="Aptos" pitchFamily="34" charset="-122"/>
                <a:cs typeface="Aptos" pitchFamily="34" charset="-120"/>
              </a:rPr>
              <a:t>•</a:t>
            </a:r>
            <a:endParaRPr lang="en-US" sz="1630" dirty="0"/>
          </a:p>
        </p:txBody>
      </p:sp>
      <p:sp>
        <p:nvSpPr>
          <p:cNvPr id="31" name="Text 29"/>
          <p:cNvSpPr/>
          <p:nvPr/>
        </p:nvSpPr>
        <p:spPr>
          <a:xfrm>
            <a:off x="5852160" y="4453128"/>
            <a:ext cx="5276088" cy="374904"/>
          </a:xfrm>
          <a:prstGeom prst="rect">
            <a:avLst/>
          </a:prstGeom>
          <a:noFill/>
          <a:ln/>
        </p:spPr>
        <p:txBody>
          <a:bodyPr wrap="square" rtlCol="0" anchor="t"/>
          <a:lstStyle/>
          <a:p>
            <a:pPr marL="0" indent="0">
              <a:buNone/>
            </a:pPr>
            <a:r>
              <a:rPr lang="en-US" sz="1530" dirty="0">
                <a:solidFill>
                  <a:srgbClr val="0C2C6B"/>
                </a:solidFill>
                <a:latin typeface="Aptos" pitchFamily="34" charset="0"/>
                <a:ea typeface="Aptos" pitchFamily="34" charset="-122"/>
                <a:cs typeface="Aptos" pitchFamily="34" charset="-120"/>
              </a:rPr>
              <a:t>Datakwaliteit apart benoemd: ontbrekende velden beïnvloeden wat je kunt concluderen.</a:t>
            </a:r>
            <a:endParaRPr lang="en-US" sz="1530" dirty="0"/>
          </a:p>
        </p:txBody>
      </p:sp>
      <p:sp>
        <p:nvSpPr>
          <p:cNvPr id="32" name="Text 30"/>
          <p:cNvSpPr/>
          <p:nvPr/>
        </p:nvSpPr>
        <p:spPr>
          <a:xfrm>
            <a:off x="5650992" y="4928616"/>
            <a:ext cx="164592" cy="228600"/>
          </a:xfrm>
          <a:prstGeom prst="rect">
            <a:avLst/>
          </a:prstGeom>
          <a:noFill/>
          <a:ln/>
        </p:spPr>
        <p:txBody>
          <a:bodyPr wrap="square" lIns="0" tIns="0" rIns="0" bIns="0" rtlCol="0" anchor="ctr"/>
          <a:lstStyle/>
          <a:p>
            <a:pPr marL="0" indent="0">
              <a:buNone/>
            </a:pPr>
            <a:r>
              <a:rPr lang="en-US" sz="1630" b="1" dirty="0">
                <a:solidFill>
                  <a:srgbClr val="F2C54B"/>
                </a:solidFill>
                <a:latin typeface="Aptos" pitchFamily="34" charset="0"/>
                <a:ea typeface="Aptos" pitchFamily="34" charset="-122"/>
                <a:cs typeface="Aptos" pitchFamily="34" charset="-120"/>
              </a:rPr>
              <a:t>•</a:t>
            </a:r>
            <a:endParaRPr lang="en-US" sz="1630" dirty="0"/>
          </a:p>
        </p:txBody>
      </p:sp>
      <p:sp>
        <p:nvSpPr>
          <p:cNvPr id="33" name="Text 31"/>
          <p:cNvSpPr/>
          <p:nvPr/>
        </p:nvSpPr>
        <p:spPr>
          <a:xfrm>
            <a:off x="5852160" y="4937760"/>
            <a:ext cx="5276088" cy="374904"/>
          </a:xfrm>
          <a:prstGeom prst="rect">
            <a:avLst/>
          </a:prstGeom>
          <a:noFill/>
          <a:ln/>
        </p:spPr>
        <p:txBody>
          <a:bodyPr wrap="square" rtlCol="0" anchor="t"/>
          <a:lstStyle/>
          <a:p>
            <a:pPr marL="0" indent="0">
              <a:buNone/>
            </a:pPr>
            <a:r>
              <a:rPr lang="en-US" sz="1530" dirty="0">
                <a:solidFill>
                  <a:srgbClr val="0C2C6B"/>
                </a:solidFill>
                <a:latin typeface="Aptos" pitchFamily="34" charset="0"/>
                <a:ea typeface="Aptos" pitchFamily="34" charset="-122"/>
                <a:cs typeface="Aptos" pitchFamily="34" charset="-120"/>
              </a:rPr>
              <a:t>Bronnen en TLP-status expliciet opgenomen.</a:t>
            </a:r>
            <a:endParaRPr lang="en-US" sz="1530" dirty="0"/>
          </a:p>
        </p:txBody>
      </p:sp>
      <p:sp>
        <p:nvSpPr>
          <p:cNvPr id="34"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2</a:t>
            </a:fld>
            <a:endParaRPr lang="en-US"/>
          </a:p>
        </p:txBody>
      </p:sp>
      <p:sp>
        <p:nvSpPr>
          <p:cNvPr id="37" name="Rechthoek 36">
            <a:extLst>
              <a:ext uri="{FF2B5EF4-FFF2-40B4-BE49-F238E27FC236}">
                <a16:creationId xmlns:a16="http://schemas.microsoft.com/office/drawing/2014/main" id="{2A8EC242-030E-BB58-FA7B-89791D565F8A}"/>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42" name="Afbeelding 41">
            <a:extLst>
              <a:ext uri="{FF2B5EF4-FFF2-40B4-BE49-F238E27FC236}">
                <a16:creationId xmlns:a16="http://schemas.microsoft.com/office/drawing/2014/main" id="{0BB6B3D2-D3EE-22C5-0770-2AB0F5017694}"/>
              </a:ext>
            </a:extLst>
          </p:cNvPr>
          <p:cNvPicPr>
            <a:picLocks noChangeAspect="1"/>
          </p:cNvPicPr>
          <p:nvPr/>
        </p:nvPicPr>
        <p:blipFill>
          <a:blip r:embed="rId3"/>
          <a:stretch>
            <a:fillRect/>
          </a:stretch>
        </p:blipFill>
        <p:spPr>
          <a:xfrm>
            <a:off x="10636690" y="-32419"/>
            <a:ext cx="1469413" cy="146941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Motivatie en werkwijze</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Wat we uit openbare bronnen met redelijke zekerheid kunnen zeggen</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Actorprofiel</a:t>
            </a:r>
            <a:endParaRPr lang="en-US" sz="960" dirty="0"/>
          </a:p>
        </p:txBody>
      </p:sp>
      <p:sp>
        <p:nvSpPr>
          <p:cNvPr id="5" name="Shape 3"/>
          <p:cNvSpPr/>
          <p:nvPr/>
        </p:nvSpPr>
        <p:spPr>
          <a:xfrm>
            <a:off x="621792" y="1234440"/>
            <a:ext cx="5577840" cy="4480560"/>
          </a:xfrm>
          <a:prstGeom prst="roundRect">
            <a:avLst>
              <a:gd name="adj" fmla="val 1633"/>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68680" y="1527048"/>
            <a:ext cx="347472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Kernbeeld van de actor</a:t>
            </a:r>
            <a:endParaRPr lang="en-US" sz="1650" dirty="0"/>
          </a:p>
        </p:txBody>
      </p:sp>
      <p:sp>
        <p:nvSpPr>
          <p:cNvPr id="7" name="Text 5"/>
          <p:cNvSpPr/>
          <p:nvPr/>
        </p:nvSpPr>
        <p:spPr>
          <a:xfrm>
            <a:off x="868680" y="1847088"/>
            <a:ext cx="164592" cy="228600"/>
          </a:xfrm>
          <a:prstGeom prst="rect">
            <a:avLst/>
          </a:prstGeom>
          <a:noFill/>
          <a:ln/>
        </p:spPr>
        <p:txBody>
          <a:bodyPr wrap="square" lIns="0" tIns="0" rIns="0" bIns="0" rtlCol="0" anchor="ctr"/>
          <a:lstStyle/>
          <a:p>
            <a:pPr marL="0" indent="0">
              <a:buNone/>
            </a:pPr>
            <a:r>
              <a:rPr lang="en-US" sz="1530" b="1" dirty="0">
                <a:solidFill>
                  <a:srgbClr val="F2C54B"/>
                </a:solidFill>
                <a:latin typeface="Aptos" pitchFamily="34" charset="0"/>
                <a:ea typeface="Aptos" pitchFamily="34" charset="-122"/>
                <a:cs typeface="Aptos" pitchFamily="34" charset="-120"/>
              </a:rPr>
              <a:t>•</a:t>
            </a:r>
            <a:endParaRPr lang="en-US" sz="1530" dirty="0"/>
          </a:p>
        </p:txBody>
      </p:sp>
      <p:sp>
        <p:nvSpPr>
          <p:cNvPr id="8" name="Text 6"/>
          <p:cNvSpPr/>
          <p:nvPr/>
        </p:nvSpPr>
        <p:spPr>
          <a:xfrm>
            <a:off x="1069848" y="1856232"/>
            <a:ext cx="4864608" cy="374904"/>
          </a:xfrm>
          <a:prstGeom prst="rect">
            <a:avLst/>
          </a:prstGeom>
          <a:noFill/>
          <a:ln/>
        </p:spPr>
        <p:txBody>
          <a:bodyPr wrap="square" rtlCol="0" anchor="t"/>
          <a:lstStyle/>
          <a:p>
            <a:pPr marL="0" indent="0">
              <a:buNone/>
            </a:pPr>
            <a:r>
              <a:rPr lang="en-US" sz="1430" dirty="0">
                <a:solidFill>
                  <a:srgbClr val="0C2C6B"/>
                </a:solidFill>
                <a:latin typeface="Aptos" pitchFamily="34" charset="0"/>
                <a:ea typeface="Aptos" pitchFamily="34" charset="-122"/>
                <a:cs typeface="Aptos" pitchFamily="34" charset="-120"/>
              </a:rPr>
              <a:t>Officiële bronnen typeren NoName057(16) als een pro-Russische hacktivistische groep.</a:t>
            </a:r>
            <a:endParaRPr lang="en-US" sz="1430" dirty="0"/>
          </a:p>
        </p:txBody>
      </p:sp>
      <p:sp>
        <p:nvSpPr>
          <p:cNvPr id="9" name="Text 7"/>
          <p:cNvSpPr/>
          <p:nvPr/>
        </p:nvSpPr>
        <p:spPr>
          <a:xfrm>
            <a:off x="868680" y="2313432"/>
            <a:ext cx="164592" cy="228600"/>
          </a:xfrm>
          <a:prstGeom prst="rect">
            <a:avLst/>
          </a:prstGeom>
          <a:noFill/>
          <a:ln/>
        </p:spPr>
        <p:txBody>
          <a:bodyPr wrap="square" lIns="0" tIns="0" rIns="0" bIns="0" rtlCol="0" anchor="ctr"/>
          <a:lstStyle/>
          <a:p>
            <a:pPr marL="0" indent="0">
              <a:buNone/>
            </a:pPr>
            <a:r>
              <a:rPr lang="en-US" sz="1530" b="1" dirty="0">
                <a:solidFill>
                  <a:srgbClr val="F2C54B"/>
                </a:solidFill>
                <a:latin typeface="Aptos" pitchFamily="34" charset="0"/>
                <a:ea typeface="Aptos" pitchFamily="34" charset="-122"/>
                <a:cs typeface="Aptos" pitchFamily="34" charset="-120"/>
              </a:rPr>
              <a:t>•</a:t>
            </a:r>
            <a:endParaRPr lang="en-US" sz="1530" dirty="0"/>
          </a:p>
        </p:txBody>
      </p:sp>
      <p:sp>
        <p:nvSpPr>
          <p:cNvPr id="10" name="Text 8"/>
          <p:cNvSpPr/>
          <p:nvPr/>
        </p:nvSpPr>
        <p:spPr>
          <a:xfrm>
            <a:off x="1069848" y="2322576"/>
            <a:ext cx="4864608" cy="374904"/>
          </a:xfrm>
          <a:prstGeom prst="rect">
            <a:avLst/>
          </a:prstGeom>
          <a:noFill/>
          <a:ln/>
        </p:spPr>
        <p:txBody>
          <a:bodyPr wrap="square" rtlCol="0" anchor="t"/>
          <a:lstStyle/>
          <a:p>
            <a:pPr marL="0" indent="0">
              <a:buNone/>
            </a:pPr>
            <a:r>
              <a:rPr lang="en-US" sz="1430" dirty="0">
                <a:solidFill>
                  <a:srgbClr val="0C2C6B"/>
                </a:solidFill>
                <a:latin typeface="Aptos" pitchFamily="34" charset="0"/>
                <a:ea typeface="Aptos" pitchFamily="34" charset="-122"/>
                <a:cs typeface="Aptos" pitchFamily="34" charset="-120"/>
              </a:rPr>
              <a:t>Motivatie: ideologisch en geopolitiek; druk zetten op landen en organisaties die tegen Russische belangen ingaan.</a:t>
            </a:r>
            <a:endParaRPr lang="en-US" sz="1430" dirty="0"/>
          </a:p>
        </p:txBody>
      </p:sp>
      <p:sp>
        <p:nvSpPr>
          <p:cNvPr id="11" name="Text 9"/>
          <p:cNvSpPr/>
          <p:nvPr/>
        </p:nvSpPr>
        <p:spPr>
          <a:xfrm>
            <a:off x="868680" y="2779776"/>
            <a:ext cx="164592" cy="228600"/>
          </a:xfrm>
          <a:prstGeom prst="rect">
            <a:avLst/>
          </a:prstGeom>
          <a:noFill/>
          <a:ln/>
        </p:spPr>
        <p:txBody>
          <a:bodyPr wrap="square" lIns="0" tIns="0" rIns="0" bIns="0" rtlCol="0" anchor="ctr"/>
          <a:lstStyle/>
          <a:p>
            <a:pPr marL="0" indent="0">
              <a:buNone/>
            </a:pPr>
            <a:r>
              <a:rPr lang="en-US" sz="1530" b="1" dirty="0">
                <a:solidFill>
                  <a:srgbClr val="F2C54B"/>
                </a:solidFill>
                <a:latin typeface="Aptos" pitchFamily="34" charset="0"/>
                <a:ea typeface="Aptos" pitchFamily="34" charset="-122"/>
                <a:cs typeface="Aptos" pitchFamily="34" charset="-120"/>
              </a:rPr>
              <a:t>•</a:t>
            </a:r>
            <a:endParaRPr lang="en-US" sz="1530" dirty="0"/>
          </a:p>
        </p:txBody>
      </p:sp>
      <p:sp>
        <p:nvSpPr>
          <p:cNvPr id="12" name="Text 10"/>
          <p:cNvSpPr/>
          <p:nvPr/>
        </p:nvSpPr>
        <p:spPr>
          <a:xfrm>
            <a:off x="1069848" y="2788920"/>
            <a:ext cx="4864608" cy="374904"/>
          </a:xfrm>
          <a:prstGeom prst="rect">
            <a:avLst/>
          </a:prstGeom>
          <a:noFill/>
          <a:ln/>
        </p:spPr>
        <p:txBody>
          <a:bodyPr wrap="square" rtlCol="0" anchor="t"/>
          <a:lstStyle/>
          <a:p>
            <a:pPr marL="0" indent="0">
              <a:buNone/>
            </a:pPr>
            <a:r>
              <a:rPr lang="en-US" sz="1430" dirty="0">
                <a:solidFill>
                  <a:srgbClr val="0C2C6B"/>
                </a:solidFill>
                <a:latin typeface="Aptos" pitchFamily="34" charset="0"/>
                <a:ea typeface="Aptos" pitchFamily="34" charset="-122"/>
                <a:cs typeface="Aptos" pitchFamily="34" charset="-120"/>
              </a:rPr>
              <a:t>Doel: zichtbare verstoring en propaganda-effect, niet financieel gewin.</a:t>
            </a:r>
            <a:endParaRPr lang="en-US" sz="1430" dirty="0"/>
          </a:p>
        </p:txBody>
      </p:sp>
      <p:sp>
        <p:nvSpPr>
          <p:cNvPr id="13" name="Shape 11"/>
          <p:cNvSpPr/>
          <p:nvPr/>
        </p:nvSpPr>
        <p:spPr>
          <a:xfrm>
            <a:off x="6455664" y="1234440"/>
            <a:ext cx="5102352" cy="1298448"/>
          </a:xfrm>
          <a:prstGeom prst="roundRect">
            <a:avLst>
              <a:gd name="adj" fmla="val 5634"/>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14" name="Text 12"/>
          <p:cNvSpPr/>
          <p:nvPr/>
        </p:nvSpPr>
        <p:spPr>
          <a:xfrm>
            <a:off x="6693408" y="1490472"/>
            <a:ext cx="29260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Met redelijke zekerheid</a:t>
            </a:r>
            <a:endParaRPr lang="en-US" sz="1650" dirty="0"/>
          </a:p>
        </p:txBody>
      </p:sp>
      <p:sp>
        <p:nvSpPr>
          <p:cNvPr id="15" name="Text 13"/>
          <p:cNvSpPr/>
          <p:nvPr/>
        </p:nvSpPr>
        <p:spPr>
          <a:xfrm>
            <a:off x="6693408" y="1810512"/>
            <a:ext cx="4617720" cy="502920"/>
          </a:xfrm>
          <a:prstGeom prst="rect">
            <a:avLst/>
          </a:prstGeom>
          <a:noFill/>
          <a:ln/>
        </p:spPr>
        <p:txBody>
          <a:bodyPr wrap="square" lIns="0" tIns="0" rIns="0" bIns="0" rtlCol="0" anchor="ctr"/>
          <a:lstStyle/>
          <a:p>
            <a:pPr marL="0" indent="0">
              <a:buNone/>
            </a:pPr>
            <a:r>
              <a:rPr lang="en-US" sz="1460" dirty="0">
                <a:solidFill>
                  <a:srgbClr val="0C2C6B"/>
                </a:solidFill>
                <a:latin typeface="Aptos" pitchFamily="34" charset="0"/>
                <a:ea typeface="Aptos" pitchFamily="34" charset="-122"/>
                <a:cs typeface="Aptos" pitchFamily="34" charset="-120"/>
              </a:rPr>
              <a:t>Openbare rapportages leggen de nadruk op DDoS en ontregeling van websites en online diensten.</a:t>
            </a:r>
            <a:endParaRPr lang="en-US" sz="1460" dirty="0"/>
          </a:p>
        </p:txBody>
      </p:sp>
      <p:sp>
        <p:nvSpPr>
          <p:cNvPr id="16" name="Shape 14"/>
          <p:cNvSpPr/>
          <p:nvPr/>
        </p:nvSpPr>
        <p:spPr>
          <a:xfrm>
            <a:off x="6455664" y="2715768"/>
            <a:ext cx="5102352" cy="1325880"/>
          </a:xfrm>
          <a:prstGeom prst="roundRect">
            <a:avLst>
              <a:gd name="adj" fmla="val 5517"/>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17" name="Text 15"/>
          <p:cNvSpPr/>
          <p:nvPr/>
        </p:nvSpPr>
        <p:spPr>
          <a:xfrm>
            <a:off x="6693408" y="2980944"/>
            <a:ext cx="301752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Met nuance formuleren</a:t>
            </a:r>
            <a:endParaRPr lang="en-US" sz="1650" dirty="0"/>
          </a:p>
        </p:txBody>
      </p:sp>
      <p:sp>
        <p:nvSpPr>
          <p:cNvPr id="18" name="Text 16"/>
          <p:cNvSpPr/>
          <p:nvPr/>
        </p:nvSpPr>
        <p:spPr>
          <a:xfrm>
            <a:off x="6693408" y="3300984"/>
            <a:ext cx="4526280" cy="512064"/>
          </a:xfrm>
          <a:prstGeom prst="rect">
            <a:avLst/>
          </a:prstGeom>
          <a:noFill/>
          <a:ln/>
        </p:spPr>
        <p:txBody>
          <a:bodyPr wrap="square" lIns="0" tIns="0" rIns="0" bIns="0" rtlCol="0" anchor="ctr"/>
          <a:lstStyle/>
          <a:p>
            <a:pPr marL="0" indent="0">
              <a:buNone/>
            </a:pPr>
            <a:r>
              <a:rPr lang="en-US" sz="1450" dirty="0">
                <a:solidFill>
                  <a:srgbClr val="0C2C6B"/>
                </a:solidFill>
                <a:latin typeface="Aptos" pitchFamily="34" charset="0"/>
                <a:ea typeface="Aptos" pitchFamily="34" charset="-122"/>
                <a:cs typeface="Aptos" pitchFamily="34" charset="-120"/>
              </a:rPr>
              <a:t>Het sterkste antwoord is dus: “vooral DDoS”, in plaats van stellig te zeggen dat de groep uitsluitend DDoS gebruikt.</a:t>
            </a:r>
            <a:endParaRPr lang="en-US" sz="1450" dirty="0"/>
          </a:p>
        </p:txBody>
      </p:sp>
      <p:sp>
        <p:nvSpPr>
          <p:cNvPr id="19" name="Shape 17"/>
          <p:cNvSpPr/>
          <p:nvPr/>
        </p:nvSpPr>
        <p:spPr>
          <a:xfrm>
            <a:off x="6455664" y="4224528"/>
            <a:ext cx="5102352" cy="1490472"/>
          </a:xfrm>
          <a:prstGeom prst="roundRect">
            <a:avLst>
              <a:gd name="adj" fmla="val 4908"/>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20" name="Text 18"/>
          <p:cNvSpPr/>
          <p:nvPr/>
        </p:nvSpPr>
        <p:spPr>
          <a:xfrm>
            <a:off x="6693408" y="4498848"/>
            <a:ext cx="310896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Handig voor de presentatie</a:t>
            </a:r>
            <a:endParaRPr lang="en-US" sz="1650" dirty="0"/>
          </a:p>
        </p:txBody>
      </p:sp>
      <p:sp>
        <p:nvSpPr>
          <p:cNvPr id="21" name="Text 19"/>
          <p:cNvSpPr/>
          <p:nvPr/>
        </p:nvSpPr>
        <p:spPr>
          <a:xfrm>
            <a:off x="6693408" y="4873752"/>
            <a:ext cx="4572000" cy="411480"/>
          </a:xfrm>
          <a:prstGeom prst="rect">
            <a:avLst/>
          </a:prstGeom>
          <a:noFill/>
          <a:ln/>
        </p:spPr>
        <p:txBody>
          <a:bodyPr wrap="square" lIns="127" tIns="127" rIns="127" bIns="127" rtlCol="0" anchor="ctr"/>
          <a:lstStyle/>
          <a:p>
            <a:pPr marL="0" indent="0" algn="l">
              <a:buNone/>
            </a:pPr>
            <a:r>
              <a:rPr lang="en-US" sz="1320" dirty="0">
                <a:solidFill>
                  <a:srgbClr val="0C2C6B"/>
                </a:solidFill>
                <a:latin typeface="Aptos" pitchFamily="34" charset="0"/>
                <a:ea typeface="Aptos" pitchFamily="34" charset="-122"/>
                <a:cs typeface="Aptos" pitchFamily="34" charset="-120"/>
              </a:rPr>
              <a:t>Pro-Russisch • Hacktivistisch • Vooral verstoring via DDoS</a:t>
            </a:r>
            <a:endParaRPr lang="en-US" sz="132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3</a:t>
            </a:fld>
            <a:endParaRPr lang="en-US"/>
          </a:p>
        </p:txBody>
      </p:sp>
      <p:sp>
        <p:nvSpPr>
          <p:cNvPr id="22" name="Rechthoek 21">
            <a:extLst>
              <a:ext uri="{FF2B5EF4-FFF2-40B4-BE49-F238E27FC236}">
                <a16:creationId xmlns:a16="http://schemas.microsoft.com/office/drawing/2014/main" id="{5B989F70-E411-C655-94C8-F45B4A1FDC0B}"/>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3" name="Afbeelding 22">
            <a:extLst>
              <a:ext uri="{FF2B5EF4-FFF2-40B4-BE49-F238E27FC236}">
                <a16:creationId xmlns:a16="http://schemas.microsoft.com/office/drawing/2014/main" id="{D45290FE-20CD-58A2-62F0-ED2A27BFE02A}"/>
              </a:ext>
            </a:extLst>
          </p:cNvPr>
          <p:cNvPicPr>
            <a:picLocks noChangeAspect="1"/>
          </p:cNvPicPr>
          <p:nvPr/>
        </p:nvPicPr>
        <p:blipFill>
          <a:blip r:embed="rId3"/>
          <a:stretch>
            <a:fillRect/>
          </a:stretch>
        </p:blipFill>
        <p:spPr>
          <a:xfrm>
            <a:off x="10636690" y="-32419"/>
            <a:ext cx="1469413" cy="1469413"/>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Doelwitten en landen</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Openbare bronnen + patroon in de hostnamen uit onze dataset</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Targets</a:t>
            </a:r>
            <a:endParaRPr lang="en-US" sz="960" dirty="0"/>
          </a:p>
        </p:txBody>
      </p:sp>
      <p:sp>
        <p:nvSpPr>
          <p:cNvPr id="5" name="Shape 3"/>
          <p:cNvSpPr/>
          <p:nvPr/>
        </p:nvSpPr>
        <p:spPr>
          <a:xfrm>
            <a:off x="621792" y="1243584"/>
            <a:ext cx="3886200" cy="1938528"/>
          </a:xfrm>
          <a:prstGeom prst="roundRect">
            <a:avLst>
              <a:gd name="adj" fmla="val 3774"/>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68680" y="1517904"/>
            <a:ext cx="274320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wordt vaak aangevallen?</a:t>
            </a:r>
            <a:endParaRPr lang="en-US" sz="1650" dirty="0"/>
          </a:p>
        </p:txBody>
      </p:sp>
      <p:sp>
        <p:nvSpPr>
          <p:cNvPr id="7" name="Text 5"/>
          <p:cNvSpPr/>
          <p:nvPr/>
        </p:nvSpPr>
        <p:spPr>
          <a:xfrm>
            <a:off x="868680" y="1819656"/>
            <a:ext cx="164592" cy="228600"/>
          </a:xfrm>
          <a:prstGeom prst="rect">
            <a:avLst/>
          </a:prstGeom>
          <a:noFill/>
          <a:ln/>
        </p:spPr>
        <p:txBody>
          <a:bodyPr wrap="square" lIns="0" tIns="0" rIns="0" bIns="0" rtlCol="0" anchor="ctr"/>
          <a:lstStyle/>
          <a:p>
            <a:pPr marL="0" indent="0">
              <a:buNone/>
            </a:pPr>
            <a:r>
              <a:rPr lang="en-US" sz="1560" b="1" dirty="0">
                <a:solidFill>
                  <a:srgbClr val="F2C54B"/>
                </a:solidFill>
                <a:latin typeface="Aptos" pitchFamily="34" charset="0"/>
                <a:ea typeface="Aptos" pitchFamily="34" charset="-122"/>
                <a:cs typeface="Aptos" pitchFamily="34" charset="-120"/>
              </a:rPr>
              <a:t>•</a:t>
            </a:r>
            <a:endParaRPr lang="en-US" sz="1560" dirty="0"/>
          </a:p>
        </p:txBody>
      </p:sp>
      <p:sp>
        <p:nvSpPr>
          <p:cNvPr id="8" name="Text 6"/>
          <p:cNvSpPr/>
          <p:nvPr/>
        </p:nvSpPr>
        <p:spPr>
          <a:xfrm>
            <a:off x="1069848" y="1828800"/>
            <a:ext cx="3172968" cy="374904"/>
          </a:xfrm>
          <a:prstGeom prst="rect">
            <a:avLst/>
          </a:prstGeom>
          <a:noFill/>
          <a:ln/>
        </p:spPr>
        <p:txBody>
          <a:bodyPr wrap="square" rtlCol="0" anchor="t"/>
          <a:lstStyle/>
          <a:p>
            <a:pPr marL="0" indent="0">
              <a:buNone/>
            </a:pPr>
            <a:r>
              <a:rPr lang="en-US" sz="1460" dirty="0">
                <a:solidFill>
                  <a:srgbClr val="0C2C6B"/>
                </a:solidFill>
                <a:latin typeface="Aptos" pitchFamily="34" charset="0"/>
                <a:ea typeface="Aptos" pitchFamily="34" charset="-122"/>
                <a:cs typeface="Aptos" pitchFamily="34" charset="-120"/>
              </a:rPr>
              <a:t>Overheden, gemeenten en andere publieke organisaties</a:t>
            </a:r>
            <a:endParaRPr lang="en-US" sz="1460" dirty="0"/>
          </a:p>
        </p:txBody>
      </p:sp>
      <p:sp>
        <p:nvSpPr>
          <p:cNvPr id="9" name="Text 7"/>
          <p:cNvSpPr/>
          <p:nvPr/>
        </p:nvSpPr>
        <p:spPr>
          <a:xfrm>
            <a:off x="868680" y="2267712"/>
            <a:ext cx="164592" cy="228600"/>
          </a:xfrm>
          <a:prstGeom prst="rect">
            <a:avLst/>
          </a:prstGeom>
          <a:noFill/>
          <a:ln/>
        </p:spPr>
        <p:txBody>
          <a:bodyPr wrap="square" lIns="0" tIns="0" rIns="0" bIns="0" rtlCol="0" anchor="ctr"/>
          <a:lstStyle/>
          <a:p>
            <a:pPr marL="0" indent="0">
              <a:buNone/>
            </a:pPr>
            <a:r>
              <a:rPr lang="en-US" sz="1560" b="1" dirty="0">
                <a:solidFill>
                  <a:srgbClr val="F2C54B"/>
                </a:solidFill>
                <a:latin typeface="Aptos" pitchFamily="34" charset="0"/>
                <a:ea typeface="Aptos" pitchFamily="34" charset="-122"/>
                <a:cs typeface="Aptos" pitchFamily="34" charset="-120"/>
              </a:rPr>
              <a:t>•</a:t>
            </a:r>
            <a:endParaRPr lang="en-US" sz="1560" dirty="0"/>
          </a:p>
        </p:txBody>
      </p:sp>
      <p:sp>
        <p:nvSpPr>
          <p:cNvPr id="10" name="Text 8"/>
          <p:cNvSpPr/>
          <p:nvPr/>
        </p:nvSpPr>
        <p:spPr>
          <a:xfrm>
            <a:off x="1069848" y="2276856"/>
            <a:ext cx="3172968" cy="374904"/>
          </a:xfrm>
          <a:prstGeom prst="rect">
            <a:avLst/>
          </a:prstGeom>
          <a:noFill/>
          <a:ln/>
        </p:spPr>
        <p:txBody>
          <a:bodyPr wrap="square" rtlCol="0" anchor="t"/>
          <a:lstStyle/>
          <a:p>
            <a:pPr marL="0" indent="0">
              <a:buNone/>
            </a:pPr>
            <a:r>
              <a:rPr lang="en-US" sz="1460" dirty="0">
                <a:solidFill>
                  <a:srgbClr val="0C2C6B"/>
                </a:solidFill>
                <a:latin typeface="Aptos" pitchFamily="34" charset="0"/>
                <a:ea typeface="Aptos" pitchFamily="34" charset="-122"/>
                <a:cs typeface="Aptos" pitchFamily="34" charset="-120"/>
              </a:rPr>
              <a:t>Politiek zichtbare websites en publieke dienstverlening</a:t>
            </a:r>
            <a:endParaRPr lang="en-US" sz="1460" dirty="0"/>
          </a:p>
        </p:txBody>
      </p:sp>
      <p:sp>
        <p:nvSpPr>
          <p:cNvPr id="11" name="Text 9"/>
          <p:cNvSpPr/>
          <p:nvPr/>
        </p:nvSpPr>
        <p:spPr>
          <a:xfrm>
            <a:off x="868680" y="2715768"/>
            <a:ext cx="164592" cy="228600"/>
          </a:xfrm>
          <a:prstGeom prst="rect">
            <a:avLst/>
          </a:prstGeom>
          <a:noFill/>
          <a:ln/>
        </p:spPr>
        <p:txBody>
          <a:bodyPr wrap="square" lIns="0" tIns="0" rIns="0" bIns="0" rtlCol="0" anchor="ctr"/>
          <a:lstStyle/>
          <a:p>
            <a:pPr marL="0" indent="0">
              <a:buNone/>
            </a:pPr>
            <a:r>
              <a:rPr lang="en-US" sz="1560" b="1" dirty="0">
                <a:solidFill>
                  <a:srgbClr val="F2C54B"/>
                </a:solidFill>
                <a:latin typeface="Aptos" pitchFamily="34" charset="0"/>
                <a:ea typeface="Aptos" pitchFamily="34" charset="-122"/>
                <a:cs typeface="Aptos" pitchFamily="34" charset="-120"/>
              </a:rPr>
              <a:t>•</a:t>
            </a:r>
            <a:endParaRPr lang="en-US" sz="1560" dirty="0"/>
          </a:p>
        </p:txBody>
      </p:sp>
      <p:sp>
        <p:nvSpPr>
          <p:cNvPr id="12" name="Text 10"/>
          <p:cNvSpPr/>
          <p:nvPr/>
        </p:nvSpPr>
        <p:spPr>
          <a:xfrm>
            <a:off x="1069848" y="2724912"/>
            <a:ext cx="3172968" cy="374904"/>
          </a:xfrm>
          <a:prstGeom prst="rect">
            <a:avLst/>
          </a:prstGeom>
          <a:noFill/>
          <a:ln/>
        </p:spPr>
        <p:txBody>
          <a:bodyPr wrap="square" rtlCol="0" anchor="t"/>
          <a:lstStyle/>
          <a:p>
            <a:pPr marL="0" indent="0">
              <a:buNone/>
            </a:pPr>
            <a:r>
              <a:rPr lang="en-US" sz="1460" dirty="0">
                <a:solidFill>
                  <a:srgbClr val="0C2C6B"/>
                </a:solidFill>
                <a:latin typeface="Aptos" pitchFamily="34" charset="0"/>
                <a:ea typeface="Aptos" pitchFamily="34" charset="-122"/>
                <a:cs typeface="Aptos" pitchFamily="34" charset="-120"/>
              </a:rPr>
              <a:t>Bij actuele gebeurtenissen ook sectoren als vervoer</a:t>
            </a:r>
            <a:endParaRPr lang="en-US" sz="1460" dirty="0"/>
          </a:p>
        </p:txBody>
      </p:sp>
      <p:sp>
        <p:nvSpPr>
          <p:cNvPr id="13" name="Shape 11"/>
          <p:cNvSpPr/>
          <p:nvPr/>
        </p:nvSpPr>
        <p:spPr>
          <a:xfrm>
            <a:off x="621792" y="3364992"/>
            <a:ext cx="3886200" cy="2148840"/>
          </a:xfrm>
          <a:prstGeom prst="roundRect">
            <a:avLst>
              <a:gd name="adj" fmla="val 3404"/>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14" name="Text 12"/>
          <p:cNvSpPr/>
          <p:nvPr/>
        </p:nvSpPr>
        <p:spPr>
          <a:xfrm>
            <a:off x="868680" y="3639312"/>
            <a:ext cx="29260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Waarom juist deze doelwitten?</a:t>
            </a:r>
            <a:endParaRPr lang="en-US" sz="1650" dirty="0"/>
          </a:p>
        </p:txBody>
      </p:sp>
      <p:sp>
        <p:nvSpPr>
          <p:cNvPr id="15" name="Text 13"/>
          <p:cNvSpPr/>
          <p:nvPr/>
        </p:nvSpPr>
        <p:spPr>
          <a:xfrm>
            <a:off x="868680" y="3941064"/>
            <a:ext cx="164592" cy="228600"/>
          </a:xfrm>
          <a:prstGeom prst="rect">
            <a:avLst/>
          </a:prstGeom>
          <a:noFill/>
          <a:ln/>
        </p:spPr>
        <p:txBody>
          <a:bodyPr wrap="square" lIns="0" tIns="0" rIns="0" bIns="0" rtlCol="0" anchor="ctr"/>
          <a:lstStyle/>
          <a:p>
            <a:pPr marL="0" indent="0">
              <a:buNone/>
            </a:pPr>
            <a:r>
              <a:rPr lang="en-US" sz="1530" b="1" dirty="0">
                <a:solidFill>
                  <a:srgbClr val="F2C54B"/>
                </a:solidFill>
                <a:latin typeface="Aptos" pitchFamily="34" charset="0"/>
                <a:ea typeface="Aptos" pitchFamily="34" charset="-122"/>
                <a:cs typeface="Aptos" pitchFamily="34" charset="-120"/>
              </a:rPr>
              <a:t>•</a:t>
            </a:r>
            <a:endParaRPr lang="en-US" sz="1530" dirty="0"/>
          </a:p>
        </p:txBody>
      </p:sp>
      <p:sp>
        <p:nvSpPr>
          <p:cNvPr id="16" name="Text 14"/>
          <p:cNvSpPr/>
          <p:nvPr/>
        </p:nvSpPr>
        <p:spPr>
          <a:xfrm>
            <a:off x="1069848" y="3950208"/>
            <a:ext cx="3218688" cy="374904"/>
          </a:xfrm>
          <a:prstGeom prst="rect">
            <a:avLst/>
          </a:prstGeom>
          <a:noFill/>
          <a:ln/>
        </p:spPr>
        <p:txBody>
          <a:bodyPr wrap="square" rtlCol="0" anchor="t"/>
          <a:lstStyle/>
          <a:p>
            <a:pPr marL="0" indent="0">
              <a:buNone/>
            </a:pPr>
            <a:r>
              <a:rPr lang="en-US" sz="1430" dirty="0">
                <a:solidFill>
                  <a:srgbClr val="0C2C6B"/>
                </a:solidFill>
                <a:latin typeface="Aptos" pitchFamily="34" charset="0"/>
                <a:ea typeface="Aptos" pitchFamily="34" charset="-122"/>
                <a:cs typeface="Aptos" pitchFamily="34" charset="-120"/>
              </a:rPr>
              <a:t>Hoge zichtbaarheid en symbolische waarde</a:t>
            </a:r>
            <a:endParaRPr lang="en-US" sz="1430" dirty="0"/>
          </a:p>
        </p:txBody>
      </p:sp>
      <p:sp>
        <p:nvSpPr>
          <p:cNvPr id="17" name="Text 15"/>
          <p:cNvSpPr/>
          <p:nvPr/>
        </p:nvSpPr>
        <p:spPr>
          <a:xfrm>
            <a:off x="868680" y="4389120"/>
            <a:ext cx="164592" cy="228600"/>
          </a:xfrm>
          <a:prstGeom prst="rect">
            <a:avLst/>
          </a:prstGeom>
          <a:noFill/>
          <a:ln/>
        </p:spPr>
        <p:txBody>
          <a:bodyPr wrap="square" lIns="0" tIns="0" rIns="0" bIns="0" rtlCol="0" anchor="ctr"/>
          <a:lstStyle/>
          <a:p>
            <a:pPr marL="0" indent="0">
              <a:buNone/>
            </a:pPr>
            <a:r>
              <a:rPr lang="en-US" sz="1530" b="1" dirty="0">
                <a:solidFill>
                  <a:srgbClr val="F2C54B"/>
                </a:solidFill>
                <a:latin typeface="Aptos" pitchFamily="34" charset="0"/>
                <a:ea typeface="Aptos" pitchFamily="34" charset="-122"/>
                <a:cs typeface="Aptos" pitchFamily="34" charset="-120"/>
              </a:rPr>
              <a:t>•</a:t>
            </a:r>
            <a:endParaRPr lang="en-US" sz="1530" dirty="0"/>
          </a:p>
        </p:txBody>
      </p:sp>
      <p:sp>
        <p:nvSpPr>
          <p:cNvPr id="18" name="Text 16"/>
          <p:cNvSpPr/>
          <p:nvPr/>
        </p:nvSpPr>
        <p:spPr>
          <a:xfrm>
            <a:off x="1069848" y="4398264"/>
            <a:ext cx="3218688" cy="374904"/>
          </a:xfrm>
          <a:prstGeom prst="rect">
            <a:avLst/>
          </a:prstGeom>
          <a:noFill/>
          <a:ln/>
        </p:spPr>
        <p:txBody>
          <a:bodyPr wrap="square" rtlCol="0" anchor="t"/>
          <a:lstStyle/>
          <a:p>
            <a:pPr marL="0" indent="0">
              <a:buNone/>
            </a:pPr>
            <a:r>
              <a:rPr lang="en-US" sz="1430" dirty="0">
                <a:solidFill>
                  <a:srgbClr val="0C2C6B"/>
                </a:solidFill>
                <a:latin typeface="Aptos" pitchFamily="34" charset="0"/>
                <a:ea typeface="Aptos" pitchFamily="34" charset="-122"/>
                <a:cs typeface="Aptos" pitchFamily="34" charset="-120"/>
              </a:rPr>
              <a:t>Beperkte technische drempel: korte verstoring is al “zichtbaar succes”</a:t>
            </a:r>
            <a:endParaRPr lang="en-US" sz="1430" dirty="0"/>
          </a:p>
        </p:txBody>
      </p:sp>
      <p:sp>
        <p:nvSpPr>
          <p:cNvPr id="19" name="Text 17"/>
          <p:cNvSpPr/>
          <p:nvPr/>
        </p:nvSpPr>
        <p:spPr>
          <a:xfrm>
            <a:off x="868680" y="4837176"/>
            <a:ext cx="164592" cy="228600"/>
          </a:xfrm>
          <a:prstGeom prst="rect">
            <a:avLst/>
          </a:prstGeom>
          <a:noFill/>
          <a:ln/>
        </p:spPr>
        <p:txBody>
          <a:bodyPr wrap="square" lIns="0" tIns="0" rIns="0" bIns="0" rtlCol="0" anchor="ctr"/>
          <a:lstStyle/>
          <a:p>
            <a:pPr marL="0" indent="0">
              <a:buNone/>
            </a:pPr>
            <a:r>
              <a:rPr lang="en-US" sz="1530" b="1" dirty="0">
                <a:solidFill>
                  <a:srgbClr val="F2C54B"/>
                </a:solidFill>
                <a:latin typeface="Aptos" pitchFamily="34" charset="0"/>
                <a:ea typeface="Aptos" pitchFamily="34" charset="-122"/>
                <a:cs typeface="Aptos" pitchFamily="34" charset="-120"/>
              </a:rPr>
              <a:t>•</a:t>
            </a:r>
            <a:endParaRPr lang="en-US" sz="1530" dirty="0"/>
          </a:p>
        </p:txBody>
      </p:sp>
      <p:sp>
        <p:nvSpPr>
          <p:cNvPr id="20" name="Text 18"/>
          <p:cNvSpPr/>
          <p:nvPr/>
        </p:nvSpPr>
        <p:spPr>
          <a:xfrm>
            <a:off x="1069848" y="4846320"/>
            <a:ext cx="3218688" cy="374904"/>
          </a:xfrm>
          <a:prstGeom prst="rect">
            <a:avLst/>
          </a:prstGeom>
          <a:noFill/>
          <a:ln/>
        </p:spPr>
        <p:txBody>
          <a:bodyPr wrap="square" rtlCol="0" anchor="t"/>
          <a:lstStyle/>
          <a:p>
            <a:pPr marL="0" indent="0">
              <a:buNone/>
            </a:pPr>
            <a:r>
              <a:rPr lang="en-US" sz="1430" dirty="0">
                <a:solidFill>
                  <a:srgbClr val="0C2C6B"/>
                </a:solidFill>
                <a:latin typeface="Aptos" pitchFamily="34" charset="0"/>
                <a:ea typeface="Aptos" pitchFamily="34" charset="-122"/>
                <a:cs typeface="Aptos" pitchFamily="34" charset="-120"/>
              </a:rPr>
              <a:t>Past goed bij geopolitieke druk en online propaganda</a:t>
            </a:r>
            <a:endParaRPr lang="en-US" sz="1430" dirty="0"/>
          </a:p>
        </p:txBody>
      </p:sp>
      <p:sp>
        <p:nvSpPr>
          <p:cNvPr id="21" name="Shape 19"/>
          <p:cNvSpPr/>
          <p:nvPr/>
        </p:nvSpPr>
        <p:spPr>
          <a:xfrm>
            <a:off x="4736592" y="1243584"/>
            <a:ext cx="6729984" cy="4270248"/>
          </a:xfrm>
          <a:prstGeom prst="roundRect">
            <a:avLst>
              <a:gd name="adj" fmla="val 1713"/>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22" name="Text 20"/>
          <p:cNvSpPr/>
          <p:nvPr/>
        </p:nvSpPr>
        <p:spPr>
          <a:xfrm>
            <a:off x="4974336" y="1517904"/>
            <a:ext cx="320040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onze data hieraan toevoegt</a:t>
            </a:r>
            <a:endParaRPr lang="en-US" sz="1650" dirty="0"/>
          </a:p>
        </p:txBody>
      </p:sp>
      <p:pic>
        <p:nvPicPr>
          <p:cNvPr id="23" name="Image 0" descr="/mnt/data/ws31_assets/top_cctld.png"/>
          <p:cNvPicPr>
            <a:picLocks noChangeAspect="1"/>
          </p:cNvPicPr>
          <p:nvPr/>
        </p:nvPicPr>
        <p:blipFill>
          <a:blip r:embed="rId3"/>
          <a:stretch>
            <a:fillRect/>
          </a:stretch>
        </p:blipFill>
        <p:spPr>
          <a:xfrm>
            <a:off x="4983480" y="2009394"/>
            <a:ext cx="4160520" cy="2674620"/>
          </a:xfrm>
          <a:prstGeom prst="rect">
            <a:avLst/>
          </a:prstGeom>
        </p:spPr>
      </p:pic>
      <p:sp>
        <p:nvSpPr>
          <p:cNvPr id="24" name="Text 21"/>
          <p:cNvSpPr/>
          <p:nvPr/>
        </p:nvSpPr>
        <p:spPr>
          <a:xfrm>
            <a:off x="9217152" y="1874520"/>
            <a:ext cx="2011680" cy="2706624"/>
          </a:xfrm>
          <a:prstGeom prst="rect">
            <a:avLst/>
          </a:prstGeom>
          <a:noFill/>
          <a:ln/>
        </p:spPr>
        <p:txBody>
          <a:bodyPr wrap="square" lIns="254" tIns="254" rIns="254" bIns="254" rtlCol="0" anchor="ctr"/>
          <a:lstStyle/>
          <a:p>
            <a:pPr marL="0" indent="0">
              <a:buNone/>
            </a:pPr>
            <a:r>
              <a:rPr lang="en-US" sz="1310" dirty="0">
                <a:solidFill>
                  <a:srgbClr val="0C2C6B"/>
                </a:solidFill>
                <a:latin typeface="Aptos" pitchFamily="34" charset="0"/>
                <a:ea typeface="Aptos" pitchFamily="34" charset="-122"/>
                <a:cs typeface="Aptos" pitchFamily="34" charset="-120"/>
              </a:rPr>
              <a:t>In de top-hostnamen zien we vooral .ua, .de, .it, .lt, .pl, .be, .fr en .es. Dat ondersteunt het beeld van een breed Europees doelwittenpatroon.</a:t>
            </a:r>
            <a:endParaRPr lang="en-US" sz="1310" dirty="0"/>
          </a:p>
          <a:p>
            <a:pPr marL="0" indent="0">
              <a:buNone/>
            </a:pPr>
            <a:endParaRPr lang="en-US" sz="1310" dirty="0"/>
          </a:p>
          <a:p>
            <a:pPr marL="0" indent="0">
              <a:buNone/>
            </a:pPr>
            <a:r>
              <a:rPr lang="en-US" sz="1310" dirty="0">
                <a:solidFill>
                  <a:srgbClr val="0C2C6B"/>
                </a:solidFill>
                <a:latin typeface="Aptos" pitchFamily="34" charset="0"/>
                <a:ea typeface="Aptos" pitchFamily="34" charset="-122"/>
                <a:cs typeface="Aptos" pitchFamily="34" charset="-120"/>
              </a:rPr>
              <a:t>Let op: dit is een indicatie op basis van hostnamen in de dataset, geen volledige slachtoffercensus.</a:t>
            </a:r>
            <a:endParaRPr lang="en-US" sz="131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4</a:t>
            </a:fld>
            <a:endParaRPr lang="en-US"/>
          </a:p>
        </p:txBody>
      </p:sp>
      <p:sp>
        <p:nvSpPr>
          <p:cNvPr id="26" name="Rechthoek 25">
            <a:extLst>
              <a:ext uri="{FF2B5EF4-FFF2-40B4-BE49-F238E27FC236}">
                <a16:creationId xmlns:a16="http://schemas.microsoft.com/office/drawing/2014/main" id="{C0CD4047-CB5F-825D-28E4-84623F6A02BA}"/>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7" name="Afbeelding 26">
            <a:extLst>
              <a:ext uri="{FF2B5EF4-FFF2-40B4-BE49-F238E27FC236}">
                <a16:creationId xmlns:a16="http://schemas.microsoft.com/office/drawing/2014/main" id="{E051AA6A-9B07-4AC0-898C-7FF3C278EF38}"/>
              </a:ext>
            </a:extLst>
          </p:cNvPr>
          <p:cNvPicPr>
            <a:picLocks noChangeAspect="1"/>
          </p:cNvPicPr>
          <p:nvPr/>
        </p:nvPicPr>
        <p:blipFill>
          <a:blip r:embed="rId4"/>
          <a:stretch>
            <a:fillRect/>
          </a:stretch>
        </p:blipFill>
        <p:spPr>
          <a:xfrm>
            <a:off x="10636690" y="-32419"/>
            <a:ext cx="1469413" cy="146941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Wat is relevant voor Nederland?</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Nederland is onderdeel van een breder Europees patroon</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Nederland</a:t>
            </a:r>
            <a:endParaRPr lang="en-US" sz="960" dirty="0"/>
          </a:p>
        </p:txBody>
      </p:sp>
      <p:sp>
        <p:nvSpPr>
          <p:cNvPr id="5" name="Shape 3"/>
          <p:cNvSpPr/>
          <p:nvPr/>
        </p:nvSpPr>
        <p:spPr>
          <a:xfrm>
            <a:off x="621792" y="1371600"/>
            <a:ext cx="4069080" cy="969264"/>
          </a:xfrm>
          <a:prstGeom prst="roundRect">
            <a:avLst>
              <a:gd name="adj" fmla="val 7547"/>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68680" y="1527048"/>
            <a:ext cx="960120" cy="182880"/>
          </a:xfrm>
          <a:prstGeom prst="rect">
            <a:avLst/>
          </a:prstGeom>
          <a:noFill/>
          <a:ln/>
        </p:spPr>
        <p:txBody>
          <a:bodyPr wrap="square" lIns="0" tIns="0" rIns="0" bIns="0" rtlCol="0" anchor="ctr"/>
          <a:lstStyle/>
          <a:p>
            <a:pPr marL="0" indent="0">
              <a:buNone/>
            </a:pPr>
            <a:r>
              <a:rPr lang="en-US" sz="1180" b="1" dirty="0">
                <a:solidFill>
                  <a:srgbClr val="F2C54B"/>
                </a:solidFill>
                <a:latin typeface="Aptos" pitchFamily="34" charset="0"/>
                <a:ea typeface="Aptos" pitchFamily="34" charset="-122"/>
                <a:cs typeface="Aptos" pitchFamily="34" charset="-120"/>
              </a:rPr>
              <a:t>23 juni 2025</a:t>
            </a:r>
            <a:endParaRPr lang="en-US" sz="1180" dirty="0"/>
          </a:p>
        </p:txBody>
      </p:sp>
      <p:sp>
        <p:nvSpPr>
          <p:cNvPr id="7" name="Text 5"/>
          <p:cNvSpPr/>
          <p:nvPr/>
        </p:nvSpPr>
        <p:spPr>
          <a:xfrm>
            <a:off x="868680" y="1737360"/>
            <a:ext cx="3584448" cy="384048"/>
          </a:xfrm>
          <a:prstGeom prst="rect">
            <a:avLst/>
          </a:prstGeom>
          <a:noFill/>
          <a:ln/>
        </p:spPr>
        <p:txBody>
          <a:bodyPr wrap="square" lIns="0" tIns="0" rIns="0" bIns="0" rtlCol="0" anchor="ctr"/>
          <a:lstStyle/>
          <a:p>
            <a:pPr marL="0" indent="0">
              <a:buNone/>
            </a:pPr>
            <a:r>
              <a:rPr lang="en-US" sz="1100" dirty="0">
                <a:solidFill>
                  <a:srgbClr val="0C2C6B"/>
                </a:solidFill>
              </a:rPr>
              <a:t>NCSC waarschuwt voor DDoS-aanvallen rondom de NAVO-top en koppelt meerdere claims aan NoName057(16).</a:t>
            </a:r>
            <a:endParaRPr lang="en-US" sz="1100" dirty="0"/>
          </a:p>
        </p:txBody>
      </p:sp>
      <p:sp>
        <p:nvSpPr>
          <p:cNvPr id="8" name="Shape 6"/>
          <p:cNvSpPr/>
          <p:nvPr/>
        </p:nvSpPr>
        <p:spPr>
          <a:xfrm>
            <a:off x="621792" y="2468880"/>
            <a:ext cx="4069080" cy="969264"/>
          </a:xfrm>
          <a:prstGeom prst="roundRect">
            <a:avLst>
              <a:gd name="adj" fmla="val 7547"/>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9" name="Text 7"/>
          <p:cNvSpPr/>
          <p:nvPr/>
        </p:nvSpPr>
        <p:spPr>
          <a:xfrm>
            <a:off x="868680" y="2624328"/>
            <a:ext cx="960120" cy="182880"/>
          </a:xfrm>
          <a:prstGeom prst="rect">
            <a:avLst/>
          </a:prstGeom>
          <a:noFill/>
          <a:ln/>
        </p:spPr>
        <p:txBody>
          <a:bodyPr wrap="square" lIns="0" tIns="0" rIns="0" bIns="0" rtlCol="0" anchor="ctr"/>
          <a:lstStyle/>
          <a:p>
            <a:pPr marL="0" indent="0">
              <a:buNone/>
            </a:pPr>
            <a:r>
              <a:rPr lang="en-US" sz="1180" b="1" dirty="0">
                <a:solidFill>
                  <a:srgbClr val="F2C54B"/>
                </a:solidFill>
                <a:latin typeface="Aptos" pitchFamily="34" charset="0"/>
                <a:ea typeface="Aptos" pitchFamily="34" charset="-122"/>
                <a:cs typeface="Aptos" pitchFamily="34" charset="-120"/>
              </a:rPr>
              <a:t>24 juni 2025</a:t>
            </a:r>
            <a:endParaRPr lang="en-US" sz="1180" dirty="0"/>
          </a:p>
        </p:txBody>
      </p:sp>
      <p:sp>
        <p:nvSpPr>
          <p:cNvPr id="10" name="Text 8"/>
          <p:cNvSpPr/>
          <p:nvPr/>
        </p:nvSpPr>
        <p:spPr>
          <a:xfrm>
            <a:off x="868680" y="2834640"/>
            <a:ext cx="3584448" cy="384048"/>
          </a:xfrm>
          <a:prstGeom prst="rect">
            <a:avLst/>
          </a:prstGeom>
          <a:noFill/>
          <a:ln/>
        </p:spPr>
        <p:txBody>
          <a:bodyPr wrap="square" lIns="0" tIns="0" rIns="0" bIns="0" rtlCol="0" anchor="ctr"/>
          <a:lstStyle/>
          <a:p>
            <a:pPr marL="0" indent="0">
              <a:buNone/>
            </a:pPr>
            <a:r>
              <a:rPr lang="en-US" sz="1100" dirty="0">
                <a:solidFill>
                  <a:srgbClr val="0C2C6B"/>
                </a:solidFill>
              </a:rPr>
              <a:t>Opnieuw Nederlandse organisaties geraakt; de impact blijft beperkt, maar de timing is duidelijk symbolisch.</a:t>
            </a:r>
            <a:endParaRPr lang="en-US" sz="1100" dirty="0"/>
          </a:p>
        </p:txBody>
      </p:sp>
      <p:sp>
        <p:nvSpPr>
          <p:cNvPr id="11" name="Shape 9"/>
          <p:cNvSpPr/>
          <p:nvPr/>
        </p:nvSpPr>
        <p:spPr>
          <a:xfrm>
            <a:off x="621792" y="3566160"/>
            <a:ext cx="4069080" cy="969264"/>
          </a:xfrm>
          <a:prstGeom prst="roundRect">
            <a:avLst>
              <a:gd name="adj" fmla="val 7547"/>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12" name="Text 10"/>
          <p:cNvSpPr/>
          <p:nvPr/>
        </p:nvSpPr>
        <p:spPr>
          <a:xfrm>
            <a:off x="868680" y="3721608"/>
            <a:ext cx="960120" cy="182880"/>
          </a:xfrm>
          <a:prstGeom prst="rect">
            <a:avLst/>
          </a:prstGeom>
          <a:noFill/>
          <a:ln/>
        </p:spPr>
        <p:txBody>
          <a:bodyPr wrap="square" lIns="0" tIns="0" rIns="0" bIns="0" rtlCol="0" anchor="ctr"/>
          <a:lstStyle/>
          <a:p>
            <a:pPr marL="0" indent="0">
              <a:buNone/>
            </a:pPr>
            <a:r>
              <a:rPr lang="en-US" sz="1180" b="1" dirty="0">
                <a:solidFill>
                  <a:srgbClr val="F2C54B"/>
                </a:solidFill>
                <a:latin typeface="Aptos" pitchFamily="34" charset="0"/>
                <a:ea typeface="Aptos" pitchFamily="34" charset="-122"/>
                <a:cs typeface="Aptos" pitchFamily="34" charset="-120"/>
              </a:rPr>
              <a:t>25 juni 2025</a:t>
            </a:r>
            <a:endParaRPr lang="en-US" sz="1180" dirty="0"/>
          </a:p>
        </p:txBody>
      </p:sp>
      <p:sp>
        <p:nvSpPr>
          <p:cNvPr id="13" name="Text 11"/>
          <p:cNvSpPr/>
          <p:nvPr/>
        </p:nvSpPr>
        <p:spPr>
          <a:xfrm>
            <a:off x="868680" y="3931920"/>
            <a:ext cx="3584448" cy="384048"/>
          </a:xfrm>
          <a:prstGeom prst="rect">
            <a:avLst/>
          </a:prstGeom>
          <a:noFill/>
          <a:ln/>
        </p:spPr>
        <p:txBody>
          <a:bodyPr wrap="square" lIns="0" tIns="0" rIns="0" bIns="0" rtlCol="0" anchor="ctr"/>
          <a:lstStyle/>
          <a:p>
            <a:pPr marL="0" indent="0">
              <a:buNone/>
            </a:pPr>
            <a:r>
              <a:rPr lang="en-US" sz="1100" dirty="0">
                <a:solidFill>
                  <a:srgbClr val="0C2C6B"/>
                </a:solidFill>
              </a:rPr>
              <a:t>Ook de vervoerssector komt nadrukkelijker in beeld als doelwit.</a:t>
            </a:r>
            <a:endParaRPr lang="en-US" sz="1100" dirty="0"/>
          </a:p>
        </p:txBody>
      </p:sp>
      <p:sp>
        <p:nvSpPr>
          <p:cNvPr id="14" name="Shape 12"/>
          <p:cNvSpPr/>
          <p:nvPr/>
        </p:nvSpPr>
        <p:spPr>
          <a:xfrm>
            <a:off x="4956048" y="1371600"/>
            <a:ext cx="6510528" cy="1828800"/>
          </a:xfrm>
          <a:prstGeom prst="roundRect">
            <a:avLst>
              <a:gd name="adj" fmla="val 4000"/>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15" name="Text 13"/>
          <p:cNvSpPr/>
          <p:nvPr/>
        </p:nvSpPr>
        <p:spPr>
          <a:xfrm>
            <a:off x="5193792" y="1645920"/>
            <a:ext cx="329184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Waarom niet alleen naar NL kijken?</a:t>
            </a:r>
            <a:endParaRPr lang="en-US" sz="1650" dirty="0"/>
          </a:p>
        </p:txBody>
      </p:sp>
      <p:sp>
        <p:nvSpPr>
          <p:cNvPr id="16" name="Text 14"/>
          <p:cNvSpPr/>
          <p:nvPr/>
        </p:nvSpPr>
        <p:spPr>
          <a:xfrm>
            <a:off x="5193792" y="1993392"/>
            <a:ext cx="5779008" cy="841248"/>
          </a:xfrm>
          <a:prstGeom prst="rect">
            <a:avLst/>
          </a:prstGeom>
          <a:noFill/>
          <a:ln/>
        </p:spPr>
        <p:txBody>
          <a:bodyPr wrap="square" lIns="127" tIns="127" rIns="127" bIns="127" rtlCol="0" anchor="ctr"/>
          <a:lstStyle/>
          <a:p>
            <a:pPr marL="0" indent="0">
              <a:buNone/>
            </a:pPr>
            <a:r>
              <a:rPr lang="en-US" sz="1390" dirty="0">
                <a:solidFill>
                  <a:srgbClr val="0C2C6B"/>
                </a:solidFill>
                <a:latin typeface="Aptos" pitchFamily="34" charset="0"/>
                <a:ea typeface="Aptos" pitchFamily="34" charset="-122"/>
                <a:cs typeface="Aptos" pitchFamily="34" charset="-120"/>
              </a:rPr>
              <a:t>• Nederland moet je lezen in EU- en NAVO-context.</a:t>
            </a:r>
            <a:endParaRPr lang="en-US" sz="1390" dirty="0"/>
          </a:p>
          <a:p>
            <a:pPr marL="0" indent="0">
              <a:buNone/>
            </a:pPr>
            <a:r>
              <a:rPr lang="en-US" sz="1390" dirty="0">
                <a:solidFill>
                  <a:srgbClr val="0C2C6B"/>
                </a:solidFill>
                <a:latin typeface="Aptos" pitchFamily="34" charset="0"/>
                <a:ea typeface="Aptos" pitchFamily="34" charset="-122"/>
                <a:cs typeface="Aptos" pitchFamily="34" charset="-120"/>
              </a:rPr>
              <a:t>• Dezelfde actor kiest ook elders publieke en symbolische doelwitten.</a:t>
            </a:r>
            <a:endParaRPr lang="en-US" sz="1390" dirty="0"/>
          </a:p>
          <a:p>
            <a:pPr marL="0" indent="0">
              <a:buNone/>
            </a:pPr>
            <a:r>
              <a:rPr lang="en-US" sz="1390" dirty="0">
                <a:solidFill>
                  <a:srgbClr val="0C2C6B"/>
                </a:solidFill>
                <a:latin typeface="Aptos" pitchFamily="34" charset="0"/>
                <a:ea typeface="Aptos" pitchFamily="34" charset="-122"/>
                <a:cs typeface="Aptos" pitchFamily="34" charset="-120"/>
              </a:rPr>
              <a:t>• Dat maakt de dreiging voor Nederland beter voorspelbaar.</a:t>
            </a:r>
            <a:endParaRPr lang="en-US" sz="1390" dirty="0"/>
          </a:p>
        </p:txBody>
      </p:sp>
      <p:sp>
        <p:nvSpPr>
          <p:cNvPr id="17" name="Shape 15"/>
          <p:cNvSpPr/>
          <p:nvPr/>
        </p:nvSpPr>
        <p:spPr>
          <a:xfrm>
            <a:off x="4956048" y="3456432"/>
            <a:ext cx="6510528" cy="2048256"/>
          </a:xfrm>
          <a:prstGeom prst="roundRect">
            <a:avLst>
              <a:gd name="adj" fmla="val 3571"/>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18" name="Text 16"/>
          <p:cNvSpPr/>
          <p:nvPr/>
        </p:nvSpPr>
        <p:spPr>
          <a:xfrm>
            <a:off x="5193792" y="3730752"/>
            <a:ext cx="283464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Kort antwoord voor de docent</a:t>
            </a:r>
            <a:endParaRPr lang="en-US" sz="1650" dirty="0"/>
          </a:p>
        </p:txBody>
      </p:sp>
      <p:sp>
        <p:nvSpPr>
          <p:cNvPr id="19" name="Text 17"/>
          <p:cNvSpPr/>
          <p:nvPr/>
        </p:nvSpPr>
        <p:spPr>
          <a:xfrm>
            <a:off x="5193792" y="4069080"/>
            <a:ext cx="5897880" cy="859536"/>
          </a:xfrm>
          <a:prstGeom prst="rect">
            <a:avLst/>
          </a:prstGeom>
          <a:noFill/>
          <a:ln/>
        </p:spPr>
        <p:txBody>
          <a:bodyPr wrap="square" lIns="254" tIns="254" rIns="254" bIns="254" rtlCol="0" anchor="ctr"/>
          <a:lstStyle/>
          <a:p>
            <a:pPr marL="0" indent="0">
              <a:buNone/>
            </a:pPr>
            <a:r>
              <a:rPr lang="en-US" sz="1600" dirty="0">
                <a:solidFill>
                  <a:srgbClr val="0C2C6B"/>
                </a:solidFill>
                <a:latin typeface="Aptos" pitchFamily="34" charset="0"/>
                <a:ea typeface="Aptos" pitchFamily="34" charset="-122"/>
                <a:cs typeface="Aptos" pitchFamily="34" charset="-120"/>
              </a:rPr>
              <a:t>Nee, je kijkt niet alleen naar Nederlandse slachtoffers. Juist de bredere Europese context laat zien waarom aanvallen op Nederland passen in een herkenbaar patroon van pro-Russische verstoringsaanvallen.</a:t>
            </a:r>
            <a:endParaRPr lang="en-US" sz="160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5</a:t>
            </a:fld>
            <a:endParaRPr lang="en-US"/>
          </a:p>
        </p:txBody>
      </p:sp>
      <p:sp>
        <p:nvSpPr>
          <p:cNvPr id="20" name="Rechthoek 19">
            <a:extLst>
              <a:ext uri="{FF2B5EF4-FFF2-40B4-BE49-F238E27FC236}">
                <a16:creationId xmlns:a16="http://schemas.microsoft.com/office/drawing/2014/main" id="{0EAE06A3-7C72-16F9-D9FC-C57A1BDC9026}"/>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1" name="Afbeelding 20">
            <a:extLst>
              <a:ext uri="{FF2B5EF4-FFF2-40B4-BE49-F238E27FC236}">
                <a16:creationId xmlns:a16="http://schemas.microsoft.com/office/drawing/2014/main" id="{92A4F462-8FF6-8E21-879F-5BBCDA028FAB}"/>
              </a:ext>
            </a:extLst>
          </p:cNvPr>
          <p:cNvPicPr>
            <a:picLocks noChangeAspect="1"/>
          </p:cNvPicPr>
          <p:nvPr/>
        </p:nvPicPr>
        <p:blipFill>
          <a:blip r:embed="rId3"/>
          <a:stretch>
            <a:fillRect/>
          </a:stretch>
        </p:blipFill>
        <p:spPr>
          <a:xfrm>
            <a:off x="10636690" y="-32419"/>
            <a:ext cx="1469413" cy="1469413"/>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Eigen data-analyse: wat zit er in de dataset?</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613 meetbestanden tussen 7 januari en 31 augustus 2025</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Dataset</a:t>
            </a:r>
            <a:endParaRPr lang="en-US" sz="960" dirty="0"/>
          </a:p>
        </p:txBody>
      </p:sp>
      <p:sp>
        <p:nvSpPr>
          <p:cNvPr id="5" name="Shape 3"/>
          <p:cNvSpPr/>
          <p:nvPr/>
        </p:nvSpPr>
        <p:spPr>
          <a:xfrm>
            <a:off x="658368" y="1234440"/>
            <a:ext cx="1261872" cy="960120"/>
          </a:xfrm>
          <a:prstGeom prst="roundRect">
            <a:avLst>
              <a:gd name="adj" fmla="val 7619"/>
            </a:avLst>
          </a:prstGeom>
          <a:solidFill>
            <a:srgbClr val="EAF5FF"/>
          </a:solidFill>
          <a:ln w="12700">
            <a:solidFill>
              <a:srgbClr val="B7D7F2"/>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22960" y="1435608"/>
            <a:ext cx="932688" cy="219456"/>
          </a:xfrm>
          <a:prstGeom prst="rect">
            <a:avLst/>
          </a:prstGeom>
          <a:noFill/>
          <a:ln/>
        </p:spPr>
        <p:txBody>
          <a:bodyPr wrap="square" lIns="0" tIns="0" rIns="0" bIns="0" rtlCol="0" anchor="ctr"/>
          <a:lstStyle/>
          <a:p>
            <a:pPr marL="0" indent="0" algn="ctr">
              <a:buNone/>
            </a:pPr>
            <a:r>
              <a:rPr lang="en-US" sz="2400" b="1" dirty="0">
                <a:solidFill>
                  <a:srgbClr val="0C2C6B"/>
                </a:solidFill>
                <a:latin typeface="Aptos Display" pitchFamily="34" charset="0"/>
                <a:ea typeface="Aptos Display" pitchFamily="34" charset="-122"/>
                <a:cs typeface="Aptos Display" pitchFamily="34" charset="-120"/>
              </a:rPr>
              <a:t>613</a:t>
            </a:r>
            <a:endParaRPr lang="en-US" sz="2400" dirty="0"/>
          </a:p>
        </p:txBody>
      </p:sp>
      <p:sp>
        <p:nvSpPr>
          <p:cNvPr id="7" name="Text 5"/>
          <p:cNvSpPr/>
          <p:nvPr/>
        </p:nvSpPr>
        <p:spPr>
          <a:xfrm>
            <a:off x="749808" y="1764792"/>
            <a:ext cx="1078992" cy="292608"/>
          </a:xfrm>
          <a:prstGeom prst="rect">
            <a:avLst/>
          </a:prstGeom>
          <a:noFill/>
          <a:ln/>
        </p:spPr>
        <p:txBody>
          <a:bodyPr wrap="square" lIns="0" tIns="0" rIns="0" bIns="0" rtlCol="0" anchor="ctr"/>
          <a:lstStyle/>
          <a:p>
            <a:pPr marL="0" indent="0" algn="ctr">
              <a:buNone/>
            </a:pPr>
            <a:r>
              <a:rPr lang="en-US" sz="1120" dirty="0">
                <a:solidFill>
                  <a:srgbClr val="0C2C6B"/>
                </a:solidFill>
                <a:latin typeface="Aptos" pitchFamily="34" charset="0"/>
                <a:ea typeface="Aptos" pitchFamily="34" charset="-122"/>
                <a:cs typeface="Aptos" pitchFamily="34" charset="-120"/>
              </a:rPr>
              <a:t>meetbestanden</a:t>
            </a:r>
            <a:endParaRPr lang="en-US" sz="1120" dirty="0"/>
          </a:p>
        </p:txBody>
      </p:sp>
      <p:sp>
        <p:nvSpPr>
          <p:cNvPr id="8" name="Shape 6"/>
          <p:cNvSpPr/>
          <p:nvPr/>
        </p:nvSpPr>
        <p:spPr>
          <a:xfrm>
            <a:off x="2139696" y="1234440"/>
            <a:ext cx="1261872" cy="960120"/>
          </a:xfrm>
          <a:prstGeom prst="roundRect">
            <a:avLst>
              <a:gd name="adj" fmla="val 7619"/>
            </a:avLst>
          </a:prstGeom>
          <a:solidFill>
            <a:srgbClr val="EAF5FF"/>
          </a:solidFill>
          <a:ln w="12700">
            <a:solidFill>
              <a:srgbClr val="B7D7F2"/>
            </a:solidFill>
            <a:prstDash val="solid"/>
          </a:ln>
          <a:effectLst>
            <a:outerShdw blurRad="19050" dist="12700" dir="2700000" algn="bl" rotWithShape="0">
              <a:srgbClr val="000000">
                <a:alpha val="14000"/>
              </a:srgbClr>
            </a:outerShdw>
          </a:effectLst>
        </p:spPr>
        <p:txBody>
          <a:bodyPr/>
          <a:lstStyle/>
          <a:p>
            <a:endParaRPr lang="nl-NL"/>
          </a:p>
        </p:txBody>
      </p:sp>
      <p:sp>
        <p:nvSpPr>
          <p:cNvPr id="9" name="Text 7"/>
          <p:cNvSpPr/>
          <p:nvPr/>
        </p:nvSpPr>
        <p:spPr>
          <a:xfrm>
            <a:off x="2304288" y="1435608"/>
            <a:ext cx="932688" cy="219456"/>
          </a:xfrm>
          <a:prstGeom prst="rect">
            <a:avLst/>
          </a:prstGeom>
          <a:noFill/>
          <a:ln/>
        </p:spPr>
        <p:txBody>
          <a:bodyPr wrap="square" lIns="0" tIns="0" rIns="0" bIns="0" rtlCol="0" anchor="ctr"/>
          <a:lstStyle/>
          <a:p>
            <a:pPr marL="0" indent="0" algn="ctr">
              <a:buNone/>
            </a:pPr>
            <a:r>
              <a:rPr lang="en-US" sz="2400" b="1" dirty="0">
                <a:solidFill>
                  <a:srgbClr val="0C2C6B"/>
                </a:solidFill>
                <a:latin typeface="Aptos Display" pitchFamily="34" charset="0"/>
                <a:ea typeface="Aptos Display" pitchFamily="34" charset="-122"/>
                <a:cs typeface="Aptos Display" pitchFamily="34" charset="-120"/>
              </a:rPr>
              <a:t>231</a:t>
            </a:r>
            <a:endParaRPr lang="en-US" sz="2400" dirty="0"/>
          </a:p>
        </p:txBody>
      </p:sp>
      <p:sp>
        <p:nvSpPr>
          <p:cNvPr id="10" name="Text 8"/>
          <p:cNvSpPr/>
          <p:nvPr/>
        </p:nvSpPr>
        <p:spPr>
          <a:xfrm>
            <a:off x="2231136" y="1764792"/>
            <a:ext cx="1078992" cy="292608"/>
          </a:xfrm>
          <a:prstGeom prst="rect">
            <a:avLst/>
          </a:prstGeom>
          <a:noFill/>
          <a:ln/>
        </p:spPr>
        <p:txBody>
          <a:bodyPr wrap="square" lIns="0" tIns="0" rIns="0" bIns="0" rtlCol="0" anchor="ctr"/>
          <a:lstStyle/>
          <a:p>
            <a:pPr marL="0" indent="0" algn="ctr">
              <a:buNone/>
            </a:pPr>
            <a:r>
              <a:rPr lang="en-US" sz="1120" dirty="0">
                <a:solidFill>
                  <a:srgbClr val="0C2C6B"/>
                </a:solidFill>
                <a:latin typeface="Aptos" pitchFamily="34" charset="0"/>
                <a:ea typeface="Aptos" pitchFamily="34" charset="-122"/>
                <a:cs typeface="Aptos" pitchFamily="34" charset="-120"/>
              </a:rPr>
              <a:t>meetdagen</a:t>
            </a:r>
            <a:endParaRPr lang="en-US" sz="1120" dirty="0"/>
          </a:p>
        </p:txBody>
      </p:sp>
      <p:sp>
        <p:nvSpPr>
          <p:cNvPr id="11" name="Shape 9"/>
          <p:cNvSpPr/>
          <p:nvPr/>
        </p:nvSpPr>
        <p:spPr>
          <a:xfrm>
            <a:off x="3621024" y="1234440"/>
            <a:ext cx="1261872" cy="960120"/>
          </a:xfrm>
          <a:prstGeom prst="roundRect">
            <a:avLst>
              <a:gd name="adj" fmla="val 7619"/>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12" name="Text 10"/>
          <p:cNvSpPr/>
          <p:nvPr/>
        </p:nvSpPr>
        <p:spPr>
          <a:xfrm>
            <a:off x="3785616" y="1435608"/>
            <a:ext cx="932688" cy="219456"/>
          </a:xfrm>
          <a:prstGeom prst="rect">
            <a:avLst/>
          </a:prstGeom>
          <a:noFill/>
          <a:ln/>
        </p:spPr>
        <p:txBody>
          <a:bodyPr wrap="square" lIns="0" tIns="0" rIns="0" bIns="0" rtlCol="0" anchor="ctr"/>
          <a:lstStyle/>
          <a:p>
            <a:pPr marL="0" indent="0" algn="ctr">
              <a:buNone/>
            </a:pPr>
            <a:r>
              <a:rPr lang="en-US" sz="2400" b="1" dirty="0">
                <a:solidFill>
                  <a:srgbClr val="0C2C6B"/>
                </a:solidFill>
                <a:latin typeface="Aptos Display" pitchFamily="34" charset="0"/>
                <a:ea typeface="Aptos Display" pitchFamily="34" charset="-122"/>
                <a:cs typeface="Aptos Display" pitchFamily="34" charset="-120"/>
              </a:rPr>
              <a:t>297</a:t>
            </a:r>
            <a:endParaRPr lang="en-US" sz="2400" dirty="0"/>
          </a:p>
        </p:txBody>
      </p:sp>
      <p:sp>
        <p:nvSpPr>
          <p:cNvPr id="13" name="Text 11"/>
          <p:cNvSpPr/>
          <p:nvPr/>
        </p:nvSpPr>
        <p:spPr>
          <a:xfrm>
            <a:off x="3712464" y="1764792"/>
            <a:ext cx="1078992" cy="292608"/>
          </a:xfrm>
          <a:prstGeom prst="rect">
            <a:avLst/>
          </a:prstGeom>
          <a:noFill/>
          <a:ln/>
        </p:spPr>
        <p:txBody>
          <a:bodyPr wrap="square" lIns="0" tIns="0" rIns="0" bIns="0" rtlCol="0" anchor="ctr"/>
          <a:lstStyle/>
          <a:p>
            <a:pPr marL="0" indent="0" algn="ctr">
              <a:buNone/>
            </a:pPr>
            <a:r>
              <a:rPr lang="en-US" sz="1120" dirty="0">
                <a:solidFill>
                  <a:srgbClr val="0C2C6B"/>
                </a:solidFill>
                <a:latin typeface="Aptos" pitchFamily="34" charset="0"/>
                <a:ea typeface="Aptos" pitchFamily="34" charset="-122"/>
                <a:cs typeface="Aptos" pitchFamily="34" charset="-120"/>
              </a:rPr>
              <a:t>gem. rijen</a:t>
            </a:r>
            <a:endParaRPr lang="en-US" sz="1120" dirty="0"/>
          </a:p>
          <a:p>
            <a:pPr marL="0" indent="0" algn="ctr">
              <a:buNone/>
            </a:pPr>
            <a:r>
              <a:rPr lang="en-US" sz="1120" dirty="0">
                <a:solidFill>
                  <a:srgbClr val="0C2C6B"/>
                </a:solidFill>
                <a:latin typeface="Aptos" pitchFamily="34" charset="0"/>
                <a:ea typeface="Aptos" pitchFamily="34" charset="-122"/>
                <a:cs typeface="Aptos" pitchFamily="34" charset="-120"/>
              </a:rPr>
              <a:t>per bestand</a:t>
            </a:r>
            <a:endParaRPr lang="en-US" sz="1120" dirty="0"/>
          </a:p>
        </p:txBody>
      </p:sp>
      <p:sp>
        <p:nvSpPr>
          <p:cNvPr id="14" name="Shape 12"/>
          <p:cNvSpPr/>
          <p:nvPr/>
        </p:nvSpPr>
        <p:spPr>
          <a:xfrm>
            <a:off x="5102352" y="1234440"/>
            <a:ext cx="1261872" cy="960120"/>
          </a:xfrm>
          <a:prstGeom prst="roundRect">
            <a:avLst>
              <a:gd name="adj" fmla="val 7619"/>
            </a:avLst>
          </a:prstGeom>
          <a:solidFill>
            <a:srgbClr val="EAF5FF"/>
          </a:solidFill>
          <a:ln w="12700">
            <a:solidFill>
              <a:srgbClr val="B7D7F2"/>
            </a:solidFill>
            <a:prstDash val="solid"/>
          </a:ln>
          <a:effectLst>
            <a:outerShdw blurRad="19050" dist="12700" dir="2700000" algn="bl" rotWithShape="0">
              <a:srgbClr val="000000">
                <a:alpha val="14000"/>
              </a:srgbClr>
            </a:outerShdw>
          </a:effectLst>
        </p:spPr>
        <p:txBody>
          <a:bodyPr/>
          <a:lstStyle/>
          <a:p>
            <a:endParaRPr lang="nl-NL"/>
          </a:p>
        </p:txBody>
      </p:sp>
      <p:sp>
        <p:nvSpPr>
          <p:cNvPr id="15" name="Text 13"/>
          <p:cNvSpPr/>
          <p:nvPr/>
        </p:nvSpPr>
        <p:spPr>
          <a:xfrm>
            <a:off x="5266944" y="1435608"/>
            <a:ext cx="932688" cy="219456"/>
          </a:xfrm>
          <a:prstGeom prst="rect">
            <a:avLst/>
          </a:prstGeom>
          <a:noFill/>
          <a:ln/>
        </p:spPr>
        <p:txBody>
          <a:bodyPr wrap="square" lIns="0" tIns="0" rIns="0" bIns="0" rtlCol="0" anchor="ctr"/>
          <a:lstStyle/>
          <a:p>
            <a:pPr marL="0" indent="0" algn="ctr">
              <a:buNone/>
            </a:pPr>
            <a:r>
              <a:rPr lang="en-US" sz="2400" b="1" dirty="0">
                <a:solidFill>
                  <a:srgbClr val="0C2C6B"/>
                </a:solidFill>
                <a:latin typeface="Aptos Display" pitchFamily="34" charset="0"/>
                <a:ea typeface="Aptos Display" pitchFamily="34" charset="-122"/>
                <a:cs typeface="Aptos Display" pitchFamily="34" charset="-120"/>
              </a:rPr>
              <a:t>742</a:t>
            </a:r>
            <a:endParaRPr lang="en-US" sz="2400" dirty="0"/>
          </a:p>
        </p:txBody>
      </p:sp>
      <p:sp>
        <p:nvSpPr>
          <p:cNvPr id="16" name="Text 14"/>
          <p:cNvSpPr/>
          <p:nvPr/>
        </p:nvSpPr>
        <p:spPr>
          <a:xfrm>
            <a:off x="5193792" y="1764792"/>
            <a:ext cx="1078992" cy="292608"/>
          </a:xfrm>
          <a:prstGeom prst="rect">
            <a:avLst/>
          </a:prstGeom>
          <a:noFill/>
          <a:ln/>
        </p:spPr>
        <p:txBody>
          <a:bodyPr wrap="square" lIns="0" tIns="0" rIns="0" bIns="0" rtlCol="0" anchor="ctr"/>
          <a:lstStyle/>
          <a:p>
            <a:pPr marL="0" indent="0" algn="ctr">
              <a:buNone/>
            </a:pPr>
            <a:r>
              <a:rPr lang="en-US" sz="1120" dirty="0">
                <a:solidFill>
                  <a:srgbClr val="0C2C6B"/>
                </a:solidFill>
                <a:latin typeface="Aptos" pitchFamily="34" charset="0"/>
                <a:ea typeface="Aptos" pitchFamily="34" charset="-122"/>
                <a:cs typeface="Aptos" pitchFamily="34" charset="-120"/>
              </a:rPr>
              <a:t>max. rijen</a:t>
            </a:r>
            <a:endParaRPr lang="en-US" sz="1120" dirty="0"/>
          </a:p>
          <a:p>
            <a:pPr marL="0" indent="0" algn="ctr">
              <a:buNone/>
            </a:pPr>
            <a:r>
              <a:rPr lang="en-US" sz="1120" dirty="0">
                <a:solidFill>
                  <a:srgbClr val="0C2C6B"/>
                </a:solidFill>
                <a:latin typeface="Aptos" pitchFamily="34" charset="0"/>
                <a:ea typeface="Aptos" pitchFamily="34" charset="-122"/>
                <a:cs typeface="Aptos" pitchFamily="34" charset="-120"/>
              </a:rPr>
              <a:t>in één bestand</a:t>
            </a:r>
            <a:endParaRPr lang="en-US" sz="1120" dirty="0"/>
          </a:p>
        </p:txBody>
      </p:sp>
      <p:sp>
        <p:nvSpPr>
          <p:cNvPr id="17" name="Shape 15"/>
          <p:cNvSpPr/>
          <p:nvPr/>
        </p:nvSpPr>
        <p:spPr>
          <a:xfrm>
            <a:off x="621792" y="2395728"/>
            <a:ext cx="6629400" cy="3063240"/>
          </a:xfrm>
          <a:prstGeom prst="roundRect">
            <a:avLst>
              <a:gd name="adj" fmla="val 2388"/>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18" name="Text 16"/>
          <p:cNvSpPr/>
          <p:nvPr/>
        </p:nvSpPr>
        <p:spPr>
          <a:xfrm>
            <a:off x="868680" y="2670048"/>
            <a:ext cx="42976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Verloop van het gemiddelde aantal rijen per meetdag</a:t>
            </a:r>
            <a:endParaRPr lang="en-US" sz="1650" dirty="0"/>
          </a:p>
        </p:txBody>
      </p:sp>
      <p:pic>
        <p:nvPicPr>
          <p:cNvPr id="19" name="Image 0" descr="/mnt/data/ws31_assets/daily_avg_rows.png"/>
          <p:cNvPicPr>
            <a:picLocks noChangeAspect="1"/>
          </p:cNvPicPr>
          <p:nvPr/>
        </p:nvPicPr>
        <p:blipFill>
          <a:blip r:embed="rId3"/>
          <a:stretch>
            <a:fillRect/>
          </a:stretch>
        </p:blipFill>
        <p:spPr>
          <a:xfrm>
            <a:off x="1981200" y="2926080"/>
            <a:ext cx="3901440" cy="2194560"/>
          </a:xfrm>
          <a:prstGeom prst="rect">
            <a:avLst/>
          </a:prstGeom>
        </p:spPr>
      </p:pic>
      <p:sp>
        <p:nvSpPr>
          <p:cNvPr id="20" name="Shape 17"/>
          <p:cNvSpPr>
            <a:spLocks noGrp="1" noRot="1" noMove="1" noResize="1" noEditPoints="1" noAdjustHandles="1" noChangeArrowheads="1" noChangeShapeType="1"/>
          </p:cNvSpPr>
          <p:nvPr/>
        </p:nvSpPr>
        <p:spPr>
          <a:xfrm>
            <a:off x="7461504" y="2395728"/>
            <a:ext cx="4005072" cy="3063240"/>
          </a:xfrm>
          <a:prstGeom prst="roundRect">
            <a:avLst>
              <a:gd name="adj" fmla="val 2388"/>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en-US" dirty="0"/>
          </a:p>
        </p:txBody>
      </p:sp>
      <p:sp>
        <p:nvSpPr>
          <p:cNvPr id="21" name="Text 18"/>
          <p:cNvSpPr/>
          <p:nvPr/>
        </p:nvSpPr>
        <p:spPr>
          <a:xfrm>
            <a:off x="7699248" y="2670048"/>
            <a:ext cx="237744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leert dit ons?</a:t>
            </a:r>
            <a:endParaRPr lang="en-US" sz="1650" dirty="0"/>
          </a:p>
        </p:txBody>
      </p:sp>
      <p:sp>
        <p:nvSpPr>
          <p:cNvPr id="22" name="Text 19"/>
          <p:cNvSpPr/>
          <p:nvPr/>
        </p:nvSpPr>
        <p:spPr>
          <a:xfrm>
            <a:off x="7699248" y="2990088"/>
            <a:ext cx="164592" cy="228600"/>
          </a:xfrm>
          <a:prstGeom prst="rect">
            <a:avLst/>
          </a:prstGeom>
          <a:noFill/>
          <a:ln/>
        </p:spPr>
        <p:txBody>
          <a:bodyPr wrap="square" lIns="0" tIns="0" rIns="0" bIns="0" rtlCol="0" anchor="ctr"/>
          <a:lstStyle/>
          <a:p>
            <a:pPr marL="0" indent="0">
              <a:buNone/>
            </a:pPr>
            <a:r>
              <a:rPr lang="en-US" sz="1570" b="1" dirty="0">
                <a:solidFill>
                  <a:srgbClr val="F2C54B"/>
                </a:solidFill>
                <a:latin typeface="Aptos" pitchFamily="34" charset="0"/>
                <a:ea typeface="Aptos" pitchFamily="34" charset="-122"/>
                <a:cs typeface="Aptos" pitchFamily="34" charset="-120"/>
              </a:rPr>
              <a:t>•</a:t>
            </a:r>
            <a:endParaRPr lang="en-US" sz="1570" dirty="0"/>
          </a:p>
        </p:txBody>
      </p:sp>
      <p:sp>
        <p:nvSpPr>
          <p:cNvPr id="23" name="Text 20"/>
          <p:cNvSpPr/>
          <p:nvPr/>
        </p:nvSpPr>
        <p:spPr>
          <a:xfrm>
            <a:off x="7900416" y="2999232"/>
            <a:ext cx="3218688" cy="374904"/>
          </a:xfrm>
          <a:prstGeom prst="rect">
            <a:avLst/>
          </a:prstGeom>
          <a:noFill/>
          <a:ln/>
        </p:spPr>
        <p:txBody>
          <a:bodyPr wrap="square" rtlCol="0" anchor="t"/>
          <a:lstStyle/>
          <a:p>
            <a:pPr marL="0" indent="0">
              <a:buNone/>
            </a:pPr>
            <a:r>
              <a:rPr lang="en-US" sz="1470" dirty="0">
                <a:solidFill>
                  <a:srgbClr val="0C2C6B"/>
                </a:solidFill>
                <a:latin typeface="Aptos" pitchFamily="34" charset="0"/>
                <a:ea typeface="Aptos" pitchFamily="34" charset="-122"/>
                <a:cs typeface="Aptos" pitchFamily="34" charset="-120"/>
              </a:rPr>
              <a:t>De omvang per meetmoment schommelt flink; de dataset lijkt meerdere campagnes en meetvensters te bevatten.</a:t>
            </a:r>
            <a:endParaRPr lang="en-US" sz="1470" dirty="0"/>
          </a:p>
        </p:txBody>
      </p:sp>
      <p:sp>
        <p:nvSpPr>
          <p:cNvPr id="24" name="Text 21"/>
          <p:cNvSpPr/>
          <p:nvPr/>
        </p:nvSpPr>
        <p:spPr>
          <a:xfrm>
            <a:off x="7699248" y="3456432"/>
            <a:ext cx="164592" cy="228600"/>
          </a:xfrm>
          <a:prstGeom prst="rect">
            <a:avLst/>
          </a:prstGeom>
          <a:noFill/>
          <a:ln/>
        </p:spPr>
        <p:txBody>
          <a:bodyPr wrap="square" lIns="0" tIns="0" rIns="0" bIns="0" rtlCol="0" anchor="ctr"/>
          <a:lstStyle/>
          <a:p>
            <a:pPr marL="0" indent="0">
              <a:buNone/>
            </a:pPr>
            <a:r>
              <a:rPr lang="en-US" sz="1570" b="1" dirty="0">
                <a:solidFill>
                  <a:srgbClr val="F2C54B"/>
                </a:solidFill>
                <a:latin typeface="Aptos" pitchFamily="34" charset="0"/>
                <a:ea typeface="Aptos" pitchFamily="34" charset="-122"/>
                <a:cs typeface="Aptos" pitchFamily="34" charset="-120"/>
              </a:rPr>
              <a:t>•</a:t>
            </a:r>
            <a:endParaRPr lang="en-US" sz="1570" dirty="0"/>
          </a:p>
        </p:txBody>
      </p:sp>
      <p:sp>
        <p:nvSpPr>
          <p:cNvPr id="25" name="Text 22"/>
          <p:cNvSpPr/>
          <p:nvPr/>
        </p:nvSpPr>
        <p:spPr>
          <a:xfrm>
            <a:off x="7900416" y="4684359"/>
            <a:ext cx="3218688" cy="752439"/>
          </a:xfrm>
          <a:prstGeom prst="rect">
            <a:avLst/>
          </a:prstGeom>
          <a:noFill/>
          <a:ln/>
        </p:spPr>
        <p:txBody>
          <a:bodyPr wrap="square" rtlCol="0" anchor="t"/>
          <a:lstStyle/>
          <a:p>
            <a:pPr marL="0" indent="0">
              <a:buNone/>
            </a:pPr>
            <a:r>
              <a:rPr lang="en-US" sz="1470" dirty="0">
                <a:solidFill>
                  <a:srgbClr val="0C2C6B"/>
                </a:solidFill>
                <a:latin typeface="Aptos" pitchFamily="34" charset="0"/>
                <a:ea typeface="Aptos" pitchFamily="34" charset="-122"/>
                <a:cs typeface="Aptos" pitchFamily="34" charset="-120"/>
              </a:rPr>
              <a:t>De data is bruikbaar voor patroonherkenning op doelwitten en datakwaliteit.</a:t>
            </a:r>
            <a:endParaRPr lang="en-US" sz="1470" dirty="0"/>
          </a:p>
        </p:txBody>
      </p:sp>
      <p:sp>
        <p:nvSpPr>
          <p:cNvPr id="26" name="Text 23"/>
          <p:cNvSpPr/>
          <p:nvPr/>
        </p:nvSpPr>
        <p:spPr>
          <a:xfrm>
            <a:off x="7699248" y="3922776"/>
            <a:ext cx="164592" cy="228600"/>
          </a:xfrm>
          <a:prstGeom prst="rect">
            <a:avLst/>
          </a:prstGeom>
          <a:noFill/>
          <a:ln/>
        </p:spPr>
        <p:txBody>
          <a:bodyPr wrap="square" lIns="0" tIns="0" rIns="0" bIns="0" rtlCol="0" anchor="ctr"/>
          <a:lstStyle/>
          <a:p>
            <a:pPr marL="0" indent="0">
              <a:buNone/>
            </a:pPr>
            <a:r>
              <a:rPr lang="en-US" sz="1570" b="1" dirty="0">
                <a:solidFill>
                  <a:srgbClr val="F2C54B"/>
                </a:solidFill>
                <a:latin typeface="Aptos" pitchFamily="34" charset="0"/>
                <a:ea typeface="Aptos" pitchFamily="34" charset="-122"/>
                <a:cs typeface="Aptos" pitchFamily="34" charset="-120"/>
              </a:rPr>
              <a:t>•</a:t>
            </a:r>
            <a:endParaRPr lang="en-US" sz="1570" dirty="0"/>
          </a:p>
        </p:txBody>
      </p:sp>
      <p:sp>
        <p:nvSpPr>
          <p:cNvPr id="27" name="Text 24"/>
          <p:cNvSpPr/>
          <p:nvPr/>
        </p:nvSpPr>
        <p:spPr>
          <a:xfrm>
            <a:off x="7900416" y="3931920"/>
            <a:ext cx="3218688" cy="752440"/>
          </a:xfrm>
          <a:prstGeom prst="rect">
            <a:avLst/>
          </a:prstGeom>
          <a:noFill/>
          <a:ln/>
        </p:spPr>
        <p:txBody>
          <a:bodyPr wrap="square" rtlCol="0" anchor="t"/>
          <a:lstStyle/>
          <a:p>
            <a:pPr marL="0" indent="0">
              <a:buNone/>
            </a:pPr>
            <a:r>
              <a:rPr lang="en-US" sz="1470" dirty="0">
                <a:solidFill>
                  <a:srgbClr val="0C2C6B"/>
                </a:solidFill>
                <a:latin typeface="Aptos" pitchFamily="34" charset="0"/>
                <a:ea typeface="Aptos" pitchFamily="34" charset="-122"/>
                <a:cs typeface="Aptos" pitchFamily="34" charset="-120"/>
              </a:rPr>
              <a:t>De dataset zegt minder over individuele aanvallers of precieze timing per IP-adres.</a:t>
            </a:r>
            <a:endParaRPr lang="en-US" sz="1470" dirty="0"/>
          </a:p>
        </p:txBody>
      </p:sp>
      <p:sp>
        <p:nvSpPr>
          <p:cNvPr id="28"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6</a:t>
            </a:fld>
            <a:endParaRPr lang="en-US"/>
          </a:p>
        </p:txBody>
      </p:sp>
      <p:sp>
        <p:nvSpPr>
          <p:cNvPr id="30" name="Text 23">
            <a:extLst>
              <a:ext uri="{FF2B5EF4-FFF2-40B4-BE49-F238E27FC236}">
                <a16:creationId xmlns:a16="http://schemas.microsoft.com/office/drawing/2014/main" id="{9BF45A4F-8D1F-561A-0276-6B6DED3B5A0F}"/>
              </a:ext>
            </a:extLst>
          </p:cNvPr>
          <p:cNvSpPr/>
          <p:nvPr/>
        </p:nvSpPr>
        <p:spPr>
          <a:xfrm>
            <a:off x="7711440" y="4695444"/>
            <a:ext cx="164592" cy="228600"/>
          </a:xfrm>
          <a:prstGeom prst="rect">
            <a:avLst/>
          </a:prstGeom>
          <a:noFill/>
          <a:ln/>
        </p:spPr>
        <p:txBody>
          <a:bodyPr wrap="square" lIns="0" tIns="0" rIns="0" bIns="0" rtlCol="0" anchor="ctr"/>
          <a:lstStyle/>
          <a:p>
            <a:pPr marL="0" indent="0">
              <a:buNone/>
            </a:pPr>
            <a:r>
              <a:rPr lang="en-US" sz="1570" b="1" dirty="0">
                <a:solidFill>
                  <a:srgbClr val="F2C54B"/>
                </a:solidFill>
                <a:latin typeface="Aptos" pitchFamily="34" charset="0"/>
                <a:ea typeface="Aptos" pitchFamily="34" charset="-122"/>
                <a:cs typeface="Aptos" pitchFamily="34" charset="-120"/>
              </a:rPr>
              <a:t>•</a:t>
            </a:r>
            <a:endParaRPr lang="en-US" sz="1570" dirty="0"/>
          </a:p>
        </p:txBody>
      </p:sp>
      <p:sp>
        <p:nvSpPr>
          <p:cNvPr id="29" name="Rechthoek 28">
            <a:extLst>
              <a:ext uri="{FF2B5EF4-FFF2-40B4-BE49-F238E27FC236}">
                <a16:creationId xmlns:a16="http://schemas.microsoft.com/office/drawing/2014/main" id="{266070A4-63C7-D666-17EE-6D5411337B6C}"/>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1" name="Afbeelding 30">
            <a:extLst>
              <a:ext uri="{FF2B5EF4-FFF2-40B4-BE49-F238E27FC236}">
                <a16:creationId xmlns:a16="http://schemas.microsoft.com/office/drawing/2014/main" id="{93254E8A-4427-0A2D-59C8-9DC00AABC785}"/>
              </a:ext>
            </a:extLst>
          </p:cNvPr>
          <p:cNvPicPr>
            <a:picLocks noChangeAspect="1"/>
          </p:cNvPicPr>
          <p:nvPr/>
        </p:nvPicPr>
        <p:blipFill>
          <a:blip r:embed="rId4"/>
          <a:stretch>
            <a:fillRect/>
          </a:stretch>
        </p:blipFill>
        <p:spPr>
          <a:xfrm>
            <a:off x="10636690" y="-32419"/>
            <a:ext cx="1469413" cy="146941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Datakwaliteit en beperkingen</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Belangrijk, omdat dit bepaalt wat je wél en níet hard kunt concluderen</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Datakwaliteit</a:t>
            </a:r>
            <a:endParaRPr lang="en-US" sz="960" dirty="0"/>
          </a:p>
        </p:txBody>
      </p:sp>
      <p:sp>
        <p:nvSpPr>
          <p:cNvPr id="5" name="Shape 3"/>
          <p:cNvSpPr/>
          <p:nvPr/>
        </p:nvSpPr>
        <p:spPr>
          <a:xfrm>
            <a:off x="621792" y="1243584"/>
            <a:ext cx="5669280" cy="3383280"/>
          </a:xfrm>
          <a:prstGeom prst="roundRect">
            <a:avLst>
              <a:gd name="adj" fmla="val 2162"/>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68680" y="1517904"/>
            <a:ext cx="33832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Ontbrekende contextvelden per meetdag</a:t>
            </a:r>
            <a:endParaRPr lang="en-US" sz="1650" dirty="0"/>
          </a:p>
        </p:txBody>
      </p:sp>
      <p:pic>
        <p:nvPicPr>
          <p:cNvPr id="7" name="Image 0" descr="/mnt/data/ws31_assets/missing_pct.png"/>
          <p:cNvPicPr>
            <a:picLocks noChangeAspect="1"/>
          </p:cNvPicPr>
          <p:nvPr/>
        </p:nvPicPr>
        <p:blipFill>
          <a:blip r:embed="rId3"/>
          <a:stretch>
            <a:fillRect/>
          </a:stretch>
        </p:blipFill>
        <p:spPr>
          <a:xfrm>
            <a:off x="1280160" y="1783080"/>
            <a:ext cx="4389120" cy="2468880"/>
          </a:xfrm>
          <a:prstGeom prst="rect">
            <a:avLst/>
          </a:prstGeom>
        </p:spPr>
      </p:pic>
      <p:sp>
        <p:nvSpPr>
          <p:cNvPr id="8" name="Shape 5"/>
          <p:cNvSpPr/>
          <p:nvPr/>
        </p:nvSpPr>
        <p:spPr>
          <a:xfrm>
            <a:off x="6473952" y="1243584"/>
            <a:ext cx="4992624" cy="2057400"/>
          </a:xfrm>
          <a:prstGeom prst="roundRect">
            <a:avLst>
              <a:gd name="adj" fmla="val 3556"/>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9" name="Text 6"/>
          <p:cNvSpPr/>
          <p:nvPr/>
        </p:nvSpPr>
        <p:spPr>
          <a:xfrm>
            <a:off x="6711696" y="1517904"/>
            <a:ext cx="256032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Anomalies_details.csv</a:t>
            </a:r>
            <a:endParaRPr lang="en-US" sz="1650" dirty="0"/>
          </a:p>
        </p:txBody>
      </p:sp>
      <p:pic>
        <p:nvPicPr>
          <p:cNvPr id="10" name="Image 1" descr="/mnt/data/ws31_assets/detail_day_counts.png"/>
          <p:cNvPicPr>
            <a:picLocks noChangeAspect="1"/>
          </p:cNvPicPr>
          <p:nvPr/>
        </p:nvPicPr>
        <p:blipFill>
          <a:blip r:embed="rId4"/>
          <a:stretch>
            <a:fillRect/>
          </a:stretch>
        </p:blipFill>
        <p:spPr>
          <a:xfrm>
            <a:off x="6979760" y="1801368"/>
            <a:ext cx="1667577" cy="1152144"/>
          </a:xfrm>
          <a:prstGeom prst="rect">
            <a:avLst/>
          </a:prstGeom>
        </p:spPr>
      </p:pic>
      <p:sp>
        <p:nvSpPr>
          <p:cNvPr id="11" name="Shape 7"/>
          <p:cNvSpPr/>
          <p:nvPr/>
        </p:nvSpPr>
        <p:spPr>
          <a:xfrm>
            <a:off x="9098280" y="1828800"/>
            <a:ext cx="694944" cy="914400"/>
          </a:xfrm>
          <a:prstGeom prst="roundRect">
            <a:avLst>
              <a:gd name="adj" fmla="val 10526"/>
            </a:avLst>
          </a:prstGeom>
          <a:solidFill>
            <a:srgbClr val="EAF5FF"/>
          </a:solidFill>
          <a:ln w="12700">
            <a:solidFill>
              <a:srgbClr val="B7D7F2"/>
            </a:solidFill>
            <a:prstDash val="solid"/>
          </a:ln>
        </p:spPr>
        <p:txBody>
          <a:bodyPr/>
          <a:lstStyle/>
          <a:p>
            <a:endParaRPr lang="nl-NL"/>
          </a:p>
        </p:txBody>
      </p:sp>
      <p:sp>
        <p:nvSpPr>
          <p:cNvPr id="12" name="Text 8"/>
          <p:cNvSpPr/>
          <p:nvPr/>
        </p:nvSpPr>
        <p:spPr>
          <a:xfrm>
            <a:off x="9189720" y="2002536"/>
            <a:ext cx="512064" cy="201168"/>
          </a:xfrm>
          <a:prstGeom prst="rect">
            <a:avLst/>
          </a:prstGeom>
          <a:noFill/>
          <a:ln/>
        </p:spPr>
        <p:txBody>
          <a:bodyPr wrap="square" lIns="0" tIns="0" rIns="0" bIns="0" rtlCol="0" anchor="ctr"/>
          <a:lstStyle/>
          <a:p>
            <a:pPr marL="0" indent="0" algn="ctr">
              <a:buNone/>
            </a:pPr>
            <a:r>
              <a:rPr lang="en-US" sz="2100" b="1" dirty="0">
                <a:solidFill>
                  <a:srgbClr val="0C2C6B"/>
                </a:solidFill>
                <a:latin typeface="Aptos Display" pitchFamily="34" charset="0"/>
                <a:ea typeface="Aptos Display" pitchFamily="34" charset="-122"/>
                <a:cs typeface="Aptos Display" pitchFamily="34" charset="-120"/>
              </a:rPr>
              <a:t>9</a:t>
            </a:r>
            <a:endParaRPr lang="en-US" sz="2100" dirty="0"/>
          </a:p>
        </p:txBody>
      </p:sp>
      <p:sp>
        <p:nvSpPr>
          <p:cNvPr id="13" name="Text 9"/>
          <p:cNvSpPr/>
          <p:nvPr/>
        </p:nvSpPr>
        <p:spPr>
          <a:xfrm>
            <a:off x="9134856" y="2313432"/>
            <a:ext cx="621792" cy="201168"/>
          </a:xfrm>
          <a:prstGeom prst="rect">
            <a:avLst/>
          </a:prstGeom>
          <a:noFill/>
          <a:ln/>
        </p:spPr>
        <p:txBody>
          <a:bodyPr wrap="square" lIns="0" tIns="0" rIns="0" bIns="0" rtlCol="0" anchor="ctr"/>
          <a:lstStyle/>
          <a:p>
            <a:pPr marL="0" indent="0" algn="ctr">
              <a:buNone/>
            </a:pPr>
            <a:r>
              <a:rPr lang="en-US" sz="930" dirty="0">
                <a:solidFill>
                  <a:srgbClr val="0C2C6B"/>
                </a:solidFill>
                <a:latin typeface="Aptos" pitchFamily="34" charset="0"/>
                <a:ea typeface="Aptos" pitchFamily="34" charset="-122"/>
                <a:cs typeface="Aptos" pitchFamily="34" charset="-120"/>
              </a:rPr>
              <a:t>detail-anomalieën</a:t>
            </a:r>
            <a:endParaRPr lang="en-US" sz="930" dirty="0"/>
          </a:p>
        </p:txBody>
      </p:sp>
      <p:sp>
        <p:nvSpPr>
          <p:cNvPr id="14" name="Shape 10"/>
          <p:cNvSpPr/>
          <p:nvPr/>
        </p:nvSpPr>
        <p:spPr>
          <a:xfrm>
            <a:off x="9857232" y="1828800"/>
            <a:ext cx="694944" cy="914400"/>
          </a:xfrm>
          <a:prstGeom prst="roundRect">
            <a:avLst>
              <a:gd name="adj" fmla="val 10526"/>
            </a:avLst>
          </a:prstGeom>
          <a:solidFill>
            <a:srgbClr val="EAF5FF"/>
          </a:solidFill>
          <a:ln w="12700">
            <a:solidFill>
              <a:srgbClr val="B7D7F2"/>
            </a:solidFill>
            <a:prstDash val="solid"/>
          </a:ln>
        </p:spPr>
        <p:txBody>
          <a:bodyPr/>
          <a:lstStyle/>
          <a:p>
            <a:endParaRPr lang="nl-NL"/>
          </a:p>
        </p:txBody>
      </p:sp>
      <p:sp>
        <p:nvSpPr>
          <p:cNvPr id="15" name="Text 11"/>
          <p:cNvSpPr/>
          <p:nvPr/>
        </p:nvSpPr>
        <p:spPr>
          <a:xfrm>
            <a:off x="9948672" y="2002536"/>
            <a:ext cx="512064" cy="201168"/>
          </a:xfrm>
          <a:prstGeom prst="rect">
            <a:avLst/>
          </a:prstGeom>
          <a:noFill/>
          <a:ln/>
        </p:spPr>
        <p:txBody>
          <a:bodyPr wrap="square" lIns="0" tIns="0" rIns="0" bIns="0" rtlCol="0" anchor="ctr"/>
          <a:lstStyle/>
          <a:p>
            <a:pPr marL="0" indent="0" algn="ctr">
              <a:buNone/>
            </a:pPr>
            <a:r>
              <a:rPr lang="en-US" sz="2100" b="1" dirty="0">
                <a:solidFill>
                  <a:srgbClr val="0C2C6B"/>
                </a:solidFill>
                <a:latin typeface="Aptos Display" pitchFamily="34" charset="0"/>
                <a:ea typeface="Aptos Display" pitchFamily="34" charset="-122"/>
                <a:cs typeface="Aptos Display" pitchFamily="34" charset="-120"/>
              </a:rPr>
              <a:t>3</a:t>
            </a:r>
            <a:endParaRPr lang="en-US" sz="2100" dirty="0"/>
          </a:p>
        </p:txBody>
      </p:sp>
      <p:sp>
        <p:nvSpPr>
          <p:cNvPr id="16" name="Text 12"/>
          <p:cNvSpPr/>
          <p:nvPr/>
        </p:nvSpPr>
        <p:spPr>
          <a:xfrm>
            <a:off x="9893808" y="2313432"/>
            <a:ext cx="621792" cy="201168"/>
          </a:xfrm>
          <a:prstGeom prst="rect">
            <a:avLst/>
          </a:prstGeom>
          <a:noFill/>
          <a:ln/>
        </p:spPr>
        <p:txBody>
          <a:bodyPr wrap="square" lIns="0" tIns="0" rIns="0" bIns="0" rtlCol="0" anchor="ctr"/>
          <a:lstStyle/>
          <a:p>
            <a:pPr marL="0" indent="0" algn="ctr">
              <a:buNone/>
            </a:pPr>
            <a:r>
              <a:rPr lang="en-US" sz="930" dirty="0">
                <a:solidFill>
                  <a:srgbClr val="0C2C6B"/>
                </a:solidFill>
                <a:latin typeface="Aptos" pitchFamily="34" charset="0"/>
                <a:ea typeface="Aptos" pitchFamily="34" charset="-122"/>
                <a:cs typeface="Aptos" pitchFamily="34" charset="-120"/>
              </a:rPr>
              <a:t>bestanden geraakt</a:t>
            </a:r>
            <a:endParaRPr lang="en-US" sz="930" dirty="0"/>
          </a:p>
        </p:txBody>
      </p:sp>
      <p:sp>
        <p:nvSpPr>
          <p:cNvPr id="17" name="Shape 13"/>
          <p:cNvSpPr/>
          <p:nvPr/>
        </p:nvSpPr>
        <p:spPr>
          <a:xfrm>
            <a:off x="10616184" y="1828800"/>
            <a:ext cx="694944" cy="914400"/>
          </a:xfrm>
          <a:prstGeom prst="roundRect">
            <a:avLst>
              <a:gd name="adj" fmla="val 10526"/>
            </a:avLst>
          </a:prstGeom>
          <a:solidFill>
            <a:srgbClr val="EAF5FF"/>
          </a:solidFill>
          <a:ln w="12700">
            <a:solidFill>
              <a:srgbClr val="B7D7F2"/>
            </a:solidFill>
            <a:prstDash val="solid"/>
          </a:ln>
        </p:spPr>
        <p:txBody>
          <a:bodyPr/>
          <a:lstStyle/>
          <a:p>
            <a:endParaRPr lang="nl-NL"/>
          </a:p>
        </p:txBody>
      </p:sp>
      <p:sp>
        <p:nvSpPr>
          <p:cNvPr id="18" name="Text 14"/>
          <p:cNvSpPr/>
          <p:nvPr/>
        </p:nvSpPr>
        <p:spPr>
          <a:xfrm>
            <a:off x="10707624" y="2002536"/>
            <a:ext cx="512064" cy="201168"/>
          </a:xfrm>
          <a:prstGeom prst="rect">
            <a:avLst/>
          </a:prstGeom>
          <a:noFill/>
          <a:ln/>
        </p:spPr>
        <p:txBody>
          <a:bodyPr wrap="square" lIns="0" tIns="0" rIns="0" bIns="0" rtlCol="0" anchor="ctr"/>
          <a:lstStyle/>
          <a:p>
            <a:pPr marL="0" indent="0" algn="ctr">
              <a:buNone/>
            </a:pPr>
            <a:r>
              <a:rPr lang="en-US" sz="2100" b="1" dirty="0">
                <a:solidFill>
                  <a:srgbClr val="0C2C6B"/>
                </a:solidFill>
                <a:latin typeface="Aptos Display" pitchFamily="34" charset="0"/>
                <a:ea typeface="Aptos Display" pitchFamily="34" charset="-122"/>
                <a:cs typeface="Aptos Display" pitchFamily="34" charset="-120"/>
              </a:rPr>
              <a:t>2</a:t>
            </a:r>
            <a:endParaRPr lang="en-US" sz="2100" dirty="0"/>
          </a:p>
        </p:txBody>
      </p:sp>
      <p:sp>
        <p:nvSpPr>
          <p:cNvPr id="19" name="Text 15"/>
          <p:cNvSpPr/>
          <p:nvPr/>
        </p:nvSpPr>
        <p:spPr>
          <a:xfrm>
            <a:off x="10652760" y="2313432"/>
            <a:ext cx="621792" cy="201168"/>
          </a:xfrm>
          <a:prstGeom prst="rect">
            <a:avLst/>
          </a:prstGeom>
          <a:noFill/>
          <a:ln/>
        </p:spPr>
        <p:txBody>
          <a:bodyPr wrap="square" lIns="0" tIns="0" rIns="0" bIns="0" rtlCol="0" anchor="ctr"/>
          <a:lstStyle/>
          <a:p>
            <a:pPr marL="0" indent="0" algn="ctr">
              <a:buNone/>
            </a:pPr>
            <a:r>
              <a:rPr lang="en-US" sz="930" dirty="0">
                <a:solidFill>
                  <a:srgbClr val="0C2C6B"/>
                </a:solidFill>
                <a:latin typeface="Aptos" pitchFamily="34" charset="0"/>
                <a:ea typeface="Aptos" pitchFamily="34" charset="-122"/>
                <a:cs typeface="Aptos" pitchFamily="34" charset="-120"/>
              </a:rPr>
              <a:t>dagen met meldingen</a:t>
            </a:r>
            <a:endParaRPr lang="en-US" sz="930" dirty="0"/>
          </a:p>
        </p:txBody>
      </p:sp>
      <p:sp>
        <p:nvSpPr>
          <p:cNvPr id="20" name="Shape 16"/>
          <p:cNvSpPr/>
          <p:nvPr/>
        </p:nvSpPr>
        <p:spPr>
          <a:xfrm>
            <a:off x="6473952" y="3511296"/>
            <a:ext cx="4992624" cy="2459736"/>
          </a:xfrm>
          <a:prstGeom prst="roundRect">
            <a:avLst>
              <a:gd name="adj" fmla="val 3556"/>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21" name="Text 17"/>
          <p:cNvSpPr/>
          <p:nvPr/>
        </p:nvSpPr>
        <p:spPr>
          <a:xfrm>
            <a:off x="6711696" y="3785616"/>
            <a:ext cx="182880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Interpretatie</a:t>
            </a:r>
            <a:endParaRPr lang="en-US" sz="1650" dirty="0"/>
          </a:p>
        </p:txBody>
      </p:sp>
      <p:sp>
        <p:nvSpPr>
          <p:cNvPr id="22" name="Text 18"/>
          <p:cNvSpPr/>
          <p:nvPr/>
        </p:nvSpPr>
        <p:spPr>
          <a:xfrm>
            <a:off x="6711696" y="4087368"/>
            <a:ext cx="164592" cy="228600"/>
          </a:xfrm>
          <a:prstGeom prst="rect">
            <a:avLst/>
          </a:prstGeom>
          <a:noFill/>
          <a:ln/>
        </p:spPr>
        <p:txBody>
          <a:bodyPr wrap="square" lIns="0" tIns="0" rIns="0" bIns="0" rtlCol="0" anchor="ctr"/>
          <a:lstStyle/>
          <a:p>
            <a:pPr marL="0" indent="0">
              <a:buNone/>
            </a:pPr>
            <a:r>
              <a:rPr lang="en-US" sz="1490" b="1" dirty="0">
                <a:solidFill>
                  <a:srgbClr val="F2C54B"/>
                </a:solidFill>
                <a:latin typeface="Aptos" pitchFamily="34" charset="0"/>
                <a:ea typeface="Aptos" pitchFamily="34" charset="-122"/>
                <a:cs typeface="Aptos" pitchFamily="34" charset="-120"/>
              </a:rPr>
              <a:t>•</a:t>
            </a:r>
            <a:endParaRPr lang="en-US" sz="1490" dirty="0"/>
          </a:p>
        </p:txBody>
      </p:sp>
      <p:sp>
        <p:nvSpPr>
          <p:cNvPr id="23" name="Text 19"/>
          <p:cNvSpPr/>
          <p:nvPr/>
        </p:nvSpPr>
        <p:spPr>
          <a:xfrm>
            <a:off x="6912864" y="4096512"/>
            <a:ext cx="4133088" cy="374904"/>
          </a:xfrm>
          <a:prstGeom prst="rect">
            <a:avLst/>
          </a:prstGeom>
          <a:noFill/>
          <a:ln/>
        </p:spPr>
        <p:txBody>
          <a:bodyPr wrap="square" rtlCol="0" anchor="t"/>
          <a:lstStyle/>
          <a:p>
            <a:pPr marL="0" indent="0">
              <a:buNone/>
            </a:pPr>
            <a:r>
              <a:rPr lang="en-US" sz="1390" dirty="0">
                <a:solidFill>
                  <a:srgbClr val="0C2C6B"/>
                </a:solidFill>
                <a:latin typeface="Aptos" pitchFamily="34" charset="0"/>
                <a:ea typeface="Aptos" pitchFamily="34" charset="-122"/>
                <a:cs typeface="Aptos" pitchFamily="34" charset="-120"/>
              </a:rPr>
              <a:t>body.value ontbreekt gemiddeld in 88% van de records; path in 64%.</a:t>
            </a:r>
            <a:endParaRPr lang="en-US" sz="1390" dirty="0"/>
          </a:p>
        </p:txBody>
      </p:sp>
      <p:sp>
        <p:nvSpPr>
          <p:cNvPr id="24" name="Text 20"/>
          <p:cNvSpPr/>
          <p:nvPr/>
        </p:nvSpPr>
        <p:spPr>
          <a:xfrm>
            <a:off x="6711696" y="4535424"/>
            <a:ext cx="164592" cy="228600"/>
          </a:xfrm>
          <a:prstGeom prst="rect">
            <a:avLst/>
          </a:prstGeom>
          <a:noFill/>
          <a:ln/>
        </p:spPr>
        <p:txBody>
          <a:bodyPr wrap="square" lIns="0" tIns="0" rIns="0" bIns="0" rtlCol="0" anchor="ctr"/>
          <a:lstStyle/>
          <a:p>
            <a:pPr marL="0" indent="0">
              <a:buNone/>
            </a:pPr>
            <a:r>
              <a:rPr lang="en-US" sz="1490" b="1" dirty="0">
                <a:solidFill>
                  <a:srgbClr val="F2C54B"/>
                </a:solidFill>
                <a:latin typeface="Aptos" pitchFamily="34" charset="0"/>
                <a:ea typeface="Aptos" pitchFamily="34" charset="-122"/>
                <a:cs typeface="Aptos" pitchFamily="34" charset="-120"/>
              </a:rPr>
              <a:t>•</a:t>
            </a:r>
            <a:endParaRPr lang="en-US" sz="1490" dirty="0"/>
          </a:p>
        </p:txBody>
      </p:sp>
      <p:sp>
        <p:nvSpPr>
          <p:cNvPr id="25" name="Text 21"/>
          <p:cNvSpPr/>
          <p:nvPr/>
        </p:nvSpPr>
        <p:spPr>
          <a:xfrm>
            <a:off x="6912864" y="4544568"/>
            <a:ext cx="4133088" cy="374904"/>
          </a:xfrm>
          <a:prstGeom prst="rect">
            <a:avLst/>
          </a:prstGeom>
          <a:noFill/>
          <a:ln/>
        </p:spPr>
        <p:txBody>
          <a:bodyPr wrap="square" rtlCol="0" anchor="t"/>
          <a:lstStyle/>
          <a:p>
            <a:pPr marL="0" indent="0">
              <a:buNone/>
            </a:pPr>
            <a:r>
              <a:rPr lang="en-US" sz="1390" dirty="0">
                <a:solidFill>
                  <a:srgbClr val="0C2C6B"/>
                </a:solidFill>
                <a:latin typeface="Aptos" pitchFamily="34" charset="0"/>
                <a:ea typeface="Aptos" pitchFamily="34" charset="-122"/>
                <a:cs typeface="Aptos" pitchFamily="34" charset="-120"/>
              </a:rPr>
              <a:t>Tijd- en user-agentinformatie ontbreekt structureel in de exports. Daardoor zijn spike-analyse en profielen beperkt.</a:t>
            </a:r>
            <a:endParaRPr lang="en-US" sz="1390" dirty="0"/>
          </a:p>
        </p:txBody>
      </p:sp>
      <p:sp>
        <p:nvSpPr>
          <p:cNvPr id="26" name="Text 22"/>
          <p:cNvSpPr/>
          <p:nvPr/>
        </p:nvSpPr>
        <p:spPr>
          <a:xfrm>
            <a:off x="6706431" y="5202936"/>
            <a:ext cx="164592" cy="228600"/>
          </a:xfrm>
          <a:prstGeom prst="rect">
            <a:avLst/>
          </a:prstGeom>
          <a:noFill/>
          <a:ln/>
        </p:spPr>
        <p:txBody>
          <a:bodyPr wrap="square" lIns="0" tIns="0" rIns="0" bIns="0" rtlCol="0" anchor="ctr"/>
          <a:lstStyle/>
          <a:p>
            <a:pPr marL="0" indent="0">
              <a:buNone/>
            </a:pPr>
            <a:r>
              <a:rPr lang="en-US" sz="1490" b="1" dirty="0">
                <a:solidFill>
                  <a:srgbClr val="F2C54B"/>
                </a:solidFill>
                <a:latin typeface="Aptos" pitchFamily="34" charset="0"/>
                <a:ea typeface="Aptos" pitchFamily="34" charset="-122"/>
                <a:cs typeface="Aptos" pitchFamily="34" charset="-120"/>
              </a:rPr>
              <a:t>•</a:t>
            </a:r>
            <a:endParaRPr lang="en-US" sz="1490" dirty="0"/>
          </a:p>
        </p:txBody>
      </p:sp>
      <p:sp>
        <p:nvSpPr>
          <p:cNvPr id="27" name="Text 23"/>
          <p:cNvSpPr/>
          <p:nvPr/>
        </p:nvSpPr>
        <p:spPr>
          <a:xfrm>
            <a:off x="6903720" y="5193791"/>
            <a:ext cx="4133088" cy="691619"/>
          </a:xfrm>
          <a:prstGeom prst="rect">
            <a:avLst/>
          </a:prstGeom>
          <a:noFill/>
          <a:ln/>
        </p:spPr>
        <p:txBody>
          <a:bodyPr wrap="square" rtlCol="0" anchor="t"/>
          <a:lstStyle/>
          <a:p>
            <a:pPr marL="0" indent="0">
              <a:buNone/>
            </a:pPr>
            <a:r>
              <a:rPr lang="en-US" sz="1390" dirty="0">
                <a:solidFill>
                  <a:srgbClr val="0C2C6B"/>
                </a:solidFill>
                <a:latin typeface="Aptos" pitchFamily="34" charset="0"/>
                <a:ea typeface="Aptos" pitchFamily="34" charset="-122"/>
                <a:cs typeface="Aptos" pitchFamily="34" charset="-120"/>
              </a:rPr>
              <a:t>De 9 detail-anomalieën zijn allemaal invalid_ip_format op 7–8 augustus en lijken op een lokale export-/formatfout.</a:t>
            </a:r>
            <a:endParaRPr lang="en-US" sz="1390" dirty="0"/>
          </a:p>
        </p:txBody>
      </p:sp>
      <p:sp>
        <p:nvSpPr>
          <p:cNvPr id="28" name="Shape 24"/>
          <p:cNvSpPr/>
          <p:nvPr/>
        </p:nvSpPr>
        <p:spPr>
          <a:xfrm>
            <a:off x="621792" y="4828032"/>
            <a:ext cx="5669280" cy="749808"/>
          </a:xfrm>
          <a:prstGeom prst="roundRect">
            <a:avLst>
              <a:gd name="adj" fmla="val 9756"/>
            </a:avLst>
          </a:prstGeom>
          <a:solidFill>
            <a:srgbClr val="EAF5FF"/>
          </a:solidFill>
          <a:ln w="12700">
            <a:solidFill>
              <a:srgbClr val="8CB9E7"/>
            </a:solidFill>
            <a:prstDash val="solid"/>
          </a:ln>
        </p:spPr>
        <p:txBody>
          <a:bodyPr/>
          <a:lstStyle/>
          <a:p>
            <a:endParaRPr lang="nl-NL"/>
          </a:p>
        </p:txBody>
      </p:sp>
      <p:sp>
        <p:nvSpPr>
          <p:cNvPr id="29" name="Text 25"/>
          <p:cNvSpPr/>
          <p:nvPr/>
        </p:nvSpPr>
        <p:spPr>
          <a:xfrm>
            <a:off x="868680" y="5056632"/>
            <a:ext cx="5212080" cy="274320"/>
          </a:xfrm>
          <a:prstGeom prst="rect">
            <a:avLst/>
          </a:prstGeom>
          <a:noFill/>
          <a:ln/>
        </p:spPr>
        <p:txBody>
          <a:bodyPr wrap="square" lIns="0" tIns="0" rIns="0" bIns="0" rtlCol="0" anchor="ctr"/>
          <a:lstStyle/>
          <a:p>
            <a:pPr marL="0" indent="0" algn="ctr">
              <a:buNone/>
            </a:pPr>
            <a:r>
              <a:rPr lang="en-US" sz="1340" dirty="0">
                <a:solidFill>
                  <a:srgbClr val="0C2C6B"/>
                </a:solidFill>
                <a:latin typeface="Aptos" pitchFamily="34" charset="0"/>
                <a:ea typeface="Aptos" pitchFamily="34" charset="-122"/>
                <a:cs typeface="Aptos" pitchFamily="34" charset="-120"/>
              </a:rPr>
              <a:t>Belangrijk voor het verhaal: onze eigen analyse versterkt vooral de context over doelwitten en datakwaliteit; niet alle technische aanvalsvragen zijn met deze exports hard te beantwoorden.</a:t>
            </a:r>
            <a:endParaRPr lang="en-US" sz="1340" dirty="0"/>
          </a:p>
        </p:txBody>
      </p:sp>
      <p:sp>
        <p:nvSpPr>
          <p:cNvPr id="30"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7</a:t>
            </a:fld>
            <a:endParaRPr lang="en-US"/>
          </a:p>
        </p:txBody>
      </p:sp>
      <p:sp>
        <p:nvSpPr>
          <p:cNvPr id="31" name="Rechthoek 30">
            <a:extLst>
              <a:ext uri="{FF2B5EF4-FFF2-40B4-BE49-F238E27FC236}">
                <a16:creationId xmlns:a16="http://schemas.microsoft.com/office/drawing/2014/main" id="{E6A40A1F-A920-BE07-A118-309235DEB78F}"/>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33" name="Afbeelding 32">
            <a:extLst>
              <a:ext uri="{FF2B5EF4-FFF2-40B4-BE49-F238E27FC236}">
                <a16:creationId xmlns:a16="http://schemas.microsoft.com/office/drawing/2014/main" id="{0985D03B-E3B6-ED7D-6924-FE2B0A7B3F3C}"/>
              </a:ext>
            </a:extLst>
          </p:cNvPr>
          <p:cNvPicPr>
            <a:picLocks noChangeAspect="1"/>
          </p:cNvPicPr>
          <p:nvPr/>
        </p:nvPicPr>
        <p:blipFill>
          <a:blip r:embed="rId5"/>
          <a:stretch>
            <a:fillRect/>
          </a:stretch>
        </p:blipFill>
        <p:spPr>
          <a:xfrm>
            <a:off x="10636690" y="-32419"/>
            <a:ext cx="1469413" cy="1469413"/>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Antwoorden op de onderzoeksvragen</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Kort, direct en verdedigbaar</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Q&amp;A kernantwoorden</a:t>
            </a:r>
            <a:endParaRPr lang="en-US" sz="960" dirty="0"/>
          </a:p>
        </p:txBody>
      </p:sp>
      <p:sp>
        <p:nvSpPr>
          <p:cNvPr id="5" name="Shape 3"/>
          <p:cNvSpPr/>
          <p:nvPr/>
        </p:nvSpPr>
        <p:spPr>
          <a:xfrm>
            <a:off x="713232" y="1353312"/>
            <a:ext cx="5321808" cy="1755648"/>
          </a:xfrm>
          <a:prstGeom prst="roundRect">
            <a:avLst>
              <a:gd name="adj" fmla="val 4167"/>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77824" y="1536192"/>
            <a:ext cx="182880" cy="182880"/>
          </a:xfrm>
          <a:prstGeom prst="rect">
            <a:avLst/>
          </a:prstGeom>
          <a:noFill/>
          <a:ln/>
        </p:spPr>
        <p:txBody>
          <a:bodyPr wrap="square" lIns="0" tIns="0" rIns="0" bIns="0" rtlCol="0" anchor="ctr"/>
          <a:lstStyle/>
          <a:p>
            <a:pPr marL="0" indent="0">
              <a:buNone/>
            </a:pPr>
            <a:r>
              <a:rPr lang="en-US" sz="1300" b="1" dirty="0">
                <a:solidFill>
                  <a:srgbClr val="F2C54B"/>
                </a:solidFill>
                <a:latin typeface="Aptos" pitchFamily="34" charset="0"/>
                <a:ea typeface="Aptos" pitchFamily="34" charset="-122"/>
                <a:cs typeface="Aptos" pitchFamily="34" charset="-120"/>
              </a:rPr>
              <a:t>1</a:t>
            </a:r>
            <a:endParaRPr lang="en-US" sz="1300" dirty="0"/>
          </a:p>
        </p:txBody>
      </p:sp>
      <p:sp>
        <p:nvSpPr>
          <p:cNvPr id="7" name="Text 5"/>
          <p:cNvSpPr/>
          <p:nvPr/>
        </p:nvSpPr>
        <p:spPr>
          <a:xfrm>
            <a:off x="1152144" y="1572768"/>
            <a:ext cx="265176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Motivatie</a:t>
            </a:r>
            <a:endParaRPr lang="en-US" sz="1650" dirty="0"/>
          </a:p>
        </p:txBody>
      </p:sp>
      <p:sp>
        <p:nvSpPr>
          <p:cNvPr id="8" name="Text 6"/>
          <p:cNvSpPr/>
          <p:nvPr/>
        </p:nvSpPr>
        <p:spPr>
          <a:xfrm>
            <a:off x="969264" y="1920240"/>
            <a:ext cx="4736592" cy="868680"/>
          </a:xfrm>
          <a:prstGeom prst="rect">
            <a:avLst/>
          </a:prstGeom>
          <a:noFill/>
          <a:ln/>
        </p:spPr>
        <p:txBody>
          <a:bodyPr wrap="square" lIns="127" tIns="127" rIns="127" bIns="127" rtlCol="0" anchor="ctr"/>
          <a:lstStyle/>
          <a:p>
            <a:pPr marL="0" indent="0">
              <a:buNone/>
            </a:pPr>
            <a:r>
              <a:rPr lang="en-US" sz="1546" dirty="0">
                <a:solidFill>
                  <a:srgbClr val="0C2C6B"/>
                </a:solidFill>
              </a:rPr>
              <a:t>Vooral ideologisch en geopolitiek; pro-Russische verstoringsaanvallen.</a:t>
            </a:r>
            <a:endParaRPr lang="en-US" sz="1546" dirty="0"/>
          </a:p>
        </p:txBody>
      </p:sp>
      <p:sp>
        <p:nvSpPr>
          <p:cNvPr id="9" name="Shape 7"/>
          <p:cNvSpPr/>
          <p:nvPr/>
        </p:nvSpPr>
        <p:spPr>
          <a:xfrm>
            <a:off x="6144768" y="1353312"/>
            <a:ext cx="5321808" cy="1755648"/>
          </a:xfrm>
          <a:prstGeom prst="roundRect">
            <a:avLst>
              <a:gd name="adj" fmla="val 4167"/>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10" name="Text 8"/>
          <p:cNvSpPr/>
          <p:nvPr/>
        </p:nvSpPr>
        <p:spPr>
          <a:xfrm>
            <a:off x="6309360" y="1536192"/>
            <a:ext cx="182880" cy="182880"/>
          </a:xfrm>
          <a:prstGeom prst="rect">
            <a:avLst/>
          </a:prstGeom>
          <a:noFill/>
          <a:ln/>
        </p:spPr>
        <p:txBody>
          <a:bodyPr wrap="square" lIns="0" tIns="0" rIns="0" bIns="0" rtlCol="0" anchor="ctr"/>
          <a:lstStyle/>
          <a:p>
            <a:pPr marL="0" indent="0">
              <a:buNone/>
            </a:pPr>
            <a:r>
              <a:rPr lang="en-US" sz="1300" b="1" dirty="0">
                <a:solidFill>
                  <a:srgbClr val="F2C54B"/>
                </a:solidFill>
                <a:latin typeface="Aptos" pitchFamily="34" charset="0"/>
                <a:ea typeface="Aptos" pitchFamily="34" charset="-122"/>
                <a:cs typeface="Aptos" pitchFamily="34" charset="-120"/>
              </a:rPr>
              <a:t>2</a:t>
            </a:r>
            <a:endParaRPr lang="en-US" sz="1300" dirty="0"/>
          </a:p>
        </p:txBody>
      </p:sp>
      <p:sp>
        <p:nvSpPr>
          <p:cNvPr id="11" name="Text 9"/>
          <p:cNvSpPr/>
          <p:nvPr/>
        </p:nvSpPr>
        <p:spPr>
          <a:xfrm>
            <a:off x="6583680" y="1572768"/>
            <a:ext cx="265176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Alleen DDoS?</a:t>
            </a:r>
            <a:endParaRPr lang="en-US" sz="1650" dirty="0"/>
          </a:p>
        </p:txBody>
      </p:sp>
      <p:sp>
        <p:nvSpPr>
          <p:cNvPr id="12" name="Text 10"/>
          <p:cNvSpPr/>
          <p:nvPr/>
        </p:nvSpPr>
        <p:spPr>
          <a:xfrm>
            <a:off x="6400800" y="1920240"/>
            <a:ext cx="4736592" cy="868680"/>
          </a:xfrm>
          <a:prstGeom prst="rect">
            <a:avLst/>
          </a:prstGeom>
          <a:noFill/>
          <a:ln/>
        </p:spPr>
        <p:txBody>
          <a:bodyPr wrap="square" lIns="127" tIns="127" rIns="127" bIns="127" rtlCol="0" anchor="ctr"/>
          <a:lstStyle/>
          <a:p>
            <a:pPr marL="0" indent="0">
              <a:buNone/>
            </a:pPr>
            <a:r>
              <a:rPr lang="en-US" sz="1456" dirty="0">
                <a:solidFill>
                  <a:srgbClr val="0C2C6B"/>
                </a:solidFill>
              </a:rPr>
              <a:t>Openbare bronnen wijzen vooral op DDoS. Formuleer dit liever als “vooral DDoS” dan “uitsluitend DDoS”.</a:t>
            </a:r>
            <a:endParaRPr lang="en-US" sz="1456" dirty="0"/>
          </a:p>
        </p:txBody>
      </p:sp>
      <p:sp>
        <p:nvSpPr>
          <p:cNvPr id="13" name="Shape 11"/>
          <p:cNvSpPr/>
          <p:nvPr/>
        </p:nvSpPr>
        <p:spPr>
          <a:xfrm>
            <a:off x="713232" y="3493008"/>
            <a:ext cx="5321808" cy="1755648"/>
          </a:xfrm>
          <a:prstGeom prst="roundRect">
            <a:avLst>
              <a:gd name="adj" fmla="val 4167"/>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14" name="Text 12"/>
          <p:cNvSpPr/>
          <p:nvPr/>
        </p:nvSpPr>
        <p:spPr>
          <a:xfrm>
            <a:off x="877824" y="3675888"/>
            <a:ext cx="182880" cy="182880"/>
          </a:xfrm>
          <a:prstGeom prst="rect">
            <a:avLst/>
          </a:prstGeom>
          <a:noFill/>
          <a:ln/>
        </p:spPr>
        <p:txBody>
          <a:bodyPr wrap="square" lIns="0" tIns="0" rIns="0" bIns="0" rtlCol="0" anchor="ctr"/>
          <a:lstStyle/>
          <a:p>
            <a:pPr marL="0" indent="0">
              <a:buNone/>
            </a:pPr>
            <a:r>
              <a:rPr lang="en-US" sz="1300" b="1" dirty="0">
                <a:solidFill>
                  <a:srgbClr val="F2C54B"/>
                </a:solidFill>
                <a:latin typeface="Aptos" pitchFamily="34" charset="0"/>
                <a:ea typeface="Aptos" pitchFamily="34" charset="-122"/>
                <a:cs typeface="Aptos" pitchFamily="34" charset="-120"/>
              </a:rPr>
              <a:t>3</a:t>
            </a:r>
            <a:endParaRPr lang="en-US" sz="1300" dirty="0"/>
          </a:p>
        </p:txBody>
      </p:sp>
      <p:sp>
        <p:nvSpPr>
          <p:cNvPr id="15" name="Text 13"/>
          <p:cNvSpPr/>
          <p:nvPr/>
        </p:nvSpPr>
        <p:spPr>
          <a:xfrm>
            <a:off x="1152144" y="3712464"/>
            <a:ext cx="265176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vallen ze vaak aan?</a:t>
            </a:r>
            <a:endParaRPr lang="en-US" sz="1650" dirty="0"/>
          </a:p>
        </p:txBody>
      </p:sp>
      <p:sp>
        <p:nvSpPr>
          <p:cNvPr id="16" name="Text 14"/>
          <p:cNvSpPr/>
          <p:nvPr/>
        </p:nvSpPr>
        <p:spPr>
          <a:xfrm>
            <a:off x="969264" y="4059936"/>
            <a:ext cx="4736592" cy="868680"/>
          </a:xfrm>
          <a:prstGeom prst="rect">
            <a:avLst/>
          </a:prstGeom>
          <a:noFill/>
          <a:ln/>
        </p:spPr>
        <p:txBody>
          <a:bodyPr wrap="square" lIns="127" tIns="127" rIns="127" bIns="127" rtlCol="0" anchor="ctr"/>
          <a:lstStyle/>
          <a:p>
            <a:pPr marL="0" indent="0">
              <a:buNone/>
            </a:pPr>
            <a:r>
              <a:rPr lang="en-US" sz="1331" dirty="0">
                <a:solidFill>
                  <a:srgbClr val="0C2C6B"/>
                </a:solidFill>
              </a:rPr>
              <a:t>Met name publieke en politiek zichtbare organisaties; bij gebeurtenissen ook andere kritieke diensten zoals vervoer.</a:t>
            </a:r>
            <a:endParaRPr lang="en-US" sz="1331" dirty="0"/>
          </a:p>
        </p:txBody>
      </p:sp>
      <p:sp>
        <p:nvSpPr>
          <p:cNvPr id="17" name="Shape 15"/>
          <p:cNvSpPr/>
          <p:nvPr/>
        </p:nvSpPr>
        <p:spPr>
          <a:xfrm>
            <a:off x="6144768" y="3493008"/>
            <a:ext cx="5321808" cy="1755648"/>
          </a:xfrm>
          <a:prstGeom prst="roundRect">
            <a:avLst>
              <a:gd name="adj" fmla="val 4167"/>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18" name="Text 16"/>
          <p:cNvSpPr/>
          <p:nvPr/>
        </p:nvSpPr>
        <p:spPr>
          <a:xfrm>
            <a:off x="6309360" y="3675888"/>
            <a:ext cx="182880" cy="182880"/>
          </a:xfrm>
          <a:prstGeom prst="rect">
            <a:avLst/>
          </a:prstGeom>
          <a:noFill/>
          <a:ln/>
        </p:spPr>
        <p:txBody>
          <a:bodyPr wrap="square" lIns="0" tIns="0" rIns="0" bIns="0" rtlCol="0" anchor="ctr"/>
          <a:lstStyle/>
          <a:p>
            <a:pPr marL="0" indent="0">
              <a:buNone/>
            </a:pPr>
            <a:r>
              <a:rPr lang="en-US" sz="1300" b="1" dirty="0">
                <a:solidFill>
                  <a:srgbClr val="F2C54B"/>
                </a:solidFill>
                <a:latin typeface="Aptos" pitchFamily="34" charset="0"/>
                <a:ea typeface="Aptos" pitchFamily="34" charset="-122"/>
                <a:cs typeface="Aptos" pitchFamily="34" charset="-120"/>
              </a:rPr>
              <a:t>4</a:t>
            </a:r>
            <a:endParaRPr lang="en-US" sz="1300" dirty="0"/>
          </a:p>
        </p:txBody>
      </p:sp>
      <p:sp>
        <p:nvSpPr>
          <p:cNvPr id="19" name="Text 17"/>
          <p:cNvSpPr/>
          <p:nvPr/>
        </p:nvSpPr>
        <p:spPr>
          <a:xfrm>
            <a:off x="6583680" y="3712464"/>
            <a:ext cx="265176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Wat is relevant voor NL?</a:t>
            </a:r>
            <a:endParaRPr lang="en-US" sz="1650" dirty="0"/>
          </a:p>
        </p:txBody>
      </p:sp>
      <p:sp>
        <p:nvSpPr>
          <p:cNvPr id="20" name="Text 18"/>
          <p:cNvSpPr/>
          <p:nvPr/>
        </p:nvSpPr>
        <p:spPr>
          <a:xfrm>
            <a:off x="6400800" y="4059936"/>
            <a:ext cx="4736592" cy="868680"/>
          </a:xfrm>
          <a:prstGeom prst="rect">
            <a:avLst/>
          </a:prstGeom>
          <a:noFill/>
          <a:ln/>
        </p:spPr>
        <p:txBody>
          <a:bodyPr wrap="square" lIns="127" tIns="127" rIns="127" bIns="127" rtlCol="0" anchor="ctr"/>
          <a:lstStyle/>
          <a:p>
            <a:pPr marL="0" indent="0">
              <a:buNone/>
            </a:pPr>
            <a:r>
              <a:rPr lang="en-US" sz="1460" dirty="0">
                <a:solidFill>
                  <a:srgbClr val="0C2C6B"/>
                </a:solidFill>
              </a:rPr>
              <a:t>Nederland is geen losstaand geval. Aanvallen rond de NAVO-top passen in een breder Europees patroon.</a:t>
            </a:r>
            <a:endParaRPr lang="en-US" sz="146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8</a:t>
            </a:fld>
            <a:endParaRPr lang="en-US"/>
          </a:p>
        </p:txBody>
      </p:sp>
      <p:sp>
        <p:nvSpPr>
          <p:cNvPr id="21" name="Rechthoek 20">
            <a:extLst>
              <a:ext uri="{FF2B5EF4-FFF2-40B4-BE49-F238E27FC236}">
                <a16:creationId xmlns:a16="http://schemas.microsoft.com/office/drawing/2014/main" id="{1E062AF9-83D4-798D-D50C-58579D170410}"/>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22" name="Afbeelding 21">
            <a:extLst>
              <a:ext uri="{FF2B5EF4-FFF2-40B4-BE49-F238E27FC236}">
                <a16:creationId xmlns:a16="http://schemas.microsoft.com/office/drawing/2014/main" id="{948B7A2E-89C0-6C9C-A899-358289306C19}"/>
              </a:ext>
            </a:extLst>
          </p:cNvPr>
          <p:cNvPicPr>
            <a:picLocks noChangeAspect="1"/>
          </p:cNvPicPr>
          <p:nvPr/>
        </p:nvPicPr>
        <p:blipFill>
          <a:blip r:embed="rId3"/>
          <a:stretch>
            <a:fillRect/>
          </a:stretch>
        </p:blipFill>
        <p:spPr>
          <a:xfrm>
            <a:off x="10636690" y="-32419"/>
            <a:ext cx="1469413" cy="146941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Conclusie</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Wat je als eindboodschap kunt onthouden</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Conclusie</a:t>
            </a:r>
            <a:endParaRPr lang="en-US" sz="960" dirty="0"/>
          </a:p>
        </p:txBody>
      </p:sp>
      <p:sp>
        <p:nvSpPr>
          <p:cNvPr id="5" name="Shape 3"/>
          <p:cNvSpPr/>
          <p:nvPr/>
        </p:nvSpPr>
        <p:spPr>
          <a:xfrm>
            <a:off x="621792" y="1298448"/>
            <a:ext cx="7406640" cy="4187952"/>
          </a:xfrm>
          <a:prstGeom prst="roundRect">
            <a:avLst>
              <a:gd name="adj" fmla="val 1747"/>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96112" y="1627632"/>
            <a:ext cx="20116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Samenvatting</a:t>
            </a:r>
            <a:endParaRPr lang="en-US" sz="1650" dirty="0"/>
          </a:p>
        </p:txBody>
      </p:sp>
      <p:sp>
        <p:nvSpPr>
          <p:cNvPr id="7" name="Text 5"/>
          <p:cNvSpPr/>
          <p:nvPr/>
        </p:nvSpPr>
        <p:spPr>
          <a:xfrm>
            <a:off x="896112" y="1993392"/>
            <a:ext cx="6821424" cy="2194560"/>
          </a:xfrm>
          <a:prstGeom prst="rect">
            <a:avLst/>
          </a:prstGeom>
          <a:noFill/>
          <a:ln/>
        </p:spPr>
        <p:txBody>
          <a:bodyPr wrap="square" lIns="254" tIns="254" rIns="254" bIns="254" rtlCol="0" anchor="ctr"/>
          <a:lstStyle/>
          <a:p>
            <a:pPr marL="0" indent="0">
              <a:buNone/>
            </a:pPr>
            <a:r>
              <a:rPr lang="en-US" sz="1700" dirty="0">
                <a:solidFill>
                  <a:srgbClr val="0C2C6B"/>
                </a:solidFill>
                <a:latin typeface="Aptos" pitchFamily="34" charset="0"/>
                <a:ea typeface="Aptos" pitchFamily="34" charset="-122"/>
                <a:cs typeface="Aptos" pitchFamily="34" charset="-120"/>
              </a:rPr>
              <a:t>NoName057(16) is het best te typeren als een pro-Russische hacktivistische groep die vooral DDoS inzet om publieke en symbolische doelwitten tijdelijk te verstoren. Onze data ondersteunt vooral het beeld van een breed Europees doelwittenpatroon, maar laat ook zien dat de exports inhoudelijke beperkingen hebben door ontbrekende velden. Voor Nederland is dit relevant omdat aanvallen rond de NAVO-top niet op zichzelf staan, maar passen in een herkenbaar Europees patroon van geopolitiek gedreven verstoringsaanvallen.</a:t>
            </a:r>
            <a:endParaRPr lang="en-US" sz="1700" dirty="0"/>
          </a:p>
        </p:txBody>
      </p:sp>
      <p:sp>
        <p:nvSpPr>
          <p:cNvPr id="8" name="Shape 6"/>
          <p:cNvSpPr/>
          <p:nvPr/>
        </p:nvSpPr>
        <p:spPr>
          <a:xfrm>
            <a:off x="8247888" y="1298448"/>
            <a:ext cx="3218688" cy="1115568"/>
          </a:xfrm>
          <a:prstGeom prst="roundRect">
            <a:avLst>
              <a:gd name="adj" fmla="val 6557"/>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9" name="Text 7"/>
          <p:cNvSpPr/>
          <p:nvPr/>
        </p:nvSpPr>
        <p:spPr>
          <a:xfrm>
            <a:off x="8485632" y="1600200"/>
            <a:ext cx="20116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1. Motivatie</a:t>
            </a:r>
            <a:endParaRPr lang="en-US" sz="1650" dirty="0"/>
          </a:p>
        </p:txBody>
      </p:sp>
      <p:sp>
        <p:nvSpPr>
          <p:cNvPr id="10" name="Text 8"/>
          <p:cNvSpPr/>
          <p:nvPr/>
        </p:nvSpPr>
        <p:spPr>
          <a:xfrm>
            <a:off x="8485632" y="1874520"/>
            <a:ext cx="2651760" cy="201168"/>
          </a:xfrm>
          <a:prstGeom prst="rect">
            <a:avLst/>
          </a:prstGeom>
          <a:noFill/>
          <a:ln/>
        </p:spPr>
        <p:txBody>
          <a:bodyPr wrap="square" lIns="0" tIns="0" rIns="0" bIns="0" rtlCol="0" anchor="ctr"/>
          <a:lstStyle/>
          <a:p>
            <a:pPr marL="0" indent="0">
              <a:buNone/>
            </a:pPr>
            <a:r>
              <a:rPr lang="en-US" sz="1380" dirty="0">
                <a:solidFill>
                  <a:srgbClr val="0C2C6B"/>
                </a:solidFill>
                <a:latin typeface="Aptos" pitchFamily="34" charset="0"/>
                <a:ea typeface="Aptos" pitchFamily="34" charset="-122"/>
                <a:cs typeface="Aptos" pitchFamily="34" charset="-120"/>
              </a:rPr>
              <a:t>Ideologisch en geopolitiek</a:t>
            </a:r>
            <a:endParaRPr lang="en-US" sz="1380" dirty="0"/>
          </a:p>
        </p:txBody>
      </p:sp>
      <p:sp>
        <p:nvSpPr>
          <p:cNvPr id="11" name="Shape 9"/>
          <p:cNvSpPr/>
          <p:nvPr/>
        </p:nvSpPr>
        <p:spPr>
          <a:xfrm>
            <a:off x="8247888" y="2615184"/>
            <a:ext cx="3218688" cy="1115568"/>
          </a:xfrm>
          <a:prstGeom prst="roundRect">
            <a:avLst>
              <a:gd name="adj" fmla="val 6557"/>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12" name="Text 10"/>
          <p:cNvSpPr/>
          <p:nvPr/>
        </p:nvSpPr>
        <p:spPr>
          <a:xfrm>
            <a:off x="8485632" y="2916936"/>
            <a:ext cx="182880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2. Methode</a:t>
            </a:r>
            <a:endParaRPr lang="en-US" sz="1650" dirty="0"/>
          </a:p>
        </p:txBody>
      </p:sp>
      <p:sp>
        <p:nvSpPr>
          <p:cNvPr id="13" name="Text 11"/>
          <p:cNvSpPr/>
          <p:nvPr/>
        </p:nvSpPr>
        <p:spPr>
          <a:xfrm>
            <a:off x="8485632" y="3191256"/>
            <a:ext cx="2651760" cy="201168"/>
          </a:xfrm>
          <a:prstGeom prst="rect">
            <a:avLst/>
          </a:prstGeom>
          <a:noFill/>
          <a:ln/>
        </p:spPr>
        <p:txBody>
          <a:bodyPr wrap="square" lIns="0" tIns="0" rIns="0" bIns="0" rtlCol="0" anchor="ctr"/>
          <a:lstStyle/>
          <a:p>
            <a:pPr marL="0" indent="0">
              <a:buNone/>
            </a:pPr>
            <a:r>
              <a:rPr lang="en-US" sz="1380" dirty="0">
                <a:solidFill>
                  <a:srgbClr val="0C2C6B"/>
                </a:solidFill>
                <a:latin typeface="Aptos" pitchFamily="34" charset="0"/>
                <a:ea typeface="Aptos" pitchFamily="34" charset="-122"/>
                <a:cs typeface="Aptos" pitchFamily="34" charset="-120"/>
              </a:rPr>
              <a:t>Vooral DDoS / ontregeling</a:t>
            </a:r>
            <a:endParaRPr lang="en-US" sz="1380" dirty="0"/>
          </a:p>
        </p:txBody>
      </p:sp>
      <p:sp>
        <p:nvSpPr>
          <p:cNvPr id="14" name="Shape 12"/>
          <p:cNvSpPr/>
          <p:nvPr/>
        </p:nvSpPr>
        <p:spPr>
          <a:xfrm>
            <a:off x="8247888" y="3931920"/>
            <a:ext cx="3218688" cy="1115568"/>
          </a:xfrm>
          <a:prstGeom prst="roundRect">
            <a:avLst>
              <a:gd name="adj" fmla="val 6557"/>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15" name="Text 13"/>
          <p:cNvSpPr/>
          <p:nvPr/>
        </p:nvSpPr>
        <p:spPr>
          <a:xfrm>
            <a:off x="8485632" y="4233672"/>
            <a:ext cx="20116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3. NL-relevantie</a:t>
            </a:r>
            <a:endParaRPr lang="en-US" sz="1650" dirty="0"/>
          </a:p>
        </p:txBody>
      </p:sp>
      <p:sp>
        <p:nvSpPr>
          <p:cNvPr id="16" name="Text 14"/>
          <p:cNvSpPr/>
          <p:nvPr/>
        </p:nvSpPr>
        <p:spPr>
          <a:xfrm>
            <a:off x="8485632" y="4507992"/>
            <a:ext cx="2651760" cy="310896"/>
          </a:xfrm>
          <a:prstGeom prst="rect">
            <a:avLst/>
          </a:prstGeom>
          <a:noFill/>
          <a:ln/>
        </p:spPr>
        <p:txBody>
          <a:bodyPr wrap="square" lIns="0" tIns="0" rIns="0" bIns="0" rtlCol="0" anchor="ctr"/>
          <a:lstStyle/>
          <a:p>
            <a:pPr marL="0" indent="0">
              <a:buNone/>
            </a:pPr>
            <a:r>
              <a:rPr lang="en-US" sz="1320" dirty="0">
                <a:solidFill>
                  <a:srgbClr val="0C2C6B"/>
                </a:solidFill>
                <a:latin typeface="Aptos" pitchFamily="34" charset="0"/>
                <a:ea typeface="Aptos" pitchFamily="34" charset="-122"/>
                <a:cs typeface="Aptos" pitchFamily="34" charset="-120"/>
              </a:rPr>
              <a:t>Geen los incident maar deel van breder patroon</a:t>
            </a:r>
            <a:endParaRPr lang="en-US" sz="132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9</a:t>
            </a:fld>
            <a:endParaRPr lang="en-US"/>
          </a:p>
        </p:txBody>
      </p:sp>
      <p:sp>
        <p:nvSpPr>
          <p:cNvPr id="17" name="Rechthoek 16">
            <a:extLst>
              <a:ext uri="{FF2B5EF4-FFF2-40B4-BE49-F238E27FC236}">
                <a16:creationId xmlns:a16="http://schemas.microsoft.com/office/drawing/2014/main" id="{E1F215CB-9B46-A2E9-3C16-5683C4C7230C}"/>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8" name="Afbeelding 17">
            <a:extLst>
              <a:ext uri="{FF2B5EF4-FFF2-40B4-BE49-F238E27FC236}">
                <a16:creationId xmlns:a16="http://schemas.microsoft.com/office/drawing/2014/main" id="{4853F81F-045D-5299-2577-F40666242D9E}"/>
              </a:ext>
            </a:extLst>
          </p:cNvPr>
          <p:cNvPicPr>
            <a:picLocks noChangeAspect="1"/>
          </p:cNvPicPr>
          <p:nvPr/>
        </p:nvPicPr>
        <p:blipFill>
          <a:blip r:embed="rId3"/>
          <a:stretch>
            <a:fillRect/>
          </a:stretch>
        </p:blipFill>
        <p:spPr>
          <a:xfrm>
            <a:off x="10636690" y="-32419"/>
            <a:ext cx="1469413" cy="1469413"/>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40080" y="384048"/>
            <a:ext cx="9875520" cy="420624"/>
          </a:xfrm>
          <a:prstGeom prst="rect">
            <a:avLst/>
          </a:prstGeom>
          <a:noFill/>
          <a:ln/>
        </p:spPr>
        <p:txBody>
          <a:bodyPr wrap="square" lIns="0" tIns="0" rIns="0" bIns="0" rtlCol="0" anchor="ctr"/>
          <a:lstStyle/>
          <a:p>
            <a:pPr marL="0" indent="0">
              <a:buNone/>
            </a:pPr>
            <a:r>
              <a:rPr lang="en-US" sz="2400" b="1" dirty="0">
                <a:solidFill>
                  <a:srgbClr val="FFFFFF"/>
                </a:solidFill>
                <a:latin typeface="Aptos Display" pitchFamily="34" charset="0"/>
                <a:ea typeface="Aptos Display" pitchFamily="34" charset="-122"/>
                <a:cs typeface="Aptos Display" pitchFamily="34" charset="-120"/>
              </a:rPr>
              <a:t>Bronnen en TLP</a:t>
            </a:r>
            <a:endParaRPr lang="en-US" sz="2400" dirty="0"/>
          </a:p>
        </p:txBody>
      </p:sp>
      <p:sp>
        <p:nvSpPr>
          <p:cNvPr id="3" name="Text 1"/>
          <p:cNvSpPr/>
          <p:nvPr/>
        </p:nvSpPr>
        <p:spPr>
          <a:xfrm>
            <a:off x="640080" y="804672"/>
            <a:ext cx="8412480" cy="237744"/>
          </a:xfrm>
          <a:prstGeom prst="rect">
            <a:avLst/>
          </a:prstGeom>
          <a:noFill/>
          <a:ln/>
        </p:spPr>
        <p:txBody>
          <a:bodyPr wrap="square" lIns="0" tIns="0" rIns="0" bIns="0" rtlCol="0" anchor="ctr"/>
          <a:lstStyle/>
          <a:p>
            <a:pPr marL="0" indent="0">
              <a:buNone/>
            </a:pPr>
            <a:r>
              <a:rPr lang="en-US" sz="1200" dirty="0">
                <a:solidFill>
                  <a:srgbClr val="D8E8F5"/>
                </a:solidFill>
                <a:latin typeface="Aptos" pitchFamily="34" charset="0"/>
                <a:ea typeface="Aptos" pitchFamily="34" charset="-122"/>
                <a:cs typeface="Aptos" pitchFamily="34" charset="-120"/>
              </a:rPr>
              <a:t>Zodat duidelijk is waarop de analyse en de slides zijn gebaseerd</a:t>
            </a:r>
            <a:endParaRPr lang="en-US" sz="1200" dirty="0"/>
          </a:p>
        </p:txBody>
      </p:sp>
      <p:sp>
        <p:nvSpPr>
          <p:cNvPr id="4" name="Text 2"/>
          <p:cNvSpPr/>
          <p:nvPr/>
        </p:nvSpPr>
        <p:spPr>
          <a:xfrm>
            <a:off x="658368" y="5815584"/>
            <a:ext cx="2651760" cy="155448"/>
          </a:xfrm>
          <a:prstGeom prst="rect">
            <a:avLst/>
          </a:prstGeom>
          <a:solidFill>
            <a:srgbClr val="0A357F">
              <a:alpha val="75000"/>
            </a:srgbClr>
          </a:solidFill>
          <a:ln>
            <a:solidFill>
              <a:srgbClr val="2FB3E9"/>
            </a:solidFill>
          </a:ln>
        </p:spPr>
        <p:txBody>
          <a:bodyPr wrap="square" rtlCol="0" anchor="ctr"/>
          <a:lstStyle/>
          <a:p>
            <a:pPr marL="0" indent="0" algn="ctr">
              <a:buNone/>
            </a:pPr>
            <a:r>
              <a:rPr lang="en-US" sz="960" b="1" dirty="0">
                <a:solidFill>
                  <a:srgbClr val="DCEEFF"/>
                </a:solidFill>
                <a:latin typeface="Aptos" pitchFamily="34" charset="0"/>
                <a:ea typeface="Aptos" pitchFamily="34" charset="-122"/>
                <a:cs typeface="Aptos" pitchFamily="34" charset="-120"/>
              </a:rPr>
              <a:t>Bronnen</a:t>
            </a:r>
            <a:endParaRPr lang="en-US" sz="960" dirty="0"/>
          </a:p>
        </p:txBody>
      </p:sp>
      <p:sp>
        <p:nvSpPr>
          <p:cNvPr id="5" name="Shape 3"/>
          <p:cNvSpPr/>
          <p:nvPr/>
        </p:nvSpPr>
        <p:spPr>
          <a:xfrm>
            <a:off x="621792" y="1298448"/>
            <a:ext cx="5440680" cy="4279392"/>
          </a:xfrm>
          <a:prstGeom prst="roundRect">
            <a:avLst>
              <a:gd name="adj" fmla="val 1709"/>
            </a:avLst>
          </a:prstGeom>
          <a:solidFill>
            <a:srgbClr val="F6F7FB"/>
          </a:solidFill>
          <a:ln w="12700">
            <a:solidFill>
              <a:srgbClr val="F6F7FB"/>
            </a:solidFill>
            <a:prstDash val="solid"/>
          </a:ln>
          <a:effectLst>
            <a:outerShdw blurRad="19050" dist="12700" dir="2700000" algn="bl" rotWithShape="0">
              <a:srgbClr val="000000">
                <a:alpha val="14000"/>
              </a:srgbClr>
            </a:outerShdw>
          </a:effectLst>
        </p:spPr>
        <p:txBody>
          <a:bodyPr/>
          <a:lstStyle/>
          <a:p>
            <a:endParaRPr lang="nl-NL"/>
          </a:p>
        </p:txBody>
      </p:sp>
      <p:sp>
        <p:nvSpPr>
          <p:cNvPr id="6" name="Text 4"/>
          <p:cNvSpPr/>
          <p:nvPr/>
        </p:nvSpPr>
        <p:spPr>
          <a:xfrm>
            <a:off x="868680" y="1609344"/>
            <a:ext cx="24688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Inhoudelijke bronnen</a:t>
            </a:r>
            <a:endParaRPr lang="en-US" sz="1650" dirty="0"/>
          </a:p>
        </p:txBody>
      </p:sp>
      <p:sp>
        <p:nvSpPr>
          <p:cNvPr id="7" name="Text 5"/>
          <p:cNvSpPr/>
          <p:nvPr/>
        </p:nvSpPr>
        <p:spPr>
          <a:xfrm>
            <a:off x="868680" y="1947672"/>
            <a:ext cx="4846320" cy="3200400"/>
          </a:xfrm>
          <a:prstGeom prst="rect">
            <a:avLst/>
          </a:prstGeom>
          <a:noFill/>
          <a:ln/>
        </p:spPr>
        <p:txBody>
          <a:bodyPr wrap="square" lIns="127" tIns="127" rIns="127" bIns="127" rtlCol="0" anchor="ctr"/>
          <a:lstStyle/>
          <a:p>
            <a:pPr marL="0" indent="0">
              <a:buNone/>
            </a:pPr>
            <a:r>
              <a:rPr lang="en-US" sz="1410" b="1" dirty="0">
                <a:solidFill>
                  <a:srgbClr val="0C2C6B"/>
                </a:solidFill>
                <a:latin typeface="Aptos" pitchFamily="34" charset="0"/>
                <a:ea typeface="Aptos" pitchFamily="34" charset="-122"/>
                <a:cs typeface="Aptos" pitchFamily="34" charset="-120"/>
              </a:rPr>
              <a:t>NCSC Nederland
</a:t>
            </a:r>
            <a:r>
              <a:rPr lang="en-US" sz="1410" dirty="0">
                <a:solidFill>
                  <a:srgbClr val="0C2C6B"/>
                </a:solidFill>
                <a:latin typeface="Aptos" pitchFamily="34" charset="0"/>
                <a:ea typeface="Aptos" pitchFamily="34" charset="-122"/>
                <a:cs typeface="Aptos" pitchFamily="34" charset="-120"/>
              </a:rPr>
              <a:t>DDoS-aanvallen op Nederlandse organisaties rondom NAVO-top
Nederlandse organisaties opnieuw doelwit van DDoS-aanvallen
Opnieuw DDoS-aanvallen rondom NAVO-top: vervoerssector ook doelwit
</a:t>
            </a:r>
            <a:r>
              <a:rPr lang="en-US" sz="1410" b="1" dirty="0">
                <a:solidFill>
                  <a:srgbClr val="0C2C6B"/>
                </a:solidFill>
                <a:latin typeface="Aptos" pitchFamily="34" charset="0"/>
                <a:ea typeface="Aptos" pitchFamily="34" charset="-122"/>
                <a:cs typeface="Aptos" pitchFamily="34" charset="-120"/>
              </a:rPr>
              <a:t>UK NCSC
</a:t>
            </a:r>
            <a:r>
              <a:rPr lang="en-US" sz="1410" dirty="0">
                <a:solidFill>
                  <a:srgbClr val="0C2C6B"/>
                </a:solidFill>
                <a:latin typeface="Aptos" pitchFamily="34" charset="0"/>
                <a:ea typeface="Aptos" pitchFamily="34" charset="-122"/>
                <a:cs typeface="Aptos" pitchFamily="34" charset="-120"/>
              </a:rPr>
              <a:t>Pro-Russia hacktivist activity continues to target UK organisations
</a:t>
            </a:r>
            <a:r>
              <a:rPr lang="en-US" sz="1410" b="1" dirty="0">
                <a:solidFill>
                  <a:srgbClr val="0C2C6B"/>
                </a:solidFill>
                <a:latin typeface="Aptos" pitchFamily="34" charset="0"/>
                <a:ea typeface="Aptos" pitchFamily="34" charset="-122"/>
                <a:cs typeface="Aptos" pitchFamily="34" charset="-120"/>
              </a:rPr>
              <a:t>ENISA
</a:t>
            </a:r>
            <a:r>
              <a:rPr lang="en-US" sz="1410" dirty="0">
                <a:solidFill>
                  <a:srgbClr val="0C2C6B"/>
                </a:solidFill>
                <a:latin typeface="Aptos" pitchFamily="34" charset="0"/>
                <a:ea typeface="Aptos" pitchFamily="34" charset="-122"/>
                <a:cs typeface="Aptos" pitchFamily="34" charset="-120"/>
              </a:rPr>
              <a:t>ENISA Sectorial Threat Landscape – Public Administration</a:t>
            </a:r>
            <a:endParaRPr lang="en-US" sz="1410" dirty="0"/>
          </a:p>
          <a:p>
            <a:pPr marL="0" indent="0">
              <a:buNone/>
            </a:pPr>
            <a:r>
              <a:rPr lang="en-US" sz="1410" dirty="0">
                <a:solidFill>
                  <a:srgbClr val="0C2C6B"/>
                </a:solidFill>
                <a:latin typeface="Aptos" pitchFamily="34" charset="0"/>
                <a:ea typeface="Aptos" pitchFamily="34" charset="-122"/>
                <a:cs typeface="Aptos" pitchFamily="34" charset="-120"/>
              </a:rPr>
              <a:t>ENISA Threat Landscape 2025</a:t>
            </a:r>
            <a:endParaRPr lang="en-US" sz="1410" dirty="0"/>
          </a:p>
        </p:txBody>
      </p:sp>
      <p:sp>
        <p:nvSpPr>
          <p:cNvPr id="8" name="Shape 6"/>
          <p:cNvSpPr/>
          <p:nvPr/>
        </p:nvSpPr>
        <p:spPr>
          <a:xfrm>
            <a:off x="6272784" y="1298448"/>
            <a:ext cx="5193792" cy="2450592"/>
          </a:xfrm>
          <a:prstGeom prst="roundRect">
            <a:avLst>
              <a:gd name="adj" fmla="val 2985"/>
            </a:avLst>
          </a:prstGeom>
          <a:solidFill>
            <a:srgbClr val="EAF5FF"/>
          </a:solidFill>
          <a:ln w="12700">
            <a:solidFill>
              <a:srgbClr val="8CB9E7"/>
            </a:solidFill>
            <a:prstDash val="solid"/>
          </a:ln>
          <a:effectLst>
            <a:outerShdw blurRad="19050" dist="12700" dir="2700000" algn="bl" rotWithShape="0">
              <a:srgbClr val="000000">
                <a:alpha val="14000"/>
              </a:srgbClr>
            </a:outerShdw>
          </a:effectLst>
        </p:spPr>
        <p:txBody>
          <a:bodyPr/>
          <a:lstStyle/>
          <a:p>
            <a:endParaRPr lang="nl-NL"/>
          </a:p>
        </p:txBody>
      </p:sp>
      <p:sp>
        <p:nvSpPr>
          <p:cNvPr id="9" name="Text 7"/>
          <p:cNvSpPr/>
          <p:nvPr/>
        </p:nvSpPr>
        <p:spPr>
          <a:xfrm>
            <a:off x="6510528" y="1609344"/>
            <a:ext cx="283464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Gebruikte bestanden / methode</a:t>
            </a:r>
            <a:endParaRPr lang="en-US" sz="1650" dirty="0"/>
          </a:p>
        </p:txBody>
      </p:sp>
      <p:sp>
        <p:nvSpPr>
          <p:cNvPr id="10" name="Text 8"/>
          <p:cNvSpPr/>
          <p:nvPr/>
        </p:nvSpPr>
        <p:spPr>
          <a:xfrm>
            <a:off x="6510528" y="1965960"/>
            <a:ext cx="4498848" cy="1298448"/>
          </a:xfrm>
          <a:prstGeom prst="rect">
            <a:avLst/>
          </a:prstGeom>
          <a:noFill/>
          <a:ln/>
        </p:spPr>
        <p:txBody>
          <a:bodyPr wrap="square" lIns="254" tIns="254" rIns="254" bIns="254" rtlCol="0" anchor="ctr"/>
          <a:lstStyle/>
          <a:p>
            <a:pPr marL="0" indent="0">
              <a:buNone/>
            </a:pPr>
            <a:r>
              <a:rPr lang="en-US" sz="1420" dirty="0">
                <a:solidFill>
                  <a:srgbClr val="0C2C6B"/>
                </a:solidFill>
                <a:latin typeface="Aptos" pitchFamily="34" charset="0"/>
                <a:ea typeface="Aptos" pitchFamily="34" charset="-122"/>
                <a:cs typeface="Aptos" pitchFamily="34" charset="-120"/>
              </a:rPr>
              <a:t>• Uitwerking WS3.1 – NCSC.docx</a:t>
            </a:r>
            <a:endParaRPr lang="en-US" sz="1420" dirty="0"/>
          </a:p>
          <a:p>
            <a:pPr marL="0" indent="0">
              <a:buNone/>
            </a:pPr>
            <a:r>
              <a:rPr lang="en-US" sz="1420" dirty="0">
                <a:solidFill>
                  <a:srgbClr val="0C2C6B"/>
                </a:solidFill>
                <a:latin typeface="Aptos" pitchFamily="34" charset="0"/>
                <a:ea typeface="Aptos" pitchFamily="34" charset="-122"/>
                <a:cs typeface="Aptos" pitchFamily="34" charset="-120"/>
              </a:rPr>
              <a:t>• analyse-script.py</a:t>
            </a:r>
            <a:endParaRPr lang="en-US" sz="1420" dirty="0"/>
          </a:p>
          <a:p>
            <a:pPr marL="0" indent="0">
              <a:buNone/>
            </a:pPr>
            <a:r>
              <a:rPr lang="en-US" sz="1420" dirty="0">
                <a:solidFill>
                  <a:srgbClr val="0C2C6B"/>
                </a:solidFill>
                <a:latin typeface="Aptos" pitchFamily="34" charset="0"/>
                <a:ea typeface="Aptos" pitchFamily="34" charset="-122"/>
                <a:cs typeface="Aptos" pitchFamily="34" charset="-120"/>
              </a:rPr>
              <a:t>• anomalies_summary.csv</a:t>
            </a:r>
            <a:endParaRPr lang="en-US" sz="1420" dirty="0"/>
          </a:p>
          <a:p>
            <a:pPr marL="0" indent="0">
              <a:buNone/>
            </a:pPr>
            <a:r>
              <a:rPr lang="en-US" sz="1420" dirty="0">
                <a:solidFill>
                  <a:srgbClr val="0C2C6B"/>
                </a:solidFill>
                <a:latin typeface="Aptos" pitchFamily="34" charset="0"/>
                <a:ea typeface="Aptos" pitchFamily="34" charset="-122"/>
                <a:cs typeface="Aptos" pitchFamily="34" charset="-120"/>
              </a:rPr>
              <a:t>• anomalies_details.csv</a:t>
            </a:r>
            <a:endParaRPr lang="en-US" sz="1420" dirty="0"/>
          </a:p>
          <a:p>
            <a:pPr marL="0" indent="0">
              <a:buNone/>
            </a:pPr>
            <a:r>
              <a:rPr lang="en-US" sz="1420" dirty="0">
                <a:solidFill>
                  <a:srgbClr val="0C2C6B"/>
                </a:solidFill>
                <a:latin typeface="Aptos" pitchFamily="34" charset="0"/>
                <a:ea typeface="Aptos" pitchFamily="34" charset="-122"/>
                <a:cs typeface="Aptos" pitchFamily="34" charset="-120"/>
              </a:rPr>
              <a:t>• WS3.1_NoName057_Firewall_Force_Presentatie.pptx (template)</a:t>
            </a:r>
            <a:endParaRPr lang="en-US" sz="1420" dirty="0"/>
          </a:p>
        </p:txBody>
      </p:sp>
      <p:sp>
        <p:nvSpPr>
          <p:cNvPr id="11" name="Shape 9"/>
          <p:cNvSpPr/>
          <p:nvPr/>
        </p:nvSpPr>
        <p:spPr>
          <a:xfrm>
            <a:off x="6272784" y="3986784"/>
            <a:ext cx="5193792" cy="1591056"/>
          </a:xfrm>
          <a:prstGeom prst="roundRect">
            <a:avLst>
              <a:gd name="adj" fmla="val 4598"/>
            </a:avLst>
          </a:prstGeom>
          <a:solidFill>
            <a:srgbClr val="FFF7DD"/>
          </a:solidFill>
          <a:ln w="12700">
            <a:solidFill>
              <a:srgbClr val="F2C54B"/>
            </a:solidFill>
            <a:prstDash val="solid"/>
          </a:ln>
          <a:effectLst>
            <a:outerShdw blurRad="19050" dist="12700" dir="2700000" algn="bl" rotWithShape="0">
              <a:srgbClr val="000000">
                <a:alpha val="14000"/>
              </a:srgbClr>
            </a:outerShdw>
          </a:effectLst>
        </p:spPr>
        <p:txBody>
          <a:bodyPr/>
          <a:lstStyle/>
          <a:p>
            <a:endParaRPr lang="nl-NL"/>
          </a:p>
        </p:txBody>
      </p:sp>
      <p:sp>
        <p:nvSpPr>
          <p:cNvPr id="12" name="Text 10"/>
          <p:cNvSpPr/>
          <p:nvPr/>
        </p:nvSpPr>
        <p:spPr>
          <a:xfrm>
            <a:off x="6510528" y="4288536"/>
            <a:ext cx="2011680" cy="256032"/>
          </a:xfrm>
          <a:prstGeom prst="rect">
            <a:avLst/>
          </a:prstGeom>
          <a:noFill/>
          <a:ln/>
        </p:spPr>
        <p:txBody>
          <a:bodyPr wrap="square" lIns="0" tIns="0" rIns="0" bIns="0" rtlCol="0" anchor="ctr"/>
          <a:lstStyle/>
          <a:p>
            <a:pPr marL="0" indent="0">
              <a:buNone/>
            </a:pPr>
            <a:r>
              <a:rPr lang="en-US" sz="1650" b="1" dirty="0">
                <a:solidFill>
                  <a:srgbClr val="0C2C6B"/>
                </a:solidFill>
                <a:latin typeface="Aptos Display" pitchFamily="34" charset="0"/>
                <a:ea typeface="Aptos Display" pitchFamily="34" charset="-122"/>
                <a:cs typeface="Aptos Display" pitchFamily="34" charset="-120"/>
              </a:rPr>
              <a:t>Let op met delen</a:t>
            </a:r>
            <a:endParaRPr lang="en-US" sz="1650" dirty="0"/>
          </a:p>
        </p:txBody>
      </p:sp>
      <p:sp>
        <p:nvSpPr>
          <p:cNvPr id="13" name="Text 11"/>
          <p:cNvSpPr/>
          <p:nvPr/>
        </p:nvSpPr>
        <p:spPr>
          <a:xfrm>
            <a:off x="6510528" y="4617720"/>
            <a:ext cx="4517136" cy="694944"/>
          </a:xfrm>
          <a:prstGeom prst="rect">
            <a:avLst/>
          </a:prstGeom>
          <a:noFill/>
          <a:ln/>
        </p:spPr>
        <p:txBody>
          <a:bodyPr wrap="square" lIns="127" tIns="127" rIns="127" bIns="127" rtlCol="0" anchor="ctr"/>
          <a:lstStyle/>
          <a:p>
            <a:pPr marL="0" indent="0">
              <a:buNone/>
            </a:pPr>
            <a:r>
              <a:rPr lang="en-US" sz="1420" dirty="0">
                <a:solidFill>
                  <a:srgbClr val="0C2C6B"/>
                </a:solidFill>
                <a:latin typeface="Aptos" pitchFamily="34" charset="0"/>
                <a:ea typeface="Aptos" pitchFamily="34" charset="-122"/>
                <a:cs typeface="Aptos" pitchFamily="34" charset="-120"/>
              </a:rPr>
              <a:t>Het gastcollegebestand is gemarkeerd als TLP:AMBER+STRICT. Gebruik de inhoud dus alleen binnen de onderwijscontext / need-to-know en zet dit niet publiek online.</a:t>
            </a:r>
            <a:endParaRPr lang="en-US" sz="1420" dirty="0"/>
          </a:p>
        </p:txBody>
      </p:sp>
      <p:sp>
        <p:nvSpPr>
          <p:cNvPr id="25" name="Slide Number Placeholder 0"/>
          <p:cNvSpPr>
            <a:spLocks noGrp="1"/>
          </p:cNvSpPr>
          <p:nvPr>
            <p:ph type="sldNum" sz="quarter" idx="4294967295"/>
          </p:nvPr>
        </p:nvSpPr>
        <p:spPr>
          <a:xfrm>
            <a:off x="11567160" y="5961888"/>
            <a:ext cx="320040" cy="182880"/>
          </a:xfrm>
          <a:prstGeom prst="rect">
            <a:avLst/>
          </a:prstGeom>
          <a:extLst>
            <a:ext uri="{C572A759-6A51-4108-AA02-DFA0A04FC94B}">
              <ma14:wrappingTextBoxFlag xmlns="" xmlns:ma14="http://schemas.microsoft.com/office/mac/drawingml/2011/main" val="0"/>
            </a:ext>
          </a:extLst>
        </p:spPr>
        <p:txBody>
          <a:bodyPr lIns="0" tIns="0" rIns="0" bIns="0"/>
          <a:lstStyle>
            <a:lvl1pPr>
              <a:defRPr sz="900">
                <a:solidFill>
                  <a:srgbClr val="DCEEFF"/>
                </a:solidFill>
                <a:latin typeface="Aptos"/>
                <a:ea typeface="Aptos"/>
                <a:cs typeface="Aptos"/>
              </a:defRPr>
            </a:lvl1pPr>
          </a:lstStyle>
          <a:p>
            <a:pPr algn="l"/>
            <a:fld id="{F7021451-1387-4CA6-816F-3879F97B5CBC}" type="slidenum">
              <a:rPr lang="en-US" b="0"/>
              <a:t>10</a:t>
            </a:fld>
            <a:endParaRPr lang="en-US"/>
          </a:p>
        </p:txBody>
      </p:sp>
      <p:sp>
        <p:nvSpPr>
          <p:cNvPr id="14" name="Rechthoek 13">
            <a:extLst>
              <a:ext uri="{FF2B5EF4-FFF2-40B4-BE49-F238E27FC236}">
                <a16:creationId xmlns:a16="http://schemas.microsoft.com/office/drawing/2014/main" id="{91FAA8B7-90B1-B3C5-51CC-7DACDC33931A}"/>
              </a:ext>
            </a:extLst>
          </p:cNvPr>
          <p:cNvSpPr/>
          <p:nvPr/>
        </p:nvSpPr>
        <p:spPr>
          <a:xfrm>
            <a:off x="10917383" y="105295"/>
            <a:ext cx="1152698" cy="1041861"/>
          </a:xfrm>
          <a:prstGeom prst="rect">
            <a:avLst/>
          </a:prstGeom>
          <a:solidFill>
            <a:srgbClr val="062A7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pic>
        <p:nvPicPr>
          <p:cNvPr id="15" name="Afbeelding 14">
            <a:extLst>
              <a:ext uri="{FF2B5EF4-FFF2-40B4-BE49-F238E27FC236}">
                <a16:creationId xmlns:a16="http://schemas.microsoft.com/office/drawing/2014/main" id="{F9546548-6D3A-B42B-7360-028FEAF67F8F}"/>
              </a:ext>
            </a:extLst>
          </p:cNvPr>
          <p:cNvPicPr>
            <a:picLocks noChangeAspect="1"/>
          </p:cNvPicPr>
          <p:nvPr/>
        </p:nvPicPr>
        <p:blipFill>
          <a:blip r:embed="rId3"/>
          <a:stretch>
            <a:fillRect/>
          </a:stretch>
        </p:blipFill>
        <p:spPr>
          <a:xfrm>
            <a:off x="10636690" y="-32419"/>
            <a:ext cx="1469413" cy="146941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1789</Words>
  <Application>Microsoft Office PowerPoint</Application>
  <PresentationFormat>Breedbeeld</PresentationFormat>
  <Paragraphs>201</Paragraphs>
  <Slides>10</Slides>
  <Notes>10</Notes>
  <HiddenSlides>0</HiddenSlides>
  <MMClips>0</MMClips>
  <ScaleCrop>false</ScaleCrop>
  <HeadingPairs>
    <vt:vector size="6" baseType="variant">
      <vt:variant>
        <vt:lpstr>Gebruikte lettertypen</vt:lpstr>
      </vt:variant>
      <vt:variant>
        <vt:i4>3</vt:i4>
      </vt:variant>
      <vt:variant>
        <vt:lpstr>Thema</vt:lpstr>
      </vt:variant>
      <vt:variant>
        <vt:i4>1</vt:i4>
      </vt:variant>
      <vt:variant>
        <vt:lpstr>Diatitels</vt:lpstr>
      </vt:variant>
      <vt:variant>
        <vt:i4>10</vt:i4>
      </vt:variant>
    </vt:vector>
  </HeadingPairs>
  <TitlesOfParts>
    <vt:vector size="14" baseType="lpstr">
      <vt:lpstr>Aptos</vt:lpstr>
      <vt:lpstr>Aptos Display</vt:lpstr>
      <vt:lpstr>Arial</vt:lpstr>
      <vt:lpstr>Office Theme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lpstr>PowerPoint-presentatie</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WS3.1 NoName057(16) – verbeterde presentatie</dc:title>
  <dc:subject>WS3.1 NoName057(16)</dc:subject>
  <dc:creator>OpenAI</dc:creator>
  <cp:lastModifiedBy>Bavli Armanyous</cp:lastModifiedBy>
  <cp:revision>1</cp:revision>
  <dcterms:created xsi:type="dcterms:W3CDTF">2026-03-23T20:52:58Z</dcterms:created>
  <dcterms:modified xsi:type="dcterms:W3CDTF">2026-03-23T21:09:16Z</dcterms:modified>
</cp:coreProperties>
</file>