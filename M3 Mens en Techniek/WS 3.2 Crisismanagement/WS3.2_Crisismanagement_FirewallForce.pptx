
<file path=[Content_Types].xml><?xml version="1.0" encoding="utf-8"?>
<Types xmlns="http://schemas.openxmlformats.org/package/2006/content-types">
  <Default Extension="bin" ContentType="image/unknown"/>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68" r:id="rId13"/>
    <p:sldId id="269" r:id="rId14"/>
    <p:sldId id="270" r:id="rId15"/>
    <p:sldId id="271" r:id="rId16"/>
    <p:sldId id="267" r:id="rId17"/>
    <p:sldId id="266" r:id="rId18"/>
    <p:sldId id="265" r:id="rId19"/>
    <p:sldId id="264" r:id="rId20"/>
    <p:sldId id="272" r:id="rId21"/>
    <p:sldId id="273" r:id="rId22"/>
    <p:sldId id="274"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CD56"/>
    <a:srgbClr val="0716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558B30-54F5-4DF2-B467-75B06080C145}" v="6" dt="2026-03-26T12:08:42.320"/>
    <p1510:client id="{9C7E446F-1AD5-D81B-8CCD-9219B862E159}" v="4" dt="2026-03-25T14:23:07.9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vli Armanyous" userId="2614e947-2a9c-4f9a-b146-f5ffa7aca4cc" providerId="ADAL" clId="{F9025844-0D46-4D37-8C74-FC46BD0E6BF2}"/>
    <pc:docChg chg="undo custSel modSld">
      <pc:chgData name="Bavli Armanyous" userId="2614e947-2a9c-4f9a-b146-f5ffa7aca4cc" providerId="ADAL" clId="{F9025844-0D46-4D37-8C74-FC46BD0E6BF2}" dt="2026-03-24T21:52:30.610" v="321" actId="1076"/>
      <pc:docMkLst>
        <pc:docMk/>
      </pc:docMkLst>
      <pc:sldChg chg="addSp delSp modSp mod setBg">
        <pc:chgData name="Bavli Armanyous" userId="2614e947-2a9c-4f9a-b146-f5ffa7aca4cc" providerId="ADAL" clId="{F9025844-0D46-4D37-8C74-FC46BD0E6BF2}" dt="2026-03-24T21:50:18.861" v="311" actId="207"/>
        <pc:sldMkLst>
          <pc:docMk/>
          <pc:sldMk cId="0" sldId="256"/>
        </pc:sldMkLst>
        <pc:spChg chg="mod">
          <ac:chgData name="Bavli Armanyous" userId="2614e947-2a9c-4f9a-b146-f5ffa7aca4cc" providerId="ADAL" clId="{F9025844-0D46-4D37-8C74-FC46BD0E6BF2}" dt="2026-03-24T21:49:34.689" v="308" actId="20577"/>
          <ac:spMkLst>
            <pc:docMk/>
            <pc:sldMk cId="0" sldId="256"/>
            <ac:spMk id="3" creationId="{00000000-0000-0000-0000-000000000000}"/>
          </ac:spMkLst>
        </pc:spChg>
        <pc:spChg chg="mod">
          <ac:chgData name="Bavli Armanyous" userId="2614e947-2a9c-4f9a-b146-f5ffa7aca4cc" providerId="ADAL" clId="{F9025844-0D46-4D37-8C74-FC46BD0E6BF2}" dt="2026-03-24T21:50:04.851" v="310" actId="207"/>
          <ac:spMkLst>
            <pc:docMk/>
            <pc:sldMk cId="0" sldId="256"/>
            <ac:spMk id="4" creationId="{00000000-0000-0000-0000-000000000000}"/>
          </ac:spMkLst>
        </pc:spChg>
        <pc:spChg chg="mod">
          <ac:chgData name="Bavli Armanyous" userId="2614e947-2a9c-4f9a-b146-f5ffa7aca4cc" providerId="ADAL" clId="{F9025844-0D46-4D37-8C74-FC46BD0E6BF2}" dt="2026-03-24T21:50:18.861" v="311" actId="207"/>
          <ac:spMkLst>
            <pc:docMk/>
            <pc:sldMk cId="0" sldId="256"/>
            <ac:spMk id="5" creationId="{00000000-0000-0000-0000-000000000000}"/>
          </ac:spMkLst>
        </pc:spChg>
        <pc:spChg chg="mod">
          <ac:chgData name="Bavli Armanyous" userId="2614e947-2a9c-4f9a-b146-f5ffa7aca4cc" providerId="ADAL" clId="{F9025844-0D46-4D37-8C74-FC46BD0E6BF2}" dt="2026-03-24T21:34:03.585" v="14" actId="113"/>
          <ac:spMkLst>
            <pc:docMk/>
            <pc:sldMk cId="0" sldId="256"/>
            <ac:spMk id="7" creationId="{00000000-0000-0000-0000-000000000000}"/>
          </ac:spMkLst>
        </pc:spChg>
        <pc:spChg chg="add mod">
          <ac:chgData name="Bavli Armanyous" userId="2614e947-2a9c-4f9a-b146-f5ffa7aca4cc" providerId="ADAL" clId="{F9025844-0D46-4D37-8C74-FC46BD0E6BF2}" dt="2026-03-24T21:48:47.346" v="304" actId="1076"/>
          <ac:spMkLst>
            <pc:docMk/>
            <pc:sldMk cId="0" sldId="256"/>
            <ac:spMk id="19" creationId="{AA32B604-666C-3B89-1B30-AAAB17F5BAF4}"/>
          </ac:spMkLst>
        </pc:spChg>
        <pc:picChg chg="del mod">
          <ac:chgData name="Bavli Armanyous" userId="2614e947-2a9c-4f9a-b146-f5ffa7aca4cc" providerId="ADAL" clId="{F9025844-0D46-4D37-8C74-FC46BD0E6BF2}" dt="2026-03-24T21:32:37.944" v="1" actId="21"/>
          <ac:picMkLst>
            <pc:docMk/>
            <pc:sldMk cId="0" sldId="256"/>
            <ac:picMk id="2" creationId="{00000000-0000-0000-0000-000000000000}"/>
          </ac:picMkLst>
        </pc:picChg>
        <pc:picChg chg="add del mod">
          <ac:chgData name="Bavli Armanyous" userId="2614e947-2a9c-4f9a-b146-f5ffa7aca4cc" providerId="ADAL" clId="{F9025844-0D46-4D37-8C74-FC46BD0E6BF2}" dt="2026-03-24T21:33:05.428" v="5" actId="478"/>
          <ac:picMkLst>
            <pc:docMk/>
            <pc:sldMk cId="0" sldId="256"/>
            <ac:picMk id="8" creationId="{00000000-0000-0000-0000-000000000000}"/>
          </ac:picMkLst>
        </pc:picChg>
        <pc:picChg chg="add del mod">
          <ac:chgData name="Bavli Armanyous" userId="2614e947-2a9c-4f9a-b146-f5ffa7aca4cc" providerId="ADAL" clId="{F9025844-0D46-4D37-8C74-FC46BD0E6BF2}" dt="2026-03-24T21:33:30.985" v="8" actId="478"/>
          <ac:picMkLst>
            <pc:docMk/>
            <pc:sldMk cId="0" sldId="256"/>
            <ac:picMk id="10" creationId="{99D71CB7-E6A0-138C-B5B6-8A556C894110}"/>
          </ac:picMkLst>
        </pc:picChg>
        <pc:picChg chg="add del mod">
          <ac:chgData name="Bavli Armanyous" userId="2614e947-2a9c-4f9a-b146-f5ffa7aca4cc" providerId="ADAL" clId="{F9025844-0D46-4D37-8C74-FC46BD0E6BF2}" dt="2026-03-24T21:33:37.623" v="10" actId="478"/>
          <ac:picMkLst>
            <pc:docMk/>
            <pc:sldMk cId="0" sldId="256"/>
            <ac:picMk id="11" creationId="{1AB6B1C0-E259-26AB-4A0F-B7DB12678C5C}"/>
          </ac:picMkLst>
        </pc:picChg>
        <pc:picChg chg="add del mod">
          <ac:chgData name="Bavli Armanyous" userId="2614e947-2a9c-4f9a-b146-f5ffa7aca4cc" providerId="ADAL" clId="{F9025844-0D46-4D37-8C74-FC46BD0E6BF2}" dt="2026-03-24T21:33:49.195" v="13" actId="478"/>
          <ac:picMkLst>
            <pc:docMk/>
            <pc:sldMk cId="0" sldId="256"/>
            <ac:picMk id="13" creationId="{650A1C9D-0800-72F7-54FC-AEB28C156056}"/>
          </ac:picMkLst>
        </pc:picChg>
        <pc:picChg chg="add del mod">
          <ac:chgData name="Bavli Armanyous" userId="2614e947-2a9c-4f9a-b146-f5ffa7aca4cc" providerId="ADAL" clId="{F9025844-0D46-4D37-8C74-FC46BD0E6BF2}" dt="2026-03-24T21:34:57.919" v="20" actId="478"/>
          <ac:picMkLst>
            <pc:docMk/>
            <pc:sldMk cId="0" sldId="256"/>
            <ac:picMk id="15" creationId="{C3BFCCC4-A550-0846-1931-480600375BE5}"/>
          </ac:picMkLst>
        </pc:picChg>
        <pc:picChg chg="add del mod modCrop">
          <ac:chgData name="Bavli Armanyous" userId="2614e947-2a9c-4f9a-b146-f5ffa7aca4cc" providerId="ADAL" clId="{F9025844-0D46-4D37-8C74-FC46BD0E6BF2}" dt="2026-03-24T21:47:58.797" v="297" actId="478"/>
          <ac:picMkLst>
            <pc:docMk/>
            <pc:sldMk cId="0" sldId="256"/>
            <ac:picMk id="17" creationId="{203F36AC-0F98-35E0-7A54-78E9C16D5823}"/>
          </ac:picMkLst>
        </pc:picChg>
        <pc:picChg chg="add mod">
          <ac:chgData name="Bavli Armanyous" userId="2614e947-2a9c-4f9a-b146-f5ffa7aca4cc" providerId="ADAL" clId="{F9025844-0D46-4D37-8C74-FC46BD0E6BF2}" dt="2026-03-24T21:39:37.453" v="246"/>
          <ac:picMkLst>
            <pc:docMk/>
            <pc:sldMk cId="0" sldId="256"/>
            <ac:picMk id="18" creationId="{203F36AC-0F98-35E0-7A54-78E9C16D5823}"/>
          </ac:picMkLst>
        </pc:picChg>
      </pc:sldChg>
      <pc:sldChg chg="modSp mod">
        <pc:chgData name="Bavli Armanyous" userId="2614e947-2a9c-4f9a-b146-f5ffa7aca4cc" providerId="ADAL" clId="{F9025844-0D46-4D37-8C74-FC46BD0E6BF2}" dt="2026-03-24T21:52:30.610" v="321" actId="1076"/>
        <pc:sldMkLst>
          <pc:docMk/>
          <pc:sldMk cId="0" sldId="258"/>
        </pc:sldMkLst>
        <pc:spChg chg="mod">
          <ac:chgData name="Bavli Armanyous" userId="2614e947-2a9c-4f9a-b146-f5ffa7aca4cc" providerId="ADAL" clId="{F9025844-0D46-4D37-8C74-FC46BD0E6BF2}" dt="2026-03-24T21:51:32.985" v="317" actId="1076"/>
          <ac:spMkLst>
            <pc:docMk/>
            <pc:sldMk cId="0" sldId="258"/>
            <ac:spMk id="4" creationId="{00000000-0000-0000-0000-000000000000}"/>
          </ac:spMkLst>
        </pc:spChg>
        <pc:spChg chg="mod">
          <ac:chgData name="Bavli Armanyous" userId="2614e947-2a9c-4f9a-b146-f5ffa7aca4cc" providerId="ADAL" clId="{F9025844-0D46-4D37-8C74-FC46BD0E6BF2}" dt="2026-03-24T21:51:47.349" v="318" actId="1076"/>
          <ac:spMkLst>
            <pc:docMk/>
            <pc:sldMk cId="0" sldId="258"/>
            <ac:spMk id="6" creationId="{00000000-0000-0000-0000-000000000000}"/>
          </ac:spMkLst>
        </pc:spChg>
        <pc:spChg chg="mod">
          <ac:chgData name="Bavli Armanyous" userId="2614e947-2a9c-4f9a-b146-f5ffa7aca4cc" providerId="ADAL" clId="{F9025844-0D46-4D37-8C74-FC46BD0E6BF2}" dt="2026-03-24T21:52:05.116" v="319" actId="1076"/>
          <ac:spMkLst>
            <pc:docMk/>
            <pc:sldMk cId="0" sldId="258"/>
            <ac:spMk id="8" creationId="{00000000-0000-0000-0000-000000000000}"/>
          </ac:spMkLst>
        </pc:spChg>
        <pc:spChg chg="mod">
          <ac:chgData name="Bavli Armanyous" userId="2614e947-2a9c-4f9a-b146-f5ffa7aca4cc" providerId="ADAL" clId="{F9025844-0D46-4D37-8C74-FC46BD0E6BF2}" dt="2026-03-24T21:52:30.610" v="321" actId="1076"/>
          <ac:spMkLst>
            <pc:docMk/>
            <pc:sldMk cId="0" sldId="258"/>
            <ac:spMk id="10" creationId="{00000000-0000-0000-0000-000000000000}"/>
          </ac:spMkLst>
        </pc:spChg>
      </pc:sldChg>
      <pc:sldChg chg="modSp mod">
        <pc:chgData name="Bavli Armanyous" userId="2614e947-2a9c-4f9a-b146-f5ffa7aca4cc" providerId="ADAL" clId="{F9025844-0D46-4D37-8C74-FC46BD0E6BF2}" dt="2026-03-24T21:51:21.299" v="316" actId="1076"/>
        <pc:sldMkLst>
          <pc:docMk/>
          <pc:sldMk cId="0" sldId="259"/>
        </pc:sldMkLst>
        <pc:spChg chg="mod">
          <ac:chgData name="Bavli Armanyous" userId="2614e947-2a9c-4f9a-b146-f5ffa7aca4cc" providerId="ADAL" clId="{F9025844-0D46-4D37-8C74-FC46BD0E6BF2}" dt="2026-03-24T21:51:11.446" v="315" actId="1076"/>
          <ac:spMkLst>
            <pc:docMk/>
            <pc:sldMk cId="0" sldId="259"/>
            <ac:spMk id="4" creationId="{00000000-0000-0000-0000-000000000000}"/>
          </ac:spMkLst>
        </pc:spChg>
        <pc:spChg chg="mod">
          <ac:chgData name="Bavli Armanyous" userId="2614e947-2a9c-4f9a-b146-f5ffa7aca4cc" providerId="ADAL" clId="{F9025844-0D46-4D37-8C74-FC46BD0E6BF2}" dt="2026-03-24T21:50:59.730" v="313" actId="1076"/>
          <ac:spMkLst>
            <pc:docMk/>
            <pc:sldMk cId="0" sldId="259"/>
            <ac:spMk id="6" creationId="{00000000-0000-0000-0000-000000000000}"/>
          </ac:spMkLst>
        </pc:spChg>
        <pc:spChg chg="mod">
          <ac:chgData name="Bavli Armanyous" userId="2614e947-2a9c-4f9a-b146-f5ffa7aca4cc" providerId="ADAL" clId="{F9025844-0D46-4D37-8C74-FC46BD0E6BF2}" dt="2026-03-24T21:51:03.832" v="314" actId="1076"/>
          <ac:spMkLst>
            <pc:docMk/>
            <pc:sldMk cId="0" sldId="259"/>
            <ac:spMk id="8" creationId="{00000000-0000-0000-0000-000000000000}"/>
          </ac:spMkLst>
        </pc:spChg>
        <pc:spChg chg="mod">
          <ac:chgData name="Bavli Armanyous" userId="2614e947-2a9c-4f9a-b146-f5ffa7aca4cc" providerId="ADAL" clId="{F9025844-0D46-4D37-8C74-FC46BD0E6BF2}" dt="2026-03-24T21:51:21.299" v="316" actId="1076"/>
          <ac:spMkLst>
            <pc:docMk/>
            <pc:sldMk cId="0" sldId="259"/>
            <ac:spMk id="10" creationId="{00000000-0000-0000-0000-000000000000}"/>
          </ac:spMkLst>
        </pc:spChg>
      </pc:sldChg>
    </pc:docChg>
  </pc:docChgLst>
  <pc:docChgLst>
    <pc:chgData name="lucas van Boxtel" userId="S::ljj.vanboxtel@student.avans.nl::7c4e9f8f-3c4a-493f-96e5-47f0a0f31c0c" providerId="AD" clId="Web-{9C7E446F-1AD5-D81B-8CCD-9219B862E159}"/>
    <pc:docChg chg="addSld">
      <pc:chgData name="lucas van Boxtel" userId="S::ljj.vanboxtel@student.avans.nl::7c4e9f8f-3c4a-493f-96e5-47f0a0f31c0c" providerId="AD" clId="Web-{9C7E446F-1AD5-D81B-8CCD-9219B862E159}" dt="2026-03-25T14:23:07.971" v="3"/>
      <pc:docMkLst>
        <pc:docMk/>
      </pc:docMkLst>
      <pc:sldChg chg="add">
        <pc:chgData name="lucas van Boxtel" userId="S::ljj.vanboxtel@student.avans.nl::7c4e9f8f-3c4a-493f-96e5-47f0a0f31c0c" providerId="AD" clId="Web-{9C7E446F-1AD5-D81B-8CCD-9219B862E159}" dt="2026-03-25T14:21:56.250" v="0"/>
        <pc:sldMkLst>
          <pc:docMk/>
          <pc:sldMk cId="1362726589" sldId="268"/>
        </pc:sldMkLst>
      </pc:sldChg>
      <pc:sldChg chg="add">
        <pc:chgData name="lucas van Boxtel" userId="S::ljj.vanboxtel@student.avans.nl::7c4e9f8f-3c4a-493f-96e5-47f0a0f31c0c" providerId="AD" clId="Web-{9C7E446F-1AD5-D81B-8CCD-9219B862E159}" dt="2026-03-25T14:22:15.532" v="1"/>
        <pc:sldMkLst>
          <pc:docMk/>
          <pc:sldMk cId="883517323" sldId="269"/>
        </pc:sldMkLst>
      </pc:sldChg>
      <pc:sldChg chg="add">
        <pc:chgData name="lucas van Boxtel" userId="S::ljj.vanboxtel@student.avans.nl::7c4e9f8f-3c4a-493f-96e5-47f0a0f31c0c" providerId="AD" clId="Web-{9C7E446F-1AD5-D81B-8CCD-9219B862E159}" dt="2026-03-25T14:22:53.454" v="2"/>
        <pc:sldMkLst>
          <pc:docMk/>
          <pc:sldMk cId="1416923225" sldId="270"/>
        </pc:sldMkLst>
      </pc:sldChg>
      <pc:sldChg chg="add">
        <pc:chgData name="lucas van Boxtel" userId="S::ljj.vanboxtel@student.avans.nl::7c4e9f8f-3c4a-493f-96e5-47f0a0f31c0c" providerId="AD" clId="Web-{9C7E446F-1AD5-D81B-8CCD-9219B862E159}" dt="2026-03-25T14:23:07.971" v="3"/>
        <pc:sldMkLst>
          <pc:docMk/>
          <pc:sldMk cId="995787386" sldId="271"/>
        </pc:sldMkLst>
      </pc:sldChg>
    </pc:docChg>
  </pc:docChgLst>
  <pc:docChgLst>
    <pc:chgData name="Bavli Armanyous" userId="2614e947-2a9c-4f9a-b146-f5ffa7aca4cc" providerId="ADAL" clId="{6BC47077-99EB-4361-9F75-006D4FB26808}"/>
    <pc:docChg chg="custSel addSld modSld sldOrd">
      <pc:chgData name="Bavli Armanyous" userId="2614e947-2a9c-4f9a-b146-f5ffa7aca4cc" providerId="ADAL" clId="{6BC47077-99EB-4361-9F75-006D4FB26808}" dt="2026-03-26T12:08:42.320" v="18" actId="27636"/>
      <pc:docMkLst>
        <pc:docMk/>
      </pc:docMkLst>
      <pc:sldChg chg="modSp mod">
        <pc:chgData name="Bavli Armanyous" userId="2614e947-2a9c-4f9a-b146-f5ffa7aca4cc" providerId="ADAL" clId="{6BC47077-99EB-4361-9F75-006D4FB26808}" dt="2026-03-25T23:06:09.173" v="1" actId="113"/>
        <pc:sldMkLst>
          <pc:docMk/>
          <pc:sldMk cId="2676421704" sldId="260"/>
        </pc:sldMkLst>
        <pc:spChg chg="mod">
          <ac:chgData name="Bavli Armanyous" userId="2614e947-2a9c-4f9a-b146-f5ffa7aca4cc" providerId="ADAL" clId="{6BC47077-99EB-4361-9F75-006D4FB26808}" dt="2026-03-25T23:06:09.173" v="1" actId="113"/>
          <ac:spMkLst>
            <pc:docMk/>
            <pc:sldMk cId="2676421704" sldId="260"/>
            <ac:spMk id="7" creationId="{C51C0867-9F8B-8528-8557-F65A37264E91}"/>
          </ac:spMkLst>
        </pc:spChg>
      </pc:sldChg>
      <pc:sldChg chg="modSp mod">
        <pc:chgData name="Bavli Armanyous" userId="2614e947-2a9c-4f9a-b146-f5ffa7aca4cc" providerId="ADAL" clId="{6BC47077-99EB-4361-9F75-006D4FB26808}" dt="2026-03-25T23:06:22.263" v="3" actId="113"/>
        <pc:sldMkLst>
          <pc:docMk/>
          <pc:sldMk cId="622783679" sldId="267"/>
        </pc:sldMkLst>
        <pc:spChg chg="mod">
          <ac:chgData name="Bavli Armanyous" userId="2614e947-2a9c-4f9a-b146-f5ffa7aca4cc" providerId="ADAL" clId="{6BC47077-99EB-4361-9F75-006D4FB26808}" dt="2026-03-25T23:06:22.263" v="3" actId="113"/>
          <ac:spMkLst>
            <pc:docMk/>
            <pc:sldMk cId="622783679" sldId="267"/>
            <ac:spMk id="7" creationId="{FE1CED0F-FC8A-C87B-EB75-15BB5F4C9C66}"/>
          </ac:spMkLst>
        </pc:spChg>
      </pc:sldChg>
      <pc:sldChg chg="addSp modSp mod ord">
        <pc:chgData name="Bavli Armanyous" userId="2614e947-2a9c-4f9a-b146-f5ffa7aca4cc" providerId="ADAL" clId="{6BC47077-99EB-4361-9F75-006D4FB26808}" dt="2026-03-25T23:11:53.510" v="16"/>
        <pc:sldMkLst>
          <pc:docMk/>
          <pc:sldMk cId="1362726589" sldId="268"/>
        </pc:sldMkLst>
        <pc:spChg chg="add mod">
          <ac:chgData name="Bavli Armanyous" userId="2614e947-2a9c-4f9a-b146-f5ffa7aca4cc" providerId="ADAL" clId="{6BC47077-99EB-4361-9F75-006D4FB26808}" dt="2026-03-25T23:11:34.033" v="14" actId="113"/>
          <ac:spMkLst>
            <pc:docMk/>
            <pc:sldMk cId="1362726589" sldId="268"/>
            <ac:spMk id="14" creationId="{F56CD02C-EAC8-10B9-296B-2D45A5F96502}"/>
          </ac:spMkLst>
        </pc:spChg>
      </pc:sldChg>
      <pc:sldChg chg="addSp delSp modSp mod ord">
        <pc:chgData name="Bavli Armanyous" userId="2614e947-2a9c-4f9a-b146-f5ffa7aca4cc" providerId="ADAL" clId="{6BC47077-99EB-4361-9F75-006D4FB26808}" dt="2026-03-25T23:11:53.510" v="16"/>
        <pc:sldMkLst>
          <pc:docMk/>
          <pc:sldMk cId="883517323" sldId="269"/>
        </pc:sldMkLst>
        <pc:spChg chg="del mod">
          <ac:chgData name="Bavli Armanyous" userId="2614e947-2a9c-4f9a-b146-f5ffa7aca4cc" providerId="ADAL" clId="{6BC47077-99EB-4361-9F75-006D4FB26808}" dt="2026-03-25T23:11:01.778" v="7" actId="478"/>
          <ac:spMkLst>
            <pc:docMk/>
            <pc:sldMk cId="883517323" sldId="269"/>
            <ac:spMk id="3" creationId="{00000000-0000-0000-0000-000000000000}"/>
          </ac:spMkLst>
        </pc:spChg>
        <pc:picChg chg="add mod">
          <ac:chgData name="Bavli Armanyous" userId="2614e947-2a9c-4f9a-b146-f5ffa7aca4cc" providerId="ADAL" clId="{6BC47077-99EB-4361-9F75-006D4FB26808}" dt="2026-03-25T23:10:54.264" v="4"/>
          <ac:picMkLst>
            <pc:docMk/>
            <pc:sldMk cId="883517323" sldId="269"/>
            <ac:picMk id="13" creationId="{51FF7F9F-8D49-E211-D0DC-C41BBAEA739C}"/>
          </ac:picMkLst>
        </pc:picChg>
      </pc:sldChg>
      <pc:sldChg chg="addSp delSp modSp mod ord">
        <pc:chgData name="Bavli Armanyous" userId="2614e947-2a9c-4f9a-b146-f5ffa7aca4cc" providerId="ADAL" clId="{6BC47077-99EB-4361-9F75-006D4FB26808}" dt="2026-03-25T23:11:53.510" v="16"/>
        <pc:sldMkLst>
          <pc:docMk/>
          <pc:sldMk cId="1416923225" sldId="270"/>
        </pc:sldMkLst>
        <pc:spChg chg="del">
          <ac:chgData name="Bavli Armanyous" userId="2614e947-2a9c-4f9a-b146-f5ffa7aca4cc" providerId="ADAL" clId="{6BC47077-99EB-4361-9F75-006D4FB26808}" dt="2026-03-25T23:11:06.181" v="8" actId="478"/>
          <ac:spMkLst>
            <pc:docMk/>
            <pc:sldMk cId="1416923225" sldId="270"/>
            <ac:spMk id="3" creationId="{00000000-0000-0000-0000-000000000000}"/>
          </ac:spMkLst>
        </pc:spChg>
        <pc:picChg chg="add mod">
          <ac:chgData name="Bavli Armanyous" userId="2614e947-2a9c-4f9a-b146-f5ffa7aca4cc" providerId="ADAL" clId="{6BC47077-99EB-4361-9F75-006D4FB26808}" dt="2026-03-25T23:11:07.095" v="9"/>
          <ac:picMkLst>
            <pc:docMk/>
            <pc:sldMk cId="1416923225" sldId="270"/>
            <ac:picMk id="17" creationId="{BD94BE43-6D37-33E0-A448-8383D5D1117B}"/>
          </ac:picMkLst>
        </pc:picChg>
      </pc:sldChg>
      <pc:sldChg chg="addSp delSp modSp mod ord">
        <pc:chgData name="Bavli Armanyous" userId="2614e947-2a9c-4f9a-b146-f5ffa7aca4cc" providerId="ADAL" clId="{6BC47077-99EB-4361-9F75-006D4FB26808}" dt="2026-03-25T23:11:53.510" v="16"/>
        <pc:sldMkLst>
          <pc:docMk/>
          <pc:sldMk cId="995787386" sldId="271"/>
        </pc:sldMkLst>
        <pc:spChg chg="del">
          <ac:chgData name="Bavli Armanyous" userId="2614e947-2a9c-4f9a-b146-f5ffa7aca4cc" providerId="ADAL" clId="{6BC47077-99EB-4361-9F75-006D4FB26808}" dt="2026-03-25T23:11:14.674" v="10" actId="478"/>
          <ac:spMkLst>
            <pc:docMk/>
            <pc:sldMk cId="995787386" sldId="271"/>
            <ac:spMk id="3" creationId="{00000000-0000-0000-0000-000000000000}"/>
          </ac:spMkLst>
        </pc:spChg>
        <pc:spChg chg="mod">
          <ac:chgData name="Bavli Armanyous" userId="2614e947-2a9c-4f9a-b146-f5ffa7aca4cc" providerId="ADAL" clId="{6BC47077-99EB-4361-9F75-006D4FB26808}" dt="2026-03-25T23:10:54.406" v="5" actId="27636"/>
          <ac:spMkLst>
            <pc:docMk/>
            <pc:sldMk cId="995787386" sldId="271"/>
            <ac:spMk id="5" creationId="{00000000-0000-0000-0000-000000000000}"/>
          </ac:spMkLst>
        </pc:spChg>
        <pc:picChg chg="add mod">
          <ac:chgData name="Bavli Armanyous" userId="2614e947-2a9c-4f9a-b146-f5ffa7aca4cc" providerId="ADAL" clId="{6BC47077-99EB-4361-9F75-006D4FB26808}" dt="2026-03-25T23:11:15.744" v="11"/>
          <ac:picMkLst>
            <pc:docMk/>
            <pc:sldMk cId="995787386" sldId="271"/>
            <ac:picMk id="21" creationId="{69D07193-83D3-410C-C047-9F39EAA99EC6}"/>
          </ac:picMkLst>
        </pc:picChg>
      </pc:sldChg>
      <pc:sldChg chg="add">
        <pc:chgData name="Bavli Armanyous" userId="2614e947-2a9c-4f9a-b146-f5ffa7aca4cc" providerId="ADAL" clId="{6BC47077-99EB-4361-9F75-006D4FB26808}" dt="2026-03-26T12:08:42.210" v="17"/>
        <pc:sldMkLst>
          <pc:docMk/>
          <pc:sldMk cId="0" sldId="272"/>
        </pc:sldMkLst>
      </pc:sldChg>
      <pc:sldChg chg="modSp add mod">
        <pc:chgData name="Bavli Armanyous" userId="2614e947-2a9c-4f9a-b146-f5ffa7aca4cc" providerId="ADAL" clId="{6BC47077-99EB-4361-9F75-006D4FB26808}" dt="2026-03-26T12:08:42.320" v="18" actId="27636"/>
        <pc:sldMkLst>
          <pc:docMk/>
          <pc:sldMk cId="0" sldId="273"/>
        </pc:sldMkLst>
        <pc:spChg chg="mod">
          <ac:chgData name="Bavli Armanyous" userId="2614e947-2a9c-4f9a-b146-f5ffa7aca4cc" providerId="ADAL" clId="{6BC47077-99EB-4361-9F75-006D4FB26808}" dt="2026-03-26T12:08:42.320" v="18" actId="27636"/>
          <ac:spMkLst>
            <pc:docMk/>
            <pc:sldMk cId="0" sldId="273"/>
            <ac:spMk id="45" creationId="{00000000-0000-0000-0000-000000000000}"/>
          </ac:spMkLst>
        </pc:spChg>
      </pc:sldChg>
      <pc:sldChg chg="add">
        <pc:chgData name="Bavli Armanyous" userId="2614e947-2a9c-4f9a-b146-f5ffa7aca4cc" providerId="ADAL" clId="{6BC47077-99EB-4361-9F75-006D4FB26808}" dt="2026-03-26T12:08:42.210" v="17"/>
        <pc:sldMkLst>
          <pc:docMk/>
          <pc:sldMk cId="0" sldId="274"/>
        </pc:sldMkLst>
      </pc:sldChg>
    </pc:docChg>
  </pc:docChgLst>
  <pc:docChgLst>
    <pc:chgData name="Jonas Clein" userId="S::jd.clein@student.avans.nl::25b35d1e-ddd6-43e3-82be-e065862dc903" providerId="AD" clId="Web-{B61A2517-714E-840D-50B1-2201EF7BF3E5}"/>
    <pc:docChg chg="addSld modSld">
      <pc:chgData name="Jonas Clein" userId="S::jd.clein@student.avans.nl::25b35d1e-ddd6-43e3-82be-e065862dc903" providerId="AD" clId="Web-{B61A2517-714E-840D-50B1-2201EF7BF3E5}" dt="2026-03-25T10:37:44.125" v="18"/>
      <pc:docMkLst>
        <pc:docMk/>
      </pc:docMkLst>
      <pc:sldChg chg="delSp modSp add replId">
        <pc:chgData name="Jonas Clein" userId="S::jd.clein@student.avans.nl::25b35d1e-ddd6-43e3-82be-e065862dc903" providerId="AD" clId="Web-{B61A2517-714E-840D-50B1-2201EF7BF3E5}" dt="2026-03-25T10:37:44.125" v="18"/>
        <pc:sldMkLst>
          <pc:docMk/>
          <pc:sldMk cId="2676421704" sldId="260"/>
        </pc:sldMkLst>
        <pc:spChg chg="mod">
          <ac:chgData name="Jonas Clein" userId="S::jd.clein@student.avans.nl::25b35d1e-ddd6-43e3-82be-e065862dc903" providerId="AD" clId="Web-{B61A2517-714E-840D-50B1-2201EF7BF3E5}" dt="2026-03-25T10:35:57.857" v="1" actId="20577"/>
          <ac:spMkLst>
            <pc:docMk/>
            <pc:sldMk cId="2676421704" sldId="260"/>
            <ac:spMk id="3" creationId="{C25D659D-B8C5-2225-F04C-A4DCC9FCFF07}"/>
          </ac:spMkLst>
        </pc:spChg>
        <pc:spChg chg="mod">
          <ac:chgData name="Jonas Clein" userId="S::jd.clein@student.avans.nl::25b35d1e-ddd6-43e3-82be-e065862dc903" providerId="AD" clId="Web-{B61A2517-714E-840D-50B1-2201EF7BF3E5}" dt="2026-03-25T10:36:31.217" v="16" actId="20577"/>
          <ac:spMkLst>
            <pc:docMk/>
            <pc:sldMk cId="2676421704" sldId="260"/>
            <ac:spMk id="4" creationId="{533EC92C-23D2-7E04-2419-7B03173B4837}"/>
          </ac:spMkLst>
        </pc:spChg>
        <pc:spChg chg="del">
          <ac:chgData name="Jonas Clein" userId="S::jd.clein@student.avans.nl::25b35d1e-ddd6-43e3-82be-e065862dc903" providerId="AD" clId="Web-{B61A2517-714E-840D-50B1-2201EF7BF3E5}" dt="2026-03-25T10:36:39.874" v="17"/>
          <ac:spMkLst>
            <pc:docMk/>
            <pc:sldMk cId="2676421704" sldId="260"/>
            <ac:spMk id="5" creationId="{3ECD1CD9-3405-93A7-6B44-B6FDDDFABF86}"/>
          </ac:spMkLst>
        </pc:spChg>
        <pc:spChg chg="del">
          <ac:chgData name="Jonas Clein" userId="S::jd.clein@student.avans.nl::25b35d1e-ddd6-43e3-82be-e065862dc903" providerId="AD" clId="Web-{B61A2517-714E-840D-50B1-2201EF7BF3E5}" dt="2026-03-25T10:37:44.125" v="18"/>
          <ac:spMkLst>
            <pc:docMk/>
            <pc:sldMk cId="2676421704" sldId="260"/>
            <ac:spMk id="19" creationId="{88217E1B-03FC-4359-CDB2-74DCC527BF5B}"/>
          </ac:spMkLst>
        </pc:spChg>
      </pc:sldChg>
    </pc:docChg>
  </pc:docChgLst>
  <pc:docChgLst>
    <pc:chgData name="Vo Nguyen" userId="S::vt.nguyen1@student.avans.nl::e0d39c9f-121a-446a-a980-133def24aa47" providerId="AD" clId="Web-{FB8E2083-A08F-E2FE-D60A-81B324FFB53E}"/>
    <pc:docChg chg="addSld delSld modSld">
      <pc:chgData name="Vo Nguyen" userId="S::vt.nguyen1@student.avans.nl::e0d39c9f-121a-446a-a980-133def24aa47" providerId="AD" clId="Web-{FB8E2083-A08F-E2FE-D60A-81B324FFB53E}" dt="2026-03-25T11:27:45.925" v="76" actId="20577"/>
      <pc:docMkLst>
        <pc:docMk/>
      </pc:docMkLst>
      <pc:sldChg chg="addSp modSp add del replId">
        <pc:chgData name="Vo Nguyen" userId="S::vt.nguyen1@student.avans.nl::e0d39c9f-121a-446a-a980-133def24aa47" providerId="AD" clId="Web-{FB8E2083-A08F-E2FE-D60A-81B324FFB53E}" dt="2026-03-25T11:27:45.925" v="76" actId="20577"/>
        <pc:sldMkLst>
          <pc:docMk/>
          <pc:sldMk cId="99373811" sldId="264"/>
        </pc:sldMkLst>
        <pc:spChg chg="mod">
          <ac:chgData name="Vo Nguyen" userId="S::vt.nguyen1@student.avans.nl::e0d39c9f-121a-446a-a980-133def24aa47" providerId="AD" clId="Web-{FB8E2083-A08F-E2FE-D60A-81B324FFB53E}" dt="2026-03-25T11:27:25.893" v="68" actId="20577"/>
          <ac:spMkLst>
            <pc:docMk/>
            <pc:sldMk cId="99373811" sldId="264"/>
            <ac:spMk id="5" creationId="{7ABE4A2D-7309-D695-8CB0-27D7CD4FEFD4}"/>
          </ac:spMkLst>
        </pc:spChg>
        <pc:spChg chg="mod">
          <ac:chgData name="Vo Nguyen" userId="S::vt.nguyen1@student.avans.nl::e0d39c9f-121a-446a-a980-133def24aa47" providerId="AD" clId="Web-{FB8E2083-A08F-E2FE-D60A-81B324FFB53E}" dt="2026-03-25T11:27:32.019" v="71" actId="20577"/>
          <ac:spMkLst>
            <pc:docMk/>
            <pc:sldMk cId="99373811" sldId="264"/>
            <ac:spMk id="7" creationId="{892BDB16-317C-3EFE-7EC0-7AD2413CE004}"/>
          </ac:spMkLst>
        </pc:spChg>
        <pc:spChg chg="add mod">
          <ac:chgData name="Vo Nguyen" userId="S::vt.nguyen1@student.avans.nl::e0d39c9f-121a-446a-a980-133def24aa47" providerId="AD" clId="Web-{FB8E2083-A08F-E2FE-D60A-81B324FFB53E}" dt="2026-03-25T11:27:45.925" v="76" actId="20577"/>
          <ac:spMkLst>
            <pc:docMk/>
            <pc:sldMk cId="99373811" sldId="264"/>
            <ac:spMk id="8" creationId="{292BFC06-77CC-0392-162A-8317B32BF53B}"/>
          </ac:spMkLst>
        </pc:spChg>
      </pc:sldChg>
      <pc:sldChg chg="addSp delSp modSp add del replId">
        <pc:chgData name="Vo Nguyen" userId="S::vt.nguyen1@student.avans.nl::e0d39c9f-121a-446a-a980-133def24aa47" providerId="AD" clId="Web-{FB8E2083-A08F-E2FE-D60A-81B324FFB53E}" dt="2026-03-25T11:27:14.487" v="65" actId="20577"/>
        <pc:sldMkLst>
          <pc:docMk/>
          <pc:sldMk cId="3060224676" sldId="265"/>
        </pc:sldMkLst>
        <pc:spChg chg="add mod">
          <ac:chgData name="Vo Nguyen" userId="S::vt.nguyen1@student.avans.nl::e0d39c9f-121a-446a-a980-133def24aa47" providerId="AD" clId="Web-{FB8E2083-A08F-E2FE-D60A-81B324FFB53E}" dt="2026-03-25T11:27:02.846" v="61" actId="20577"/>
          <ac:spMkLst>
            <pc:docMk/>
            <pc:sldMk cId="3060224676" sldId="265"/>
            <ac:spMk id="4" creationId="{C1BFA4E8-321D-BF42-0B6E-D89D8FE788B1}"/>
          </ac:spMkLst>
        </pc:spChg>
        <pc:spChg chg="add del">
          <ac:chgData name="Vo Nguyen" userId="S::vt.nguyen1@student.avans.nl::e0d39c9f-121a-446a-a980-133def24aa47" providerId="AD" clId="Web-{FB8E2083-A08F-E2FE-D60A-81B324FFB53E}" dt="2026-03-25T11:26:49.158" v="57"/>
          <ac:spMkLst>
            <pc:docMk/>
            <pc:sldMk cId="3060224676" sldId="265"/>
            <ac:spMk id="5" creationId="{7C8BEE61-6312-CB43-F508-62DDEFEEE620}"/>
          </ac:spMkLst>
        </pc:spChg>
        <pc:spChg chg="mod">
          <ac:chgData name="Vo Nguyen" userId="S::vt.nguyen1@student.avans.nl::e0d39c9f-121a-446a-a980-133def24aa47" providerId="AD" clId="Web-{FB8E2083-A08F-E2FE-D60A-81B324FFB53E}" dt="2026-03-25T11:26:26.079" v="51" actId="20577"/>
          <ac:spMkLst>
            <pc:docMk/>
            <pc:sldMk cId="3060224676" sldId="265"/>
            <ac:spMk id="7" creationId="{CF4E043D-DD22-D5DF-288D-9E0210BB2BBB}"/>
          </ac:spMkLst>
        </pc:spChg>
        <pc:spChg chg="mod">
          <ac:chgData name="Vo Nguyen" userId="S::vt.nguyen1@student.avans.nl::e0d39c9f-121a-446a-a980-133def24aa47" providerId="AD" clId="Web-{FB8E2083-A08F-E2FE-D60A-81B324FFB53E}" dt="2026-03-25T11:27:14.487" v="65" actId="20577"/>
          <ac:spMkLst>
            <pc:docMk/>
            <pc:sldMk cId="3060224676" sldId="265"/>
            <ac:spMk id="11" creationId="{866A33E4-3C4F-620B-FC75-8B709935BDD0}"/>
          </ac:spMkLst>
        </pc:spChg>
      </pc:sldChg>
      <pc:sldChg chg="addSp delSp modSp add del replId">
        <pc:chgData name="Vo Nguyen" userId="S::vt.nguyen1@student.avans.nl::e0d39c9f-121a-446a-a980-133def24aa47" providerId="AD" clId="Web-{FB8E2083-A08F-E2FE-D60A-81B324FFB53E}" dt="2026-03-25T11:26:13.001" v="46" actId="20577"/>
        <pc:sldMkLst>
          <pc:docMk/>
          <pc:sldMk cId="574751181" sldId="266"/>
        </pc:sldMkLst>
        <pc:spChg chg="mod">
          <ac:chgData name="Vo Nguyen" userId="S::vt.nguyen1@student.avans.nl::e0d39c9f-121a-446a-a980-133def24aa47" providerId="AD" clId="Web-{FB8E2083-A08F-E2FE-D60A-81B324FFB53E}" dt="2026-03-25T11:25:40.906" v="36" actId="20577"/>
          <ac:spMkLst>
            <pc:docMk/>
            <pc:sldMk cId="574751181" sldId="266"/>
            <ac:spMk id="5" creationId="{1DAAD6B0-50F4-83A3-E085-46DA4199ABEA}"/>
          </ac:spMkLst>
        </pc:spChg>
        <pc:spChg chg="mod">
          <ac:chgData name="Vo Nguyen" userId="S::vt.nguyen1@student.avans.nl::e0d39c9f-121a-446a-a980-133def24aa47" providerId="AD" clId="Web-{FB8E2083-A08F-E2FE-D60A-81B324FFB53E}" dt="2026-03-25T11:25:49.765" v="39" actId="20577"/>
          <ac:spMkLst>
            <pc:docMk/>
            <pc:sldMk cId="574751181" sldId="266"/>
            <ac:spMk id="7" creationId="{3516097B-1237-184F-2D7E-F52252EE8994}"/>
          </ac:spMkLst>
        </pc:spChg>
        <pc:spChg chg="mod">
          <ac:chgData name="Vo Nguyen" userId="S::vt.nguyen1@student.avans.nl::e0d39c9f-121a-446a-a980-133def24aa47" providerId="AD" clId="Web-{FB8E2083-A08F-E2FE-D60A-81B324FFB53E}" dt="2026-03-25T11:26:00.860" v="42" actId="20577"/>
          <ac:spMkLst>
            <pc:docMk/>
            <pc:sldMk cId="574751181" sldId="266"/>
            <ac:spMk id="9" creationId="{C2BBABB6-BE96-E900-B25C-6276F3769BD0}"/>
          </ac:spMkLst>
        </pc:spChg>
        <pc:spChg chg="mod">
          <ac:chgData name="Vo Nguyen" userId="S::vt.nguyen1@student.avans.nl::e0d39c9f-121a-446a-a980-133def24aa47" providerId="AD" clId="Web-{FB8E2083-A08F-E2FE-D60A-81B324FFB53E}" dt="2026-03-25T11:26:13.001" v="46" actId="20577"/>
          <ac:spMkLst>
            <pc:docMk/>
            <pc:sldMk cId="574751181" sldId="266"/>
            <ac:spMk id="11" creationId="{5B496652-DF51-9B5A-E985-42C108463DF1}"/>
          </ac:spMkLst>
        </pc:spChg>
        <pc:picChg chg="add mod">
          <ac:chgData name="Vo Nguyen" userId="S::vt.nguyen1@student.avans.nl::e0d39c9f-121a-446a-a980-133def24aa47" providerId="AD" clId="Web-{FB8E2083-A08F-E2FE-D60A-81B324FFB53E}" dt="2026-03-25T11:20:53.763" v="28" actId="1076"/>
          <ac:picMkLst>
            <pc:docMk/>
            <pc:sldMk cId="574751181" sldId="266"/>
            <ac:picMk id="12" creationId="{34B3D989-CE81-25A9-7B51-175E186B50C5}"/>
          </ac:picMkLst>
        </pc:picChg>
        <pc:picChg chg="del">
          <ac:chgData name="Vo Nguyen" userId="S::vt.nguyen1@student.avans.nl::e0d39c9f-121a-446a-a980-133def24aa47" providerId="AD" clId="Web-{FB8E2083-A08F-E2FE-D60A-81B324FFB53E}" dt="2026-03-25T11:20:49.528" v="26"/>
          <ac:picMkLst>
            <pc:docMk/>
            <pc:sldMk cId="574751181" sldId="266"/>
            <ac:picMk id="13" creationId="{98AEED64-C4C4-50CE-AAB0-10754ABF8BDE}"/>
          </ac:picMkLst>
        </pc:picChg>
      </pc:sldChg>
      <pc:sldChg chg="addSp delSp modSp add del replId">
        <pc:chgData name="Vo Nguyen" userId="S::vt.nguyen1@student.avans.nl::e0d39c9f-121a-446a-a980-133def24aa47" providerId="AD" clId="Web-{FB8E2083-A08F-E2FE-D60A-81B324FFB53E}" dt="2026-03-25T11:20:30.589" v="25" actId="1076"/>
        <pc:sldMkLst>
          <pc:docMk/>
          <pc:sldMk cId="622783679" sldId="267"/>
        </pc:sldMkLst>
        <pc:spChg chg="mod">
          <ac:chgData name="Vo Nguyen" userId="S::vt.nguyen1@student.avans.nl::e0d39c9f-121a-446a-a980-133def24aa47" providerId="AD" clId="Web-{FB8E2083-A08F-E2FE-D60A-81B324FFB53E}" dt="2026-03-25T11:16:40.393" v="20" actId="20577"/>
          <ac:spMkLst>
            <pc:docMk/>
            <pc:sldMk cId="622783679" sldId="267"/>
            <ac:spMk id="4" creationId="{F365B623-7B98-536C-917C-A3A8E41445BC}"/>
          </ac:spMkLst>
        </pc:spChg>
        <pc:picChg chg="add mod">
          <ac:chgData name="Vo Nguyen" userId="S::vt.nguyen1@student.avans.nl::e0d39c9f-121a-446a-a980-133def24aa47" providerId="AD" clId="Web-{FB8E2083-A08F-E2FE-D60A-81B324FFB53E}" dt="2026-03-25T11:20:30.589" v="25" actId="1076"/>
          <ac:picMkLst>
            <pc:docMk/>
            <pc:sldMk cId="622783679" sldId="267"/>
            <ac:picMk id="2" creationId="{171812EF-1884-C1D9-2D2D-085219DCBB9D}"/>
          </ac:picMkLst>
        </pc:picChg>
        <pc:picChg chg="del">
          <ac:chgData name="Vo Nguyen" userId="S::vt.nguyen1@student.avans.nl::e0d39c9f-121a-446a-a980-133def24aa47" providerId="AD" clId="Web-{FB8E2083-A08F-E2FE-D60A-81B324FFB53E}" dt="2026-03-25T11:20:24.198" v="21"/>
          <ac:picMkLst>
            <pc:docMk/>
            <pc:sldMk cId="622783679" sldId="267"/>
            <ac:picMk id="8" creationId="{80C23B19-FBC1-7538-FE75-71A1A13060A0}"/>
          </ac:picMkLst>
        </pc:picChg>
      </pc:sldChg>
    </pc:docChg>
  </pc:docChgLst>
  <pc:docChgLst>
    <pc:chgData name="Jonas Clein" userId="S::jd.clein@student.avans.nl::25b35d1e-ddd6-43e3-82be-e065862dc903" providerId="AD" clId="Web-{96242D52-A3E9-087E-491B-A92D3BF7DB66}"/>
    <pc:docChg chg="addSld delSld modSld">
      <pc:chgData name="Jonas Clein" userId="S::jd.clein@student.avans.nl::25b35d1e-ddd6-43e3-82be-e065862dc903" providerId="AD" clId="Web-{96242D52-A3E9-087E-491B-A92D3BF7DB66}" dt="2026-03-25T10:53:44.771" v="696" actId="20577"/>
      <pc:docMkLst>
        <pc:docMk/>
      </pc:docMkLst>
      <pc:sldChg chg="del">
        <pc:chgData name="Jonas Clein" userId="S::jd.clein@student.avans.nl::25b35d1e-ddd6-43e3-82be-e065862dc903" providerId="AD" clId="Web-{96242D52-A3E9-087E-491B-A92D3BF7DB66}" dt="2026-03-25T10:40:26.421" v="0"/>
        <pc:sldMkLst>
          <pc:docMk/>
          <pc:sldMk cId="1340485992" sldId="261"/>
        </pc:sldMkLst>
      </pc:sldChg>
      <pc:sldChg chg="addSp delSp modSp add replId">
        <pc:chgData name="Jonas Clein" userId="S::jd.clein@student.avans.nl::25b35d1e-ddd6-43e3-82be-e065862dc903" providerId="AD" clId="Web-{96242D52-A3E9-087E-491B-A92D3BF7DB66}" dt="2026-03-25T10:52:58.715" v="630" actId="20577"/>
        <pc:sldMkLst>
          <pc:docMk/>
          <pc:sldMk cId="1667981088" sldId="261"/>
        </pc:sldMkLst>
        <pc:spChg chg="mod">
          <ac:chgData name="Jonas Clein" userId="S::jd.clein@student.avans.nl::25b35d1e-ddd6-43e3-82be-e065862dc903" providerId="AD" clId="Web-{96242D52-A3E9-087E-491B-A92D3BF7DB66}" dt="2026-03-25T10:42:34.056" v="71" actId="20577"/>
          <ac:spMkLst>
            <pc:docMk/>
            <pc:sldMk cId="1667981088" sldId="261"/>
            <ac:spMk id="5" creationId="{3C6B3F9F-F8B8-3FD4-9E43-DD7516861F7F}"/>
          </ac:spMkLst>
        </pc:spChg>
        <pc:spChg chg="mod">
          <ac:chgData name="Jonas Clein" userId="S::jd.clein@student.avans.nl::25b35d1e-ddd6-43e3-82be-e065862dc903" providerId="AD" clId="Web-{96242D52-A3E9-087E-491B-A92D3BF7DB66}" dt="2026-03-25T10:43:51.030" v="125" actId="20577"/>
          <ac:spMkLst>
            <pc:docMk/>
            <pc:sldMk cId="1667981088" sldId="261"/>
            <ac:spMk id="7" creationId="{4D1AA32E-ACDE-53A7-EEB0-37EF1D834F7A}"/>
          </ac:spMkLst>
        </pc:spChg>
        <pc:spChg chg="mod">
          <ac:chgData name="Jonas Clein" userId="S::jd.clein@student.avans.nl::25b35d1e-ddd6-43e3-82be-e065862dc903" providerId="AD" clId="Web-{96242D52-A3E9-087E-491B-A92D3BF7DB66}" dt="2026-03-25T10:52:58.715" v="630" actId="20577"/>
          <ac:spMkLst>
            <pc:docMk/>
            <pc:sldMk cId="1667981088" sldId="261"/>
            <ac:spMk id="9" creationId="{CEB50AFC-6E90-B04C-7B21-8B35417AEE0D}"/>
          </ac:spMkLst>
        </pc:spChg>
        <pc:spChg chg="mod">
          <ac:chgData name="Jonas Clein" userId="S::jd.clein@student.avans.nl::25b35d1e-ddd6-43e3-82be-e065862dc903" providerId="AD" clId="Web-{96242D52-A3E9-087E-491B-A92D3BF7DB66}" dt="2026-03-25T10:46:57.882" v="283" actId="20577"/>
          <ac:spMkLst>
            <pc:docMk/>
            <pc:sldMk cId="1667981088" sldId="261"/>
            <ac:spMk id="11" creationId="{5FC0CF42-1290-5677-1F76-0A82C7776968}"/>
          </ac:spMkLst>
        </pc:spChg>
        <pc:picChg chg="del">
          <ac:chgData name="Jonas Clein" userId="S::jd.clein@student.avans.nl::25b35d1e-ddd6-43e3-82be-e065862dc903" providerId="AD" clId="Web-{96242D52-A3E9-087E-491B-A92D3BF7DB66}" dt="2026-03-25T10:40:52.095" v="6"/>
          <ac:picMkLst>
            <pc:docMk/>
            <pc:sldMk cId="1667981088" sldId="261"/>
            <ac:picMk id="12" creationId="{6D5116C5-9E75-44F7-4DB3-6C444BF1454A}"/>
          </ac:picMkLst>
        </pc:picChg>
        <pc:picChg chg="add mod">
          <ac:chgData name="Jonas Clein" userId="S::jd.clein@student.avans.nl::25b35d1e-ddd6-43e3-82be-e065862dc903" providerId="AD" clId="Web-{96242D52-A3E9-087E-491B-A92D3BF7DB66}" dt="2026-03-25T10:47:04.289" v="286" actId="1076"/>
          <ac:picMkLst>
            <pc:docMk/>
            <pc:sldMk cId="1667981088" sldId="261"/>
            <ac:picMk id="13" creationId="{5B21C86B-394C-220A-6147-69B734DC506F}"/>
          </ac:picMkLst>
        </pc:picChg>
      </pc:sldChg>
      <pc:sldChg chg="del">
        <pc:chgData name="Jonas Clein" userId="S::jd.clein@student.avans.nl::25b35d1e-ddd6-43e3-82be-e065862dc903" providerId="AD" clId="Web-{96242D52-A3E9-087E-491B-A92D3BF7DB66}" dt="2026-03-25T10:40:28.484" v="1"/>
        <pc:sldMkLst>
          <pc:docMk/>
          <pc:sldMk cId="1503954138" sldId="262"/>
        </pc:sldMkLst>
      </pc:sldChg>
      <pc:sldChg chg="delSp modSp add replId">
        <pc:chgData name="Jonas Clein" userId="S::jd.clein@student.avans.nl::25b35d1e-ddd6-43e3-82be-e065862dc903" providerId="AD" clId="Web-{96242D52-A3E9-087E-491B-A92D3BF7DB66}" dt="2026-03-25T10:50:54.203" v="519" actId="20577"/>
        <pc:sldMkLst>
          <pc:docMk/>
          <pc:sldMk cId="3161882201" sldId="262"/>
        </pc:sldMkLst>
        <pc:spChg chg="del">
          <ac:chgData name="Jonas Clein" userId="S::jd.clein@student.avans.nl::25b35d1e-ddd6-43e3-82be-e065862dc903" providerId="AD" clId="Web-{96242D52-A3E9-087E-491B-A92D3BF7DB66}" dt="2026-03-25T10:47:55.415" v="291"/>
          <ac:spMkLst>
            <pc:docMk/>
            <pc:sldMk cId="3161882201" sldId="262"/>
            <ac:spMk id="4" creationId="{0AEA85F6-6663-4EF5-2583-FD33A2D66074}"/>
          </ac:spMkLst>
        </pc:spChg>
        <pc:spChg chg="del">
          <ac:chgData name="Jonas Clein" userId="S::jd.clein@student.avans.nl::25b35d1e-ddd6-43e3-82be-e065862dc903" providerId="AD" clId="Web-{96242D52-A3E9-087E-491B-A92D3BF7DB66}" dt="2026-03-25T10:47:53.197" v="290"/>
          <ac:spMkLst>
            <pc:docMk/>
            <pc:sldMk cId="3161882201" sldId="262"/>
            <ac:spMk id="5" creationId="{CDE7F2E7-FD81-D4C0-6582-94CBC17F82FD}"/>
          </ac:spMkLst>
        </pc:spChg>
        <pc:spChg chg="mod">
          <ac:chgData name="Jonas Clein" userId="S::jd.clein@student.avans.nl::25b35d1e-ddd6-43e3-82be-e065862dc903" providerId="AD" clId="Web-{96242D52-A3E9-087E-491B-A92D3BF7DB66}" dt="2026-03-25T10:49:19.153" v="357" actId="20577"/>
          <ac:spMkLst>
            <pc:docMk/>
            <pc:sldMk cId="3161882201" sldId="262"/>
            <ac:spMk id="7" creationId="{803A9981-E153-5166-365F-978E5D50A543}"/>
          </ac:spMkLst>
        </pc:spChg>
        <pc:spChg chg="del mod">
          <ac:chgData name="Jonas Clein" userId="S::jd.clein@student.avans.nl::25b35d1e-ddd6-43e3-82be-e065862dc903" providerId="AD" clId="Web-{96242D52-A3E9-087E-491B-A92D3BF7DB66}" dt="2026-03-25T10:48:04.572" v="294"/>
          <ac:spMkLst>
            <pc:docMk/>
            <pc:sldMk cId="3161882201" sldId="262"/>
            <ac:spMk id="8" creationId="{8E45635F-5D20-CBB5-D8FA-AE311C28EE3F}"/>
          </ac:spMkLst>
        </pc:spChg>
        <pc:spChg chg="del">
          <ac:chgData name="Jonas Clein" userId="S::jd.clein@student.avans.nl::25b35d1e-ddd6-43e3-82be-e065862dc903" providerId="AD" clId="Web-{96242D52-A3E9-087E-491B-A92D3BF7DB66}" dt="2026-03-25T10:47:59.775" v="292"/>
          <ac:spMkLst>
            <pc:docMk/>
            <pc:sldMk cId="3161882201" sldId="262"/>
            <ac:spMk id="9" creationId="{B134E28C-A5CC-6458-5841-AC5E7D7E0869}"/>
          </ac:spMkLst>
        </pc:spChg>
        <pc:spChg chg="mod">
          <ac:chgData name="Jonas Clein" userId="S::jd.clein@student.avans.nl::25b35d1e-ddd6-43e3-82be-e065862dc903" providerId="AD" clId="Web-{96242D52-A3E9-087E-491B-A92D3BF7DB66}" dt="2026-03-25T10:48:13.010" v="295" actId="1076"/>
          <ac:spMkLst>
            <pc:docMk/>
            <pc:sldMk cId="3161882201" sldId="262"/>
            <ac:spMk id="10" creationId="{780E74AB-3A14-6713-C99C-DF67FB180C11}"/>
          </ac:spMkLst>
        </pc:spChg>
        <pc:spChg chg="mod">
          <ac:chgData name="Jonas Clein" userId="S::jd.clein@student.avans.nl::25b35d1e-ddd6-43e3-82be-e065862dc903" providerId="AD" clId="Web-{96242D52-A3E9-087E-491B-A92D3BF7DB66}" dt="2026-03-25T10:50:54.203" v="519" actId="20577"/>
          <ac:spMkLst>
            <pc:docMk/>
            <pc:sldMk cId="3161882201" sldId="262"/>
            <ac:spMk id="11" creationId="{7DACDB2B-6931-24B1-82C1-E1372EE822A3}"/>
          </ac:spMkLst>
        </pc:spChg>
        <pc:spChg chg="del">
          <ac:chgData name="Jonas Clein" userId="S::jd.clein@student.avans.nl::25b35d1e-ddd6-43e3-82be-e065862dc903" providerId="AD" clId="Web-{96242D52-A3E9-087E-491B-A92D3BF7DB66}" dt="2026-03-25T10:47:43.087" v="287"/>
          <ac:spMkLst>
            <pc:docMk/>
            <pc:sldMk cId="3161882201" sldId="262"/>
            <ac:spMk id="12" creationId="{D857EC4A-A600-AA00-47D6-E548C414171B}"/>
          </ac:spMkLst>
        </pc:spChg>
        <pc:spChg chg="del">
          <ac:chgData name="Jonas Clein" userId="S::jd.clein@student.avans.nl::25b35d1e-ddd6-43e3-82be-e065862dc903" providerId="AD" clId="Web-{96242D52-A3E9-087E-491B-A92D3BF7DB66}" dt="2026-03-25T10:47:45.649" v="288"/>
          <ac:spMkLst>
            <pc:docMk/>
            <pc:sldMk cId="3161882201" sldId="262"/>
            <ac:spMk id="13" creationId="{27EB0E56-AE59-39FD-D9A5-E05388D6271C}"/>
          </ac:spMkLst>
        </pc:spChg>
        <pc:spChg chg="del">
          <ac:chgData name="Jonas Clein" userId="S::jd.clein@student.avans.nl::25b35d1e-ddd6-43e3-82be-e065862dc903" providerId="AD" clId="Web-{96242D52-A3E9-087E-491B-A92D3BF7DB66}" dt="2026-03-25T10:47:47.603" v="289"/>
          <ac:spMkLst>
            <pc:docMk/>
            <pc:sldMk cId="3161882201" sldId="262"/>
            <ac:spMk id="14" creationId="{60E4EA3D-1AFF-004F-0B7C-18EE2EB62614}"/>
          </ac:spMkLst>
        </pc:spChg>
      </pc:sldChg>
      <pc:sldChg chg="delSp modSp add replId">
        <pc:chgData name="Jonas Clein" userId="S::jd.clein@student.avans.nl::25b35d1e-ddd6-43e3-82be-e065862dc903" providerId="AD" clId="Web-{96242D52-A3E9-087E-491B-A92D3BF7DB66}" dt="2026-03-25T10:53:44.771" v="696" actId="20577"/>
        <pc:sldMkLst>
          <pc:docMk/>
          <pc:sldMk cId="2165615987" sldId="263"/>
        </pc:sldMkLst>
        <pc:spChg chg="mod">
          <ac:chgData name="Jonas Clein" userId="S::jd.clein@student.avans.nl::25b35d1e-ddd6-43e3-82be-e065862dc903" providerId="AD" clId="Web-{96242D52-A3E9-087E-491B-A92D3BF7DB66}" dt="2026-03-25T10:52:17.392" v="579" actId="20577"/>
          <ac:spMkLst>
            <pc:docMk/>
            <pc:sldMk cId="2165615987" sldId="263"/>
            <ac:spMk id="5" creationId="{5FFEEDE2-E5AE-013C-4648-34D7FE6D155D}"/>
          </ac:spMkLst>
        </pc:spChg>
        <pc:spChg chg="mod">
          <ac:chgData name="Jonas Clein" userId="S::jd.clein@student.avans.nl::25b35d1e-ddd6-43e3-82be-e065862dc903" providerId="AD" clId="Web-{96242D52-A3E9-087E-491B-A92D3BF7DB66}" dt="2026-03-25T10:53:44.771" v="696" actId="20577"/>
          <ac:spMkLst>
            <pc:docMk/>
            <pc:sldMk cId="2165615987" sldId="263"/>
            <ac:spMk id="7" creationId="{968800D9-95D0-4ACE-83D3-0AD6CF7FB8EE}"/>
          </ac:spMkLst>
        </pc:spChg>
        <pc:spChg chg="del">
          <ac:chgData name="Jonas Clein" userId="S::jd.clein@student.avans.nl::25b35d1e-ddd6-43e3-82be-e065862dc903" providerId="AD" clId="Web-{96242D52-A3E9-087E-491B-A92D3BF7DB66}" dt="2026-03-25T10:51:23.016" v="523"/>
          <ac:spMkLst>
            <pc:docMk/>
            <pc:sldMk cId="2165615987" sldId="263"/>
            <ac:spMk id="8" creationId="{E5E496BE-306E-3E83-54C2-30803AD17CFB}"/>
          </ac:spMkLst>
        </pc:spChg>
        <pc:spChg chg="del">
          <ac:chgData name="Jonas Clein" userId="S::jd.clein@student.avans.nl::25b35d1e-ddd6-43e3-82be-e065862dc903" providerId="AD" clId="Web-{96242D52-A3E9-087E-491B-A92D3BF7DB66}" dt="2026-03-25T10:51:23.016" v="522"/>
          <ac:spMkLst>
            <pc:docMk/>
            <pc:sldMk cId="2165615987" sldId="263"/>
            <ac:spMk id="9" creationId="{2276694F-F958-6FCF-0B19-5368E589F6E4}"/>
          </ac:spMkLst>
        </pc:spChg>
        <pc:spChg chg="del">
          <ac:chgData name="Jonas Clein" userId="S::jd.clein@student.avans.nl::25b35d1e-ddd6-43e3-82be-e065862dc903" providerId="AD" clId="Web-{96242D52-A3E9-087E-491B-A92D3BF7DB66}" dt="2026-03-25T10:51:23.016" v="521"/>
          <ac:spMkLst>
            <pc:docMk/>
            <pc:sldMk cId="2165615987" sldId="263"/>
            <ac:spMk id="10" creationId="{35041E58-B7C3-B58E-246D-A2134C34DAA6}"/>
          </ac:spMkLst>
        </pc:spChg>
        <pc:spChg chg="del">
          <ac:chgData name="Jonas Clein" userId="S::jd.clein@student.avans.nl::25b35d1e-ddd6-43e3-82be-e065862dc903" providerId="AD" clId="Web-{96242D52-A3E9-087E-491B-A92D3BF7DB66}" dt="2026-03-25T10:51:16.922" v="520"/>
          <ac:spMkLst>
            <pc:docMk/>
            <pc:sldMk cId="2165615987" sldId="263"/>
            <ac:spMk id="11" creationId="{ED06E6B5-4A37-3173-70F8-60C2E4B748D3}"/>
          </ac:spMkLst>
        </pc:spChg>
        <pc:picChg chg="del">
          <ac:chgData name="Jonas Clein" userId="S::jd.clein@student.avans.nl::25b35d1e-ddd6-43e3-82be-e065862dc903" providerId="AD" clId="Web-{96242D52-A3E9-087E-491B-A92D3BF7DB66}" dt="2026-03-25T10:40:55.970" v="7"/>
          <ac:picMkLst>
            <pc:docMk/>
            <pc:sldMk cId="2165615987" sldId="263"/>
            <ac:picMk id="12" creationId="{B0015B6B-649C-9AD5-76EE-70B7F09C4782}"/>
          </ac:picMkLst>
        </pc:picChg>
      </pc:sldChg>
      <pc:sldChg chg="del">
        <pc:chgData name="Jonas Clein" userId="S::jd.clein@student.avans.nl::25b35d1e-ddd6-43e3-82be-e065862dc903" providerId="AD" clId="Web-{96242D52-A3E9-087E-491B-A92D3BF7DB66}" dt="2026-03-25T10:40:30.281" v="2"/>
        <pc:sldMkLst>
          <pc:docMk/>
          <pc:sldMk cId="2515069749" sldId="263"/>
        </pc:sldMkLst>
      </pc:sldChg>
    </pc:docChg>
  </pc:docChgLst>
  <pc:docChgLst>
    <pc:chgData name="Jonas Clein" userId="25b35d1e-ddd6-43e3-82be-e065862dc903" providerId="ADAL" clId="{BB0A05C4-CDBB-44B1-9480-98774532C6BF}"/>
    <pc:docChg chg="addSld modSld">
      <pc:chgData name="Jonas Clein" userId="25b35d1e-ddd6-43e3-82be-e065862dc903" providerId="ADAL" clId="{BB0A05C4-CDBB-44B1-9480-98774532C6BF}" dt="2026-03-25T10:40:01.024" v="9"/>
      <pc:docMkLst>
        <pc:docMk/>
      </pc:docMkLst>
      <pc:sldChg chg="addSp modSp mod">
        <pc:chgData name="Jonas Clein" userId="25b35d1e-ddd6-43e3-82be-e065862dc903" providerId="ADAL" clId="{BB0A05C4-CDBB-44B1-9480-98774532C6BF}" dt="2026-03-25T10:39:34.437" v="6" actId="1076"/>
        <pc:sldMkLst>
          <pc:docMk/>
          <pc:sldMk cId="2676421704" sldId="260"/>
        </pc:sldMkLst>
        <pc:spChg chg="add mod">
          <ac:chgData name="Jonas Clein" userId="25b35d1e-ddd6-43e3-82be-e065862dc903" providerId="ADAL" clId="{BB0A05C4-CDBB-44B1-9480-98774532C6BF}" dt="2026-03-25T10:38:55.512" v="2" actId="14100"/>
          <ac:spMkLst>
            <pc:docMk/>
            <pc:sldMk cId="2676421704" sldId="260"/>
            <ac:spMk id="2" creationId="{E1E3E549-00DD-378F-47B9-32E8DC3D65B9}"/>
          </ac:spMkLst>
        </pc:spChg>
        <pc:picChg chg="add mod">
          <ac:chgData name="Jonas Clein" userId="25b35d1e-ddd6-43e3-82be-e065862dc903" providerId="ADAL" clId="{BB0A05C4-CDBB-44B1-9480-98774532C6BF}" dt="2026-03-25T10:39:34.437" v="6" actId="1076"/>
          <ac:picMkLst>
            <pc:docMk/>
            <pc:sldMk cId="2676421704" sldId="260"/>
            <ac:picMk id="8" creationId="{56A62F12-D9F8-44EA-4E3D-E99DCF035B72}"/>
          </ac:picMkLst>
        </pc:picChg>
      </pc:sldChg>
      <pc:sldChg chg="add setBg">
        <pc:chgData name="Jonas Clein" userId="25b35d1e-ddd6-43e3-82be-e065862dc903" providerId="ADAL" clId="{BB0A05C4-CDBB-44B1-9480-98774532C6BF}" dt="2026-03-25T10:39:50.925" v="7"/>
        <pc:sldMkLst>
          <pc:docMk/>
          <pc:sldMk cId="1340485992" sldId="261"/>
        </pc:sldMkLst>
      </pc:sldChg>
      <pc:sldChg chg="add setBg">
        <pc:chgData name="Jonas Clein" userId="25b35d1e-ddd6-43e3-82be-e065862dc903" providerId="ADAL" clId="{BB0A05C4-CDBB-44B1-9480-98774532C6BF}" dt="2026-03-25T10:39:55.896" v="8"/>
        <pc:sldMkLst>
          <pc:docMk/>
          <pc:sldMk cId="1503954138" sldId="262"/>
        </pc:sldMkLst>
      </pc:sldChg>
      <pc:sldChg chg="add setBg">
        <pc:chgData name="Jonas Clein" userId="25b35d1e-ddd6-43e3-82be-e065862dc903" providerId="ADAL" clId="{BB0A05C4-CDBB-44B1-9480-98774532C6BF}" dt="2026-03-25T10:40:01.024" v="9"/>
        <pc:sldMkLst>
          <pc:docMk/>
          <pc:sldMk cId="2515069749"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736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Bavli
Welkom allemaal, ik ben Bavli en ik presenteer deze casus namens onze groep Firewall Force.
Vandaag bespreek ik de Pepsi-casus uit 2017, waarin een reclame met Kendall Jenner binnen één dag uitgroeide tot een reputatiecrisis.
Ik laat eerst kort zien wat er gebeurde, daarna welke key behaviour componenten we herkennen, welke vormen van situationeel leiderschap relevant zijn en tot slot de belangrijkste lessen.
[Sources]
- Template/designbron: Business Continuity Management – GreenTaste Food Co.pptx (door gebruiker geüpload)
- Inhoudelijke basis: Uitwerking WS3.2 – Crisismanagement.docx (door gebruiker geüpload)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Bavli
De kern van deze casus is dat Pepsi de kritiek inhoudelijk niet kon voorkomen, maar wel snel reageerde toen de ophef ontstond.
Act with urgency zien we het sterkst terug, omdat Pepsi de commercial snel verwijderde en verdere uitrol stopzette.
Be transparent is deels zichtbaar, omdat Pepsi publiekelijk toegaf dat het de plank had misgeslagen.
Follow your values en sharing power zijn juist zwakker: de campagne sloot niet geloofwaardig aan op de waarden die Pepsi wilde uitstralen, en er lijkt vooraf te weinig ruimte te zijn geweest voor kritisch tegengeluid.
[Sources]
- Inhoudelijke basis: Uitwerking WS3.2 – Crisismanagement.docx (door gebruiker geüpload)
- Officiële verklaring Pepsi, 5 april 2017: https://www.pepsico.com/newsroom/press-releases/2017/pepsi-statement-re--pepsi-moments-content
- Afbeelding advertentiestill: https://cdn.prod.website-files.com/639f339fd4fdced020c3fd4a/65a8049d10f377ce2649541f_kendall%20jenner%20ad%20%28handing%20pepsi%20can%29.webp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Bavli
Als we kijken naar situationeel leiderschap, dan zijn vooral coachen, instrueren en motiveren relevant.
Coachen hoort vooral thuis vóór publicatie: een leider moet dan kritische vragen stellen en het team helpen om maatschappelijke gevoeligheden beter te zien.
Instrueren is juist nodig zodra de crisis uitbreekt, omdat er dan snel en duidelijk gestuurd moet worden op acties en communicatie.
Motiveren past bij de herstelfase, wanneer een team na reputatieschade weer vertrouwen en richting nodig heeft. Delegeren is in deze situatie minder passend, omdat te veel loslaten de reactie trager en onduidelijker had kunnen maken.
[Sources]
- Inhoudelijke basis: Uitwerking WS3.2 – Crisismanagement.docx (door gebruiker geüpload)
- Officiële verklaring Pepsi, 5 april 2017: https://www.pepsico.com/newsroom/press-releases/2017/pepsi-statement-re--pepsi-moments-content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Bavli
De belangrijkste les uit deze casus is dat een organisatie niet alleen naar de eigen intentie moet kijken, maar vooral naar hoe het publiek de boodschap gaat interpreteren.
Daarnaast laat deze casus zien dat crisismanagement al begint vóór publicatie: juist in de voorbereiding moeten risico's, gevoeligheden en feedback serieus worden getoetst.
Pepsi deed één ding goed: het bedrijf reageerde snel. Maar die snelheid kon de reputatieschade niet helemaal ongedaan maken.
Mijn conclusie is daarom dat Pepsi de crisis waarschijnlijk had kunnen beperken met betere toetsing, meer kritisch tegengeluid en sterker leiderschap in de voorbereidingsfase.
[Sources]
- Inhoudelijke basis: Uitwerking WS3.2 – Crisismanagement.docx (door gebruiker geüpload)
- Officiële verklaring Pepsi, 5 april 2017: https://www.pepsico.com/newsroom/press-releases/2017/pepsi-statement-re--pepsi-moments-content
- Afbeelding Pepsi-blikje: https://i5.walmartimages.com/asr/69f93370-7023-4bfb-a0fc-e5cc931e49b6_1.7d37e56bd03cee7eee8a41395de92e30.jpeg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1C471-D837-52F7-B4DC-DF8FECD58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DCA98-0CDF-BA62-DC2C-94FB78DD3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F0E55-22B5-6811-7776-AE1B0CA04F0E}"/>
              </a:ext>
            </a:extLst>
          </p:cNvPr>
          <p:cNvSpPr>
            <a:spLocks noGrp="1"/>
          </p:cNvSpPr>
          <p:nvPr>
            <p:ph type="body" idx="1"/>
          </p:nvPr>
        </p:nvSpPr>
        <p:spPr/>
        <p:txBody>
          <a:bodyPr/>
          <a:lstStyle/>
          <a:p>
            <a:r>
              <a:rPr lang="en-US"/>
              <a:t>Bavli
Welkom allemaal, ik ben Bavli en ik presenteer deze casus namens onze groep Firewall Force.
Vandaag bespreek ik de Pepsi-casus uit 2017, waarin een reclame met Kendall Jenner binnen één dag uitgroeide tot een reputatiecrisis.
Ik laat eerst kort zien wat er gebeurde, daarna welke key behaviour componenten we herkennen, welke vormen van situationeel leiderschap relevant zijn en tot slot de belangrijkste lessen.
[Sources]
- Template/designbron: Business Continuity Management – GreenTaste Food Co.pptx (door gebruiker geüpload)
- Inhoudelijke basis: Uitwerking WS3.2 – Crisismanagement.docx (door gebruiker geüpload)
[/Sources]</a:t>
            </a:r>
          </a:p>
        </p:txBody>
      </p:sp>
      <p:sp>
        <p:nvSpPr>
          <p:cNvPr id="4" name="Slide Number Placeholder 3">
            <a:extLst>
              <a:ext uri="{FF2B5EF4-FFF2-40B4-BE49-F238E27FC236}">
                <a16:creationId xmlns:a16="http://schemas.microsoft.com/office/drawing/2014/main" id="{F3F8B02D-A978-5C43-E4B2-0F2F6D114EC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01852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A290-356F-03A1-2BC0-FA8DFEAC5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960CA-9626-5C29-6AF8-D2BFFD146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50F07-7C93-C0C7-2C5A-0C616241295E}"/>
              </a:ext>
            </a:extLst>
          </p:cNvPr>
          <p:cNvSpPr>
            <a:spLocks noGrp="1"/>
          </p:cNvSpPr>
          <p:nvPr>
            <p:ph type="body" idx="1"/>
          </p:nvPr>
        </p:nvSpPr>
        <p:spPr/>
        <p:txBody>
          <a:bodyPr/>
          <a:lstStyle/>
          <a:p>
            <a:r>
              <a:rPr lang="en-US"/>
              <a:t>Bavli
De kern van deze casus is dat Pepsi de kritiek inhoudelijk niet kon voorkomen, maar wel snel reageerde toen de ophef ontstond.
Act with urgency zien we het sterkst terug, omdat Pepsi de commercial snel verwijderde en verdere uitrol stopzette.
Be transparent is deels zichtbaar, omdat Pepsi publiekelijk toegaf dat het de plank had misgeslagen.
Follow your values en sharing power zijn juist zwakker: de campagne sloot niet geloofwaardig aan op de waarden die Pepsi wilde uitstralen, en er lijkt vooraf te weinig ruimte te zijn geweest voor kritisch tegengeluid.
[Sources]
- Inhoudelijke basis: Uitwerking WS3.2 – Crisismanagement.docx (door gebruiker geüpload)
- Officiële verklaring Pepsi, 5 april 2017: https://www.pepsico.com/newsroom/press-releases/2017/pepsi-statement-re--pepsi-moments-content
- Afbeelding advertentiestill: https://cdn.prod.website-files.com/639f339fd4fdced020c3fd4a/65a8049d10f377ce2649541f_kendall%20jenner%20ad%20%28handing%20pepsi%20can%29.webp
[/Sources]</a:t>
            </a:r>
          </a:p>
        </p:txBody>
      </p:sp>
      <p:sp>
        <p:nvSpPr>
          <p:cNvPr id="4" name="Slide Number Placeholder 3">
            <a:extLst>
              <a:ext uri="{FF2B5EF4-FFF2-40B4-BE49-F238E27FC236}">
                <a16:creationId xmlns:a16="http://schemas.microsoft.com/office/drawing/2014/main" id="{9C9643A9-8D4D-C1D7-2EF6-F054D41C8F7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73038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D56B4-C1BF-CEF8-FB3C-D674ECA57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F2F84-8E2D-CBCE-9149-28D036CD5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C58C5-31B7-80A1-86BF-2D2F717733AF}"/>
              </a:ext>
            </a:extLst>
          </p:cNvPr>
          <p:cNvSpPr>
            <a:spLocks noGrp="1"/>
          </p:cNvSpPr>
          <p:nvPr>
            <p:ph type="body" idx="1"/>
          </p:nvPr>
        </p:nvSpPr>
        <p:spPr/>
        <p:txBody>
          <a:bodyPr/>
          <a:lstStyle/>
          <a:p>
            <a:r>
              <a:rPr lang="en-US"/>
              <a:t>Bavli
Als we kijken naar situationeel leiderschap, dan zijn vooral coachen, instrueren en motiveren relevant.
Coachen hoort vooral thuis vóór publicatie: een leider moet dan kritische vragen stellen en het team helpen om maatschappelijke gevoeligheden beter te zien.
Instrueren is juist nodig zodra de crisis uitbreekt, omdat er dan snel en duidelijk gestuurd moet worden op acties en communicatie.
Motiveren past bij de herstelfase, wanneer een team na reputatieschade weer vertrouwen en richting nodig heeft. Delegeren is in deze situatie minder passend, omdat te veel loslaten de reactie trager en onduidelijker had kunnen maken.
[Sources]
- Inhoudelijke basis: Uitwerking WS3.2 – Crisismanagement.docx (door gebruiker geüpload)
- Officiële verklaring Pepsi, 5 april 2017: https://www.pepsico.com/newsroom/press-releases/2017/pepsi-statement-re--pepsi-moments-content
[/Sources]</a:t>
            </a:r>
          </a:p>
        </p:txBody>
      </p:sp>
      <p:sp>
        <p:nvSpPr>
          <p:cNvPr id="4" name="Slide Number Placeholder 3">
            <a:extLst>
              <a:ext uri="{FF2B5EF4-FFF2-40B4-BE49-F238E27FC236}">
                <a16:creationId xmlns:a16="http://schemas.microsoft.com/office/drawing/2014/main" id="{FF2D8AC5-4CD3-D5ED-8EAE-56F2834E87A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78093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0E6C4-9781-E1EF-20BB-6C33E682F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B0C8A-EE81-5952-B318-BC5B961AF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87F0F-15FF-4526-D4CB-D1E8A0C19708}"/>
              </a:ext>
            </a:extLst>
          </p:cNvPr>
          <p:cNvSpPr>
            <a:spLocks noGrp="1"/>
          </p:cNvSpPr>
          <p:nvPr>
            <p:ph type="body" idx="1"/>
          </p:nvPr>
        </p:nvSpPr>
        <p:spPr/>
        <p:txBody>
          <a:bodyPr/>
          <a:lstStyle/>
          <a:p>
            <a:r>
              <a:rPr lang="en-US"/>
              <a:t>Bavli
De belangrijkste les uit deze casus is dat een organisatie niet alleen naar de eigen intentie moet kijken, maar vooral naar hoe het publiek de boodschap gaat interpreteren.
Daarnaast laat deze casus zien dat crisismanagement al begint vóór publicatie: juist in de voorbereiding moeten risico's, gevoeligheden en feedback serieus worden getoetst.
Pepsi deed één ding goed: het bedrijf reageerde snel. Maar die snelheid kon de reputatieschade niet helemaal ongedaan maken.
Mijn conclusie is daarom dat Pepsi de crisis waarschijnlijk had kunnen beperken met betere toetsing, meer kritisch tegengeluid en sterker leiderschap in de voorbereidingsfase.
[Sources]
- Inhoudelijke basis: Uitwerking WS3.2 – Crisismanagement.docx (door gebruiker geüpload)
- Officiële verklaring Pepsi, 5 april 2017: https://www.pepsico.com/newsroom/press-releases/2017/pepsi-statement-re--pepsi-moments-content
- Afbeelding Pepsi-blikje: https://i5.walmartimages.com/asr/69f93370-7023-4bfb-a0fc-e5cc931e49b6_1.7d37e56bd03cee7eee8a41395de92e30.jpeg
[/Sources]</a:t>
            </a:r>
          </a:p>
        </p:txBody>
      </p:sp>
      <p:sp>
        <p:nvSpPr>
          <p:cNvPr id="4" name="Slide Number Placeholder 3">
            <a:extLst>
              <a:ext uri="{FF2B5EF4-FFF2-40B4-BE49-F238E27FC236}">
                <a16:creationId xmlns:a16="http://schemas.microsoft.com/office/drawing/2014/main" id="{A0F17CD5-2C81-DE7F-6BC0-38A4F6CDE3D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3130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[Sources]
- Kader en opdracht: WS3.2 - Crisismanagement 2025 (geüploade cursus-PDF), slides 21-22 en 30-31.
- Asset: Volkswagen logo 2019, Wikimedia Commons: https://commons.wikimedia.org/wiki/File:Volkswagen_logo_2019.svg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[Sources]
- Kader voor behavioural components: WS3.2 - Crisismanagement 2025 (geüploade cursus-PDF), slide 21.
- Claim: EPA, "Learn About Volkswagen Violations" https://www.epa.gov/vw/learn-about-volkswagen-violations
- Claim: Reuters, "Timeline: Volkswagen's long road to a U.S. Dieselgate settlement" https://www.reuters.com/article/business/timeline-volkswagens-long-road-to-a-us-dieselgate-settlement-idUSKBN14V100/
- Asset: Autocar, "The Autocar guide to WLTP emissions testing" https://www.autocar.co.uk/car-news/features/autocar-guide-wltp-emissions-testing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[Sources]
- Kader voor situationeel leiderschap: WS3.2 - Crisismanagement 2025 (geüploade cursus-PDF), slide 22.
- Quote: Volkswagen media statement, "Statement of Prof. Dr. Martin Winterkorn, CEO of Volkswagen AG" https://media.vw.com/releases/573
- Aanvullende context: Reuters, "Volkswagen CEO deeply sorry for breach of U.S. environment rules" https://www.reuters.com/article/technology/volkswagen-ceo-deeply-sorry-for-breach-of-us-environment-rules-idUSKCN0RK0K5/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[Sources]
- Claim: EPA, "Learn About Volkswagen Violations" https://www.epa.gov/vw/learn-about-volkswagen-violations
- Claim: U.S. Department of Justice, "$14.7 billion settlement" https://www.justice.gov/archives/opa/pr/volkswagen-spend-147-billion-settle-allegations-cheating-emissions-tests-and-deceiving
- Claim: SEC, "Clean Diesel" fraud press release https://www.sec.gov/newsroom/press-releases/2019-34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3989-3DB6-A1DF-D3E6-D989937CC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934EF-1891-E65A-FD53-07F81E76C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A4CD3-29BF-76F4-AEF1-B091A8576CF5}"/>
              </a:ext>
            </a:extLst>
          </p:cNvPr>
          <p:cNvSpPr>
            <a:spLocks noGrp="1"/>
          </p:cNvSpPr>
          <p:nvPr>
            <p:ph type="body" idx="1"/>
          </p:nvPr>
        </p:nvSpPr>
        <p:spPr/>
        <p:txBody>
          <a:bodyPr/>
          <a:lstStyle/>
          <a:p>
            <a:r>
              <a:rPr lang="en-US"/>
              <a:t>Bavli
Welkom allemaal, ik ben Bavli en ik presenteer deze casus namens onze groep Firewall Force.
Vandaag bespreek ik de Pepsi-casus uit 2017, waarin een reclame met Kendall Jenner binnen één dag uitgroeide tot een reputatiecrisis.
Ik laat eerst kort zien wat er gebeurde, daarna welke key behaviour componenten we herkennen, welke vormen van situationeel leiderschap relevant zijn en tot slot de belangrijkste lessen.
[Sources]
- Template/designbron: Business Continuity Management – GreenTaste Food Co.pptx (door gebruiker geüpload)
- Inhoudelijke basis: Uitwerking WS3.2 – Crisismanagement.docx (door gebruiker geüpload)
[/Sources]</a:t>
            </a:r>
          </a:p>
        </p:txBody>
      </p:sp>
      <p:sp>
        <p:nvSpPr>
          <p:cNvPr id="4" name="Slide Number Placeholder 3">
            <a:extLst>
              <a:ext uri="{FF2B5EF4-FFF2-40B4-BE49-F238E27FC236}">
                <a16:creationId xmlns:a16="http://schemas.microsoft.com/office/drawing/2014/main" id="{557F1859-5423-46E4-2F99-8FC3E3738B1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452088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329E5-0F75-20E3-9CE5-C5F47070A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ED484-11DD-70B5-B541-FDC52FDC1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5CB53-F070-633F-7800-49E9D124F368}"/>
              </a:ext>
            </a:extLst>
          </p:cNvPr>
          <p:cNvSpPr>
            <a:spLocks noGrp="1"/>
          </p:cNvSpPr>
          <p:nvPr>
            <p:ph type="body" idx="1"/>
          </p:nvPr>
        </p:nvSpPr>
        <p:spPr/>
        <p:txBody>
          <a:bodyPr/>
          <a:lstStyle/>
          <a:p>
            <a:r>
              <a:rPr lang="en-US"/>
              <a:t>Bavli
De kern van deze casus is dat Pepsi de kritiek inhoudelijk niet kon voorkomen, maar wel snel reageerde toen de ophef ontstond.
Act with urgency zien we het sterkst terug, omdat Pepsi de commercial snel verwijderde en verdere uitrol stopzette.
Be transparent is deels zichtbaar, omdat Pepsi publiekelijk toegaf dat het de plank had misgeslagen.
Follow your values en sharing power zijn juist zwakker: de campagne sloot niet geloofwaardig aan op de waarden die Pepsi wilde uitstralen, en er lijkt vooraf te weinig ruimte te zijn geweest voor kritisch tegengeluid.
[Sources]
- Inhoudelijke basis: Uitwerking WS3.2 – Crisismanagement.docx (door gebruiker geüpload)
- Officiële verklaring Pepsi, 5 april 2017: https://www.pepsico.com/newsroom/press-releases/2017/pepsi-statement-re--pepsi-moments-content
- Afbeelding advertentiestill: https://cdn.prod.website-files.com/639f339fd4fdced020c3fd4a/65a8049d10f377ce2649541f_kendall%20jenner%20ad%20%28handing%20pepsi%20can%29.webp
[/Sources]</a:t>
            </a:r>
          </a:p>
        </p:txBody>
      </p:sp>
      <p:sp>
        <p:nvSpPr>
          <p:cNvPr id="4" name="Slide Number Placeholder 3">
            <a:extLst>
              <a:ext uri="{FF2B5EF4-FFF2-40B4-BE49-F238E27FC236}">
                <a16:creationId xmlns:a16="http://schemas.microsoft.com/office/drawing/2014/main" id="{72BAEC76-5B2D-EDB7-11C3-81A14939D4F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77335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AD7DD-0A99-E505-DF26-6A460E7C5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0F3E5-9A5D-853E-D676-D35D80542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EFB8C-94A6-E3EF-2A27-2596BDAF50F7}"/>
              </a:ext>
            </a:extLst>
          </p:cNvPr>
          <p:cNvSpPr>
            <a:spLocks noGrp="1"/>
          </p:cNvSpPr>
          <p:nvPr>
            <p:ph type="body" idx="1"/>
          </p:nvPr>
        </p:nvSpPr>
        <p:spPr/>
        <p:txBody>
          <a:bodyPr/>
          <a:lstStyle/>
          <a:p>
            <a:r>
              <a:rPr lang="en-US"/>
              <a:t>Bavli
Als we kijken naar situationeel leiderschap, dan zijn vooral coachen, instrueren en motiveren relevant.
Coachen hoort vooral thuis vóór publicatie: een leider moet dan kritische vragen stellen en het team helpen om maatschappelijke gevoeligheden beter te zien.
Instrueren is juist nodig zodra de crisis uitbreekt, omdat er dan snel en duidelijk gestuurd moet worden op acties en communicatie.
Motiveren past bij de herstelfase, wanneer een team na reputatieschade weer vertrouwen en richting nodig heeft. Delegeren is in deze situatie minder passend, omdat te veel loslaten de reactie trager en onduidelijker had kunnen maken.
[Sources]
- Inhoudelijke basis: Uitwerking WS3.2 – Crisismanagement.docx (door gebruiker geüpload)
- Officiële verklaring Pepsi, 5 april 2017: https://www.pepsico.com/newsroom/press-releases/2017/pepsi-statement-re--pepsi-moments-content
[/Sources]</a:t>
            </a:r>
          </a:p>
        </p:txBody>
      </p:sp>
      <p:sp>
        <p:nvSpPr>
          <p:cNvPr id="4" name="Slide Number Placeholder 3">
            <a:extLst>
              <a:ext uri="{FF2B5EF4-FFF2-40B4-BE49-F238E27FC236}">
                <a16:creationId xmlns:a16="http://schemas.microsoft.com/office/drawing/2014/main" id="{2EEE3ED6-7F5F-C2FE-568B-B139F8FD002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606637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08702-0076-3561-1E36-2BD5D87A6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B3D75-B174-BBCD-E5BD-2070F93ADC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561C6-C7F1-EE00-19A8-0E86064A9146}"/>
              </a:ext>
            </a:extLst>
          </p:cNvPr>
          <p:cNvSpPr>
            <a:spLocks noGrp="1"/>
          </p:cNvSpPr>
          <p:nvPr>
            <p:ph type="body" idx="1"/>
          </p:nvPr>
        </p:nvSpPr>
        <p:spPr/>
        <p:txBody>
          <a:bodyPr/>
          <a:lstStyle/>
          <a:p>
            <a:r>
              <a:rPr lang="en-US"/>
              <a:t>Bavli
De belangrijkste les uit deze casus is dat een organisatie niet alleen naar de eigen intentie moet kijken, maar vooral naar hoe het publiek de boodschap gaat interpreteren.
Daarnaast laat deze casus zien dat crisismanagement al begint vóór publicatie: juist in de voorbereiding moeten risico's, gevoeligheden en feedback serieus worden getoetst.
Pepsi deed één ding goed: het bedrijf reageerde snel. Maar die snelheid kon de reputatieschade niet helemaal ongedaan maken.
Mijn conclusie is daarom dat Pepsi de crisis waarschijnlijk had kunnen beperken met betere toetsing, meer kritisch tegengeluid en sterker leiderschap in de voorbereidingsfase.
[Sources]
- Inhoudelijke basis: Uitwerking WS3.2 – Crisismanagement.docx (door gebruiker geüpload)
- Officiële verklaring Pepsi, 5 april 2017: https://www.pepsico.com/newsroom/press-releases/2017/pepsi-statement-re--pepsi-moments-content
- Afbeelding Pepsi-blikje: https://i5.walmartimages.com/asr/69f93370-7023-4bfb-a0fc-e5cc931e49b6_1.7d37e56bd03cee7eee8a41395de92e30.jpeg
[/Sources]</a:t>
            </a:r>
          </a:p>
        </p:txBody>
      </p:sp>
      <p:sp>
        <p:nvSpPr>
          <p:cNvPr id="4" name="Slide Number Placeholder 3">
            <a:extLst>
              <a:ext uri="{FF2B5EF4-FFF2-40B4-BE49-F238E27FC236}">
                <a16:creationId xmlns:a16="http://schemas.microsoft.com/office/drawing/2014/main" id="{3C2A08D5-E626-456D-6FDB-23EFC985EAC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13019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Bavli reflecteert dat tijdens de challenge vooral snelheid van handelen belangrijk was. Hij noemt ook samenwerking met Lucas en verbeteringen aan het BCP zoals MFA en noodprocedures. Achteraf zou hij eerder structuur aanbrengen en transparanter communiceren binnen de groep.
[Sources]
- Team Reflectieverslag 2.0 - Challenge M2.docx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Jonas beschrijft dat hij onverwacht in een onbekende groep terechtkwam en als voorzitter te veel tegelijk probeerde te doen. Zijn belangrijkste les is dat een crisisoverleg vraagt om structuur, rust en eigenaarschap per rol.
[Sources]
- Team Reflectieverslag 2.0 - Challenge M2.docx</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Lucas geeft aan dat de gesprekken beter gingen zodra iedereen in zijn rol viel. Hij gebruikte het BCP als basis voor besluitvorming en zou achteraf meer diepgang en een duidelijkere gezamenlijke start willen.
[Sources]
- Team Reflectieverslag 2.0 - Challenge M2.docx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bin"/></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bin"/></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40000"/>
                <a:lumOff val="60000"/>
              </a:schemeClr>
            </a:gs>
            <a:gs pos="83000">
              <a:schemeClr val="accent1">
                <a:lumMod val="75000"/>
              </a:schemeClr>
            </a:gs>
            <a:gs pos="91000">
              <a:schemeClr val="accent1">
                <a:lumMod val="50000"/>
              </a:schemeClr>
            </a:gs>
            <a:gs pos="100000">
              <a:srgbClr val="07162A"/>
            </a:gs>
          </a:gsLst>
          <a:lin ang="5400000" scaled="1"/>
        </a:gradFill>
        <a:effectLst/>
      </p:bgPr>
    </p:bg>
    <p:spTree>
      <p:nvGrpSpPr>
        <p:cNvPr id="1" name=""/>
        <p:cNvGrpSpPr/>
        <p:nvPr/>
      </p:nvGrpSpPr>
      <p:grpSpPr>
        <a:xfrm>
          <a:off x="0" y="0"/>
          <a:ext cx="0" cy="0"/>
          <a:chOff x="0" y="0"/>
          <a:chExt cx="0" cy="0"/>
        </a:xfrm>
      </p:grpSpPr>
      <p:sp>
        <p:nvSpPr>
          <p:cNvPr id="3" name="Text 0"/>
          <p:cNvSpPr/>
          <p:nvPr/>
        </p:nvSpPr>
        <p:spPr>
          <a:xfrm>
            <a:off x="658368" y="384048"/>
            <a:ext cx="5491420" cy="1828800"/>
          </a:xfrm>
          <a:prstGeom prst="rect">
            <a:avLst/>
          </a:prstGeom>
          <a:noFill/>
          <a:ln/>
        </p:spPr>
        <p:txBody>
          <a:bodyPr wrap="square" lIns="0" tIns="0" rIns="0" bIns="0" rtlCol="0" anchor="ctr"/>
          <a:lstStyle/>
          <a:p>
            <a:pPr marL="0" indent="0">
              <a:buNone/>
            </a:pPr>
            <a:r>
              <a:rPr lang="en-US" sz="3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Gill Sans MT" pitchFamily="34" charset="0"/>
                <a:ea typeface="Gill Sans MT" pitchFamily="34" charset="-122"/>
                <a:cs typeface="Gill Sans MT" pitchFamily="34" charset="-120"/>
              </a:rPr>
              <a:t>WS3.2</a:t>
            </a:r>
            <a:endParaRPr lang="en-US" sz="3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a:p>
            <a:pPr marL="0" indent="0">
              <a:buNone/>
            </a:pPr>
            <a:r>
              <a:rPr lang="en-US" sz="3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Gill Sans MT" pitchFamily="34" charset="0"/>
                <a:ea typeface="Gill Sans MT" pitchFamily="34" charset="-122"/>
                <a:cs typeface="Gill Sans MT" pitchFamily="34" charset="-120"/>
              </a:rPr>
              <a:t>CRISISMANAGEMENT</a:t>
            </a:r>
            <a:endParaRPr lang="en-US" sz="3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4" name="Text 1"/>
          <p:cNvSpPr/>
          <p:nvPr/>
        </p:nvSpPr>
        <p:spPr>
          <a:xfrm>
            <a:off x="658368" y="1865376"/>
            <a:ext cx="3840480" cy="320040"/>
          </a:xfrm>
          <a:prstGeom prst="rect">
            <a:avLst/>
          </a:prstGeom>
          <a:noFill/>
          <a:ln/>
        </p:spPr>
        <p:txBody>
          <a:bodyPr wrap="square" lIns="0" tIns="0" rIns="0" bIns="0" rtlCol="0" anchor="ctr"/>
          <a:lstStyle/>
          <a:p>
            <a:pPr marL="0" indent="0">
              <a:buNone/>
            </a:pPr>
            <a:r>
              <a:rPr lang="en-US" sz="2000" b="1" i="1">
                <a:solidFill>
                  <a:srgbClr val="C00000"/>
                </a:solidFill>
                <a:latin typeface="Gill Sans MT" pitchFamily="34" charset="0"/>
                <a:ea typeface="Gill Sans MT" pitchFamily="34" charset="-122"/>
                <a:cs typeface="Gill Sans MT" pitchFamily="34" charset="-120"/>
              </a:rPr>
              <a:t>Pepsi – Misguided Ad Campaign</a:t>
            </a:r>
            <a:endParaRPr lang="en-US" sz="2000">
              <a:solidFill>
                <a:srgbClr val="C00000"/>
              </a:solidFill>
            </a:endParaRPr>
          </a:p>
        </p:txBody>
      </p:sp>
      <p:sp>
        <p:nvSpPr>
          <p:cNvPr id="5" name="Text 2"/>
          <p:cNvSpPr/>
          <p:nvPr/>
        </p:nvSpPr>
        <p:spPr>
          <a:xfrm>
            <a:off x="658368" y="2295144"/>
            <a:ext cx="4389120" cy="237744"/>
          </a:xfrm>
          <a:prstGeom prst="rect">
            <a:avLst/>
          </a:prstGeom>
          <a:noFill/>
          <a:ln/>
        </p:spPr>
        <p:txBody>
          <a:bodyPr wrap="square" lIns="0" tIns="0" rIns="0" bIns="0" rtlCol="0" anchor="ctr"/>
          <a:lstStyle/>
          <a:p>
            <a:pPr marL="0" indent="0">
              <a:buNone/>
            </a:pPr>
            <a:r>
              <a:rPr lang="en-US" sz="1300">
                <a:solidFill>
                  <a:schemeClr val="bg1">
                    <a:lumMod val="85000"/>
                  </a:schemeClr>
                </a:solidFill>
                <a:latin typeface="Gill Sans MT" pitchFamily="34" charset="0"/>
                <a:ea typeface="Gill Sans MT" pitchFamily="34" charset="-122"/>
                <a:cs typeface="Gill Sans MT" pitchFamily="34" charset="-120"/>
              </a:rPr>
              <a:t>2017 · reputatiecrisis na protestcommercial</a:t>
            </a:r>
            <a:endParaRPr lang="en-US" sz="1300">
              <a:solidFill>
                <a:schemeClr val="bg1">
                  <a:lumMod val="85000"/>
                </a:schemeClr>
              </a:solidFill>
            </a:endParaRPr>
          </a:p>
        </p:txBody>
      </p:sp>
      <p:sp>
        <p:nvSpPr>
          <p:cNvPr id="6" name="Text 3"/>
          <p:cNvSpPr/>
          <p:nvPr/>
        </p:nvSpPr>
        <p:spPr>
          <a:xfrm>
            <a:off x="658368" y="4992624"/>
            <a:ext cx="4206240" cy="274320"/>
          </a:xfrm>
          <a:prstGeom prst="rect">
            <a:avLst/>
          </a:prstGeom>
          <a:noFill/>
          <a:ln/>
        </p:spPr>
        <p:txBody>
          <a:bodyPr wrap="square" lIns="0" tIns="0" rIns="0" bIns="0" rtlCol="0" anchor="ctr"/>
          <a:lstStyle/>
          <a:p>
            <a:pPr marL="0" indent="0">
              <a:buNone/>
            </a:pPr>
            <a:r>
              <a:rPr lang="en-US" sz="1700" b="1">
                <a:solidFill>
                  <a:srgbClr val="111111"/>
                </a:solidFill>
                <a:latin typeface="Gill Sans MT" pitchFamily="34" charset="0"/>
                <a:ea typeface="Gill Sans MT" pitchFamily="34" charset="-122"/>
                <a:cs typeface="Gill Sans MT" pitchFamily="34" charset="-120"/>
              </a:rPr>
              <a:t>Groep 10 · Firewall Force</a:t>
            </a:r>
            <a:endParaRPr lang="en-US" sz="1700"/>
          </a:p>
        </p:txBody>
      </p:sp>
      <p:sp>
        <p:nvSpPr>
          <p:cNvPr id="7" name="Text 4"/>
          <p:cNvSpPr/>
          <p:nvPr/>
        </p:nvSpPr>
        <p:spPr>
          <a:xfrm>
            <a:off x="658368" y="5358384"/>
            <a:ext cx="4297680" cy="320040"/>
          </a:xfrm>
          <a:prstGeom prst="rect">
            <a:avLst/>
          </a:prstGeom>
          <a:noFill/>
          <a:ln/>
        </p:spPr>
        <p:txBody>
          <a:bodyPr wrap="square" lIns="0" tIns="0" rIns="0" bIns="0" rtlCol="0" anchor="ctr"/>
          <a:lstStyle/>
          <a:p>
            <a:pPr marL="0" indent="0">
              <a:buNone/>
            </a:pPr>
            <a:r>
              <a:rPr lang="en-US" sz="1600" b="1">
                <a:solidFill>
                  <a:srgbClr val="111111"/>
                </a:solidFill>
                <a:latin typeface="Gill Sans MT" pitchFamily="34" charset="0"/>
                <a:ea typeface="Gill Sans MT" pitchFamily="34" charset="-122"/>
                <a:cs typeface="Gill Sans MT" pitchFamily="34" charset="-120"/>
              </a:rPr>
              <a:t>Bavli, </a:t>
            </a:r>
            <a:r>
              <a:rPr lang="en-US" sz="1600">
                <a:solidFill>
                  <a:srgbClr val="111111"/>
                </a:solidFill>
                <a:latin typeface="Gill Sans MT" pitchFamily="34" charset="0"/>
                <a:ea typeface="Gill Sans MT" pitchFamily="34" charset="-122"/>
                <a:cs typeface="Gill Sans MT" pitchFamily="34" charset="-120"/>
              </a:rPr>
              <a:t>Jonas, Lucas, Vo</a:t>
            </a:r>
            <a:endParaRPr lang="en-US" sz="1600"/>
          </a:p>
        </p:txBody>
      </p:sp>
      <p:sp>
        <p:nvSpPr>
          <p:cNvPr id="19" name="Rechthoek: afgeronde hoeken 18">
            <a:extLst>
              <a:ext uri="{FF2B5EF4-FFF2-40B4-BE49-F238E27FC236}">
                <a16:creationId xmlns:a16="http://schemas.microsoft.com/office/drawing/2014/main" id="{AA32B604-666C-3B89-1B30-AAAB17F5BAF4}"/>
              </a:ext>
            </a:extLst>
          </p:cNvPr>
          <p:cNvSpPr/>
          <p:nvPr/>
        </p:nvSpPr>
        <p:spPr>
          <a:xfrm>
            <a:off x="6149788" y="556264"/>
            <a:ext cx="4843182" cy="4757919"/>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1325"/>
        </a:solidFill>
        <a:effectLst/>
      </p:bgPr>
    </p:bg>
    <p:spTree>
      <p:nvGrpSpPr>
        <p:cNvPr id="1" name=""/>
        <p:cNvGrpSpPr/>
        <p:nvPr/>
      </p:nvGrpSpPr>
      <p:grpSpPr>
        <a:xfrm>
          <a:off x="0" y="0"/>
          <a:ext cx="0" cy="0"/>
          <a:chOff x="0" y="0"/>
          <a:chExt cx="0" cy="0"/>
        </a:xfrm>
      </p:grpSpPr>
      <p:pic>
        <p:nvPicPr>
          <p:cNvPr id="2" name="Image 0" descr="/mnt/data/ws32_ppt/assets/image3.png"/>
          <p:cNvPicPr>
            <a:picLocks noChangeAspect="1"/>
          </p:cNvPicPr>
          <p:nvPr/>
        </p:nvPicPr>
        <p:blipFill>
          <a:blip r:embed="rId3"/>
          <a:stretch>
            <a:fillRect/>
          </a:stretch>
        </p:blipFill>
        <p:spPr>
          <a:xfrm>
            <a:off x="10817352" y="109728"/>
            <a:ext cx="822960" cy="822960"/>
          </a:xfrm>
          <a:prstGeom prst="rect">
            <a:avLst/>
          </a:prstGeom>
        </p:spPr>
      </p:pic>
      <p:sp>
        <p:nvSpPr>
          <p:cNvPr id="3" name="Text 0"/>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KEY BEHAVIOUR COMPONENTEN</a:t>
            </a:r>
            <a:endParaRPr lang="en-US" sz="3100"/>
          </a:p>
        </p:txBody>
      </p:sp>
      <p:sp>
        <p:nvSpPr>
          <p:cNvPr id="4" name="Text 1"/>
          <p:cNvSpPr/>
          <p:nvPr/>
        </p:nvSpPr>
        <p:spPr>
          <a:xfrm>
            <a:off x="896112" y="1709928"/>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5" name="Text 2"/>
          <p:cNvSpPr/>
          <p:nvPr/>
        </p:nvSpPr>
        <p:spPr>
          <a:xfrm>
            <a:off x="1170432" y="1700784"/>
            <a:ext cx="6629400" cy="1032320"/>
          </a:xfrm>
          <a:prstGeom prst="rect">
            <a:avLst/>
          </a:prstGeom>
          <a:noFill/>
          <a:ln/>
        </p:spPr>
        <p:txBody>
          <a:bodyPr wrap="square" lIns="0" tIns="0" rIns="0" bIns="0" rtlCol="0" anchor="ctr">
            <a:normAutofit/>
          </a:bodyPr>
          <a:lstStyle/>
          <a:p>
            <a:pPr marL="0" indent="0">
              <a:buNone/>
            </a:pPr>
            <a:r>
              <a:rPr lang="en-US" sz="1730" b="1">
                <a:solidFill>
                  <a:srgbClr val="FFFFFF"/>
                </a:solidFill>
                <a:latin typeface="Gill Sans MT" pitchFamily="34" charset="0"/>
                <a:ea typeface="Gill Sans MT" pitchFamily="34" charset="-122"/>
                <a:cs typeface="Gill Sans MT" pitchFamily="34" charset="-120"/>
              </a:rPr>
              <a:t>Be transparent — </a:t>
            </a:r>
            <a:r>
              <a:rPr lang="en-US" sz="1730">
                <a:solidFill>
                  <a:srgbClr val="FFFFFF"/>
                </a:solidFill>
                <a:latin typeface="Gill Sans MT" pitchFamily="34" charset="0"/>
                <a:ea typeface="Gill Sans MT" pitchFamily="34" charset="-122"/>
                <a:cs typeface="Gill Sans MT" pitchFamily="34" charset="-120"/>
              </a:rPr>
              <a:t>deels zichtbaar: Pepsi erkende achteraf snel dat de campagne misplaatst was.</a:t>
            </a:r>
            <a:endParaRPr lang="en-US" sz="1730"/>
          </a:p>
        </p:txBody>
      </p:sp>
      <p:sp>
        <p:nvSpPr>
          <p:cNvPr id="6" name="Text 3"/>
          <p:cNvSpPr/>
          <p:nvPr/>
        </p:nvSpPr>
        <p:spPr>
          <a:xfrm>
            <a:off x="896112" y="2888552"/>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7" name="Text 4"/>
          <p:cNvSpPr/>
          <p:nvPr/>
        </p:nvSpPr>
        <p:spPr>
          <a:xfrm>
            <a:off x="1170432" y="2879408"/>
            <a:ext cx="6629400" cy="1032320"/>
          </a:xfrm>
          <a:prstGeom prst="rect">
            <a:avLst/>
          </a:prstGeom>
          <a:noFill/>
          <a:ln/>
        </p:spPr>
        <p:txBody>
          <a:bodyPr wrap="square" lIns="0" tIns="0" rIns="0" bIns="0" rtlCol="0" anchor="ctr">
            <a:normAutofit/>
          </a:bodyPr>
          <a:lstStyle/>
          <a:p>
            <a:pPr marL="0" indent="0">
              <a:buNone/>
            </a:pPr>
            <a:r>
              <a:rPr lang="en-US" sz="1730" b="1">
                <a:solidFill>
                  <a:srgbClr val="FFFFFF"/>
                </a:solidFill>
                <a:latin typeface="Gill Sans MT" pitchFamily="34" charset="0"/>
                <a:ea typeface="Gill Sans MT" pitchFamily="34" charset="-122"/>
                <a:cs typeface="Gill Sans MT" pitchFamily="34" charset="-120"/>
              </a:rPr>
              <a:t>Act with urgency — </a:t>
            </a:r>
            <a:r>
              <a:rPr lang="en-US" sz="1730">
                <a:solidFill>
                  <a:srgbClr val="FFFFFF"/>
                </a:solidFill>
                <a:latin typeface="Gill Sans MT" pitchFamily="34" charset="0"/>
                <a:ea typeface="Gill Sans MT" pitchFamily="34" charset="-122"/>
                <a:cs typeface="Gill Sans MT" pitchFamily="34" charset="-120"/>
              </a:rPr>
              <a:t>duidelijk zichtbaar: de advertentie ging offline en de uitrol werd direct stopgezet.</a:t>
            </a:r>
            <a:endParaRPr lang="en-US" sz="1730"/>
          </a:p>
        </p:txBody>
      </p:sp>
      <p:sp>
        <p:nvSpPr>
          <p:cNvPr id="8" name="Text 5"/>
          <p:cNvSpPr/>
          <p:nvPr/>
        </p:nvSpPr>
        <p:spPr>
          <a:xfrm>
            <a:off x="896112" y="4067175"/>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9" name="Text 6"/>
          <p:cNvSpPr/>
          <p:nvPr/>
        </p:nvSpPr>
        <p:spPr>
          <a:xfrm>
            <a:off x="1170432" y="4058031"/>
            <a:ext cx="6629400" cy="1032320"/>
          </a:xfrm>
          <a:prstGeom prst="rect">
            <a:avLst/>
          </a:prstGeom>
          <a:noFill/>
          <a:ln/>
        </p:spPr>
        <p:txBody>
          <a:bodyPr wrap="square" lIns="0" tIns="0" rIns="0" bIns="0" rtlCol="0" anchor="ctr">
            <a:normAutofit/>
          </a:bodyPr>
          <a:lstStyle/>
          <a:p>
            <a:pPr marL="0" indent="0">
              <a:buNone/>
            </a:pPr>
            <a:r>
              <a:rPr lang="en-US" sz="1730" b="1">
                <a:solidFill>
                  <a:srgbClr val="FFFFFF"/>
                </a:solidFill>
                <a:latin typeface="Gill Sans MT" pitchFamily="34" charset="0"/>
                <a:ea typeface="Gill Sans MT" pitchFamily="34" charset="-122"/>
                <a:cs typeface="Gill Sans MT" pitchFamily="34" charset="-120"/>
              </a:rPr>
              <a:t>Follow your values — </a:t>
            </a:r>
            <a:r>
              <a:rPr lang="en-US" sz="1730">
                <a:solidFill>
                  <a:srgbClr val="FFFFFF"/>
                </a:solidFill>
                <a:latin typeface="Gill Sans MT" pitchFamily="34" charset="0"/>
                <a:ea typeface="Gill Sans MT" pitchFamily="34" charset="-122"/>
                <a:cs typeface="Gill Sans MT" pitchFamily="34" charset="-120"/>
              </a:rPr>
              <a:t>onvoldoende: de boodschap van eenheid sloot niet aan op de uitvoering.</a:t>
            </a:r>
            <a:endParaRPr lang="en-US" sz="1730"/>
          </a:p>
        </p:txBody>
      </p:sp>
      <p:sp>
        <p:nvSpPr>
          <p:cNvPr id="10" name="Text 7"/>
          <p:cNvSpPr/>
          <p:nvPr/>
        </p:nvSpPr>
        <p:spPr>
          <a:xfrm>
            <a:off x="896112" y="5245799"/>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11" name="Text 8"/>
          <p:cNvSpPr/>
          <p:nvPr/>
        </p:nvSpPr>
        <p:spPr>
          <a:xfrm>
            <a:off x="1170432" y="5236655"/>
            <a:ext cx="6629400" cy="1032320"/>
          </a:xfrm>
          <a:prstGeom prst="rect">
            <a:avLst/>
          </a:prstGeom>
          <a:noFill/>
          <a:ln/>
        </p:spPr>
        <p:txBody>
          <a:bodyPr wrap="square" lIns="0" tIns="0" rIns="0" bIns="0" rtlCol="0" anchor="ctr">
            <a:normAutofit/>
          </a:bodyPr>
          <a:lstStyle/>
          <a:p>
            <a:pPr marL="0" indent="0">
              <a:buNone/>
            </a:pPr>
            <a:r>
              <a:rPr lang="en-US" sz="1730" b="1">
                <a:solidFill>
                  <a:srgbClr val="FFFFFF"/>
                </a:solidFill>
                <a:latin typeface="Gill Sans MT" pitchFamily="34" charset="0"/>
                <a:ea typeface="Gill Sans MT" pitchFamily="34" charset="-122"/>
                <a:cs typeface="Gill Sans MT" pitchFamily="34" charset="-120"/>
              </a:rPr>
              <a:t>Sharing power — </a:t>
            </a:r>
            <a:r>
              <a:rPr lang="en-US" sz="1730">
                <a:solidFill>
                  <a:srgbClr val="FFFFFF"/>
                </a:solidFill>
                <a:latin typeface="Gill Sans MT" pitchFamily="34" charset="0"/>
                <a:ea typeface="Gill Sans MT" pitchFamily="34" charset="-122"/>
                <a:cs typeface="Gill Sans MT" pitchFamily="34" charset="-120"/>
              </a:rPr>
              <a:t>nauwelijks zichtbaar: er lijkt te weinig kritische of diverse feedback vooraf te zijn meegenomen.</a:t>
            </a:r>
            <a:endParaRPr lang="en-US" sz="1730"/>
          </a:p>
        </p:txBody>
      </p:sp>
      <p:pic>
        <p:nvPicPr>
          <p:cNvPr id="12" name="Image 1" descr="/mnt/data/ws32_ppt/assets/kendall_pepsi.webp"/>
          <p:cNvPicPr>
            <a:picLocks noChangeAspect="1"/>
          </p:cNvPicPr>
          <p:nvPr/>
        </p:nvPicPr>
        <p:blipFill>
          <a:blip r:embed="rId4"/>
          <a:srcRect l="13618" r="13618"/>
          <a:stretch/>
        </p:blipFill>
        <p:spPr>
          <a:xfrm>
            <a:off x="8092440" y="2057400"/>
            <a:ext cx="3611880" cy="2606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1325"/>
        </a:solidFill>
        <a:effectLst/>
      </p:bgPr>
    </p:bg>
    <p:spTree>
      <p:nvGrpSpPr>
        <p:cNvPr id="1" name=""/>
        <p:cNvGrpSpPr/>
        <p:nvPr/>
      </p:nvGrpSpPr>
      <p:grpSpPr>
        <a:xfrm>
          <a:off x="0" y="0"/>
          <a:ext cx="0" cy="0"/>
          <a:chOff x="0" y="0"/>
          <a:chExt cx="0" cy="0"/>
        </a:xfrm>
      </p:grpSpPr>
      <p:pic>
        <p:nvPicPr>
          <p:cNvPr id="2" name="Image 0" descr="/mnt/data/ws32_ppt/assets/image3.png"/>
          <p:cNvPicPr>
            <a:picLocks noChangeAspect="1"/>
          </p:cNvPicPr>
          <p:nvPr/>
        </p:nvPicPr>
        <p:blipFill>
          <a:blip r:embed="rId3"/>
          <a:stretch>
            <a:fillRect/>
          </a:stretch>
        </p:blipFill>
        <p:spPr>
          <a:xfrm>
            <a:off x="10817352" y="109728"/>
            <a:ext cx="822960" cy="822960"/>
          </a:xfrm>
          <a:prstGeom prst="rect">
            <a:avLst/>
          </a:prstGeom>
        </p:spPr>
      </p:pic>
      <p:sp>
        <p:nvSpPr>
          <p:cNvPr id="3" name="Text 0"/>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SITUATIONEEL LEIDERSCHAP</a:t>
            </a:r>
            <a:endParaRPr lang="en-US" sz="3100"/>
          </a:p>
        </p:txBody>
      </p:sp>
      <p:sp>
        <p:nvSpPr>
          <p:cNvPr id="4" name="Text 1"/>
          <p:cNvSpPr/>
          <p:nvPr/>
        </p:nvSpPr>
        <p:spPr>
          <a:xfrm>
            <a:off x="896112" y="1977009"/>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5" name="Text 2"/>
          <p:cNvSpPr/>
          <p:nvPr/>
        </p:nvSpPr>
        <p:spPr>
          <a:xfrm>
            <a:off x="1170432" y="1719072"/>
            <a:ext cx="6263640" cy="1027938"/>
          </a:xfrm>
          <a:prstGeom prst="rect">
            <a:avLst/>
          </a:prstGeom>
          <a:noFill/>
          <a:ln/>
        </p:spPr>
        <p:txBody>
          <a:bodyPr wrap="square" lIns="0" tIns="0" rIns="0" bIns="0" rtlCol="0" anchor="ctr">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Coachen — </a:t>
            </a:r>
            <a:r>
              <a:rPr lang="en-US" sz="1720">
                <a:solidFill>
                  <a:srgbClr val="FFFFFF"/>
                </a:solidFill>
                <a:latin typeface="Gill Sans MT" pitchFamily="34" charset="0"/>
                <a:ea typeface="Gill Sans MT" pitchFamily="34" charset="-122"/>
                <a:cs typeface="Gill Sans MT" pitchFamily="34" charset="-120"/>
              </a:rPr>
              <a:t>vóór publicatie: kritische vragen stellen over context, risico en publieke interpretatie.</a:t>
            </a:r>
            <a:endParaRPr lang="en-US" sz="1720"/>
          </a:p>
        </p:txBody>
      </p:sp>
      <p:sp>
        <p:nvSpPr>
          <p:cNvPr id="6" name="Text 3"/>
          <p:cNvSpPr/>
          <p:nvPr/>
        </p:nvSpPr>
        <p:spPr>
          <a:xfrm>
            <a:off x="871293" y="3160395"/>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7" name="Text 4"/>
          <p:cNvSpPr/>
          <p:nvPr/>
        </p:nvSpPr>
        <p:spPr>
          <a:xfrm>
            <a:off x="1170432" y="2902458"/>
            <a:ext cx="6263640" cy="1027938"/>
          </a:xfrm>
          <a:prstGeom prst="rect">
            <a:avLst/>
          </a:prstGeom>
          <a:noFill/>
          <a:ln/>
        </p:spPr>
        <p:txBody>
          <a:bodyPr wrap="square" lIns="0" tIns="0" rIns="0" bIns="0" rtlCol="0" anchor="ctr">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Instrueren — </a:t>
            </a:r>
            <a:r>
              <a:rPr lang="en-US" sz="1720">
                <a:solidFill>
                  <a:srgbClr val="FFFFFF"/>
                </a:solidFill>
                <a:latin typeface="Gill Sans MT" pitchFamily="34" charset="0"/>
                <a:ea typeface="Gill Sans MT" pitchFamily="34" charset="-122"/>
                <a:cs typeface="Gill Sans MT" pitchFamily="34" charset="-120"/>
              </a:rPr>
              <a:t>tijdens de crisis: advertentie stoppen, statement afstemmen en communicatie strak sturen.</a:t>
            </a:r>
            <a:endParaRPr lang="en-US" sz="1720"/>
          </a:p>
        </p:txBody>
      </p:sp>
      <p:sp>
        <p:nvSpPr>
          <p:cNvPr id="8" name="Text 5"/>
          <p:cNvSpPr/>
          <p:nvPr/>
        </p:nvSpPr>
        <p:spPr>
          <a:xfrm>
            <a:off x="896112" y="4315968"/>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9" name="Text 6"/>
          <p:cNvSpPr/>
          <p:nvPr/>
        </p:nvSpPr>
        <p:spPr>
          <a:xfrm>
            <a:off x="1170432" y="4085844"/>
            <a:ext cx="6263640" cy="1027938"/>
          </a:xfrm>
          <a:prstGeom prst="rect">
            <a:avLst/>
          </a:prstGeom>
          <a:noFill/>
          <a:ln/>
        </p:spPr>
        <p:txBody>
          <a:bodyPr wrap="square" lIns="0" tIns="0" rIns="0" bIns="0" rtlCol="0" anchor="ctr">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Motiveren — </a:t>
            </a:r>
            <a:r>
              <a:rPr lang="en-US" sz="1720">
                <a:solidFill>
                  <a:srgbClr val="FFFFFF"/>
                </a:solidFill>
                <a:latin typeface="Gill Sans MT" pitchFamily="34" charset="0"/>
                <a:ea typeface="Gill Sans MT" pitchFamily="34" charset="-122"/>
                <a:cs typeface="Gill Sans MT" pitchFamily="34" charset="-120"/>
              </a:rPr>
              <a:t>tijdens herstel: rust houden en het team meenemen in het terugwinnen van vertrouwen.</a:t>
            </a:r>
            <a:endParaRPr lang="en-US" sz="1720"/>
          </a:p>
        </p:txBody>
      </p:sp>
      <p:sp>
        <p:nvSpPr>
          <p:cNvPr id="10" name="Text 7"/>
          <p:cNvSpPr/>
          <p:nvPr/>
        </p:nvSpPr>
        <p:spPr>
          <a:xfrm>
            <a:off x="890888" y="5499354"/>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11" name="Text 8"/>
          <p:cNvSpPr/>
          <p:nvPr/>
        </p:nvSpPr>
        <p:spPr>
          <a:xfrm>
            <a:off x="1170432" y="5269230"/>
            <a:ext cx="6263640" cy="1027938"/>
          </a:xfrm>
          <a:prstGeom prst="rect">
            <a:avLst/>
          </a:prstGeom>
          <a:noFill/>
          <a:ln/>
        </p:spPr>
        <p:txBody>
          <a:bodyPr wrap="square" lIns="0" tIns="0" rIns="0" bIns="0" rtlCol="0" anchor="ctr">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Delegeren — </a:t>
            </a:r>
            <a:r>
              <a:rPr lang="en-US" sz="1720">
                <a:solidFill>
                  <a:srgbClr val="FFFFFF"/>
                </a:solidFill>
                <a:latin typeface="Gill Sans MT" pitchFamily="34" charset="0"/>
                <a:ea typeface="Gill Sans MT" pitchFamily="34" charset="-122"/>
                <a:cs typeface="Gill Sans MT" pitchFamily="34" charset="-120"/>
              </a:rPr>
              <a:t>is hier minder passend, omdat een gevoelige reputatiecrisis juist om duidelijke sturing vraagt.</a:t>
            </a:r>
            <a:endParaRPr lang="en-US" sz="1720"/>
          </a:p>
        </p:txBody>
      </p:sp>
      <p:sp>
        <p:nvSpPr>
          <p:cNvPr id="12" name="Text 9"/>
          <p:cNvSpPr/>
          <p:nvPr/>
        </p:nvSpPr>
        <p:spPr>
          <a:xfrm>
            <a:off x="7818120" y="1783080"/>
            <a:ext cx="2971800" cy="228600"/>
          </a:xfrm>
          <a:prstGeom prst="rect">
            <a:avLst/>
          </a:prstGeom>
          <a:noFill/>
          <a:ln/>
        </p:spPr>
        <p:txBody>
          <a:bodyPr wrap="square" lIns="0" tIns="0" rIns="0" bIns="0" rtlCol="0" anchor="ctr"/>
          <a:lstStyle/>
          <a:p>
            <a:pPr marL="0" indent="0">
              <a:buNone/>
            </a:pPr>
            <a:r>
              <a:rPr lang="en-US" sz="1200" b="1">
                <a:solidFill>
                  <a:srgbClr val="F4C757"/>
                </a:solidFill>
                <a:latin typeface="Gill Sans MT" pitchFamily="34" charset="0"/>
                <a:ea typeface="Gill Sans MT" pitchFamily="34" charset="-122"/>
                <a:cs typeface="Gill Sans MT" pitchFamily="34" charset="-120"/>
              </a:rPr>
              <a:t>OFFICIELE REACTIE</a:t>
            </a:r>
            <a:endParaRPr lang="en-US" sz="1200"/>
          </a:p>
        </p:txBody>
      </p:sp>
      <p:sp>
        <p:nvSpPr>
          <p:cNvPr id="13" name="Text 10"/>
          <p:cNvSpPr/>
          <p:nvPr/>
        </p:nvSpPr>
        <p:spPr>
          <a:xfrm>
            <a:off x="7818120" y="2057400"/>
            <a:ext cx="3154680" cy="2011680"/>
          </a:xfrm>
          <a:prstGeom prst="rect">
            <a:avLst/>
          </a:prstGeom>
          <a:noFill/>
          <a:ln/>
        </p:spPr>
        <p:txBody>
          <a:bodyPr wrap="square" lIns="0" tIns="0" rIns="0" bIns="0" rtlCol="0" anchor="ctr">
            <a:normAutofit/>
          </a:bodyPr>
          <a:lstStyle/>
          <a:p>
            <a:pPr marL="0" indent="0" algn="l">
              <a:buNone/>
            </a:pPr>
            <a:r>
              <a:rPr lang="en-US" sz="1800" i="1">
                <a:solidFill>
                  <a:srgbClr val="FFFFFF"/>
                </a:solidFill>
                <a:latin typeface="Gill Sans MT" pitchFamily="34" charset="0"/>
                <a:ea typeface="Gill Sans MT" pitchFamily="34" charset="-122"/>
                <a:cs typeface="Gill Sans MT" pitchFamily="34" charset="-120"/>
              </a:rPr>
              <a:t>"Clearly we missed the mark, and we apologize.</a:t>
            </a:r>
            <a:endParaRPr lang="en-US" sz="1800"/>
          </a:p>
          <a:p>
            <a:pPr marL="0" indent="0" algn="l">
              <a:buNone/>
            </a:pPr>
            <a:r>
              <a:rPr lang="en-US" sz="1800" i="1">
                <a:solidFill>
                  <a:srgbClr val="FFFFFF"/>
                </a:solidFill>
                <a:latin typeface="Gill Sans MT" pitchFamily="34" charset="0"/>
                <a:ea typeface="Gill Sans MT" pitchFamily="34" charset="-122"/>
                <a:cs typeface="Gill Sans MT" pitchFamily="34" charset="-120"/>
              </a:rPr>
              <a:t>We are removing the content and halting any further rollout."</a:t>
            </a:r>
            <a:endParaRPr lang="en-US" sz="1800"/>
          </a:p>
        </p:txBody>
      </p:sp>
      <p:sp>
        <p:nvSpPr>
          <p:cNvPr id="14" name="Text 11"/>
          <p:cNvSpPr/>
          <p:nvPr/>
        </p:nvSpPr>
        <p:spPr>
          <a:xfrm>
            <a:off x="7818120" y="4315968"/>
            <a:ext cx="2468880" cy="201168"/>
          </a:xfrm>
          <a:prstGeom prst="rect">
            <a:avLst/>
          </a:prstGeom>
          <a:noFill/>
          <a:ln/>
        </p:spPr>
        <p:txBody>
          <a:bodyPr wrap="square" lIns="0" tIns="0" rIns="0" bIns="0" rtlCol="0" anchor="ctr"/>
          <a:lstStyle/>
          <a:p>
            <a:pPr marL="0" indent="0">
              <a:buNone/>
            </a:pPr>
            <a:r>
              <a:rPr lang="en-US" sz="1200" b="1">
                <a:solidFill>
                  <a:srgbClr val="F4C757"/>
                </a:solidFill>
                <a:latin typeface="Gill Sans MT" pitchFamily="34" charset="0"/>
                <a:ea typeface="Gill Sans MT" pitchFamily="34" charset="-122"/>
                <a:cs typeface="Gill Sans MT" pitchFamily="34" charset="-120"/>
              </a:rPr>
              <a:t>— Pepsi, 5 april 2017</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1325"/>
        </a:solidFill>
        <a:effectLst/>
      </p:bgPr>
    </p:bg>
    <p:spTree>
      <p:nvGrpSpPr>
        <p:cNvPr id="1" name=""/>
        <p:cNvGrpSpPr/>
        <p:nvPr/>
      </p:nvGrpSpPr>
      <p:grpSpPr>
        <a:xfrm>
          <a:off x="0" y="0"/>
          <a:ext cx="0" cy="0"/>
          <a:chOff x="0" y="0"/>
          <a:chExt cx="0" cy="0"/>
        </a:xfrm>
      </p:grpSpPr>
      <p:pic>
        <p:nvPicPr>
          <p:cNvPr id="2" name="Image 0" descr="/mnt/data/ws32_ppt/assets/image3.png"/>
          <p:cNvPicPr>
            <a:picLocks noChangeAspect="1"/>
          </p:cNvPicPr>
          <p:nvPr/>
        </p:nvPicPr>
        <p:blipFill>
          <a:blip r:embed="rId3"/>
          <a:stretch>
            <a:fillRect/>
          </a:stretch>
        </p:blipFill>
        <p:spPr>
          <a:xfrm>
            <a:off x="10817352" y="109728"/>
            <a:ext cx="822960" cy="822960"/>
          </a:xfrm>
          <a:prstGeom prst="rect">
            <a:avLst/>
          </a:prstGeom>
        </p:spPr>
      </p:pic>
      <p:sp>
        <p:nvSpPr>
          <p:cNvPr id="3" name="Text 0"/>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KEY TAKE-AWAYS &amp; CONCLUSIE</a:t>
            </a:r>
            <a:endParaRPr lang="en-US" sz="3100"/>
          </a:p>
        </p:txBody>
      </p:sp>
      <p:sp>
        <p:nvSpPr>
          <p:cNvPr id="4" name="Text 1"/>
          <p:cNvSpPr/>
          <p:nvPr/>
        </p:nvSpPr>
        <p:spPr>
          <a:xfrm>
            <a:off x="896112" y="2066544"/>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5" name="Text 2"/>
          <p:cNvSpPr/>
          <p:nvPr/>
        </p:nvSpPr>
        <p:spPr>
          <a:xfrm>
            <a:off x="1170432" y="1783080"/>
            <a:ext cx="6492240" cy="800100"/>
          </a:xfrm>
          <a:prstGeom prst="rect">
            <a:avLst/>
          </a:prstGeom>
          <a:noFill/>
          <a:ln/>
        </p:spPr>
        <p:txBody>
          <a:bodyPr wrap="square" lIns="0" tIns="0" rIns="0" bIns="0" rtlCol="0" anchor="ctr">
            <a:normAutofit/>
          </a:bodyPr>
          <a:lstStyle/>
          <a:p>
            <a:pPr marL="0" indent="0">
              <a:buNone/>
            </a:pPr>
            <a:r>
              <a:rPr lang="en-US" sz="1800">
                <a:solidFill>
                  <a:srgbClr val="FFFFFF"/>
                </a:solidFill>
                <a:latin typeface="Gill Sans MT" pitchFamily="34" charset="0"/>
                <a:ea typeface="Gill Sans MT" pitchFamily="34" charset="-122"/>
                <a:cs typeface="Gill Sans MT" pitchFamily="34" charset="-120"/>
              </a:rPr>
              <a:t>Publieke interpretatie is belangrijker dan alleen een goede intentie.</a:t>
            </a:r>
            <a:endParaRPr lang="en-US" sz="1800"/>
          </a:p>
        </p:txBody>
      </p:sp>
      <p:sp>
        <p:nvSpPr>
          <p:cNvPr id="6" name="Text 3"/>
          <p:cNvSpPr/>
          <p:nvPr/>
        </p:nvSpPr>
        <p:spPr>
          <a:xfrm>
            <a:off x="896112" y="2921508"/>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7" name="Text 4"/>
          <p:cNvSpPr/>
          <p:nvPr/>
        </p:nvSpPr>
        <p:spPr>
          <a:xfrm>
            <a:off x="1170432" y="2784348"/>
            <a:ext cx="6492240" cy="800100"/>
          </a:xfrm>
          <a:prstGeom prst="rect">
            <a:avLst/>
          </a:prstGeom>
          <a:noFill/>
          <a:ln/>
        </p:spPr>
        <p:txBody>
          <a:bodyPr wrap="square" lIns="0" tIns="0" rIns="0" bIns="0" rtlCol="0" anchor="ctr">
            <a:normAutofit/>
          </a:bodyPr>
          <a:lstStyle/>
          <a:p>
            <a:pPr marL="0" indent="0">
              <a:buNone/>
            </a:pPr>
            <a:r>
              <a:rPr lang="en-US" sz="1800">
                <a:solidFill>
                  <a:srgbClr val="FFFFFF"/>
                </a:solidFill>
                <a:latin typeface="Gill Sans MT" pitchFamily="34" charset="0"/>
                <a:ea typeface="Gill Sans MT" pitchFamily="34" charset="-122"/>
                <a:cs typeface="Gill Sans MT" pitchFamily="34" charset="-120"/>
              </a:rPr>
              <a:t>Crisismanagement begint al vóór publicatie, in toetsing en besluitvorming.</a:t>
            </a:r>
            <a:endParaRPr lang="en-US" sz="1800"/>
          </a:p>
        </p:txBody>
      </p:sp>
      <p:sp>
        <p:nvSpPr>
          <p:cNvPr id="8" name="Text 5"/>
          <p:cNvSpPr/>
          <p:nvPr/>
        </p:nvSpPr>
        <p:spPr>
          <a:xfrm>
            <a:off x="896112" y="4057650"/>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9" name="Text 6"/>
          <p:cNvSpPr/>
          <p:nvPr/>
        </p:nvSpPr>
        <p:spPr>
          <a:xfrm>
            <a:off x="1170432" y="3785616"/>
            <a:ext cx="6492240" cy="800100"/>
          </a:xfrm>
          <a:prstGeom prst="rect">
            <a:avLst/>
          </a:prstGeom>
          <a:noFill/>
          <a:ln/>
        </p:spPr>
        <p:txBody>
          <a:bodyPr wrap="square" lIns="0" tIns="0" rIns="0" bIns="0" rtlCol="0" anchor="ctr">
            <a:normAutofit/>
          </a:bodyPr>
          <a:lstStyle/>
          <a:p>
            <a:pPr marL="0" indent="0">
              <a:buNone/>
            </a:pPr>
            <a:r>
              <a:rPr lang="en-US" sz="1800">
                <a:solidFill>
                  <a:srgbClr val="FFFFFF"/>
                </a:solidFill>
                <a:latin typeface="Gill Sans MT" pitchFamily="34" charset="0"/>
                <a:ea typeface="Gill Sans MT" pitchFamily="34" charset="-122"/>
                <a:cs typeface="Gill Sans MT" pitchFamily="34" charset="-120"/>
              </a:rPr>
              <a:t>Snel reageren helpt, maar voorkomt niet alle reputatieschade.</a:t>
            </a:r>
            <a:endParaRPr lang="en-US" sz="1800"/>
          </a:p>
        </p:txBody>
      </p:sp>
      <p:sp>
        <p:nvSpPr>
          <p:cNvPr id="10" name="Text 7"/>
          <p:cNvSpPr/>
          <p:nvPr/>
        </p:nvSpPr>
        <p:spPr>
          <a:xfrm>
            <a:off x="896112" y="4924044"/>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11" name="Text 8"/>
          <p:cNvSpPr/>
          <p:nvPr/>
        </p:nvSpPr>
        <p:spPr>
          <a:xfrm>
            <a:off x="1170432" y="4786884"/>
            <a:ext cx="6492240" cy="800100"/>
          </a:xfrm>
          <a:prstGeom prst="rect">
            <a:avLst/>
          </a:prstGeom>
          <a:noFill/>
          <a:ln/>
        </p:spPr>
        <p:txBody>
          <a:bodyPr wrap="square" lIns="0" tIns="0" rIns="0" bIns="0" rtlCol="0" anchor="ctr">
            <a:normAutofit/>
          </a:bodyPr>
          <a:lstStyle/>
          <a:p>
            <a:pPr marL="0" indent="0">
              <a:buNone/>
            </a:pPr>
            <a:r>
              <a:rPr lang="en-US" sz="1800">
                <a:solidFill>
                  <a:srgbClr val="FFFFFF"/>
                </a:solidFill>
                <a:latin typeface="Gill Sans MT" pitchFamily="34" charset="0"/>
                <a:ea typeface="Gill Sans MT" pitchFamily="34" charset="-122"/>
                <a:cs typeface="Gill Sans MT" pitchFamily="34" charset="-120"/>
              </a:rPr>
              <a:t>Conclusie: Pepsi reageerde snel, maar beter luisteren en vooraf toetsen had de crisis waarschijnlijk beperkt.</a:t>
            </a:r>
            <a:endParaRPr lang="en-US" sz="1800"/>
          </a:p>
        </p:txBody>
      </p:sp>
      <p:pic>
        <p:nvPicPr>
          <p:cNvPr id="12" name="Image 1" descr="/mnt/data/ws32_ppt/assets/pepsi_can.webp"/>
          <p:cNvPicPr>
            <a:picLocks noChangeAspect="1"/>
          </p:cNvPicPr>
          <p:nvPr/>
        </p:nvPicPr>
        <p:blipFill>
          <a:blip r:embed="rId4"/>
          <a:stretch>
            <a:fillRect/>
          </a:stretch>
        </p:blipFill>
        <p:spPr>
          <a:xfrm>
            <a:off x="8503920" y="2194560"/>
            <a:ext cx="2377440" cy="2377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40000"/>
                <a:lumOff val="60000"/>
              </a:schemeClr>
            </a:gs>
            <a:gs pos="83000">
              <a:schemeClr val="accent1">
                <a:lumMod val="75000"/>
              </a:schemeClr>
            </a:gs>
            <a:gs pos="91000">
              <a:schemeClr val="accent1">
                <a:lumMod val="50000"/>
              </a:schemeClr>
            </a:gs>
            <a:gs pos="100000">
              <a:srgbClr val="07162A"/>
            </a:gs>
          </a:gsLst>
          <a:lin ang="5400000" scaled="1"/>
        </a:gradFill>
        <a:effectLst/>
      </p:bgPr>
    </p:bg>
    <p:spTree>
      <p:nvGrpSpPr>
        <p:cNvPr id="1" name="">
          <a:extLst>
            <a:ext uri="{FF2B5EF4-FFF2-40B4-BE49-F238E27FC236}">
              <a16:creationId xmlns:a16="http://schemas.microsoft.com/office/drawing/2014/main" id="{D5DD0B57-029F-84E9-AE8A-39D26831C2C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25D659D-B8C5-2225-F04C-A4DCC9FCFF07}"/>
              </a:ext>
            </a:extLst>
          </p:cNvPr>
          <p:cNvSpPr/>
          <p:nvPr/>
        </p:nvSpPr>
        <p:spPr>
          <a:xfrm>
            <a:off x="658368" y="384048"/>
            <a:ext cx="5491420" cy="1828800"/>
          </a:xfrm>
          <a:prstGeom prst="rect">
            <a:avLst/>
          </a:prstGeom>
          <a:noFill/>
          <a:ln/>
        </p:spPr>
        <p:txBody>
          <a:bodyPr wrap="square" lIns="0" tIns="0" rIns="0" bIns="0" rtlCol="0" anchor="ctr"/>
          <a:lstStyle/>
          <a:p>
            <a:pPr marL="0" indent="0">
              <a:buNone/>
            </a:pPr>
            <a:endParaRPr lang="en-US" sz="3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4" name="Text 1">
            <a:extLst>
              <a:ext uri="{FF2B5EF4-FFF2-40B4-BE49-F238E27FC236}">
                <a16:creationId xmlns:a16="http://schemas.microsoft.com/office/drawing/2014/main" id="{533EC92C-23D2-7E04-2419-7B03173B4837}"/>
              </a:ext>
            </a:extLst>
          </p:cNvPr>
          <p:cNvSpPr/>
          <p:nvPr/>
        </p:nvSpPr>
        <p:spPr>
          <a:xfrm>
            <a:off x="658368" y="1865376"/>
            <a:ext cx="3840480" cy="320040"/>
          </a:xfrm>
          <a:prstGeom prst="rect">
            <a:avLst/>
          </a:prstGeom>
          <a:noFill/>
          <a:ln/>
        </p:spPr>
        <p:txBody>
          <a:bodyPr wrap="square" lIns="0" tIns="0" rIns="0" bIns="0" rtlCol="0" anchor="ctr"/>
          <a:lstStyle/>
          <a:p>
            <a:r>
              <a:rPr lang="en-US" sz="2000" b="1" i="1">
                <a:solidFill>
                  <a:srgbClr val="C00000"/>
                </a:solidFill>
                <a:latin typeface="Gill Sans MT"/>
              </a:rPr>
              <a:t>Johnson &amp; Johnson's Tylenol Crisis</a:t>
            </a:r>
            <a:endParaRPr lang="en-US"/>
          </a:p>
        </p:txBody>
      </p:sp>
      <p:sp>
        <p:nvSpPr>
          <p:cNvPr id="6" name="Text 3">
            <a:extLst>
              <a:ext uri="{FF2B5EF4-FFF2-40B4-BE49-F238E27FC236}">
                <a16:creationId xmlns:a16="http://schemas.microsoft.com/office/drawing/2014/main" id="{2FC5E832-19E5-97CB-965A-B24674488858}"/>
              </a:ext>
            </a:extLst>
          </p:cNvPr>
          <p:cNvSpPr/>
          <p:nvPr/>
        </p:nvSpPr>
        <p:spPr>
          <a:xfrm>
            <a:off x="658368" y="4992624"/>
            <a:ext cx="4206240" cy="274320"/>
          </a:xfrm>
          <a:prstGeom prst="rect">
            <a:avLst/>
          </a:prstGeom>
          <a:noFill/>
          <a:ln/>
        </p:spPr>
        <p:txBody>
          <a:bodyPr wrap="square" lIns="0" tIns="0" rIns="0" bIns="0" rtlCol="0" anchor="ctr"/>
          <a:lstStyle/>
          <a:p>
            <a:pPr marL="0" indent="0">
              <a:buNone/>
            </a:pPr>
            <a:r>
              <a:rPr lang="en-US" sz="1700" b="1">
                <a:solidFill>
                  <a:srgbClr val="111111"/>
                </a:solidFill>
                <a:latin typeface="Gill Sans MT" pitchFamily="34" charset="0"/>
                <a:ea typeface="Gill Sans MT" pitchFamily="34" charset="-122"/>
                <a:cs typeface="Gill Sans MT" pitchFamily="34" charset="-120"/>
              </a:rPr>
              <a:t>Groep 10 · Firewall Force</a:t>
            </a:r>
            <a:endParaRPr lang="en-US" sz="1700"/>
          </a:p>
        </p:txBody>
      </p:sp>
      <p:sp>
        <p:nvSpPr>
          <p:cNvPr id="7" name="Text 4">
            <a:extLst>
              <a:ext uri="{FF2B5EF4-FFF2-40B4-BE49-F238E27FC236}">
                <a16:creationId xmlns:a16="http://schemas.microsoft.com/office/drawing/2014/main" id="{C51C0867-9F8B-8528-8557-F65A37264E91}"/>
              </a:ext>
            </a:extLst>
          </p:cNvPr>
          <p:cNvSpPr/>
          <p:nvPr/>
        </p:nvSpPr>
        <p:spPr>
          <a:xfrm>
            <a:off x="658368" y="5358384"/>
            <a:ext cx="4297680" cy="320040"/>
          </a:xfrm>
          <a:prstGeom prst="rect">
            <a:avLst/>
          </a:prstGeom>
          <a:noFill/>
          <a:ln/>
        </p:spPr>
        <p:txBody>
          <a:bodyPr wrap="square" lIns="0" tIns="0" rIns="0" bIns="0" rtlCol="0" anchor="ctr"/>
          <a:lstStyle/>
          <a:p>
            <a:pPr marL="0" indent="0">
              <a:buNone/>
            </a:pPr>
            <a:r>
              <a:rPr lang="en-US" sz="1600">
                <a:solidFill>
                  <a:srgbClr val="111111"/>
                </a:solidFill>
                <a:latin typeface="Gill Sans MT" pitchFamily="34" charset="0"/>
                <a:ea typeface="Gill Sans MT" pitchFamily="34" charset="-122"/>
                <a:cs typeface="Gill Sans MT" pitchFamily="34" charset="-120"/>
              </a:rPr>
              <a:t>Bavli</a:t>
            </a:r>
            <a:r>
              <a:rPr lang="en-US" sz="1600" b="1">
                <a:solidFill>
                  <a:srgbClr val="111111"/>
                </a:solidFill>
                <a:latin typeface="Gill Sans MT" pitchFamily="34" charset="0"/>
                <a:ea typeface="Gill Sans MT" pitchFamily="34" charset="-122"/>
                <a:cs typeface="Gill Sans MT" pitchFamily="34" charset="-120"/>
              </a:rPr>
              <a:t>, Jonas</a:t>
            </a:r>
            <a:r>
              <a:rPr lang="en-US" sz="1600">
                <a:solidFill>
                  <a:srgbClr val="111111"/>
                </a:solidFill>
                <a:latin typeface="Gill Sans MT" pitchFamily="34" charset="0"/>
                <a:ea typeface="Gill Sans MT" pitchFamily="34" charset="-122"/>
                <a:cs typeface="Gill Sans MT" pitchFamily="34" charset="-120"/>
              </a:rPr>
              <a:t>, Lucas, Vo</a:t>
            </a:r>
            <a:endParaRPr lang="en-US" sz="1600"/>
          </a:p>
        </p:txBody>
      </p:sp>
      <p:pic>
        <p:nvPicPr>
          <p:cNvPr id="8" name="Picture 7">
            <a:extLst>
              <a:ext uri="{FF2B5EF4-FFF2-40B4-BE49-F238E27FC236}">
                <a16:creationId xmlns:a16="http://schemas.microsoft.com/office/drawing/2014/main" id="{56A62F12-D9F8-44EA-4E3D-E99DCF035B72}"/>
              </a:ext>
            </a:extLst>
          </p:cNvPr>
          <p:cNvPicPr>
            <a:picLocks noChangeAspect="1"/>
          </p:cNvPicPr>
          <p:nvPr/>
        </p:nvPicPr>
        <p:blipFill>
          <a:blip r:embed="rId3"/>
          <a:stretch>
            <a:fillRect/>
          </a:stretch>
        </p:blipFill>
        <p:spPr>
          <a:xfrm>
            <a:off x="5811548" y="1838109"/>
            <a:ext cx="4946506" cy="3291675"/>
          </a:xfrm>
          <a:prstGeom prst="rect">
            <a:avLst/>
          </a:prstGeom>
        </p:spPr>
      </p:pic>
    </p:spTree>
    <p:extLst>
      <p:ext uri="{BB962C8B-B14F-4D97-AF65-F5344CB8AC3E}">
        <p14:creationId xmlns:p14="http://schemas.microsoft.com/office/powerpoint/2010/main" val="2676421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1325"/>
        </a:solidFill>
        <a:effectLst/>
      </p:bgPr>
    </p:bg>
    <p:spTree>
      <p:nvGrpSpPr>
        <p:cNvPr id="1" name="">
          <a:extLst>
            <a:ext uri="{FF2B5EF4-FFF2-40B4-BE49-F238E27FC236}">
              <a16:creationId xmlns:a16="http://schemas.microsoft.com/office/drawing/2014/main" id="{69161E01-769C-6D63-F30E-5283025FF37D}"/>
            </a:ext>
          </a:extLst>
        </p:cNvPr>
        <p:cNvGrpSpPr/>
        <p:nvPr/>
      </p:nvGrpSpPr>
      <p:grpSpPr>
        <a:xfrm>
          <a:off x="0" y="0"/>
          <a:ext cx="0" cy="0"/>
          <a:chOff x="0" y="0"/>
          <a:chExt cx="0" cy="0"/>
        </a:xfrm>
      </p:grpSpPr>
      <p:pic>
        <p:nvPicPr>
          <p:cNvPr id="2" name="Image 0" descr="/mnt/data/ws32_ppt/assets/image3.png">
            <a:extLst>
              <a:ext uri="{FF2B5EF4-FFF2-40B4-BE49-F238E27FC236}">
                <a16:creationId xmlns:a16="http://schemas.microsoft.com/office/drawing/2014/main" id="{1940CBE6-1168-A036-CEB6-C5EC81FEF504}"/>
              </a:ext>
            </a:extLst>
          </p:cNvPr>
          <p:cNvPicPr>
            <a:picLocks noChangeAspect="1"/>
          </p:cNvPicPr>
          <p:nvPr/>
        </p:nvPicPr>
        <p:blipFill>
          <a:blip r:embed="rId3"/>
          <a:stretch>
            <a:fillRect/>
          </a:stretch>
        </p:blipFill>
        <p:spPr>
          <a:xfrm>
            <a:off x="10817352" y="109728"/>
            <a:ext cx="822960" cy="822960"/>
          </a:xfrm>
          <a:prstGeom prst="rect">
            <a:avLst/>
          </a:prstGeom>
        </p:spPr>
      </p:pic>
      <p:sp>
        <p:nvSpPr>
          <p:cNvPr id="3" name="Text 0">
            <a:extLst>
              <a:ext uri="{FF2B5EF4-FFF2-40B4-BE49-F238E27FC236}">
                <a16:creationId xmlns:a16="http://schemas.microsoft.com/office/drawing/2014/main" id="{6D811A23-80FA-BACE-30FA-238952340E92}"/>
              </a:ext>
            </a:extLst>
          </p:cNvPr>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KEY BEHAVIOUR COMPONENTEN</a:t>
            </a:r>
            <a:endParaRPr lang="en-US" sz="3100"/>
          </a:p>
        </p:txBody>
      </p:sp>
      <p:sp>
        <p:nvSpPr>
          <p:cNvPr id="4" name="Text 1">
            <a:extLst>
              <a:ext uri="{FF2B5EF4-FFF2-40B4-BE49-F238E27FC236}">
                <a16:creationId xmlns:a16="http://schemas.microsoft.com/office/drawing/2014/main" id="{5FF199AE-F144-3E5A-F0B3-C5D22DED563E}"/>
              </a:ext>
            </a:extLst>
          </p:cNvPr>
          <p:cNvSpPr/>
          <p:nvPr/>
        </p:nvSpPr>
        <p:spPr>
          <a:xfrm>
            <a:off x="896112" y="1709928"/>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5" name="Text 2">
            <a:extLst>
              <a:ext uri="{FF2B5EF4-FFF2-40B4-BE49-F238E27FC236}">
                <a16:creationId xmlns:a16="http://schemas.microsoft.com/office/drawing/2014/main" id="{3C6B3F9F-F8B8-3FD4-9E43-DD7516861F7F}"/>
              </a:ext>
            </a:extLst>
          </p:cNvPr>
          <p:cNvSpPr/>
          <p:nvPr/>
        </p:nvSpPr>
        <p:spPr>
          <a:xfrm>
            <a:off x="1170432" y="1700784"/>
            <a:ext cx="6629400" cy="1032320"/>
          </a:xfrm>
          <a:prstGeom prst="rect">
            <a:avLst/>
          </a:prstGeom>
          <a:noFill/>
          <a:ln/>
        </p:spPr>
        <p:txBody>
          <a:bodyPr wrap="square" lIns="0" tIns="0" rIns="0" bIns="0" rtlCol="0" anchor="ctr">
            <a:normAutofit/>
          </a:bodyPr>
          <a:lstStyle/>
          <a:p>
            <a:r>
              <a:rPr lang="en-US" sz="1700" b="1">
                <a:solidFill>
                  <a:srgbClr val="FFFFFF"/>
                </a:solidFill>
                <a:latin typeface="Gill Sans MT"/>
                <a:ea typeface="Gill Sans MT" pitchFamily="34" charset="-122"/>
                <a:cs typeface="Gill Sans MT" pitchFamily="34" charset="-120"/>
              </a:rPr>
              <a:t>Be transparent — </a:t>
            </a:r>
            <a:r>
              <a:rPr lang="en-US" sz="1700" b="1" err="1">
                <a:solidFill>
                  <a:srgbClr val="FFFFFF"/>
                </a:solidFill>
                <a:latin typeface="Gill Sans MT"/>
                <a:ea typeface="Gill Sans MT" pitchFamily="34" charset="-122"/>
                <a:cs typeface="Gill Sans MT" pitchFamily="34" charset="-120"/>
              </a:rPr>
              <a:t>Proactief</a:t>
            </a:r>
            <a:r>
              <a:rPr lang="en-US" sz="1700" b="1">
                <a:solidFill>
                  <a:srgbClr val="FFFFFF"/>
                </a:solidFill>
                <a:latin typeface="Gill Sans MT"/>
                <a:ea typeface="Gill Sans MT" pitchFamily="34" charset="-122"/>
                <a:cs typeface="Gill Sans MT" pitchFamily="34" charset="-120"/>
              </a:rPr>
              <a:t>: </a:t>
            </a:r>
            <a:r>
              <a:rPr lang="en-US" sz="1700">
                <a:solidFill>
                  <a:srgbClr val="FFFFFF"/>
                </a:solidFill>
                <a:latin typeface="Gill Sans MT"/>
                <a:ea typeface="Gill Sans MT" pitchFamily="34" charset="-122"/>
                <a:cs typeface="Gill Sans MT" pitchFamily="34" charset="-120"/>
              </a:rPr>
              <a:t>Ze </a:t>
            </a:r>
            <a:r>
              <a:rPr lang="en-US" sz="1700" err="1">
                <a:solidFill>
                  <a:srgbClr val="FFFFFF"/>
                </a:solidFill>
                <a:latin typeface="Gill Sans MT"/>
                <a:ea typeface="Gill Sans MT" pitchFamily="34" charset="-122"/>
                <a:cs typeface="Gill Sans MT" pitchFamily="34" charset="-120"/>
              </a:rPr>
              <a:t>verspreidden</a:t>
            </a:r>
            <a:r>
              <a:rPr lang="en-US" sz="1700">
                <a:solidFill>
                  <a:srgbClr val="FFFFFF"/>
                </a:solidFill>
                <a:latin typeface="Gill Sans MT"/>
                <a:ea typeface="Gill Sans MT" pitchFamily="34" charset="-122"/>
                <a:cs typeface="Gill Sans MT" pitchFamily="34" charset="-120"/>
              </a:rPr>
              <a:t> direct </a:t>
            </a:r>
            <a:r>
              <a:rPr lang="en-US" sz="1700" err="1">
                <a:solidFill>
                  <a:srgbClr val="FFFFFF"/>
                </a:solidFill>
                <a:latin typeface="Gill Sans MT"/>
                <a:ea typeface="Gill Sans MT" pitchFamily="34" charset="-122"/>
                <a:cs typeface="Gill Sans MT" pitchFamily="34" charset="-120"/>
              </a:rPr>
              <a:t>waarschuwingen</a:t>
            </a:r>
            <a:r>
              <a:rPr lang="en-US" sz="1700">
                <a:solidFill>
                  <a:srgbClr val="FFFFFF"/>
                </a:solidFill>
                <a:latin typeface="Gill Sans MT"/>
                <a:ea typeface="Gill Sans MT" pitchFamily="34" charset="-122"/>
                <a:cs typeface="Gill Sans MT" pitchFamily="34" charset="-120"/>
              </a:rPr>
              <a:t> via media </a:t>
            </a:r>
            <a:r>
              <a:rPr lang="en-US" sz="1700" err="1">
                <a:solidFill>
                  <a:srgbClr val="FFFFFF"/>
                </a:solidFill>
                <a:latin typeface="Gill Sans MT"/>
                <a:ea typeface="Gill Sans MT" pitchFamily="34" charset="-122"/>
                <a:cs typeface="Gill Sans MT" pitchFamily="34" charset="-120"/>
              </a:rPr>
              <a:t>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hadden</a:t>
            </a:r>
            <a:r>
              <a:rPr lang="en-US" sz="1700">
                <a:solidFill>
                  <a:srgbClr val="FFFFFF"/>
                </a:solidFill>
                <a:latin typeface="Gill Sans MT"/>
                <a:ea typeface="Gill Sans MT" pitchFamily="34" charset="-122"/>
                <a:cs typeface="Gill Sans MT" pitchFamily="34" charset="-120"/>
              </a:rPr>
              <a:t> open </a:t>
            </a:r>
            <a:r>
              <a:rPr lang="en-US" sz="1700" err="1">
                <a:solidFill>
                  <a:srgbClr val="FFFFFF"/>
                </a:solidFill>
                <a:latin typeface="Gill Sans MT"/>
                <a:ea typeface="Gill Sans MT" pitchFamily="34" charset="-122"/>
                <a:cs typeface="Gill Sans MT" pitchFamily="34" charset="-120"/>
              </a:rPr>
              <a:t>communicatie</a:t>
            </a:r>
            <a:r>
              <a:rPr lang="en-US" sz="1700">
                <a:solidFill>
                  <a:srgbClr val="FFFFFF"/>
                </a:solidFill>
                <a:latin typeface="Gill Sans MT"/>
                <a:ea typeface="Gill Sans MT" pitchFamily="34" charset="-122"/>
                <a:cs typeface="Gill Sans MT" pitchFamily="34" charset="-120"/>
              </a:rPr>
              <a:t> over het </a:t>
            </a:r>
            <a:r>
              <a:rPr lang="en-US" sz="1700" err="1">
                <a:solidFill>
                  <a:srgbClr val="FFFFFF"/>
                </a:solidFill>
                <a:latin typeface="Gill Sans MT"/>
                <a:ea typeface="Gill Sans MT" pitchFamily="34" charset="-122"/>
                <a:cs typeface="Gill Sans MT" pitchFamily="34" charset="-120"/>
              </a:rPr>
              <a:t>gevaar</a:t>
            </a:r>
            <a:r>
              <a:rPr lang="en-US" sz="1700">
                <a:solidFill>
                  <a:srgbClr val="FFFFFF"/>
                </a:solidFill>
                <a:latin typeface="Gill Sans MT"/>
                <a:ea typeface="Gill Sans MT" pitchFamily="34" charset="-122"/>
                <a:cs typeface="Gill Sans MT" pitchFamily="34" charset="-120"/>
              </a:rPr>
              <a:t>.</a:t>
            </a:r>
            <a:endParaRPr lang="en-US" sz="1700" b="1">
              <a:solidFill>
                <a:srgbClr val="FFFFFF"/>
              </a:solidFill>
            </a:endParaRPr>
          </a:p>
        </p:txBody>
      </p:sp>
      <p:sp>
        <p:nvSpPr>
          <p:cNvPr id="6" name="Text 3">
            <a:extLst>
              <a:ext uri="{FF2B5EF4-FFF2-40B4-BE49-F238E27FC236}">
                <a16:creationId xmlns:a16="http://schemas.microsoft.com/office/drawing/2014/main" id="{91730DAF-CBC0-AE92-5E0B-8D192E085068}"/>
              </a:ext>
            </a:extLst>
          </p:cNvPr>
          <p:cNvSpPr/>
          <p:nvPr/>
        </p:nvSpPr>
        <p:spPr>
          <a:xfrm>
            <a:off x="896112" y="2888552"/>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7" name="Text 4">
            <a:extLst>
              <a:ext uri="{FF2B5EF4-FFF2-40B4-BE49-F238E27FC236}">
                <a16:creationId xmlns:a16="http://schemas.microsoft.com/office/drawing/2014/main" id="{4D1AA32E-ACDE-53A7-EEB0-37EF1D834F7A}"/>
              </a:ext>
            </a:extLst>
          </p:cNvPr>
          <p:cNvSpPr/>
          <p:nvPr/>
        </p:nvSpPr>
        <p:spPr>
          <a:xfrm>
            <a:off x="1170432" y="2879408"/>
            <a:ext cx="6629400" cy="1032320"/>
          </a:xfrm>
          <a:prstGeom prst="rect">
            <a:avLst/>
          </a:prstGeom>
          <a:noFill/>
          <a:ln/>
        </p:spPr>
        <p:txBody>
          <a:bodyPr wrap="square" lIns="0" tIns="0" rIns="0" bIns="0" rtlCol="0" anchor="ctr">
            <a:normAutofit/>
          </a:bodyPr>
          <a:lstStyle/>
          <a:p>
            <a:r>
              <a:rPr lang="en-US" sz="1700" b="1">
                <a:solidFill>
                  <a:srgbClr val="FFFFFF"/>
                </a:solidFill>
                <a:latin typeface="Gill Sans MT"/>
                <a:ea typeface="Gill Sans MT" pitchFamily="34" charset="-122"/>
                <a:cs typeface="Gill Sans MT" pitchFamily="34" charset="-120"/>
              </a:rPr>
              <a:t>Act with urgency — </a:t>
            </a:r>
            <a:r>
              <a:rPr lang="en-US" sz="1700" b="1" err="1">
                <a:solidFill>
                  <a:srgbClr val="FFFFFF"/>
                </a:solidFill>
                <a:latin typeface="Gill Sans MT"/>
                <a:ea typeface="Gill Sans MT" pitchFamily="34" charset="-122"/>
                <a:cs typeface="Gill Sans MT" pitchFamily="34" charset="-120"/>
              </a:rPr>
              <a:t>Sterk</a:t>
            </a:r>
            <a:r>
              <a:rPr lang="en-US" sz="1700" err="1">
                <a:solidFill>
                  <a:srgbClr val="FFFFFF"/>
                </a:solidFill>
                <a:latin typeface="Gill Sans MT"/>
                <a:ea typeface="Gill Sans MT" pitchFamily="34" charset="-122"/>
                <a:cs typeface="Gill Sans MT" pitchFamily="34" charset="-120"/>
              </a:rPr>
              <a:t>:</a:t>
            </a:r>
            <a:r>
              <a:rPr lang="en-US" sz="1700">
                <a:solidFill>
                  <a:srgbClr val="FFFFFF"/>
                </a:solidFill>
                <a:latin typeface="Gill Sans MT"/>
                <a:ea typeface="Gill Sans MT" pitchFamily="34" charset="-122"/>
                <a:cs typeface="Gill Sans MT" pitchFamily="34" charset="-120"/>
              </a:rPr>
              <a:t> Er was direct </a:t>
            </a:r>
            <a:r>
              <a:rPr lang="en-US" sz="1700" err="1">
                <a:solidFill>
                  <a:srgbClr val="FFFFFF"/>
                </a:solidFill>
                <a:latin typeface="Gill Sans MT"/>
                <a:ea typeface="Gill Sans MT" pitchFamily="34" charset="-122"/>
                <a:cs typeface="Gill Sans MT" pitchFamily="34" charset="-120"/>
              </a:rPr>
              <a:t>een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terugroepac</a:t>
            </a:r>
            <a:r>
              <a:rPr lang="en-US" sz="1700" err="1">
                <a:solidFill>
                  <a:srgbClr val="FFFFFF"/>
                </a:solidFill>
                <a:latin typeface="Gill Sans MT"/>
              </a:rPr>
              <a:t>tie</a:t>
            </a:r>
            <a:r>
              <a:rPr lang="en-US" sz="1700">
                <a:solidFill>
                  <a:srgbClr val="FFFFFF"/>
                </a:solidFill>
                <a:latin typeface="Gill Sans MT"/>
              </a:rPr>
              <a:t> van 31 </a:t>
            </a:r>
            <a:r>
              <a:rPr lang="en-US" sz="1700" err="1">
                <a:solidFill>
                  <a:srgbClr val="FFFFFF"/>
                </a:solidFill>
                <a:latin typeface="Gill Sans MT"/>
              </a:rPr>
              <a:t>miljoen</a:t>
            </a:r>
            <a:r>
              <a:rPr lang="en-US" sz="1700">
                <a:solidFill>
                  <a:srgbClr val="FFFFFF"/>
                </a:solidFill>
                <a:latin typeface="Gill Sans MT"/>
              </a:rPr>
              <a:t> </a:t>
            </a:r>
            <a:r>
              <a:rPr lang="en-US" sz="1700" err="1">
                <a:solidFill>
                  <a:srgbClr val="FFFFFF"/>
                </a:solidFill>
                <a:latin typeface="Gill Sans MT"/>
              </a:rPr>
              <a:t>flessen</a:t>
            </a:r>
            <a:r>
              <a:rPr lang="en-US" sz="1700">
                <a:solidFill>
                  <a:srgbClr val="FFFFFF"/>
                </a:solidFill>
                <a:latin typeface="Gill Sans MT"/>
              </a:rPr>
              <a:t> (</a:t>
            </a:r>
            <a:r>
              <a:rPr lang="en-US" sz="1700" err="1">
                <a:solidFill>
                  <a:srgbClr val="FFFFFF"/>
                </a:solidFill>
                <a:latin typeface="Gill Sans MT"/>
              </a:rPr>
              <a:t>waarde</a:t>
            </a:r>
            <a:r>
              <a:rPr lang="en-US" sz="1700">
                <a:solidFill>
                  <a:srgbClr val="FFFFFF"/>
                </a:solidFill>
                <a:latin typeface="Gill Sans MT"/>
              </a:rPr>
              <a:t> van $100 </a:t>
            </a:r>
            <a:r>
              <a:rPr lang="en-US" sz="1700" err="1">
                <a:solidFill>
                  <a:srgbClr val="FFFFFF"/>
                </a:solidFill>
                <a:latin typeface="Gill Sans MT"/>
              </a:rPr>
              <a:t>miljoen</a:t>
            </a:r>
            <a:r>
              <a:rPr lang="en-US" sz="1700">
                <a:solidFill>
                  <a:srgbClr val="FFFFFF"/>
                </a:solidFill>
                <a:latin typeface="Gill Sans MT"/>
              </a:rPr>
              <a:t>)</a:t>
            </a:r>
            <a:endParaRPr lang="en-US" sz="1700">
              <a:latin typeface="Gill Sans MT"/>
            </a:endParaRPr>
          </a:p>
        </p:txBody>
      </p:sp>
      <p:sp>
        <p:nvSpPr>
          <p:cNvPr id="8" name="Text 5">
            <a:extLst>
              <a:ext uri="{FF2B5EF4-FFF2-40B4-BE49-F238E27FC236}">
                <a16:creationId xmlns:a16="http://schemas.microsoft.com/office/drawing/2014/main" id="{0094D8BD-6101-0718-6A75-75AE518AD37A}"/>
              </a:ext>
            </a:extLst>
          </p:cNvPr>
          <p:cNvSpPr/>
          <p:nvPr/>
        </p:nvSpPr>
        <p:spPr>
          <a:xfrm>
            <a:off x="896112" y="4067175"/>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9" name="Text 6">
            <a:extLst>
              <a:ext uri="{FF2B5EF4-FFF2-40B4-BE49-F238E27FC236}">
                <a16:creationId xmlns:a16="http://schemas.microsoft.com/office/drawing/2014/main" id="{CEB50AFC-6E90-B04C-7B21-8B35417AEE0D}"/>
              </a:ext>
            </a:extLst>
          </p:cNvPr>
          <p:cNvSpPr/>
          <p:nvPr/>
        </p:nvSpPr>
        <p:spPr>
          <a:xfrm>
            <a:off x="1170432" y="4058031"/>
            <a:ext cx="6629400" cy="1032320"/>
          </a:xfrm>
          <a:prstGeom prst="rect">
            <a:avLst/>
          </a:prstGeom>
          <a:noFill/>
          <a:ln/>
        </p:spPr>
        <p:txBody>
          <a:bodyPr wrap="square" lIns="0" tIns="0" rIns="0" bIns="0" rtlCol="0" anchor="ctr">
            <a:normAutofit/>
          </a:bodyPr>
          <a:lstStyle/>
          <a:p>
            <a:r>
              <a:rPr lang="en-US" sz="1700" b="1">
                <a:solidFill>
                  <a:srgbClr val="FFFFFF"/>
                </a:solidFill>
                <a:latin typeface="Gill Sans MT"/>
                <a:ea typeface="Gill Sans MT" pitchFamily="34" charset="-122"/>
                <a:cs typeface="Gill Sans MT" pitchFamily="34" charset="-120"/>
              </a:rPr>
              <a:t>Follow your values — </a:t>
            </a:r>
            <a:r>
              <a:rPr lang="en-US" sz="1700" b="1" err="1">
                <a:solidFill>
                  <a:srgbClr val="FFFFFF"/>
                </a:solidFill>
                <a:latin typeface="Gill Sans MT"/>
                <a:ea typeface="Gill Sans MT" pitchFamily="34" charset="-122"/>
                <a:cs typeface="Gill Sans MT" pitchFamily="34" charset="-120"/>
              </a:rPr>
              <a:t>Goed</a:t>
            </a:r>
            <a:r>
              <a:rPr lang="en-US" sz="1700">
                <a:solidFill>
                  <a:srgbClr val="FFFFFF"/>
                </a:solidFill>
                <a:latin typeface="Gill Sans MT"/>
                <a:ea typeface="Gill Sans MT" pitchFamily="34" charset="-122"/>
                <a:cs typeface="Gill Sans MT" pitchFamily="34" charset="-120"/>
              </a:rPr>
              <a:t>: De </a:t>
            </a:r>
            <a:r>
              <a:rPr lang="en-US" sz="1700" err="1">
                <a:solidFill>
                  <a:srgbClr val="FFFFFF"/>
                </a:solidFill>
                <a:latin typeface="Gill Sans MT"/>
                <a:ea typeface="Gill Sans MT" pitchFamily="34" charset="-122"/>
                <a:cs typeface="Gill Sans MT" pitchFamily="34" charset="-120"/>
              </a:rPr>
              <a:t>veiligheid</a:t>
            </a:r>
            <a:r>
              <a:rPr lang="en-US" sz="1700">
                <a:solidFill>
                  <a:srgbClr val="FFFFFF"/>
                </a:solidFill>
                <a:latin typeface="Gill Sans MT"/>
                <a:ea typeface="Gill Sans MT" pitchFamily="34" charset="-122"/>
                <a:cs typeface="Gill Sans MT" pitchFamily="34" charset="-120"/>
              </a:rPr>
              <a:t> van de </a:t>
            </a:r>
            <a:r>
              <a:rPr lang="en-US" sz="1700" err="1">
                <a:solidFill>
                  <a:srgbClr val="FFFFFF"/>
                </a:solidFill>
                <a:latin typeface="Gill Sans MT"/>
                <a:ea typeface="Gill Sans MT" pitchFamily="34" charset="-122"/>
                <a:cs typeface="Gill Sans MT" pitchFamily="34" charset="-120"/>
              </a:rPr>
              <a:t>consument</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klant</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werd</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gelijk</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boven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financieel</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verlies</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reputatie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geplaatst</a:t>
            </a:r>
            <a:endParaRPr lang="en-US" sz="1700" err="1">
              <a:latin typeface="Gill Sans MT"/>
            </a:endParaRPr>
          </a:p>
        </p:txBody>
      </p:sp>
      <p:sp>
        <p:nvSpPr>
          <p:cNvPr id="10" name="Text 7">
            <a:extLst>
              <a:ext uri="{FF2B5EF4-FFF2-40B4-BE49-F238E27FC236}">
                <a16:creationId xmlns:a16="http://schemas.microsoft.com/office/drawing/2014/main" id="{7275C921-9012-A177-1B4B-8DFC9EA4681E}"/>
              </a:ext>
            </a:extLst>
          </p:cNvPr>
          <p:cNvSpPr/>
          <p:nvPr/>
        </p:nvSpPr>
        <p:spPr>
          <a:xfrm>
            <a:off x="896112" y="5245799"/>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11" name="Text 8">
            <a:extLst>
              <a:ext uri="{FF2B5EF4-FFF2-40B4-BE49-F238E27FC236}">
                <a16:creationId xmlns:a16="http://schemas.microsoft.com/office/drawing/2014/main" id="{5FC0CF42-1290-5677-1F76-0A82C7776968}"/>
              </a:ext>
            </a:extLst>
          </p:cNvPr>
          <p:cNvSpPr/>
          <p:nvPr/>
        </p:nvSpPr>
        <p:spPr>
          <a:xfrm>
            <a:off x="1170432" y="5236655"/>
            <a:ext cx="6629400" cy="1032320"/>
          </a:xfrm>
          <a:prstGeom prst="rect">
            <a:avLst/>
          </a:prstGeom>
          <a:noFill/>
          <a:ln/>
        </p:spPr>
        <p:txBody>
          <a:bodyPr wrap="square" lIns="0" tIns="0" rIns="0" bIns="0" rtlCol="0" anchor="ctr">
            <a:normAutofit/>
          </a:bodyPr>
          <a:lstStyle/>
          <a:p>
            <a:r>
              <a:rPr lang="en-US" sz="1700" b="1">
                <a:solidFill>
                  <a:srgbClr val="FFFFFF"/>
                </a:solidFill>
                <a:latin typeface="Gill Sans MT"/>
                <a:ea typeface="Gill Sans MT" pitchFamily="34" charset="-122"/>
                <a:cs typeface="Gill Sans MT" pitchFamily="34" charset="-120"/>
              </a:rPr>
              <a:t>Sharing power — </a:t>
            </a:r>
            <a:r>
              <a:rPr lang="en-US" sz="1700" b="1" err="1">
                <a:solidFill>
                  <a:srgbClr val="FFFFFF"/>
                </a:solidFill>
                <a:latin typeface="Gill Sans MT"/>
                <a:ea typeface="Gill Sans MT" pitchFamily="34" charset="-122"/>
                <a:cs typeface="Gill Sans MT" pitchFamily="34" charset="-120"/>
              </a:rPr>
              <a:t>Goed</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zichtbaar</a:t>
            </a:r>
            <a:r>
              <a:rPr lang="en-US" sz="1700" b="1">
                <a:solidFill>
                  <a:srgbClr val="FFFFFF"/>
                </a:solidFill>
                <a:latin typeface="Gill Sans MT"/>
                <a:ea typeface="Gill Sans MT" pitchFamily="34" charset="-122"/>
                <a:cs typeface="Gill Sans MT" pitchFamily="34" charset="-120"/>
              </a:rPr>
              <a:t>:</a:t>
            </a:r>
            <a:r>
              <a:rPr lang="en-US" sz="1700">
                <a:solidFill>
                  <a:srgbClr val="FFFFFF"/>
                </a:solidFill>
                <a:latin typeface="Gill Sans MT"/>
                <a:ea typeface="Gill Sans MT" pitchFamily="34" charset="-122"/>
                <a:cs typeface="Gill Sans MT" pitchFamily="34" charset="-120"/>
              </a:rPr>
              <a:t> Ze </a:t>
            </a:r>
            <a:r>
              <a:rPr lang="en-US" sz="1700" err="1">
                <a:solidFill>
                  <a:srgbClr val="FFFFFF"/>
                </a:solidFill>
                <a:latin typeface="Gill Sans MT"/>
                <a:ea typeface="Gill Sans MT" pitchFamily="34" charset="-122"/>
                <a:cs typeface="Gill Sans MT" pitchFamily="34" charset="-120"/>
              </a:rPr>
              <a:t>werkten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intensief</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samen</a:t>
            </a:r>
            <a:r>
              <a:rPr lang="en-US" sz="1700">
                <a:solidFill>
                  <a:srgbClr val="FFFFFF"/>
                </a:solidFill>
                <a:latin typeface="Gill Sans MT"/>
                <a:ea typeface="Gill Sans MT" pitchFamily="34" charset="-122"/>
                <a:cs typeface="Gill Sans MT" pitchFamily="34" charset="-120"/>
              </a:rPr>
              <a:t> met </a:t>
            </a:r>
            <a:r>
              <a:rPr lang="en-US" sz="1700" err="1">
                <a:solidFill>
                  <a:srgbClr val="FFFFFF"/>
                </a:solidFill>
                <a:latin typeface="Gill Sans MT"/>
                <a:ea typeface="Gill Sans MT" pitchFamily="34" charset="-122"/>
                <a:cs typeface="Gill Sans MT" pitchFamily="34" charset="-120"/>
              </a:rPr>
              <a:t>politie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overheid</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en</a:t>
            </a:r>
            <a:r>
              <a:rPr lang="en-US" sz="1700">
                <a:solidFill>
                  <a:srgbClr val="FFFFFF"/>
                </a:solidFill>
                <a:latin typeface="Gill Sans MT"/>
                <a:ea typeface="Gill Sans MT" pitchFamily="34" charset="-122"/>
                <a:cs typeface="Gill Sans MT" pitchFamily="34" charset="-120"/>
              </a:rPr>
              <a:t> de media om </a:t>
            </a:r>
            <a:r>
              <a:rPr lang="en-US" sz="1700" err="1">
                <a:solidFill>
                  <a:srgbClr val="FFFFFF"/>
                </a:solidFill>
                <a:latin typeface="Gill Sans MT"/>
                <a:ea typeface="Gill Sans MT" pitchFamily="34" charset="-122"/>
                <a:cs typeface="Gill Sans MT" pitchFamily="34" charset="-120"/>
              </a:rPr>
              <a:t>zoveel</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mogelijk</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mensen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te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kunnen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beschermen</a:t>
            </a:r>
            <a:endParaRPr lang="en-US" sz="1700" err="1">
              <a:latin typeface="Gill Sans MT"/>
            </a:endParaRPr>
          </a:p>
        </p:txBody>
      </p:sp>
      <p:pic>
        <p:nvPicPr>
          <p:cNvPr id="13" name="Picture 12" descr="A person in a suit&#10;&#10;AI-generated content may be incorrect.">
            <a:extLst>
              <a:ext uri="{FF2B5EF4-FFF2-40B4-BE49-F238E27FC236}">
                <a16:creationId xmlns:a16="http://schemas.microsoft.com/office/drawing/2014/main" id="{5B21C86B-394C-220A-6147-69B734DC506F}"/>
              </a:ext>
            </a:extLst>
          </p:cNvPr>
          <p:cNvPicPr>
            <a:picLocks noChangeAspect="1"/>
          </p:cNvPicPr>
          <p:nvPr/>
        </p:nvPicPr>
        <p:blipFill>
          <a:blip r:embed="rId4"/>
          <a:stretch>
            <a:fillRect/>
          </a:stretch>
        </p:blipFill>
        <p:spPr>
          <a:xfrm>
            <a:off x="7798836" y="2589245"/>
            <a:ext cx="4268756" cy="2402633"/>
          </a:xfrm>
          <a:prstGeom prst="rect">
            <a:avLst/>
          </a:prstGeom>
        </p:spPr>
      </p:pic>
    </p:spTree>
    <p:extLst>
      <p:ext uri="{BB962C8B-B14F-4D97-AF65-F5344CB8AC3E}">
        <p14:creationId xmlns:p14="http://schemas.microsoft.com/office/powerpoint/2010/main" val="166798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1325"/>
        </a:solidFill>
        <a:effectLst/>
      </p:bgPr>
    </p:bg>
    <p:spTree>
      <p:nvGrpSpPr>
        <p:cNvPr id="1" name="">
          <a:extLst>
            <a:ext uri="{FF2B5EF4-FFF2-40B4-BE49-F238E27FC236}">
              <a16:creationId xmlns:a16="http://schemas.microsoft.com/office/drawing/2014/main" id="{1E220004-035A-958A-68D7-070777141456}"/>
            </a:ext>
          </a:extLst>
        </p:cNvPr>
        <p:cNvGrpSpPr/>
        <p:nvPr/>
      </p:nvGrpSpPr>
      <p:grpSpPr>
        <a:xfrm>
          <a:off x="0" y="0"/>
          <a:ext cx="0" cy="0"/>
          <a:chOff x="0" y="0"/>
          <a:chExt cx="0" cy="0"/>
        </a:xfrm>
      </p:grpSpPr>
      <p:pic>
        <p:nvPicPr>
          <p:cNvPr id="2" name="Image 0" descr="/mnt/data/ws32_ppt/assets/image3.png">
            <a:extLst>
              <a:ext uri="{FF2B5EF4-FFF2-40B4-BE49-F238E27FC236}">
                <a16:creationId xmlns:a16="http://schemas.microsoft.com/office/drawing/2014/main" id="{32220084-CD80-0591-327C-B71CF8B73B78}"/>
              </a:ext>
            </a:extLst>
          </p:cNvPr>
          <p:cNvPicPr>
            <a:picLocks noChangeAspect="1"/>
          </p:cNvPicPr>
          <p:nvPr/>
        </p:nvPicPr>
        <p:blipFill>
          <a:blip r:embed="rId3"/>
          <a:stretch>
            <a:fillRect/>
          </a:stretch>
        </p:blipFill>
        <p:spPr>
          <a:xfrm>
            <a:off x="10817352" y="109728"/>
            <a:ext cx="822960" cy="822960"/>
          </a:xfrm>
          <a:prstGeom prst="rect">
            <a:avLst/>
          </a:prstGeom>
        </p:spPr>
      </p:pic>
      <p:sp>
        <p:nvSpPr>
          <p:cNvPr id="3" name="Text 0">
            <a:extLst>
              <a:ext uri="{FF2B5EF4-FFF2-40B4-BE49-F238E27FC236}">
                <a16:creationId xmlns:a16="http://schemas.microsoft.com/office/drawing/2014/main" id="{1F3DD3FB-2EAC-E218-BB96-E522B17F4AF1}"/>
              </a:ext>
            </a:extLst>
          </p:cNvPr>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SITUATIONEEL LEIDERSCHAP</a:t>
            </a:r>
            <a:endParaRPr lang="en-US" sz="3100"/>
          </a:p>
        </p:txBody>
      </p:sp>
      <p:sp>
        <p:nvSpPr>
          <p:cNvPr id="6" name="Text 3">
            <a:extLst>
              <a:ext uri="{FF2B5EF4-FFF2-40B4-BE49-F238E27FC236}">
                <a16:creationId xmlns:a16="http://schemas.microsoft.com/office/drawing/2014/main" id="{D43E093E-4D95-1A35-A1F2-73E975891606}"/>
              </a:ext>
            </a:extLst>
          </p:cNvPr>
          <p:cNvSpPr/>
          <p:nvPr/>
        </p:nvSpPr>
        <p:spPr>
          <a:xfrm>
            <a:off x="871293" y="3160395"/>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7" name="Text 4">
            <a:extLst>
              <a:ext uri="{FF2B5EF4-FFF2-40B4-BE49-F238E27FC236}">
                <a16:creationId xmlns:a16="http://schemas.microsoft.com/office/drawing/2014/main" id="{803A9981-E153-5166-365F-978E5D50A543}"/>
              </a:ext>
            </a:extLst>
          </p:cNvPr>
          <p:cNvSpPr/>
          <p:nvPr/>
        </p:nvSpPr>
        <p:spPr>
          <a:xfrm>
            <a:off x="1170432" y="2902458"/>
            <a:ext cx="6263640" cy="1027938"/>
          </a:xfrm>
          <a:prstGeom prst="rect">
            <a:avLst/>
          </a:prstGeom>
          <a:noFill/>
          <a:ln/>
        </p:spPr>
        <p:txBody>
          <a:bodyPr wrap="square" lIns="0" tIns="0" rIns="0" bIns="0" rtlCol="0" anchor="ctr">
            <a:normAutofit/>
          </a:bodyPr>
          <a:lstStyle/>
          <a:p>
            <a:r>
              <a:rPr lang="en-US" sz="1700" b="1" err="1">
                <a:solidFill>
                  <a:srgbClr val="FFFFFF"/>
                </a:solidFill>
                <a:latin typeface="Gill Sans MT"/>
                <a:ea typeface="Gill Sans MT" pitchFamily="34" charset="-122"/>
                <a:cs typeface="Gill Sans MT" pitchFamily="34" charset="-120"/>
              </a:rPr>
              <a:t>Instrueren</a:t>
            </a:r>
            <a:r>
              <a:rPr lang="en-US" sz="1700" b="1">
                <a:solidFill>
                  <a:srgbClr val="FFFFFF"/>
                </a:solidFill>
                <a:latin typeface="Gill Sans MT"/>
                <a:ea typeface="Gill Sans MT" pitchFamily="34" charset="-122"/>
                <a:cs typeface="Gill Sans MT" pitchFamily="34" charset="-120"/>
              </a:rPr>
              <a:t> — </a:t>
            </a:r>
            <a:r>
              <a:rPr lang="en-US" sz="1700" err="1">
                <a:solidFill>
                  <a:srgbClr val="FFFFFF"/>
                </a:solidFill>
                <a:latin typeface="Gill Sans MT"/>
                <a:ea typeface="Gill Sans MT" pitchFamily="34" charset="-122"/>
                <a:cs typeface="Gill Sans MT" pitchFamily="34" charset="-120"/>
              </a:rPr>
              <a:t>Snelle</a:t>
            </a:r>
            <a:r>
              <a:rPr lang="en-US" sz="1700">
                <a:solidFill>
                  <a:srgbClr val="FFFFFF"/>
                </a:solidFill>
                <a:latin typeface="Gill Sans MT"/>
                <a:ea typeface="Gill Sans MT" pitchFamily="34" charset="-122"/>
                <a:cs typeface="Gill Sans MT" pitchFamily="34" charset="-120"/>
              </a:rPr>
              <a:t>, top-down </a:t>
            </a:r>
            <a:r>
              <a:rPr lang="en-US" sz="1700" err="1">
                <a:solidFill>
                  <a:srgbClr val="FFFFFF"/>
                </a:solidFill>
                <a:latin typeface="Gill Sans MT"/>
                <a:ea typeface="Gill Sans MT" pitchFamily="34" charset="-122"/>
                <a:cs typeface="Gill Sans MT" pitchFamily="34" charset="-120"/>
              </a:rPr>
              <a:t>besluitvorming</a:t>
            </a:r>
            <a:r>
              <a:rPr lang="en-US" sz="1700">
                <a:solidFill>
                  <a:srgbClr val="FFFFFF"/>
                </a:solidFill>
                <a:latin typeface="Gill Sans MT"/>
                <a:ea typeface="Gill Sans MT" pitchFamily="34" charset="-122"/>
                <a:cs typeface="Gill Sans MT" pitchFamily="34" charset="-120"/>
              </a:rPr>
              <a:t> om direct in </a:t>
            </a:r>
            <a:r>
              <a:rPr lang="en-US" sz="1700" err="1">
                <a:solidFill>
                  <a:srgbClr val="FFFFFF"/>
                </a:solidFill>
                <a:latin typeface="Gill Sans MT"/>
                <a:ea typeface="Gill Sans MT" pitchFamily="34" charset="-122"/>
                <a:cs typeface="Gill Sans MT" pitchFamily="34" charset="-120"/>
              </a:rPr>
              <a:t>te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grijpen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terugroepactie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productie</a:t>
            </a:r>
            <a:r>
              <a:rPr lang="en-US" sz="1700">
                <a:solidFill>
                  <a:srgbClr val="FFFFFF"/>
                </a:solidFill>
                <a:latin typeface="Gill Sans MT"/>
                <a:ea typeface="Gill Sans MT" pitchFamily="34" charset="-122"/>
                <a:cs typeface="Gill Sans MT" pitchFamily="34" charset="-120"/>
              </a:rPr>
              <a:t> stop </a:t>
            </a:r>
            <a:r>
              <a:rPr lang="en-US" sz="1700" err="1">
                <a:solidFill>
                  <a:srgbClr val="FFFFFF"/>
                </a:solidFill>
                <a:latin typeface="Gill Sans MT"/>
                <a:ea typeface="Gill Sans MT" pitchFamily="34" charset="-122"/>
                <a:cs typeface="Gill Sans MT" pitchFamily="34" charset="-120"/>
              </a:rPr>
              <a:t>zetten</a:t>
            </a:r>
            <a:r>
              <a:rPr lang="en-US" sz="1700">
                <a:solidFill>
                  <a:srgbClr val="FFFFFF"/>
                </a:solidFill>
                <a:latin typeface="Gill Sans MT"/>
                <a:ea typeface="Gill Sans MT" pitchFamily="34" charset="-122"/>
                <a:cs typeface="Gill Sans MT" pitchFamily="34" charset="-120"/>
              </a:rPr>
              <a:t>)</a:t>
            </a:r>
            <a:endParaRPr lang="en-US" sz="1700">
              <a:solidFill>
                <a:srgbClr val="FFFFFF"/>
              </a:solidFill>
            </a:endParaRPr>
          </a:p>
        </p:txBody>
      </p:sp>
      <p:sp>
        <p:nvSpPr>
          <p:cNvPr id="10" name="Text 7">
            <a:extLst>
              <a:ext uri="{FF2B5EF4-FFF2-40B4-BE49-F238E27FC236}">
                <a16:creationId xmlns:a16="http://schemas.microsoft.com/office/drawing/2014/main" id="{780E74AB-3A14-6713-C99C-DF67FB180C11}"/>
              </a:ext>
            </a:extLst>
          </p:cNvPr>
          <p:cNvSpPr/>
          <p:nvPr/>
        </p:nvSpPr>
        <p:spPr>
          <a:xfrm>
            <a:off x="883113" y="4029783"/>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11" name="Text 8">
            <a:extLst>
              <a:ext uri="{FF2B5EF4-FFF2-40B4-BE49-F238E27FC236}">
                <a16:creationId xmlns:a16="http://schemas.microsoft.com/office/drawing/2014/main" id="{7DACDB2B-6931-24B1-82C1-E1372EE822A3}"/>
              </a:ext>
            </a:extLst>
          </p:cNvPr>
          <p:cNvSpPr/>
          <p:nvPr/>
        </p:nvSpPr>
        <p:spPr>
          <a:xfrm>
            <a:off x="1162656" y="3799659"/>
            <a:ext cx="6263640" cy="1027938"/>
          </a:xfrm>
          <a:prstGeom prst="rect">
            <a:avLst/>
          </a:prstGeom>
          <a:noFill/>
          <a:ln/>
        </p:spPr>
        <p:txBody>
          <a:bodyPr wrap="square" lIns="0" tIns="0" rIns="0" bIns="0" rtlCol="0" anchor="ctr">
            <a:normAutofit/>
          </a:bodyPr>
          <a:lstStyle/>
          <a:p>
            <a:r>
              <a:rPr lang="en-US" sz="1700" b="1" err="1">
                <a:solidFill>
                  <a:srgbClr val="FFFFFF"/>
                </a:solidFill>
                <a:latin typeface="Gill Sans MT"/>
                <a:ea typeface="Gill Sans MT" pitchFamily="34" charset="-122"/>
                <a:cs typeface="Gill Sans MT" pitchFamily="34" charset="-120"/>
              </a:rPr>
              <a:t>Delegeren</a:t>
            </a:r>
            <a:r>
              <a:rPr lang="en-US" sz="1700" b="1">
                <a:solidFill>
                  <a:srgbClr val="FFFFFF"/>
                </a:solidFill>
                <a:latin typeface="Gill Sans MT"/>
                <a:ea typeface="Gill Sans MT" pitchFamily="34" charset="-122"/>
                <a:cs typeface="Gill Sans MT" pitchFamily="34" charset="-120"/>
              </a:rPr>
              <a:t> — </a:t>
            </a:r>
            <a:r>
              <a:rPr lang="en-US" sz="1700">
                <a:solidFill>
                  <a:srgbClr val="FFFFFF"/>
                </a:solidFill>
                <a:latin typeface="Gill Sans MT"/>
                <a:ea typeface="Gill Sans MT" pitchFamily="34" charset="-122"/>
                <a:cs typeface="Gill Sans MT" pitchFamily="34" charset="-120"/>
              </a:rPr>
              <a:t>Na </a:t>
            </a:r>
            <a:r>
              <a:rPr lang="en-US" sz="1700" err="1">
                <a:solidFill>
                  <a:srgbClr val="FFFFFF"/>
                </a:solidFill>
                <a:latin typeface="Gill Sans MT"/>
                <a:ea typeface="Gill Sans MT" pitchFamily="34" charset="-122"/>
                <a:cs typeface="Gill Sans MT" pitchFamily="34" charset="-120"/>
              </a:rPr>
              <a:t>deze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eerste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besluiten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werd</a:t>
            </a:r>
            <a:r>
              <a:rPr lang="en-US" sz="1700">
                <a:solidFill>
                  <a:srgbClr val="FFFFFF"/>
                </a:solidFill>
                <a:latin typeface="Gill Sans MT"/>
                <a:ea typeface="Gill Sans MT" pitchFamily="34" charset="-122"/>
                <a:cs typeface="Gill Sans MT" pitchFamily="34" charset="-120"/>
              </a:rPr>
              <a:t> de </a:t>
            </a:r>
            <a:r>
              <a:rPr lang="en-US" sz="1700" err="1">
                <a:solidFill>
                  <a:srgbClr val="FFFFFF"/>
                </a:solidFill>
                <a:latin typeface="Gill Sans MT"/>
                <a:ea typeface="Gill Sans MT" pitchFamily="34" charset="-122"/>
                <a:cs typeface="Gill Sans MT" pitchFamily="34" charset="-120"/>
              </a:rPr>
              <a:t>verantwoordelijkheid</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gedeeld</a:t>
            </a:r>
            <a:r>
              <a:rPr lang="en-US" sz="1700">
                <a:solidFill>
                  <a:srgbClr val="FFFFFF"/>
                </a:solidFill>
                <a:latin typeface="Gill Sans MT"/>
                <a:ea typeface="Gill Sans MT" pitchFamily="34" charset="-122"/>
                <a:cs typeface="Gill Sans MT" pitchFamily="34" charset="-120"/>
              </a:rPr>
              <a:t> met externe </a:t>
            </a:r>
            <a:r>
              <a:rPr lang="en-US" sz="1700" err="1">
                <a:solidFill>
                  <a:srgbClr val="FFFFFF"/>
                </a:solidFill>
                <a:latin typeface="Gill Sans MT"/>
                <a:ea typeface="Gill Sans MT" pitchFamily="34" charset="-122"/>
                <a:cs typeface="Gill Sans MT" pitchFamily="34" charset="-120"/>
              </a:rPr>
              <a:t>partijen</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en</a:t>
            </a:r>
            <a:r>
              <a:rPr lang="en-US" sz="1700">
                <a:solidFill>
                  <a:srgbClr val="FFFFFF"/>
                </a:solidFill>
                <a:latin typeface="Gill Sans MT"/>
                <a:ea typeface="Gill Sans MT" pitchFamily="34" charset="-122"/>
                <a:cs typeface="Gill Sans MT" pitchFamily="34" charset="-120"/>
              </a:rPr>
              <a:t> experts </a:t>
            </a:r>
            <a:r>
              <a:rPr lang="en-US" sz="1700" err="1">
                <a:solidFill>
                  <a:srgbClr val="FFFFFF"/>
                </a:solidFill>
                <a:latin typeface="Gill Sans MT"/>
                <a:ea typeface="Gill Sans MT" pitchFamily="34" charset="-122"/>
                <a:cs typeface="Gill Sans MT" pitchFamily="34" charset="-120"/>
              </a:rPr>
              <a:t>voor</a:t>
            </a:r>
            <a:r>
              <a:rPr lang="en-US" sz="1700">
                <a:solidFill>
                  <a:srgbClr val="FFFFFF"/>
                </a:solidFill>
                <a:latin typeface="Gill Sans MT"/>
                <a:ea typeface="Gill Sans MT" pitchFamily="34" charset="-122"/>
                <a:cs typeface="Gill Sans MT" pitchFamily="34" charset="-120"/>
              </a:rPr>
              <a:t> het </a:t>
            </a:r>
            <a:r>
              <a:rPr lang="en-US" sz="1700" err="1">
                <a:solidFill>
                  <a:srgbClr val="FFFFFF"/>
                </a:solidFill>
                <a:latin typeface="Gill Sans MT"/>
                <a:ea typeface="Gill Sans MT" pitchFamily="34" charset="-122"/>
                <a:cs typeface="Gill Sans MT" pitchFamily="34" charset="-120"/>
              </a:rPr>
              <a:t>ontwikkelen</a:t>
            </a:r>
            <a:r>
              <a:rPr lang="en-US" sz="1700">
                <a:solidFill>
                  <a:srgbClr val="FFFFFF"/>
                </a:solidFill>
                <a:latin typeface="Gill Sans MT"/>
                <a:ea typeface="Gill Sans MT" pitchFamily="34" charset="-122"/>
                <a:cs typeface="Gill Sans MT" pitchFamily="34" charset="-120"/>
              </a:rPr>
              <a:t> van </a:t>
            </a:r>
            <a:r>
              <a:rPr lang="en-US" sz="1700" err="1">
                <a:solidFill>
                  <a:srgbClr val="FFFFFF"/>
                </a:solidFill>
                <a:latin typeface="Gill Sans MT"/>
                <a:ea typeface="Gill Sans MT" pitchFamily="34" charset="-122"/>
                <a:cs typeface="Gill Sans MT" pitchFamily="34" charset="-120"/>
              </a:rPr>
              <a:t>nieuwe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veilige</a:t>
            </a:r>
            <a:r>
              <a:rPr lang="en-US" sz="1700">
                <a:solidFill>
                  <a:srgbClr val="FFFFFF"/>
                </a:solidFill>
                <a:latin typeface="Gill Sans MT"/>
                <a:ea typeface="Gill Sans MT" pitchFamily="34" charset="-122"/>
                <a:cs typeface="Gill Sans MT" pitchFamily="34" charset="-120"/>
              </a:rPr>
              <a:t> </a:t>
            </a:r>
            <a:r>
              <a:rPr lang="en-US" sz="1700" err="1">
                <a:solidFill>
                  <a:srgbClr val="FFFFFF"/>
                </a:solidFill>
                <a:latin typeface="Gill Sans MT"/>
                <a:ea typeface="Gill Sans MT" pitchFamily="34" charset="-122"/>
                <a:cs typeface="Gill Sans MT" pitchFamily="34" charset="-120"/>
              </a:rPr>
              <a:t>verpakkingen</a:t>
            </a:r>
            <a:r>
              <a:rPr lang="en-US" sz="1700">
                <a:solidFill>
                  <a:srgbClr val="FFFFFF"/>
                </a:solidFill>
                <a:latin typeface="Gill Sans MT"/>
                <a:ea typeface="Gill Sans MT" pitchFamily="34" charset="-122"/>
                <a:cs typeface="Gill Sans MT" pitchFamily="34" charset="-120"/>
              </a:rPr>
              <a:t>.</a:t>
            </a:r>
            <a:endParaRPr lang="en-US" sz="1700">
              <a:solidFill>
                <a:srgbClr val="FFFFFF"/>
              </a:solidFill>
            </a:endParaRPr>
          </a:p>
        </p:txBody>
      </p:sp>
    </p:spTree>
    <p:extLst>
      <p:ext uri="{BB962C8B-B14F-4D97-AF65-F5344CB8AC3E}">
        <p14:creationId xmlns:p14="http://schemas.microsoft.com/office/powerpoint/2010/main" val="3161882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1325"/>
        </a:solidFill>
        <a:effectLst/>
      </p:bgPr>
    </p:bg>
    <p:spTree>
      <p:nvGrpSpPr>
        <p:cNvPr id="1" name="">
          <a:extLst>
            <a:ext uri="{FF2B5EF4-FFF2-40B4-BE49-F238E27FC236}">
              <a16:creationId xmlns:a16="http://schemas.microsoft.com/office/drawing/2014/main" id="{349F5E35-ED3C-BEB1-7BCE-7BB12E299A89}"/>
            </a:ext>
          </a:extLst>
        </p:cNvPr>
        <p:cNvGrpSpPr/>
        <p:nvPr/>
      </p:nvGrpSpPr>
      <p:grpSpPr>
        <a:xfrm>
          <a:off x="0" y="0"/>
          <a:ext cx="0" cy="0"/>
          <a:chOff x="0" y="0"/>
          <a:chExt cx="0" cy="0"/>
        </a:xfrm>
      </p:grpSpPr>
      <p:pic>
        <p:nvPicPr>
          <p:cNvPr id="2" name="Image 0" descr="/mnt/data/ws32_ppt/assets/image3.png">
            <a:extLst>
              <a:ext uri="{FF2B5EF4-FFF2-40B4-BE49-F238E27FC236}">
                <a16:creationId xmlns:a16="http://schemas.microsoft.com/office/drawing/2014/main" id="{81873E21-3172-1902-476F-8055E4F51790}"/>
              </a:ext>
            </a:extLst>
          </p:cNvPr>
          <p:cNvPicPr>
            <a:picLocks noChangeAspect="1"/>
          </p:cNvPicPr>
          <p:nvPr/>
        </p:nvPicPr>
        <p:blipFill>
          <a:blip r:embed="rId3"/>
          <a:stretch>
            <a:fillRect/>
          </a:stretch>
        </p:blipFill>
        <p:spPr>
          <a:xfrm>
            <a:off x="10817352" y="109728"/>
            <a:ext cx="822960" cy="822960"/>
          </a:xfrm>
          <a:prstGeom prst="rect">
            <a:avLst/>
          </a:prstGeom>
        </p:spPr>
      </p:pic>
      <p:sp>
        <p:nvSpPr>
          <p:cNvPr id="3" name="Text 0">
            <a:extLst>
              <a:ext uri="{FF2B5EF4-FFF2-40B4-BE49-F238E27FC236}">
                <a16:creationId xmlns:a16="http://schemas.microsoft.com/office/drawing/2014/main" id="{E3A40BBD-2DDB-6854-69E4-D972099FA6FE}"/>
              </a:ext>
            </a:extLst>
          </p:cNvPr>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KEY TAKE-AWAYS &amp; CONCLUSIE</a:t>
            </a:r>
            <a:endParaRPr lang="en-US" sz="3100"/>
          </a:p>
        </p:txBody>
      </p:sp>
      <p:sp>
        <p:nvSpPr>
          <p:cNvPr id="4" name="Text 1">
            <a:extLst>
              <a:ext uri="{FF2B5EF4-FFF2-40B4-BE49-F238E27FC236}">
                <a16:creationId xmlns:a16="http://schemas.microsoft.com/office/drawing/2014/main" id="{77929F73-5BAA-283C-C405-B532B4C71249}"/>
              </a:ext>
            </a:extLst>
          </p:cNvPr>
          <p:cNvSpPr/>
          <p:nvPr/>
        </p:nvSpPr>
        <p:spPr>
          <a:xfrm>
            <a:off x="896112" y="2066544"/>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5" name="Text 2">
            <a:extLst>
              <a:ext uri="{FF2B5EF4-FFF2-40B4-BE49-F238E27FC236}">
                <a16:creationId xmlns:a16="http://schemas.microsoft.com/office/drawing/2014/main" id="{5FFEEDE2-E5AE-013C-4648-34D7FE6D155D}"/>
              </a:ext>
            </a:extLst>
          </p:cNvPr>
          <p:cNvSpPr/>
          <p:nvPr/>
        </p:nvSpPr>
        <p:spPr>
          <a:xfrm>
            <a:off x="1170432" y="1783080"/>
            <a:ext cx="6492240" cy="800100"/>
          </a:xfrm>
          <a:prstGeom prst="rect">
            <a:avLst/>
          </a:prstGeom>
          <a:noFill/>
          <a:ln/>
        </p:spPr>
        <p:txBody>
          <a:bodyPr wrap="square" lIns="0" tIns="0" rIns="0" bIns="0" rtlCol="0" anchor="ctr">
            <a:normAutofit/>
          </a:bodyPr>
          <a:lstStyle/>
          <a:p>
            <a:r>
              <a:rPr lang="en-US" err="1">
                <a:solidFill>
                  <a:srgbClr val="FFFFFF"/>
                </a:solidFill>
                <a:latin typeface="Gill Sans MT"/>
              </a:rPr>
              <a:t>Doortastendheid</a:t>
            </a:r>
            <a:r>
              <a:rPr lang="en-US">
                <a:solidFill>
                  <a:srgbClr val="FFFFFF"/>
                </a:solidFill>
                <a:latin typeface="Gill Sans MT"/>
              </a:rPr>
              <a:t> </a:t>
            </a:r>
            <a:r>
              <a:rPr lang="en-US" err="1">
                <a:solidFill>
                  <a:srgbClr val="FFFFFF"/>
                </a:solidFill>
                <a:latin typeface="Gill Sans MT"/>
              </a:rPr>
              <a:t>loont</a:t>
            </a:r>
            <a:r>
              <a:rPr lang="en-US">
                <a:solidFill>
                  <a:srgbClr val="FFFFFF"/>
                </a:solidFill>
                <a:latin typeface="Gill Sans MT"/>
              </a:rPr>
              <a:t>: Snel </a:t>
            </a:r>
            <a:r>
              <a:rPr lang="en-US" err="1">
                <a:solidFill>
                  <a:srgbClr val="FFFFFF"/>
                </a:solidFill>
                <a:latin typeface="Gill Sans MT"/>
              </a:rPr>
              <a:t>ingrijpen</a:t>
            </a:r>
            <a:r>
              <a:rPr lang="en-US">
                <a:solidFill>
                  <a:srgbClr val="FFFFFF"/>
                </a:solidFill>
                <a:latin typeface="Gill Sans MT"/>
              </a:rPr>
              <a:t> </a:t>
            </a:r>
            <a:r>
              <a:rPr lang="en-US" err="1">
                <a:solidFill>
                  <a:srgbClr val="FFFFFF"/>
                </a:solidFill>
                <a:latin typeface="Gill Sans MT"/>
              </a:rPr>
              <a:t>voorkomt</a:t>
            </a:r>
            <a:r>
              <a:rPr lang="en-US">
                <a:solidFill>
                  <a:srgbClr val="FFFFFF"/>
                </a:solidFill>
                <a:latin typeface="Gill Sans MT"/>
              </a:rPr>
              <a:t> </a:t>
            </a:r>
            <a:r>
              <a:rPr lang="en-US" err="1">
                <a:solidFill>
                  <a:srgbClr val="FFFFFF"/>
                </a:solidFill>
                <a:latin typeface="Gill Sans MT"/>
              </a:rPr>
              <a:t>erger</a:t>
            </a:r>
            <a:r>
              <a:rPr lang="en-US">
                <a:solidFill>
                  <a:srgbClr val="FFFFFF"/>
                </a:solidFill>
                <a:latin typeface="Gill Sans MT"/>
              </a:rPr>
              <a:t> </a:t>
            </a:r>
            <a:r>
              <a:rPr lang="en-US" err="1">
                <a:solidFill>
                  <a:srgbClr val="FFFFFF"/>
                </a:solidFill>
                <a:latin typeface="Gill Sans MT"/>
              </a:rPr>
              <a:t>en</a:t>
            </a:r>
            <a:r>
              <a:rPr lang="en-US">
                <a:solidFill>
                  <a:srgbClr val="FFFFFF"/>
                </a:solidFill>
                <a:latin typeface="Gill Sans MT"/>
              </a:rPr>
              <a:t> </a:t>
            </a:r>
            <a:r>
              <a:rPr lang="en-US" err="1">
                <a:solidFill>
                  <a:srgbClr val="FFFFFF"/>
                </a:solidFill>
                <a:latin typeface="Gill Sans MT"/>
              </a:rPr>
              <a:t>laat</a:t>
            </a:r>
            <a:r>
              <a:rPr lang="en-US">
                <a:solidFill>
                  <a:srgbClr val="FFFFFF"/>
                </a:solidFill>
                <a:latin typeface="Gill Sans MT"/>
              </a:rPr>
              <a:t> </a:t>
            </a:r>
            <a:r>
              <a:rPr lang="en-US" err="1">
                <a:solidFill>
                  <a:srgbClr val="FFFFFF"/>
                </a:solidFill>
                <a:latin typeface="Gill Sans MT"/>
              </a:rPr>
              <a:t>zien</a:t>
            </a:r>
            <a:r>
              <a:rPr lang="en-US">
                <a:solidFill>
                  <a:srgbClr val="FFFFFF"/>
                </a:solidFill>
                <a:latin typeface="Gill Sans MT"/>
              </a:rPr>
              <a:t> </a:t>
            </a:r>
            <a:r>
              <a:rPr lang="en-US" err="1">
                <a:solidFill>
                  <a:srgbClr val="FFFFFF"/>
                </a:solidFill>
                <a:latin typeface="Gill Sans MT"/>
              </a:rPr>
              <a:t>dat</a:t>
            </a:r>
            <a:r>
              <a:rPr lang="en-US">
                <a:solidFill>
                  <a:srgbClr val="FFFFFF"/>
                </a:solidFill>
                <a:latin typeface="Gill Sans MT"/>
              </a:rPr>
              <a:t> je de </a:t>
            </a:r>
            <a:r>
              <a:rPr lang="en-US" err="1">
                <a:solidFill>
                  <a:srgbClr val="FFFFFF"/>
                </a:solidFill>
                <a:latin typeface="Gill Sans MT"/>
              </a:rPr>
              <a:t>crisi</a:t>
            </a:r>
            <a:r>
              <a:rPr lang="en-US">
                <a:solidFill>
                  <a:srgbClr val="FFFFFF"/>
                </a:solidFill>
                <a:latin typeface="Gill Sans MT"/>
              </a:rPr>
              <a:t>s </a:t>
            </a:r>
            <a:r>
              <a:rPr lang="en-US" err="1">
                <a:solidFill>
                  <a:srgbClr val="FFFFFF"/>
                </a:solidFill>
                <a:latin typeface="Gill Sans MT"/>
              </a:rPr>
              <a:t>serieus</a:t>
            </a:r>
            <a:r>
              <a:rPr lang="en-US">
                <a:solidFill>
                  <a:srgbClr val="FFFFFF"/>
                </a:solidFill>
                <a:latin typeface="Gill Sans MT"/>
              </a:rPr>
              <a:t> </a:t>
            </a:r>
            <a:r>
              <a:rPr lang="en-US" err="1">
                <a:solidFill>
                  <a:srgbClr val="FFFFFF"/>
                </a:solidFill>
                <a:latin typeface="Gill Sans MT"/>
              </a:rPr>
              <a:t>neemt</a:t>
            </a:r>
            <a:r>
              <a:rPr lang="en-US">
                <a:solidFill>
                  <a:srgbClr val="FFFFFF"/>
                </a:solidFill>
                <a:latin typeface="Gill Sans MT"/>
              </a:rPr>
              <a:t>.</a:t>
            </a:r>
            <a:endParaRPr lang="en-US" sz="1800">
              <a:solidFill>
                <a:srgbClr val="FFFFFF"/>
              </a:solidFill>
            </a:endParaRPr>
          </a:p>
        </p:txBody>
      </p:sp>
      <p:sp>
        <p:nvSpPr>
          <p:cNvPr id="6" name="Text 3">
            <a:extLst>
              <a:ext uri="{FF2B5EF4-FFF2-40B4-BE49-F238E27FC236}">
                <a16:creationId xmlns:a16="http://schemas.microsoft.com/office/drawing/2014/main" id="{80C8C7D3-9330-2C86-1057-A32C0771B80B}"/>
              </a:ext>
            </a:extLst>
          </p:cNvPr>
          <p:cNvSpPr/>
          <p:nvPr/>
        </p:nvSpPr>
        <p:spPr>
          <a:xfrm>
            <a:off x="896112" y="2921508"/>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7" name="Text 4">
            <a:extLst>
              <a:ext uri="{FF2B5EF4-FFF2-40B4-BE49-F238E27FC236}">
                <a16:creationId xmlns:a16="http://schemas.microsoft.com/office/drawing/2014/main" id="{968800D9-95D0-4ACE-83D3-0AD6CF7FB8EE}"/>
              </a:ext>
            </a:extLst>
          </p:cNvPr>
          <p:cNvSpPr/>
          <p:nvPr/>
        </p:nvSpPr>
        <p:spPr>
          <a:xfrm>
            <a:off x="1170432" y="2784348"/>
            <a:ext cx="6492240" cy="800100"/>
          </a:xfrm>
          <a:prstGeom prst="rect">
            <a:avLst/>
          </a:prstGeom>
          <a:noFill/>
          <a:ln/>
        </p:spPr>
        <p:txBody>
          <a:bodyPr wrap="square" lIns="0" tIns="0" rIns="0" bIns="0" rtlCol="0" anchor="ctr">
            <a:normAutofit lnSpcReduction="10000"/>
          </a:bodyPr>
          <a:lstStyle/>
          <a:p>
            <a:r>
              <a:rPr lang="en-US" err="1">
                <a:solidFill>
                  <a:srgbClr val="FFFFFF"/>
                </a:solidFill>
                <a:latin typeface="Gill Sans MT"/>
              </a:rPr>
              <a:t>Waarden</a:t>
            </a:r>
            <a:r>
              <a:rPr lang="en-US">
                <a:solidFill>
                  <a:srgbClr val="FFFFFF"/>
                </a:solidFill>
                <a:latin typeface="Gill Sans MT"/>
              </a:rPr>
              <a:t> </a:t>
            </a:r>
            <a:r>
              <a:rPr lang="en-US" err="1">
                <a:solidFill>
                  <a:srgbClr val="FFFFFF"/>
                </a:solidFill>
                <a:latin typeface="Gill Sans MT"/>
              </a:rPr>
              <a:t>boven</a:t>
            </a:r>
            <a:r>
              <a:rPr lang="en-US">
                <a:solidFill>
                  <a:srgbClr val="FFFFFF"/>
                </a:solidFill>
                <a:latin typeface="Gill Sans MT"/>
              </a:rPr>
              <a:t> </a:t>
            </a:r>
            <a:r>
              <a:rPr lang="en-US" err="1">
                <a:solidFill>
                  <a:srgbClr val="FFFFFF"/>
                </a:solidFill>
                <a:latin typeface="Gill Sans MT"/>
              </a:rPr>
              <a:t>winst</a:t>
            </a:r>
            <a:r>
              <a:rPr lang="en-US">
                <a:solidFill>
                  <a:srgbClr val="FFFFFF"/>
                </a:solidFill>
                <a:latin typeface="Gill Sans MT"/>
              </a:rPr>
              <a:t>: Door de </a:t>
            </a:r>
            <a:r>
              <a:rPr lang="en-US" err="1">
                <a:solidFill>
                  <a:srgbClr val="FFFFFF"/>
                </a:solidFill>
                <a:latin typeface="Gill Sans MT"/>
              </a:rPr>
              <a:t>veiligheid</a:t>
            </a:r>
            <a:r>
              <a:rPr lang="en-US">
                <a:solidFill>
                  <a:srgbClr val="FFFFFF"/>
                </a:solidFill>
                <a:latin typeface="Gill Sans MT"/>
              </a:rPr>
              <a:t> van de </a:t>
            </a:r>
            <a:r>
              <a:rPr lang="en-US" err="1">
                <a:solidFill>
                  <a:srgbClr val="FFFFFF"/>
                </a:solidFill>
                <a:latin typeface="Gill Sans MT"/>
              </a:rPr>
              <a:t>consument</a:t>
            </a:r>
            <a:r>
              <a:rPr lang="en-US">
                <a:solidFill>
                  <a:srgbClr val="FFFFFF"/>
                </a:solidFill>
                <a:latin typeface="Gill Sans MT"/>
              </a:rPr>
              <a:t> </a:t>
            </a:r>
            <a:r>
              <a:rPr lang="en-US" err="1">
                <a:solidFill>
                  <a:srgbClr val="FFFFFF"/>
                </a:solidFill>
                <a:latin typeface="Gill Sans MT"/>
              </a:rPr>
              <a:t>voorop</a:t>
            </a:r>
            <a:r>
              <a:rPr lang="en-US">
                <a:solidFill>
                  <a:srgbClr val="FFFFFF"/>
                </a:solidFill>
                <a:latin typeface="Gill Sans MT"/>
              </a:rPr>
              <a:t> </a:t>
            </a:r>
            <a:r>
              <a:rPr lang="en-US" err="1">
                <a:solidFill>
                  <a:srgbClr val="FFFFFF"/>
                </a:solidFill>
                <a:latin typeface="Gill Sans MT"/>
              </a:rPr>
              <a:t>te</a:t>
            </a:r>
            <a:r>
              <a:rPr lang="en-US">
                <a:solidFill>
                  <a:srgbClr val="FFFFFF"/>
                </a:solidFill>
                <a:latin typeface="Gill Sans MT"/>
              </a:rPr>
              <a:t> </a:t>
            </a:r>
            <a:r>
              <a:rPr lang="en-US" err="1">
                <a:solidFill>
                  <a:srgbClr val="FFFFFF"/>
                </a:solidFill>
                <a:latin typeface="Gill Sans MT"/>
              </a:rPr>
              <a:t>stellen</a:t>
            </a:r>
            <a:r>
              <a:rPr lang="en-US">
                <a:solidFill>
                  <a:srgbClr val="FFFFFF"/>
                </a:solidFill>
                <a:latin typeface="Gill Sans MT"/>
              </a:rPr>
              <a:t> </a:t>
            </a:r>
            <a:r>
              <a:rPr lang="en-US" err="1">
                <a:solidFill>
                  <a:srgbClr val="FFFFFF"/>
                </a:solidFill>
                <a:latin typeface="Gill Sans MT"/>
              </a:rPr>
              <a:t>werd</a:t>
            </a:r>
            <a:r>
              <a:rPr lang="en-US">
                <a:solidFill>
                  <a:srgbClr val="FFFFFF"/>
                </a:solidFill>
                <a:latin typeface="Gill Sans MT"/>
              </a:rPr>
              <a:t> het </a:t>
            </a:r>
            <a:r>
              <a:rPr lang="en-US" err="1">
                <a:solidFill>
                  <a:srgbClr val="FFFFFF"/>
                </a:solidFill>
                <a:latin typeface="Gill Sans MT"/>
              </a:rPr>
              <a:t>vertrouwen</a:t>
            </a:r>
            <a:r>
              <a:rPr lang="en-US">
                <a:solidFill>
                  <a:srgbClr val="FFFFFF"/>
                </a:solidFill>
                <a:latin typeface="Gill Sans MT"/>
              </a:rPr>
              <a:t> in het merk </a:t>
            </a:r>
            <a:r>
              <a:rPr lang="en-US" err="1">
                <a:solidFill>
                  <a:srgbClr val="FFFFFF"/>
                </a:solidFill>
                <a:latin typeface="Gill Sans MT"/>
              </a:rPr>
              <a:t>behouden</a:t>
            </a:r>
            <a:r>
              <a:rPr lang="en-US">
                <a:solidFill>
                  <a:srgbClr val="FFFFFF"/>
                </a:solidFill>
                <a:latin typeface="Gill Sans MT"/>
              </a:rPr>
              <a:t>, </a:t>
            </a:r>
            <a:r>
              <a:rPr lang="en-US" err="1">
                <a:solidFill>
                  <a:srgbClr val="FFFFFF"/>
                </a:solidFill>
                <a:latin typeface="Gill Sans MT"/>
              </a:rPr>
              <a:t>en</a:t>
            </a:r>
            <a:r>
              <a:rPr lang="en-US">
                <a:solidFill>
                  <a:srgbClr val="FFFFFF"/>
                </a:solidFill>
                <a:latin typeface="Gill Sans MT"/>
              </a:rPr>
              <a:t> </a:t>
            </a:r>
            <a:r>
              <a:rPr lang="en-US" err="1">
                <a:solidFill>
                  <a:srgbClr val="FFFFFF"/>
                </a:solidFill>
                <a:latin typeface="Gill Sans MT"/>
              </a:rPr>
              <a:t>zelfs</a:t>
            </a:r>
            <a:r>
              <a:rPr lang="en-US">
                <a:solidFill>
                  <a:srgbClr val="FFFFFF"/>
                </a:solidFill>
                <a:latin typeface="Gill Sans MT"/>
              </a:rPr>
              <a:t> </a:t>
            </a:r>
            <a:r>
              <a:rPr lang="en-US" err="1">
                <a:solidFill>
                  <a:srgbClr val="FFFFFF"/>
                </a:solidFill>
                <a:latin typeface="Gill Sans MT"/>
              </a:rPr>
              <a:t>versterkt</a:t>
            </a:r>
            <a:r>
              <a:rPr lang="en-US">
                <a:solidFill>
                  <a:srgbClr val="FFFFFF"/>
                </a:solidFill>
                <a:latin typeface="Gill Sans MT"/>
              </a:rPr>
              <a:t> op de </a:t>
            </a:r>
            <a:r>
              <a:rPr lang="en-US" err="1">
                <a:solidFill>
                  <a:srgbClr val="FFFFFF"/>
                </a:solidFill>
                <a:latin typeface="Gill Sans MT"/>
              </a:rPr>
              <a:t>lange</a:t>
            </a:r>
            <a:r>
              <a:rPr lang="en-US">
                <a:solidFill>
                  <a:srgbClr val="FFFFFF"/>
                </a:solidFill>
                <a:latin typeface="Gill Sans MT"/>
              </a:rPr>
              <a:t> </a:t>
            </a:r>
            <a:r>
              <a:rPr lang="en-US" err="1">
                <a:solidFill>
                  <a:srgbClr val="FFFFFF"/>
                </a:solidFill>
                <a:latin typeface="Gill Sans MT"/>
              </a:rPr>
              <a:t>termijn</a:t>
            </a:r>
            <a:r>
              <a:rPr lang="en-US">
                <a:solidFill>
                  <a:srgbClr val="FFFFFF"/>
                </a:solidFill>
                <a:latin typeface="Gill Sans MT"/>
              </a:rPr>
              <a:t>.</a:t>
            </a:r>
            <a:endParaRPr lang="en-US" sz="1800">
              <a:solidFill>
                <a:srgbClr val="FFFFFF"/>
              </a:solidFill>
            </a:endParaRPr>
          </a:p>
        </p:txBody>
      </p:sp>
    </p:spTree>
    <p:extLst>
      <p:ext uri="{BB962C8B-B14F-4D97-AF65-F5344CB8AC3E}">
        <p14:creationId xmlns:p14="http://schemas.microsoft.com/office/powerpoint/2010/main" val="2165615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7E95C6"/>
        </a:solidFill>
        <a:effectLst/>
      </p:bgPr>
    </p:bg>
    <p:spTree>
      <p:nvGrpSpPr>
        <p:cNvPr id="1" name=""/>
        <p:cNvGrpSpPr/>
        <p:nvPr/>
      </p:nvGrpSpPr>
      <p:grpSpPr>
        <a:xfrm>
          <a:off x="0" y="0"/>
          <a:ext cx="0" cy="0"/>
          <a:chOff x="0" y="0"/>
          <a:chExt cx="0" cy="0"/>
        </a:xfrm>
      </p:grpSpPr>
      <p:sp>
        <p:nvSpPr>
          <p:cNvPr id="2" name="Shape 0"/>
          <p:cNvSpPr/>
          <p:nvPr/>
        </p:nvSpPr>
        <p:spPr>
          <a:xfrm>
            <a:off x="0" y="5870448"/>
            <a:ext cx="12191695" cy="987552"/>
          </a:xfrm>
          <a:prstGeom prst="rect">
            <a:avLst/>
          </a:prstGeom>
          <a:solidFill>
            <a:srgbClr val="0A2342">
              <a:alpha val="82000"/>
            </a:srgbClr>
          </a:solidFill>
          <a:ln w="12700">
            <a:solidFill>
              <a:srgbClr val="244D8F">
                <a:alpha val="0"/>
              </a:srgbClr>
            </a:solidFill>
            <a:prstDash val="solid"/>
          </a:ln>
        </p:spPr>
        <p:txBody>
          <a:bodyPr/>
          <a:lstStyle/>
          <a:p>
            <a:endParaRPr lang="nl-NL"/>
          </a:p>
        </p:txBody>
      </p:sp>
      <p:sp>
        <p:nvSpPr>
          <p:cNvPr id="3" name="Shape 1"/>
          <p:cNvSpPr/>
          <p:nvPr/>
        </p:nvSpPr>
        <p:spPr>
          <a:xfrm>
            <a:off x="6419088" y="493776"/>
            <a:ext cx="4681728" cy="4718304"/>
          </a:xfrm>
          <a:prstGeom prst="roundRect">
            <a:avLst>
              <a:gd name="adj" fmla="val 2344"/>
            </a:avLst>
          </a:prstGeom>
          <a:solidFill>
            <a:srgbClr val="021325"/>
          </a:solidFill>
          <a:ln w="12700">
            <a:solidFill>
              <a:srgbClr val="021325">
                <a:alpha val="0"/>
              </a:srgbClr>
            </a:solidFill>
            <a:prstDash val="solid"/>
          </a:ln>
          <a:effectLst>
            <a:outerShdw blurRad="38100" dist="15240" dir="2700000" algn="bl" rotWithShape="0">
              <a:srgbClr val="000000">
                <a:alpha val="25000"/>
              </a:srgbClr>
            </a:outerShdw>
          </a:effectLst>
        </p:spPr>
        <p:txBody>
          <a:bodyPr/>
          <a:lstStyle/>
          <a:p>
            <a:endParaRPr lang="nl-NL"/>
          </a:p>
        </p:txBody>
      </p:sp>
      <p:sp>
        <p:nvSpPr>
          <p:cNvPr id="4" name="Text 2"/>
          <p:cNvSpPr/>
          <p:nvPr/>
        </p:nvSpPr>
        <p:spPr>
          <a:xfrm>
            <a:off x="384048" y="310896"/>
            <a:ext cx="1280160" cy="201168"/>
          </a:xfrm>
          <a:prstGeom prst="rect">
            <a:avLst/>
          </a:prstGeom>
          <a:noFill/>
          <a:ln/>
        </p:spPr>
        <p:txBody>
          <a:bodyPr wrap="square" lIns="0" tIns="0" rIns="0" bIns="0" rtlCol="0" anchor="t"/>
          <a:lstStyle/>
          <a:p>
            <a:pPr marL="0" indent="0">
              <a:buNone/>
            </a:pPr>
            <a:r>
              <a:rPr lang="en-US" sz="2200" b="1">
                <a:solidFill>
                  <a:srgbClr val="F4C757"/>
                </a:solidFill>
                <a:latin typeface="Gill Sans MT" pitchFamily="34" charset="0"/>
                <a:ea typeface="Gill Sans MT" pitchFamily="34" charset="-122"/>
                <a:cs typeface="Gill Sans MT" pitchFamily="34" charset="-120"/>
              </a:rPr>
              <a:t>WS3.2</a:t>
            </a:r>
            <a:endParaRPr lang="en-US" sz="2200"/>
          </a:p>
        </p:txBody>
      </p:sp>
      <p:sp>
        <p:nvSpPr>
          <p:cNvPr id="5" name="Text 3"/>
          <p:cNvSpPr/>
          <p:nvPr/>
        </p:nvSpPr>
        <p:spPr>
          <a:xfrm>
            <a:off x="384048" y="566928"/>
            <a:ext cx="2286000" cy="237744"/>
          </a:xfrm>
          <a:prstGeom prst="rect">
            <a:avLst/>
          </a:prstGeom>
          <a:noFill/>
          <a:ln/>
        </p:spPr>
        <p:txBody>
          <a:bodyPr wrap="square" lIns="0" tIns="0" rIns="0" bIns="0" rtlCol="0" anchor="t"/>
          <a:lstStyle/>
          <a:p>
            <a:pPr marL="0" indent="0">
              <a:buNone/>
            </a:pPr>
            <a:r>
              <a:rPr lang="en-US" sz="2450" b="1">
                <a:solidFill>
                  <a:srgbClr val="F4C757"/>
                </a:solidFill>
                <a:latin typeface="Gill Sans MT" pitchFamily="34" charset="0"/>
                <a:ea typeface="Gill Sans MT" pitchFamily="34" charset="-122"/>
                <a:cs typeface="Gill Sans MT" pitchFamily="34" charset="-120"/>
              </a:rPr>
              <a:t>CRISIS</a:t>
            </a:r>
            <a:endParaRPr lang="en-US" sz="2450"/>
          </a:p>
        </p:txBody>
      </p:sp>
      <p:sp>
        <p:nvSpPr>
          <p:cNvPr id="6" name="Text 4"/>
          <p:cNvSpPr/>
          <p:nvPr/>
        </p:nvSpPr>
        <p:spPr>
          <a:xfrm>
            <a:off x="384048" y="850392"/>
            <a:ext cx="2834640" cy="237744"/>
          </a:xfrm>
          <a:prstGeom prst="rect">
            <a:avLst/>
          </a:prstGeom>
          <a:noFill/>
          <a:ln/>
        </p:spPr>
        <p:txBody>
          <a:bodyPr wrap="square" lIns="0" tIns="0" rIns="0" bIns="0" rtlCol="0" anchor="t"/>
          <a:lstStyle/>
          <a:p>
            <a:pPr marL="0" indent="0">
              <a:buNone/>
            </a:pPr>
            <a:r>
              <a:rPr lang="en-US" sz="2450" b="1">
                <a:solidFill>
                  <a:srgbClr val="F4C757"/>
                </a:solidFill>
                <a:latin typeface="Gill Sans MT" pitchFamily="34" charset="0"/>
                <a:ea typeface="Gill Sans MT" pitchFamily="34" charset="-122"/>
                <a:cs typeface="Gill Sans MT" pitchFamily="34" charset="-120"/>
              </a:rPr>
              <a:t>MANAGEMENT</a:t>
            </a:r>
            <a:endParaRPr lang="en-US" sz="2450"/>
          </a:p>
        </p:txBody>
      </p:sp>
      <p:sp>
        <p:nvSpPr>
          <p:cNvPr id="7" name="Text 5"/>
          <p:cNvSpPr/>
          <p:nvPr/>
        </p:nvSpPr>
        <p:spPr>
          <a:xfrm>
            <a:off x="384048" y="1444752"/>
            <a:ext cx="4297680" cy="310896"/>
          </a:xfrm>
          <a:prstGeom prst="rect">
            <a:avLst/>
          </a:prstGeom>
          <a:noFill/>
          <a:ln/>
        </p:spPr>
        <p:txBody>
          <a:bodyPr wrap="square" lIns="0" tIns="0" rIns="0" bIns="0" rtlCol="0" anchor="t"/>
          <a:lstStyle/>
          <a:p>
            <a:pPr marL="0" indent="0">
              <a:buNone/>
            </a:pPr>
            <a:r>
              <a:rPr lang="en-US" sz="2000" b="1" i="1">
                <a:solidFill>
                  <a:srgbClr val="C00000"/>
                </a:solidFill>
                <a:latin typeface="Gill Sans MT" pitchFamily="34" charset="0"/>
                <a:ea typeface="Gill Sans MT" pitchFamily="34" charset="-122"/>
                <a:cs typeface="Gill Sans MT" pitchFamily="34" charset="-120"/>
              </a:rPr>
              <a:t>Volkswagen – Emission Scandal</a:t>
            </a:r>
            <a:endParaRPr lang="en-US" sz="2000"/>
          </a:p>
        </p:txBody>
      </p:sp>
      <p:sp>
        <p:nvSpPr>
          <p:cNvPr id="8" name="Text 6"/>
          <p:cNvSpPr/>
          <p:nvPr/>
        </p:nvSpPr>
        <p:spPr>
          <a:xfrm>
            <a:off x="384048" y="1865376"/>
            <a:ext cx="5120640" cy="201168"/>
          </a:xfrm>
          <a:prstGeom prst="rect">
            <a:avLst/>
          </a:prstGeom>
          <a:noFill/>
          <a:ln/>
        </p:spPr>
        <p:txBody>
          <a:bodyPr wrap="square" lIns="0" tIns="0" rIns="0" bIns="0" rtlCol="0" anchor="t"/>
          <a:lstStyle/>
          <a:p>
            <a:pPr marL="0" indent="0">
              <a:buNone/>
            </a:pPr>
            <a:r>
              <a:rPr lang="en-US" sz="1300">
                <a:solidFill>
                  <a:srgbClr val="FFFFFF"/>
                </a:solidFill>
                <a:latin typeface="Gill Sans MT" pitchFamily="34" charset="0"/>
                <a:ea typeface="Gill Sans MT" pitchFamily="34" charset="-122"/>
                <a:cs typeface="Gill Sans MT" pitchFamily="34" charset="-120"/>
              </a:rPr>
              <a:t>2015 · fraude met emissiesoftware / reputatie- en governancecrisis</a:t>
            </a:r>
            <a:endParaRPr lang="en-US" sz="1300"/>
          </a:p>
        </p:txBody>
      </p:sp>
      <p:sp>
        <p:nvSpPr>
          <p:cNvPr id="9" name="Text 7"/>
          <p:cNvSpPr/>
          <p:nvPr/>
        </p:nvSpPr>
        <p:spPr>
          <a:xfrm>
            <a:off x="384048" y="6153912"/>
            <a:ext cx="3108960" cy="219456"/>
          </a:xfrm>
          <a:prstGeom prst="rect">
            <a:avLst/>
          </a:prstGeom>
          <a:noFill/>
          <a:ln/>
        </p:spPr>
        <p:txBody>
          <a:bodyPr wrap="square" lIns="0" tIns="0" rIns="0" bIns="0" rtlCol="0" anchor="ctr"/>
          <a:lstStyle/>
          <a:p>
            <a:pPr marL="0" indent="0">
              <a:buNone/>
            </a:pPr>
            <a:r>
              <a:rPr lang="en-US" sz="1650">
                <a:solidFill>
                  <a:srgbClr val="FFFFFF"/>
                </a:solidFill>
                <a:latin typeface="Gill Sans MT" pitchFamily="34" charset="0"/>
                <a:ea typeface="Gill Sans MT" pitchFamily="34" charset="-122"/>
                <a:cs typeface="Gill Sans MT" pitchFamily="34" charset="-120"/>
              </a:rPr>
              <a:t>Module 3 – Mens en techniek</a:t>
            </a:r>
            <a:endParaRPr lang="en-US" sz="1650"/>
          </a:p>
        </p:txBody>
      </p:sp>
      <p:sp>
        <p:nvSpPr>
          <p:cNvPr id="10" name="Text 8"/>
          <p:cNvSpPr/>
          <p:nvPr/>
        </p:nvSpPr>
        <p:spPr>
          <a:xfrm>
            <a:off x="384048" y="6455664"/>
            <a:ext cx="3840480" cy="219456"/>
          </a:xfrm>
          <a:prstGeom prst="rect">
            <a:avLst/>
          </a:prstGeom>
          <a:noFill/>
          <a:ln/>
        </p:spPr>
        <p:txBody>
          <a:bodyPr wrap="square" lIns="0" tIns="0" rIns="0" bIns="0" rtlCol="0" anchor="ctr"/>
          <a:lstStyle/>
          <a:p>
            <a:pPr marL="0" indent="0">
              <a:buNone/>
            </a:pPr>
            <a:r>
              <a:rPr lang="en-US" sz="1650">
                <a:solidFill>
                  <a:srgbClr val="FFFFFF"/>
                </a:solidFill>
                <a:latin typeface="Gill Sans MT" pitchFamily="34" charset="0"/>
                <a:ea typeface="Gill Sans MT" pitchFamily="34" charset="-122"/>
                <a:cs typeface="Gill Sans MT" pitchFamily="34" charset="-120"/>
              </a:rPr>
              <a:t>Workshop 2 – Crisismanagement</a:t>
            </a:r>
            <a:endParaRPr lang="en-US" sz="1650"/>
          </a:p>
        </p:txBody>
      </p:sp>
      <p:pic>
        <p:nvPicPr>
          <p:cNvPr id="11" name="Image 0" descr="/mnt/data/vw_logo.png"/>
          <p:cNvPicPr>
            <a:picLocks noChangeAspect="1"/>
          </p:cNvPicPr>
          <p:nvPr/>
        </p:nvPicPr>
        <p:blipFill>
          <a:blip r:embed="rId3"/>
          <a:stretch>
            <a:fillRect/>
          </a:stretch>
        </p:blipFill>
        <p:spPr>
          <a:xfrm>
            <a:off x="6799438" y="801974"/>
            <a:ext cx="3926823" cy="3933069"/>
          </a:xfrm>
          <a:prstGeom prst="rect">
            <a:avLst/>
          </a:prstGeom>
        </p:spPr>
      </p:pic>
      <p:sp>
        <p:nvSpPr>
          <p:cNvPr id="12" name="Text 9"/>
          <p:cNvSpPr/>
          <p:nvPr/>
        </p:nvSpPr>
        <p:spPr>
          <a:xfrm>
            <a:off x="7351776" y="3749040"/>
            <a:ext cx="2834640" cy="310896"/>
          </a:xfrm>
          <a:prstGeom prst="rect">
            <a:avLst/>
          </a:prstGeom>
          <a:noFill/>
          <a:ln/>
        </p:spPr>
        <p:txBody>
          <a:bodyPr wrap="square" lIns="0" tIns="0" rIns="0" bIns="0" rtlCol="0" anchor="ctr"/>
          <a:lstStyle/>
          <a:p>
            <a:pPr marL="0" indent="0" algn="ctr">
              <a:buNone/>
            </a:pPr>
            <a:endParaRPr lang="en-US" sz="2100" b="1">
              <a:solidFill>
                <a:srgbClr val="F4C757"/>
              </a:solidFill>
            </a:endParaRPr>
          </a:p>
        </p:txBody>
      </p:sp>
      <p:sp>
        <p:nvSpPr>
          <p:cNvPr id="13" name="Text 10"/>
          <p:cNvSpPr/>
          <p:nvPr/>
        </p:nvSpPr>
        <p:spPr>
          <a:xfrm>
            <a:off x="7086600" y="4160520"/>
            <a:ext cx="3383280" cy="219456"/>
          </a:xfrm>
          <a:prstGeom prst="rect">
            <a:avLst/>
          </a:prstGeom>
          <a:noFill/>
          <a:ln/>
        </p:spPr>
        <p:txBody>
          <a:bodyPr wrap="square" lIns="0" tIns="0" rIns="0" bIns="0" rtlCol="0" anchor="ctr"/>
          <a:lstStyle/>
          <a:p>
            <a:pPr marL="0" indent="0" algn="ctr">
              <a:buNone/>
            </a:pPr>
            <a:endParaRPr lang="en-US" sz="1250" i="1">
              <a:solidFill>
                <a:srgbClr val="FFFFFF"/>
              </a:solidFill>
            </a:endParaRPr>
          </a:p>
        </p:txBody>
      </p:sp>
      <p:sp>
        <p:nvSpPr>
          <p:cNvPr id="14" name="Text 4">
            <a:extLst>
              <a:ext uri="{FF2B5EF4-FFF2-40B4-BE49-F238E27FC236}">
                <a16:creationId xmlns:a16="http://schemas.microsoft.com/office/drawing/2014/main" id="{F56CD02C-EAC8-10B9-296B-2D45A5F96502}"/>
              </a:ext>
            </a:extLst>
          </p:cNvPr>
          <p:cNvSpPr/>
          <p:nvPr/>
        </p:nvSpPr>
        <p:spPr>
          <a:xfrm>
            <a:off x="658368" y="5358384"/>
            <a:ext cx="4297680" cy="320040"/>
          </a:xfrm>
          <a:prstGeom prst="rect">
            <a:avLst/>
          </a:prstGeom>
          <a:noFill/>
          <a:ln/>
        </p:spPr>
        <p:txBody>
          <a:bodyPr wrap="square" lIns="0" tIns="0" rIns="0" bIns="0" rtlCol="0" anchor="ctr"/>
          <a:lstStyle/>
          <a:p>
            <a:pPr marL="0" indent="0">
              <a:buNone/>
            </a:pPr>
            <a:r>
              <a:rPr lang="en-US" sz="1600">
                <a:solidFill>
                  <a:srgbClr val="111111"/>
                </a:solidFill>
                <a:latin typeface="Gill Sans MT" pitchFamily="34" charset="0"/>
                <a:ea typeface="Gill Sans MT" pitchFamily="34" charset="-122"/>
                <a:cs typeface="Gill Sans MT" pitchFamily="34" charset="-120"/>
              </a:rPr>
              <a:t>Bavli</a:t>
            </a:r>
            <a:r>
              <a:rPr lang="en-US" sz="1600" b="1">
                <a:solidFill>
                  <a:srgbClr val="111111"/>
                </a:solidFill>
                <a:latin typeface="Gill Sans MT" pitchFamily="34" charset="0"/>
                <a:ea typeface="Gill Sans MT" pitchFamily="34" charset="-122"/>
                <a:cs typeface="Gill Sans MT" pitchFamily="34" charset="-120"/>
              </a:rPr>
              <a:t>, </a:t>
            </a:r>
            <a:r>
              <a:rPr lang="en-US" sz="1600">
                <a:solidFill>
                  <a:srgbClr val="111111"/>
                </a:solidFill>
                <a:latin typeface="Gill Sans MT" pitchFamily="34" charset="0"/>
                <a:ea typeface="Gill Sans MT" pitchFamily="34" charset="-122"/>
                <a:cs typeface="Gill Sans MT" pitchFamily="34" charset="-120"/>
              </a:rPr>
              <a:t>Jonas, </a:t>
            </a:r>
            <a:r>
              <a:rPr lang="en-US" sz="1600" b="1">
                <a:solidFill>
                  <a:srgbClr val="111111"/>
                </a:solidFill>
                <a:latin typeface="Gill Sans MT" pitchFamily="34" charset="0"/>
                <a:ea typeface="Gill Sans MT" pitchFamily="34" charset="-122"/>
                <a:cs typeface="Gill Sans MT" pitchFamily="34" charset="-120"/>
              </a:rPr>
              <a:t>Lucas</a:t>
            </a:r>
            <a:r>
              <a:rPr lang="en-US" sz="1600">
                <a:solidFill>
                  <a:srgbClr val="111111"/>
                </a:solidFill>
                <a:latin typeface="Gill Sans MT" pitchFamily="34" charset="0"/>
                <a:ea typeface="Gill Sans MT" pitchFamily="34" charset="-122"/>
                <a:cs typeface="Gill Sans MT" pitchFamily="34" charset="-120"/>
              </a:rPr>
              <a:t>, Vo</a:t>
            </a:r>
            <a:endParaRPr lang="en-US" sz="1600"/>
          </a:p>
        </p:txBody>
      </p:sp>
    </p:spTree>
    <p:extLst>
      <p:ext uri="{BB962C8B-B14F-4D97-AF65-F5344CB8AC3E}">
        <p14:creationId xmlns:p14="http://schemas.microsoft.com/office/powerpoint/2010/main" val="1362726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021325"/>
        </a:solidFill>
        <a:effectLst/>
      </p:bgPr>
    </p:bg>
    <p:spTree>
      <p:nvGrpSpPr>
        <p:cNvPr id="1" name=""/>
        <p:cNvGrpSpPr/>
        <p:nvPr/>
      </p:nvGrpSpPr>
      <p:grpSpPr>
        <a:xfrm>
          <a:off x="0" y="0"/>
          <a:ext cx="0" cy="0"/>
          <a:chOff x="0" y="0"/>
          <a:chExt cx="0" cy="0"/>
        </a:xfrm>
      </p:grpSpPr>
      <p:sp>
        <p:nvSpPr>
          <p:cNvPr id="2" name="Text 0"/>
          <p:cNvSpPr/>
          <p:nvPr/>
        </p:nvSpPr>
        <p:spPr>
          <a:xfrm>
            <a:off x="530352" y="256032"/>
            <a:ext cx="6583680" cy="384048"/>
          </a:xfrm>
          <a:prstGeom prst="rect">
            <a:avLst/>
          </a:prstGeom>
          <a:noFill/>
          <a:ln/>
        </p:spPr>
        <p:txBody>
          <a:bodyPr wrap="square" lIns="0" tIns="0" rIns="0" bIns="0" rtlCol="0" anchor="t"/>
          <a:lstStyle/>
          <a:p>
            <a:pPr marL="0" indent="0">
              <a:buNone/>
            </a:pPr>
            <a:r>
              <a:rPr lang="en-US" sz="3000">
                <a:solidFill>
                  <a:srgbClr val="FFFFFF"/>
                </a:solidFill>
                <a:latin typeface="Gill Sans MT" pitchFamily="34" charset="0"/>
                <a:ea typeface="Gill Sans MT" pitchFamily="34" charset="-122"/>
                <a:cs typeface="Gill Sans MT" pitchFamily="34" charset="-120"/>
              </a:rPr>
              <a:t>KEY BEHAVIOUR COMPONENTEN</a:t>
            </a:r>
            <a:endParaRPr lang="en-US" sz="3000"/>
          </a:p>
        </p:txBody>
      </p:sp>
      <p:sp>
        <p:nvSpPr>
          <p:cNvPr id="4" name="Text 2"/>
          <p:cNvSpPr/>
          <p:nvPr/>
        </p:nvSpPr>
        <p:spPr>
          <a:xfrm>
            <a:off x="841248" y="1435608"/>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5" name="Text 3"/>
          <p:cNvSpPr/>
          <p:nvPr/>
        </p:nvSpPr>
        <p:spPr>
          <a:xfrm>
            <a:off x="1115568" y="1417320"/>
            <a:ext cx="6126480" cy="868680"/>
          </a:xfrm>
          <a:prstGeom prst="rect">
            <a:avLst/>
          </a:prstGeom>
          <a:noFill/>
          <a:ln/>
        </p:spPr>
        <p:txBody>
          <a:bodyPr wrap="square" lIns="0" tIns="0" rIns="0" bIns="0" rtlCol="0" anchor="t">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Be transparent — afwezig in de beginfase: Volkswagen erkende de fraude pas nadat toezichthouders en onderzoekers de misleiding blootlegden.</a:t>
            </a:r>
            <a:endParaRPr lang="en-US" sz="1720"/>
          </a:p>
        </p:txBody>
      </p:sp>
      <p:sp>
        <p:nvSpPr>
          <p:cNvPr id="6" name="Text 4"/>
          <p:cNvSpPr/>
          <p:nvPr/>
        </p:nvSpPr>
        <p:spPr>
          <a:xfrm>
            <a:off x="841248" y="2505456"/>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7" name="Text 5"/>
          <p:cNvSpPr/>
          <p:nvPr/>
        </p:nvSpPr>
        <p:spPr>
          <a:xfrm>
            <a:off x="1115568" y="2487168"/>
            <a:ext cx="6126480" cy="868680"/>
          </a:xfrm>
          <a:prstGeom prst="rect">
            <a:avLst/>
          </a:prstGeom>
          <a:noFill/>
          <a:ln/>
        </p:spPr>
        <p:txBody>
          <a:bodyPr wrap="square" lIns="0" tIns="0" rIns="0" bIns="0" rtlCol="0" anchor="t">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Act with urgency — pas later zichtbaar: na de onthulling volgden terugroepacties, onderzoeken en wisselingen in de top.</a:t>
            </a:r>
            <a:endParaRPr lang="en-US" sz="1720"/>
          </a:p>
        </p:txBody>
      </p:sp>
      <p:sp>
        <p:nvSpPr>
          <p:cNvPr id="8" name="Text 6"/>
          <p:cNvSpPr/>
          <p:nvPr/>
        </p:nvSpPr>
        <p:spPr>
          <a:xfrm>
            <a:off x="841248" y="3566160"/>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9" name="Text 7"/>
          <p:cNvSpPr/>
          <p:nvPr/>
        </p:nvSpPr>
        <p:spPr>
          <a:xfrm>
            <a:off x="1115568" y="3547872"/>
            <a:ext cx="6126480" cy="868680"/>
          </a:xfrm>
          <a:prstGeom prst="rect">
            <a:avLst/>
          </a:prstGeom>
          <a:noFill/>
          <a:ln/>
        </p:spPr>
        <p:txBody>
          <a:bodyPr wrap="square" lIns="0" tIns="0" rIns="0" bIns="0" rtlCol="0" anchor="t">
            <a:normAutofit/>
          </a:bodyPr>
          <a:lstStyle/>
          <a:p>
            <a:pPr marL="0" indent="0">
              <a:buNone/>
            </a:pPr>
            <a:r>
              <a:rPr lang="en-US" sz="1700" b="1">
                <a:solidFill>
                  <a:srgbClr val="FFFFFF"/>
                </a:solidFill>
                <a:latin typeface="Gill Sans MT"/>
                <a:ea typeface="Gill Sans MT" pitchFamily="34" charset="-122"/>
                <a:cs typeface="Gill Sans MT" pitchFamily="34" charset="-120"/>
              </a:rPr>
              <a:t>Follow your values — </a:t>
            </a:r>
            <a:r>
              <a:rPr lang="en-US" sz="1700" b="1" err="1">
                <a:solidFill>
                  <a:srgbClr val="FFFFFF"/>
                </a:solidFill>
                <a:latin typeface="Gill Sans MT"/>
                <a:ea typeface="Gill Sans MT" pitchFamily="34" charset="-122"/>
                <a:cs typeface="Gill Sans MT" pitchFamily="34" charset="-120"/>
              </a:rPr>
              <a:t>duidelijk</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niet</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herkenbaar</a:t>
            </a:r>
            <a:r>
              <a:rPr lang="en-US" sz="1700" b="1">
                <a:solidFill>
                  <a:srgbClr val="FFFFFF"/>
                </a:solidFill>
                <a:latin typeface="Gill Sans MT"/>
                <a:ea typeface="Gill Sans MT" pitchFamily="34" charset="-122"/>
                <a:cs typeface="Gill Sans MT" pitchFamily="34" charset="-120"/>
              </a:rPr>
              <a:t>: de claim van “clean diesel” </a:t>
            </a:r>
            <a:r>
              <a:rPr lang="en-US" sz="1700" b="1" err="1">
                <a:solidFill>
                  <a:srgbClr val="FFFFFF"/>
                </a:solidFill>
                <a:latin typeface="Gill Sans MT"/>
                <a:ea typeface="Gill Sans MT" pitchFamily="34" charset="-122"/>
                <a:cs typeface="Gill Sans MT" pitchFamily="34" charset="-120"/>
              </a:rPr>
              <a:t>botste</a:t>
            </a:r>
            <a:r>
              <a:rPr lang="en-US" sz="1700" b="1">
                <a:solidFill>
                  <a:srgbClr val="FFFFFF"/>
                </a:solidFill>
                <a:latin typeface="Gill Sans MT"/>
                <a:ea typeface="Gill Sans MT" pitchFamily="34" charset="-122"/>
                <a:cs typeface="Gill Sans MT" pitchFamily="34" charset="-120"/>
              </a:rPr>
              <a:t> direct met </a:t>
            </a:r>
            <a:r>
              <a:rPr lang="en-US" sz="1700" b="1" err="1">
                <a:solidFill>
                  <a:srgbClr val="FFFFFF"/>
                </a:solidFill>
                <a:latin typeface="Gill Sans MT"/>
                <a:ea typeface="Gill Sans MT" pitchFamily="34" charset="-122"/>
                <a:cs typeface="Gill Sans MT" pitchFamily="34" charset="-120"/>
              </a:rPr>
              <a:t>doelbewuste</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misleiding</a:t>
            </a:r>
            <a:r>
              <a:rPr lang="en-US" sz="1700" b="1">
                <a:solidFill>
                  <a:srgbClr val="FFFFFF"/>
                </a:solidFill>
                <a:latin typeface="Gill Sans MT"/>
                <a:ea typeface="Gill Sans MT" pitchFamily="34" charset="-122"/>
                <a:cs typeface="Gill Sans MT" pitchFamily="34" charset="-120"/>
              </a:rPr>
              <a:t>.</a:t>
            </a:r>
            <a:endParaRPr lang="en-US" sz="1700">
              <a:latin typeface="Gill Sans MT"/>
            </a:endParaRPr>
          </a:p>
        </p:txBody>
      </p:sp>
      <p:sp>
        <p:nvSpPr>
          <p:cNvPr id="10" name="Text 8"/>
          <p:cNvSpPr/>
          <p:nvPr/>
        </p:nvSpPr>
        <p:spPr>
          <a:xfrm>
            <a:off x="841248" y="4626864"/>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11" name="Text 9"/>
          <p:cNvSpPr/>
          <p:nvPr/>
        </p:nvSpPr>
        <p:spPr>
          <a:xfrm>
            <a:off x="1115568" y="4608576"/>
            <a:ext cx="6126480" cy="868680"/>
          </a:xfrm>
          <a:prstGeom prst="rect">
            <a:avLst/>
          </a:prstGeom>
          <a:noFill/>
          <a:ln/>
        </p:spPr>
        <p:txBody>
          <a:bodyPr wrap="square" lIns="0" tIns="0" rIns="0" bIns="0" rtlCol="0" anchor="t">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Sharing power — beperkt, maar later noodzakelijk: externe toezichthouders, juristen en onderzoekers moesten mee richting geven aan herstel.</a:t>
            </a:r>
            <a:endParaRPr lang="en-US" sz="1720"/>
          </a:p>
        </p:txBody>
      </p:sp>
      <p:pic>
        <p:nvPicPr>
          <p:cNvPr id="12" name="Image 0" descr="/mnt/data/vw_emissions_test.jpg"/>
          <p:cNvPicPr>
            <a:picLocks noChangeAspect="1"/>
          </p:cNvPicPr>
          <p:nvPr/>
        </p:nvPicPr>
        <p:blipFill>
          <a:blip r:embed="rId3"/>
          <a:srcRect l="6892" r="6892"/>
          <a:stretch/>
        </p:blipFill>
        <p:spPr>
          <a:xfrm>
            <a:off x="8183880" y="2039112"/>
            <a:ext cx="3474720" cy="2670048"/>
          </a:xfrm>
          <a:prstGeom prst="rect">
            <a:avLst/>
          </a:prstGeom>
        </p:spPr>
      </p:pic>
      <p:pic>
        <p:nvPicPr>
          <p:cNvPr id="13" name="Image 0" descr="/mnt/data/ws32_ppt/assets/image3.png">
            <a:extLst>
              <a:ext uri="{FF2B5EF4-FFF2-40B4-BE49-F238E27FC236}">
                <a16:creationId xmlns:a16="http://schemas.microsoft.com/office/drawing/2014/main" id="{51FF7F9F-8D49-E211-D0DC-C41BBAEA739C}"/>
              </a:ext>
            </a:extLst>
          </p:cNvPr>
          <p:cNvPicPr>
            <a:picLocks noChangeAspect="1"/>
          </p:cNvPicPr>
          <p:nvPr/>
        </p:nvPicPr>
        <p:blipFill>
          <a:blip r:embed="rId4"/>
          <a:stretch>
            <a:fillRect/>
          </a:stretch>
        </p:blipFill>
        <p:spPr>
          <a:xfrm>
            <a:off x="10817352" y="109728"/>
            <a:ext cx="822960" cy="822960"/>
          </a:xfrm>
          <a:prstGeom prst="rect">
            <a:avLst/>
          </a:prstGeom>
        </p:spPr>
      </p:pic>
    </p:spTree>
    <p:extLst>
      <p:ext uri="{BB962C8B-B14F-4D97-AF65-F5344CB8AC3E}">
        <p14:creationId xmlns:p14="http://schemas.microsoft.com/office/powerpoint/2010/main" val="883517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021325"/>
        </a:solidFill>
        <a:effectLst/>
      </p:bgPr>
    </p:bg>
    <p:spTree>
      <p:nvGrpSpPr>
        <p:cNvPr id="1" name=""/>
        <p:cNvGrpSpPr/>
        <p:nvPr/>
      </p:nvGrpSpPr>
      <p:grpSpPr>
        <a:xfrm>
          <a:off x="0" y="0"/>
          <a:ext cx="0" cy="0"/>
          <a:chOff x="0" y="0"/>
          <a:chExt cx="0" cy="0"/>
        </a:xfrm>
      </p:grpSpPr>
      <p:sp>
        <p:nvSpPr>
          <p:cNvPr id="2" name="Text 0"/>
          <p:cNvSpPr/>
          <p:nvPr/>
        </p:nvSpPr>
        <p:spPr>
          <a:xfrm>
            <a:off x="530352" y="256032"/>
            <a:ext cx="6583680" cy="384048"/>
          </a:xfrm>
          <a:prstGeom prst="rect">
            <a:avLst/>
          </a:prstGeom>
          <a:noFill/>
          <a:ln/>
        </p:spPr>
        <p:txBody>
          <a:bodyPr wrap="square" lIns="0" tIns="0" rIns="0" bIns="0" rtlCol="0" anchor="t"/>
          <a:lstStyle/>
          <a:p>
            <a:pPr marL="0" indent="0">
              <a:buNone/>
            </a:pPr>
            <a:r>
              <a:rPr lang="en-US" sz="3000">
                <a:solidFill>
                  <a:srgbClr val="FFFFFF"/>
                </a:solidFill>
                <a:latin typeface="Gill Sans MT" pitchFamily="34" charset="0"/>
                <a:ea typeface="Gill Sans MT" pitchFamily="34" charset="-122"/>
                <a:cs typeface="Gill Sans MT" pitchFamily="34" charset="-120"/>
              </a:rPr>
              <a:t>SITUATIONEEL LEIDERSCHAP</a:t>
            </a:r>
            <a:endParaRPr lang="en-US" sz="3000"/>
          </a:p>
        </p:txBody>
      </p:sp>
      <p:sp>
        <p:nvSpPr>
          <p:cNvPr id="4" name="Text 2"/>
          <p:cNvSpPr/>
          <p:nvPr/>
        </p:nvSpPr>
        <p:spPr>
          <a:xfrm>
            <a:off x="841248" y="1650417"/>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5" name="Text 3"/>
          <p:cNvSpPr/>
          <p:nvPr/>
        </p:nvSpPr>
        <p:spPr>
          <a:xfrm>
            <a:off x="1115568" y="1444752"/>
            <a:ext cx="6126480" cy="822960"/>
          </a:xfrm>
          <a:prstGeom prst="rect">
            <a:avLst/>
          </a:prstGeom>
          <a:noFill/>
          <a:ln/>
        </p:spPr>
        <p:txBody>
          <a:bodyPr wrap="square" lIns="0" tIns="0" rIns="0" bIns="0" rtlCol="0" anchor="t">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Instrueren — in de acute fase nodig voor crisisstructuur, feitencontrole, woordvoering en duidelijke compliance-opdrachten.</a:t>
            </a:r>
            <a:endParaRPr lang="en-US" sz="1720"/>
          </a:p>
        </p:txBody>
      </p:sp>
      <p:sp>
        <p:nvSpPr>
          <p:cNvPr id="6" name="Text 4"/>
          <p:cNvSpPr/>
          <p:nvPr/>
        </p:nvSpPr>
        <p:spPr>
          <a:xfrm>
            <a:off x="841248" y="2560320"/>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7" name="Text 5"/>
          <p:cNvSpPr/>
          <p:nvPr/>
        </p:nvSpPr>
        <p:spPr>
          <a:xfrm>
            <a:off x="1115568" y="2542032"/>
            <a:ext cx="6126480" cy="822960"/>
          </a:xfrm>
          <a:prstGeom prst="rect">
            <a:avLst/>
          </a:prstGeom>
          <a:noFill/>
          <a:ln/>
        </p:spPr>
        <p:txBody>
          <a:bodyPr wrap="square" lIns="0" tIns="0" rIns="0" bIns="0" rtlCol="0" anchor="t">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Coachen — teams begeleiden onder hoge druk, onzekerheid en reputatieschade, zodat beslissingen beter onderbouwd blijven.</a:t>
            </a:r>
            <a:endParaRPr lang="en-US" sz="1720"/>
          </a:p>
        </p:txBody>
      </p:sp>
      <p:sp>
        <p:nvSpPr>
          <p:cNvPr id="8" name="Text 6"/>
          <p:cNvSpPr/>
          <p:nvPr/>
        </p:nvSpPr>
        <p:spPr>
          <a:xfrm>
            <a:off x="841248" y="3657600"/>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9" name="Text 7"/>
          <p:cNvSpPr/>
          <p:nvPr/>
        </p:nvSpPr>
        <p:spPr>
          <a:xfrm>
            <a:off x="1115568" y="3639312"/>
            <a:ext cx="6126480" cy="822960"/>
          </a:xfrm>
          <a:prstGeom prst="rect">
            <a:avLst/>
          </a:prstGeom>
          <a:noFill/>
          <a:ln/>
        </p:spPr>
        <p:txBody>
          <a:bodyPr wrap="square" lIns="0" tIns="0" rIns="0" bIns="0" rtlCol="0" anchor="t">
            <a:normAutofit/>
          </a:bodyPr>
          <a:lstStyle/>
          <a:p>
            <a:pPr marL="0" indent="0">
              <a:buNone/>
            </a:pPr>
            <a:r>
              <a:rPr lang="en-US" sz="1700" b="1" err="1">
                <a:solidFill>
                  <a:srgbClr val="FFFFFF"/>
                </a:solidFill>
                <a:latin typeface="Gill Sans MT"/>
                <a:ea typeface="Gill Sans MT" pitchFamily="34" charset="-122"/>
                <a:cs typeface="Gill Sans MT" pitchFamily="34" charset="-120"/>
              </a:rPr>
              <a:t>Motiveren</a:t>
            </a:r>
            <a:r>
              <a:rPr lang="en-US" sz="1700" b="1">
                <a:solidFill>
                  <a:srgbClr val="FFFFFF"/>
                </a:solidFill>
                <a:latin typeface="Gill Sans MT"/>
                <a:ea typeface="Gill Sans MT" pitchFamily="34" charset="-122"/>
                <a:cs typeface="Gill Sans MT" pitchFamily="34" charset="-120"/>
              </a:rPr>
              <a:t> — </a:t>
            </a:r>
            <a:r>
              <a:rPr lang="en-US" sz="1700" b="1" err="1">
                <a:solidFill>
                  <a:srgbClr val="FFFFFF"/>
                </a:solidFill>
                <a:latin typeface="Gill Sans MT"/>
                <a:ea typeface="Gill Sans MT" pitchFamily="34" charset="-122"/>
                <a:cs typeface="Gill Sans MT" pitchFamily="34" charset="-120"/>
              </a:rPr>
              <a:t>essentieel</a:t>
            </a:r>
            <a:r>
              <a:rPr lang="en-US" sz="1700" b="1">
                <a:solidFill>
                  <a:srgbClr val="FFFFFF"/>
                </a:solidFill>
                <a:latin typeface="Gill Sans MT"/>
                <a:ea typeface="Gill Sans MT" pitchFamily="34" charset="-122"/>
                <a:cs typeface="Gill Sans MT" pitchFamily="34" charset="-120"/>
              </a:rPr>
              <a:t> in de </a:t>
            </a:r>
            <a:r>
              <a:rPr lang="en-US" sz="1700" b="1" err="1">
                <a:solidFill>
                  <a:srgbClr val="FFFFFF"/>
                </a:solidFill>
                <a:latin typeface="Gill Sans MT"/>
                <a:ea typeface="Gill Sans MT" pitchFamily="34" charset="-122"/>
                <a:cs typeface="Gill Sans MT" pitchFamily="34" charset="-120"/>
              </a:rPr>
              <a:t>herstelfase</a:t>
            </a:r>
            <a:r>
              <a:rPr lang="en-US" sz="1700" b="1">
                <a:solidFill>
                  <a:srgbClr val="FFFFFF"/>
                </a:solidFill>
                <a:latin typeface="Gill Sans MT"/>
                <a:ea typeface="Gill Sans MT" pitchFamily="34" charset="-122"/>
                <a:cs typeface="Gill Sans MT" pitchFamily="34" charset="-120"/>
              </a:rPr>
              <a:t> om </a:t>
            </a:r>
            <a:r>
              <a:rPr lang="en-US" sz="1700" b="1" err="1">
                <a:solidFill>
                  <a:srgbClr val="FFFFFF"/>
                </a:solidFill>
                <a:latin typeface="Gill Sans MT"/>
                <a:ea typeface="Gill Sans MT" pitchFamily="34" charset="-122"/>
                <a:cs typeface="Gill Sans MT" pitchFamily="34" charset="-120"/>
              </a:rPr>
              <a:t>medewerkers</a:t>
            </a:r>
            <a:r>
              <a:rPr lang="en-US" sz="1700" b="1">
                <a:solidFill>
                  <a:srgbClr val="FFFFFF"/>
                </a:solidFill>
                <a:latin typeface="Gill Sans MT"/>
                <a:ea typeface="Gill Sans MT" pitchFamily="34" charset="-122"/>
                <a:cs typeface="Gill Sans MT" pitchFamily="34" charset="-120"/>
              </a:rPr>
              <a:t> mee </a:t>
            </a:r>
            <a:r>
              <a:rPr lang="en-US" sz="1700" b="1" err="1">
                <a:solidFill>
                  <a:srgbClr val="FFFFFF"/>
                </a:solidFill>
                <a:latin typeface="Gill Sans MT"/>
                <a:ea typeface="Gill Sans MT" pitchFamily="34" charset="-122"/>
                <a:cs typeface="Gill Sans MT" pitchFamily="34" charset="-120"/>
              </a:rPr>
              <a:t>te</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nemen</a:t>
            </a:r>
            <a:r>
              <a:rPr lang="en-US" sz="1700" b="1">
                <a:solidFill>
                  <a:srgbClr val="FFFFFF"/>
                </a:solidFill>
                <a:latin typeface="Gill Sans MT"/>
                <a:ea typeface="Gill Sans MT" pitchFamily="34" charset="-122"/>
                <a:cs typeface="Gill Sans MT" pitchFamily="34" charset="-120"/>
              </a:rPr>
              <a:t> in </a:t>
            </a:r>
            <a:r>
              <a:rPr lang="en-US" sz="1700" b="1" err="1">
                <a:solidFill>
                  <a:srgbClr val="FFFFFF"/>
                </a:solidFill>
                <a:latin typeface="Gill Sans MT"/>
                <a:ea typeface="Gill Sans MT" pitchFamily="34" charset="-122"/>
                <a:cs typeface="Gill Sans MT" pitchFamily="34" charset="-120"/>
              </a:rPr>
              <a:t>cultuurverandering</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en</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vertrouwen</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terug</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te</a:t>
            </a:r>
            <a:r>
              <a:rPr lang="en-US" sz="1700" b="1">
                <a:solidFill>
                  <a:srgbClr val="FFFFFF"/>
                </a:solidFill>
                <a:latin typeface="Gill Sans MT"/>
                <a:ea typeface="Gill Sans MT" pitchFamily="34" charset="-122"/>
                <a:cs typeface="Gill Sans MT" pitchFamily="34" charset="-120"/>
              </a:rPr>
              <a:t> </a:t>
            </a:r>
            <a:r>
              <a:rPr lang="en-US" sz="1700" b="1" err="1">
                <a:solidFill>
                  <a:srgbClr val="FFFFFF"/>
                </a:solidFill>
                <a:latin typeface="Gill Sans MT"/>
                <a:ea typeface="Gill Sans MT" pitchFamily="34" charset="-122"/>
                <a:cs typeface="Gill Sans MT" pitchFamily="34" charset="-120"/>
              </a:rPr>
              <a:t>krijge</a:t>
            </a:r>
            <a:r>
              <a:rPr lang="en-US" sz="1700" b="1">
                <a:solidFill>
                  <a:srgbClr val="FFFFFF"/>
                </a:solidFill>
                <a:latin typeface="Gill Sans MT"/>
                <a:ea typeface="Gill Sans MT" pitchFamily="34" charset="-122"/>
                <a:cs typeface="Gill Sans MT" pitchFamily="34" charset="-120"/>
              </a:rPr>
              <a:t>n.</a:t>
            </a:r>
            <a:endParaRPr lang="en-US" sz="1700">
              <a:latin typeface="Gill Sans MT"/>
            </a:endParaRPr>
          </a:p>
        </p:txBody>
      </p:sp>
      <p:sp>
        <p:nvSpPr>
          <p:cNvPr id="10" name="Text 8"/>
          <p:cNvSpPr/>
          <p:nvPr/>
        </p:nvSpPr>
        <p:spPr>
          <a:xfrm>
            <a:off x="841248" y="4754880"/>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11" name="Text 9"/>
          <p:cNvSpPr/>
          <p:nvPr/>
        </p:nvSpPr>
        <p:spPr>
          <a:xfrm>
            <a:off x="1115568" y="4736592"/>
            <a:ext cx="6126480" cy="822960"/>
          </a:xfrm>
          <a:prstGeom prst="rect">
            <a:avLst/>
          </a:prstGeom>
          <a:noFill/>
          <a:ln/>
        </p:spPr>
        <p:txBody>
          <a:bodyPr wrap="square" lIns="0" tIns="0" rIns="0" bIns="0" rtlCol="0" anchor="t">
            <a:normAutofit/>
          </a:bodyPr>
          <a:lstStyle/>
          <a:p>
            <a:pPr marL="0" indent="0">
              <a:buNone/>
            </a:pPr>
            <a:r>
              <a:rPr lang="en-US" sz="1720" b="1">
                <a:solidFill>
                  <a:srgbClr val="FFFFFF"/>
                </a:solidFill>
                <a:latin typeface="Gill Sans MT" pitchFamily="34" charset="0"/>
                <a:ea typeface="Gill Sans MT" pitchFamily="34" charset="-122"/>
                <a:cs typeface="Gill Sans MT" pitchFamily="34" charset="-120"/>
              </a:rPr>
              <a:t>Delegeren — pas later passend, wanneer specialisten binnen duidelijke kaders zelfstandig aan herstel kunnen werken.</a:t>
            </a:r>
            <a:endParaRPr lang="en-US" sz="1720"/>
          </a:p>
        </p:txBody>
      </p:sp>
      <p:sp>
        <p:nvSpPr>
          <p:cNvPr id="12" name="Text 10"/>
          <p:cNvSpPr/>
          <p:nvPr/>
        </p:nvSpPr>
        <p:spPr>
          <a:xfrm>
            <a:off x="8211312" y="1417320"/>
            <a:ext cx="2926080" cy="201168"/>
          </a:xfrm>
          <a:prstGeom prst="rect">
            <a:avLst/>
          </a:prstGeom>
          <a:noFill/>
          <a:ln/>
        </p:spPr>
        <p:txBody>
          <a:bodyPr wrap="square" lIns="0" tIns="0" rIns="0" bIns="0" rtlCol="0" anchor="t"/>
          <a:lstStyle/>
          <a:p>
            <a:pPr marL="0" indent="0">
              <a:buNone/>
            </a:pPr>
            <a:r>
              <a:rPr lang="en-US" sz="1200" b="1">
                <a:solidFill>
                  <a:srgbClr val="F4C757"/>
                </a:solidFill>
                <a:latin typeface="Gill Sans MT" pitchFamily="34" charset="0"/>
                <a:ea typeface="Gill Sans MT" pitchFamily="34" charset="-122"/>
                <a:cs typeface="Gill Sans MT" pitchFamily="34" charset="-120"/>
              </a:rPr>
              <a:t>OFFICIËLE REACTIE</a:t>
            </a:r>
            <a:endParaRPr lang="en-US" sz="1200"/>
          </a:p>
        </p:txBody>
      </p:sp>
      <p:sp>
        <p:nvSpPr>
          <p:cNvPr id="13" name="Text 11"/>
          <p:cNvSpPr/>
          <p:nvPr/>
        </p:nvSpPr>
        <p:spPr>
          <a:xfrm>
            <a:off x="8211312" y="1783080"/>
            <a:ext cx="3154680" cy="1783080"/>
          </a:xfrm>
          <a:prstGeom prst="rect">
            <a:avLst/>
          </a:prstGeom>
          <a:noFill/>
          <a:ln/>
        </p:spPr>
        <p:txBody>
          <a:bodyPr wrap="square" lIns="0" tIns="0" rIns="0" bIns="0" rtlCol="0" anchor="t">
            <a:normAutofit/>
          </a:bodyPr>
          <a:lstStyle/>
          <a:p>
            <a:pPr marL="0" indent="0">
              <a:buNone/>
            </a:pPr>
            <a:r>
              <a:rPr lang="en-US" sz="1800" i="1">
                <a:solidFill>
                  <a:srgbClr val="FFFFFF"/>
                </a:solidFill>
                <a:latin typeface="Gill Sans MT" pitchFamily="34" charset="0"/>
                <a:ea typeface="Gill Sans MT" pitchFamily="34" charset="-122"/>
                <a:cs typeface="Gill Sans MT" pitchFamily="34" charset="-120"/>
              </a:rPr>
              <a:t>“I personally am deeply sorry that we have broken the trust of our customers and the public.”</a:t>
            </a:r>
            <a:endParaRPr lang="en-US" sz="1800"/>
          </a:p>
        </p:txBody>
      </p:sp>
      <p:sp>
        <p:nvSpPr>
          <p:cNvPr id="14" name="Text 12"/>
          <p:cNvSpPr/>
          <p:nvPr/>
        </p:nvSpPr>
        <p:spPr>
          <a:xfrm>
            <a:off x="8211312" y="4224528"/>
            <a:ext cx="2926080" cy="182880"/>
          </a:xfrm>
          <a:prstGeom prst="rect">
            <a:avLst/>
          </a:prstGeom>
          <a:noFill/>
          <a:ln/>
        </p:spPr>
        <p:txBody>
          <a:bodyPr wrap="square" lIns="0" tIns="0" rIns="0" bIns="0" rtlCol="0" anchor="t"/>
          <a:lstStyle/>
          <a:p>
            <a:pPr marL="0" indent="0">
              <a:buNone/>
            </a:pPr>
            <a:r>
              <a:rPr lang="en-US" sz="1200" b="1">
                <a:solidFill>
                  <a:srgbClr val="F4C757"/>
                </a:solidFill>
                <a:latin typeface="Gill Sans MT" pitchFamily="34" charset="0"/>
                <a:ea typeface="Gill Sans MT" pitchFamily="34" charset="-122"/>
                <a:cs typeface="Gill Sans MT" pitchFamily="34" charset="-120"/>
              </a:rPr>
              <a:t>— Martin Winterkorn, 20 september 2015</a:t>
            </a:r>
            <a:endParaRPr lang="en-US" sz="1200"/>
          </a:p>
        </p:txBody>
      </p:sp>
      <p:sp>
        <p:nvSpPr>
          <p:cNvPr id="15" name="Shape 13"/>
          <p:cNvSpPr/>
          <p:nvPr/>
        </p:nvSpPr>
        <p:spPr>
          <a:xfrm>
            <a:off x="8211312" y="1682496"/>
            <a:ext cx="822960" cy="0"/>
          </a:xfrm>
          <a:prstGeom prst="line">
            <a:avLst/>
          </a:prstGeom>
          <a:noFill/>
          <a:ln w="12700">
            <a:solidFill>
              <a:srgbClr val="F4C757"/>
            </a:solidFill>
            <a:prstDash val="solid"/>
          </a:ln>
        </p:spPr>
        <p:txBody>
          <a:bodyPr/>
          <a:lstStyle/>
          <a:p>
            <a:endParaRPr lang="nl-NL"/>
          </a:p>
        </p:txBody>
      </p:sp>
      <p:sp>
        <p:nvSpPr>
          <p:cNvPr id="16" name="Shape 14"/>
          <p:cNvSpPr/>
          <p:nvPr/>
        </p:nvSpPr>
        <p:spPr>
          <a:xfrm>
            <a:off x="8211312" y="4096512"/>
            <a:ext cx="1005840" cy="0"/>
          </a:xfrm>
          <a:prstGeom prst="line">
            <a:avLst/>
          </a:prstGeom>
          <a:noFill/>
          <a:ln w="12700">
            <a:solidFill>
              <a:srgbClr val="F4C757"/>
            </a:solidFill>
            <a:prstDash val="solid"/>
          </a:ln>
        </p:spPr>
        <p:txBody>
          <a:bodyPr/>
          <a:lstStyle/>
          <a:p>
            <a:endParaRPr lang="nl-NL"/>
          </a:p>
        </p:txBody>
      </p:sp>
      <p:pic>
        <p:nvPicPr>
          <p:cNvPr id="17" name="Image 0" descr="/mnt/data/ws32_ppt/assets/image3.png">
            <a:extLst>
              <a:ext uri="{FF2B5EF4-FFF2-40B4-BE49-F238E27FC236}">
                <a16:creationId xmlns:a16="http://schemas.microsoft.com/office/drawing/2014/main" id="{BD94BE43-6D37-33E0-A448-8383D5D1117B}"/>
              </a:ext>
            </a:extLst>
          </p:cNvPr>
          <p:cNvPicPr>
            <a:picLocks noChangeAspect="1"/>
          </p:cNvPicPr>
          <p:nvPr/>
        </p:nvPicPr>
        <p:blipFill>
          <a:blip r:embed="rId3"/>
          <a:stretch>
            <a:fillRect/>
          </a:stretch>
        </p:blipFill>
        <p:spPr>
          <a:xfrm>
            <a:off x="10817352" y="109728"/>
            <a:ext cx="822960" cy="822960"/>
          </a:xfrm>
          <a:prstGeom prst="rect">
            <a:avLst/>
          </a:prstGeom>
        </p:spPr>
      </p:pic>
    </p:spTree>
    <p:extLst>
      <p:ext uri="{BB962C8B-B14F-4D97-AF65-F5344CB8AC3E}">
        <p14:creationId xmlns:p14="http://schemas.microsoft.com/office/powerpoint/2010/main" val="1416923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021325"/>
        </a:solidFill>
        <a:effectLst/>
      </p:bgPr>
    </p:bg>
    <p:spTree>
      <p:nvGrpSpPr>
        <p:cNvPr id="1" name=""/>
        <p:cNvGrpSpPr/>
        <p:nvPr/>
      </p:nvGrpSpPr>
      <p:grpSpPr>
        <a:xfrm>
          <a:off x="0" y="0"/>
          <a:ext cx="0" cy="0"/>
          <a:chOff x="0" y="0"/>
          <a:chExt cx="0" cy="0"/>
        </a:xfrm>
      </p:grpSpPr>
      <p:sp>
        <p:nvSpPr>
          <p:cNvPr id="2" name="Text 0"/>
          <p:cNvSpPr/>
          <p:nvPr/>
        </p:nvSpPr>
        <p:spPr>
          <a:xfrm>
            <a:off x="530352" y="256032"/>
            <a:ext cx="6583680" cy="384048"/>
          </a:xfrm>
          <a:prstGeom prst="rect">
            <a:avLst/>
          </a:prstGeom>
          <a:noFill/>
          <a:ln/>
        </p:spPr>
        <p:txBody>
          <a:bodyPr wrap="square" lIns="0" tIns="0" rIns="0" bIns="0" rtlCol="0" anchor="t"/>
          <a:lstStyle/>
          <a:p>
            <a:pPr marL="0" indent="0">
              <a:buNone/>
            </a:pPr>
            <a:r>
              <a:rPr lang="en-US" sz="3000">
                <a:solidFill>
                  <a:srgbClr val="FFFFFF"/>
                </a:solidFill>
                <a:latin typeface="Gill Sans MT" pitchFamily="34" charset="0"/>
                <a:ea typeface="Gill Sans MT" pitchFamily="34" charset="-122"/>
                <a:cs typeface="Gill Sans MT" pitchFamily="34" charset="-120"/>
              </a:rPr>
              <a:t>KEY TAKE-AWAYS &amp; CONCLUSIE</a:t>
            </a:r>
            <a:endParaRPr lang="en-US" sz="3000"/>
          </a:p>
        </p:txBody>
      </p:sp>
      <p:sp>
        <p:nvSpPr>
          <p:cNvPr id="4" name="Text 2"/>
          <p:cNvSpPr/>
          <p:nvPr/>
        </p:nvSpPr>
        <p:spPr>
          <a:xfrm>
            <a:off x="841248" y="1591056"/>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5" name="Text 3"/>
          <p:cNvSpPr/>
          <p:nvPr/>
        </p:nvSpPr>
        <p:spPr>
          <a:xfrm>
            <a:off x="1115568" y="1572768"/>
            <a:ext cx="6309360" cy="731520"/>
          </a:xfrm>
          <a:prstGeom prst="rect">
            <a:avLst/>
          </a:prstGeom>
          <a:noFill/>
          <a:ln/>
        </p:spPr>
        <p:txBody>
          <a:bodyPr wrap="square" lIns="0" tIns="0" rIns="0" bIns="0" rtlCol="0" anchor="t">
            <a:normAutofit fontScale="92500"/>
          </a:bodyPr>
          <a:lstStyle/>
          <a:p>
            <a:pPr marL="0" indent="0">
              <a:buNone/>
            </a:pPr>
            <a:r>
              <a:rPr lang="en-US" sz="1800">
                <a:solidFill>
                  <a:srgbClr val="FFFFFF"/>
                </a:solidFill>
                <a:latin typeface="Gill Sans MT" pitchFamily="34" charset="0"/>
                <a:ea typeface="Gill Sans MT" pitchFamily="34" charset="-122"/>
                <a:cs typeface="Gill Sans MT" pitchFamily="34" charset="-120"/>
              </a:rPr>
              <a:t>Opzettelijke misleiding vergroot de crisisimpact: niet alleen het product, maar ook cultuur en geloofwaardigheid komen onder vuur te liggen.</a:t>
            </a:r>
            <a:endParaRPr lang="en-US" sz="1800"/>
          </a:p>
        </p:txBody>
      </p:sp>
      <p:sp>
        <p:nvSpPr>
          <p:cNvPr id="6" name="Text 4"/>
          <p:cNvSpPr/>
          <p:nvPr/>
        </p:nvSpPr>
        <p:spPr>
          <a:xfrm>
            <a:off x="841248" y="2670048"/>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7" name="Text 5"/>
          <p:cNvSpPr/>
          <p:nvPr/>
        </p:nvSpPr>
        <p:spPr>
          <a:xfrm>
            <a:off x="1115568" y="2651760"/>
            <a:ext cx="6309360" cy="731520"/>
          </a:xfrm>
          <a:prstGeom prst="rect">
            <a:avLst/>
          </a:prstGeom>
          <a:noFill/>
          <a:ln/>
        </p:spPr>
        <p:txBody>
          <a:bodyPr wrap="square" lIns="0" tIns="0" rIns="0" bIns="0" rtlCol="0" anchor="t">
            <a:normAutofit fontScale="92500" lnSpcReduction="10000"/>
          </a:bodyPr>
          <a:lstStyle/>
          <a:p>
            <a:r>
              <a:rPr lang="en-US" sz="1800" err="1">
                <a:solidFill>
                  <a:srgbClr val="FFFFFF"/>
                </a:solidFill>
                <a:latin typeface="Gill Sans MT"/>
                <a:ea typeface="Gill Sans MT" pitchFamily="34" charset="-122"/>
                <a:cs typeface="Gill Sans MT" pitchFamily="34" charset="-120"/>
              </a:rPr>
              <a:t>Transparantie</a:t>
            </a:r>
            <a:r>
              <a:rPr lang="en-US" sz="1800">
                <a:solidFill>
                  <a:srgbClr val="FFFFFF"/>
                </a:solidFill>
                <a:latin typeface="Gill Sans MT"/>
                <a:ea typeface="Gill Sans MT" pitchFamily="34" charset="-122"/>
                <a:cs typeface="Gill Sans MT" pitchFamily="34" charset="-120"/>
              </a:rPr>
              <a:t> </a:t>
            </a:r>
            <a:r>
              <a:rPr lang="en-US" sz="1800" err="1">
                <a:solidFill>
                  <a:srgbClr val="FFFFFF"/>
                </a:solidFill>
                <a:latin typeface="Gill Sans MT"/>
                <a:ea typeface="Gill Sans MT" pitchFamily="34" charset="-122"/>
                <a:cs typeface="Gill Sans MT" pitchFamily="34" charset="-120"/>
              </a:rPr>
              <a:t>moet</a:t>
            </a:r>
            <a:r>
              <a:rPr lang="en-US" sz="1800">
                <a:solidFill>
                  <a:srgbClr val="FFFFFF"/>
                </a:solidFill>
                <a:latin typeface="Gill Sans MT"/>
                <a:ea typeface="Gill Sans MT" pitchFamily="34" charset="-122"/>
                <a:cs typeface="Gill Sans MT" pitchFamily="34" charset="-120"/>
              </a:rPr>
              <a:t> direct </a:t>
            </a:r>
            <a:r>
              <a:rPr lang="en-US" sz="1800" err="1">
                <a:solidFill>
                  <a:srgbClr val="FFFFFF"/>
                </a:solidFill>
                <a:latin typeface="Gill Sans MT"/>
                <a:ea typeface="Gill Sans MT" pitchFamily="34" charset="-122"/>
                <a:cs typeface="Gill Sans MT" pitchFamily="34" charset="-120"/>
              </a:rPr>
              <a:t>centraal</a:t>
            </a:r>
            <a:r>
              <a:rPr lang="en-US" sz="1800">
                <a:solidFill>
                  <a:srgbClr val="FFFFFF"/>
                </a:solidFill>
                <a:latin typeface="Gill Sans MT"/>
                <a:ea typeface="Gill Sans MT" pitchFamily="34" charset="-122"/>
                <a:cs typeface="Gill Sans MT" pitchFamily="34" charset="-120"/>
              </a:rPr>
              <a:t> </a:t>
            </a:r>
            <a:r>
              <a:rPr lang="en-US" sz="1800" err="1">
                <a:solidFill>
                  <a:srgbClr val="FFFFFF"/>
                </a:solidFill>
                <a:latin typeface="Gill Sans MT"/>
                <a:ea typeface="Gill Sans MT" pitchFamily="34" charset="-122"/>
                <a:cs typeface="Gill Sans MT" pitchFamily="34" charset="-120"/>
              </a:rPr>
              <a:t>staan</a:t>
            </a:r>
            <a:r>
              <a:rPr lang="en-US" sz="1800">
                <a:solidFill>
                  <a:srgbClr val="FFFFFF"/>
                </a:solidFill>
                <a:latin typeface="Gill Sans MT"/>
                <a:ea typeface="Gill Sans MT" pitchFamily="34" charset="-122"/>
                <a:cs typeface="Gill Sans MT" pitchFamily="34" charset="-120"/>
              </a:rPr>
              <a:t>; </a:t>
            </a:r>
            <a:r>
              <a:rPr lang="en-US" sz="1800" err="1">
                <a:solidFill>
                  <a:srgbClr val="FFFFFF"/>
                </a:solidFill>
                <a:latin typeface="Gill Sans MT"/>
                <a:ea typeface="Gill Sans MT" pitchFamily="34" charset="-122"/>
                <a:cs typeface="Gill Sans MT" pitchFamily="34" charset="-120"/>
              </a:rPr>
              <a:t>anders</a:t>
            </a:r>
            <a:r>
              <a:rPr lang="en-US" sz="1800">
                <a:solidFill>
                  <a:srgbClr val="FFFFFF"/>
                </a:solidFill>
                <a:latin typeface="Gill Sans MT"/>
                <a:ea typeface="Gill Sans MT" pitchFamily="34" charset="-122"/>
                <a:cs typeface="Gill Sans MT" pitchFamily="34" charset="-120"/>
              </a:rPr>
              <a:t> </a:t>
            </a:r>
            <a:r>
              <a:rPr lang="en-US" sz="1800" err="1">
                <a:solidFill>
                  <a:srgbClr val="FFFFFF"/>
                </a:solidFill>
                <a:latin typeface="Gill Sans MT"/>
                <a:ea typeface="Gill Sans MT" pitchFamily="34" charset="-122"/>
                <a:cs typeface="Gill Sans MT" pitchFamily="34" charset="-120"/>
              </a:rPr>
              <a:t>verlies</a:t>
            </a:r>
            <a:r>
              <a:rPr lang="en-US" sz="1800">
                <a:solidFill>
                  <a:srgbClr val="FFFFFF"/>
                </a:solidFill>
                <a:latin typeface="Gill Sans MT"/>
                <a:ea typeface="Gill Sans MT" pitchFamily="34" charset="-122"/>
                <a:cs typeface="Gill Sans MT" pitchFamily="34" charset="-120"/>
              </a:rPr>
              <a:t> je de </a:t>
            </a:r>
            <a:r>
              <a:rPr lang="en-US" err="1">
                <a:solidFill>
                  <a:srgbClr val="FFFFFF"/>
                </a:solidFill>
                <a:latin typeface="Gill Sans MT"/>
                <a:ea typeface="Gill Sans MT" pitchFamily="34" charset="-122"/>
                <a:cs typeface="Gill Sans MT" pitchFamily="34" charset="-120"/>
              </a:rPr>
              <a:t>leiding</a:t>
            </a:r>
            <a:r>
              <a:rPr lang="en-US">
                <a:solidFill>
                  <a:srgbClr val="FFFFFF"/>
                </a:solidFill>
                <a:latin typeface="Gill Sans MT"/>
                <a:ea typeface="Gill Sans MT" pitchFamily="34" charset="-122"/>
                <a:cs typeface="Gill Sans MT" pitchFamily="34" charset="-120"/>
              </a:rPr>
              <a:t> </a:t>
            </a:r>
            <a:r>
              <a:rPr lang="en-US" sz="1800" err="1">
                <a:solidFill>
                  <a:srgbClr val="FFFFFF"/>
                </a:solidFill>
                <a:latin typeface="Gill Sans MT"/>
                <a:ea typeface="Gill Sans MT" pitchFamily="34" charset="-122"/>
                <a:cs typeface="Gill Sans MT" pitchFamily="34" charset="-120"/>
              </a:rPr>
              <a:t>aan</a:t>
            </a:r>
            <a:r>
              <a:rPr lang="en-US" sz="1800">
                <a:solidFill>
                  <a:srgbClr val="FFFFFF"/>
                </a:solidFill>
                <a:latin typeface="Gill Sans MT"/>
                <a:ea typeface="Gill Sans MT" pitchFamily="34" charset="-122"/>
                <a:cs typeface="Gill Sans MT" pitchFamily="34" charset="-120"/>
              </a:rPr>
              <a:t> media, </a:t>
            </a:r>
            <a:r>
              <a:rPr lang="en-US" sz="1800" err="1">
                <a:solidFill>
                  <a:srgbClr val="FFFFFF"/>
                </a:solidFill>
                <a:latin typeface="Gill Sans MT"/>
                <a:ea typeface="Gill Sans MT" pitchFamily="34" charset="-122"/>
                <a:cs typeface="Gill Sans MT" pitchFamily="34" charset="-120"/>
              </a:rPr>
              <a:t>toezichthouders</a:t>
            </a:r>
            <a:r>
              <a:rPr lang="en-US" sz="1800">
                <a:solidFill>
                  <a:srgbClr val="FFFFFF"/>
                </a:solidFill>
                <a:latin typeface="Gill Sans MT"/>
                <a:ea typeface="Gill Sans MT" pitchFamily="34" charset="-122"/>
                <a:cs typeface="Gill Sans MT" pitchFamily="34" charset="-120"/>
              </a:rPr>
              <a:t> </a:t>
            </a:r>
            <a:r>
              <a:rPr lang="en-US" sz="1800" err="1">
                <a:solidFill>
                  <a:srgbClr val="FFFFFF"/>
                </a:solidFill>
                <a:latin typeface="Gill Sans MT"/>
                <a:ea typeface="Gill Sans MT" pitchFamily="34" charset="-122"/>
                <a:cs typeface="Gill Sans MT" pitchFamily="34" charset="-120"/>
              </a:rPr>
              <a:t>en</a:t>
            </a:r>
            <a:r>
              <a:rPr lang="en-US" sz="1800">
                <a:solidFill>
                  <a:srgbClr val="FFFFFF"/>
                </a:solidFill>
                <a:latin typeface="Gill Sans MT"/>
                <a:ea typeface="Gill Sans MT" pitchFamily="34" charset="-122"/>
                <a:cs typeface="Gill Sans MT" pitchFamily="34" charset="-120"/>
              </a:rPr>
              <a:t> </a:t>
            </a:r>
            <a:r>
              <a:rPr lang="en-US" sz="1800" err="1">
                <a:solidFill>
                  <a:srgbClr val="FFFFFF"/>
                </a:solidFill>
                <a:latin typeface="Gill Sans MT"/>
                <a:ea typeface="Gill Sans MT" pitchFamily="34" charset="-122"/>
                <a:cs typeface="Gill Sans MT" pitchFamily="34" charset="-120"/>
              </a:rPr>
              <a:t>rechtszaken</a:t>
            </a:r>
            <a:r>
              <a:rPr lang="en-US">
                <a:solidFill>
                  <a:srgbClr val="FFFFFF"/>
                </a:solidFill>
                <a:latin typeface="Gill Sans MT"/>
                <a:ea typeface="Gill Sans MT" pitchFamily="34" charset="-122"/>
                <a:cs typeface="Gill Sans MT" pitchFamily="34" charset="-120"/>
              </a:rPr>
              <a:t>, </a:t>
            </a:r>
            <a:r>
              <a:rPr lang="en-US" err="1">
                <a:solidFill>
                  <a:srgbClr val="FFFFFF"/>
                </a:solidFill>
                <a:latin typeface="Gill Sans MT"/>
                <a:ea typeface="Gill Sans MT" pitchFamily="34" charset="-122"/>
                <a:cs typeface="Gill Sans MT" pitchFamily="34" charset="-120"/>
              </a:rPr>
              <a:t>zij</a:t>
            </a:r>
            <a:r>
              <a:rPr lang="en-US">
                <a:solidFill>
                  <a:srgbClr val="FFFFFF"/>
                </a:solidFill>
                <a:latin typeface="Gill Sans MT"/>
                <a:ea typeface="Gill Sans MT" pitchFamily="34" charset="-122"/>
                <a:cs typeface="Gill Sans MT" pitchFamily="34" charset="-120"/>
              </a:rPr>
              <a:t> </a:t>
            </a:r>
            <a:r>
              <a:rPr lang="en-US" err="1">
                <a:solidFill>
                  <a:srgbClr val="FFFFFF"/>
                </a:solidFill>
                <a:latin typeface="Gill Sans MT"/>
                <a:ea typeface="Gill Sans MT" pitchFamily="34" charset="-122"/>
                <a:cs typeface="Gill Sans MT" pitchFamily="34" charset="-120"/>
              </a:rPr>
              <a:t>maken</a:t>
            </a:r>
            <a:r>
              <a:rPr lang="en-US">
                <a:solidFill>
                  <a:srgbClr val="FFFFFF"/>
                </a:solidFill>
                <a:latin typeface="Gill Sans MT"/>
                <a:ea typeface="Gill Sans MT" pitchFamily="34" charset="-122"/>
                <a:cs typeface="Gill Sans MT" pitchFamily="34" charset="-120"/>
              </a:rPr>
              <a:t> dan de </a:t>
            </a:r>
          </a:p>
          <a:p>
            <a:r>
              <a:rPr lang="en-US" err="1">
                <a:solidFill>
                  <a:srgbClr val="FFFFFF"/>
                </a:solidFill>
                <a:latin typeface="Gill Sans MT"/>
                <a:ea typeface="Gill Sans MT" pitchFamily="34" charset="-122"/>
                <a:cs typeface="Gill Sans MT" pitchFamily="34" charset="-120"/>
              </a:rPr>
              <a:t>aannames</a:t>
            </a:r>
          </a:p>
        </p:txBody>
      </p:sp>
      <p:sp>
        <p:nvSpPr>
          <p:cNvPr id="8" name="Text 6"/>
          <p:cNvSpPr/>
          <p:nvPr/>
        </p:nvSpPr>
        <p:spPr>
          <a:xfrm>
            <a:off x="841248" y="3749040"/>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9" name="Text 7"/>
          <p:cNvSpPr/>
          <p:nvPr/>
        </p:nvSpPr>
        <p:spPr>
          <a:xfrm>
            <a:off x="1115568" y="3730752"/>
            <a:ext cx="6309360" cy="731520"/>
          </a:xfrm>
          <a:prstGeom prst="rect">
            <a:avLst/>
          </a:prstGeom>
          <a:noFill/>
          <a:ln/>
        </p:spPr>
        <p:txBody>
          <a:bodyPr wrap="square" lIns="0" tIns="0" rIns="0" bIns="0" rtlCol="0" anchor="t">
            <a:normAutofit/>
          </a:bodyPr>
          <a:lstStyle/>
          <a:p>
            <a:pPr marL="0" indent="0">
              <a:buNone/>
            </a:pPr>
            <a:r>
              <a:rPr lang="en-US" sz="1800">
                <a:solidFill>
                  <a:srgbClr val="FFFFFF"/>
                </a:solidFill>
                <a:latin typeface="Gill Sans MT" pitchFamily="34" charset="0"/>
                <a:ea typeface="Gill Sans MT" pitchFamily="34" charset="-122"/>
                <a:cs typeface="Gill Sans MT" pitchFamily="34" charset="-120"/>
              </a:rPr>
              <a:t>Waarden en ethiek zijn net zo belangrijk als techniek: prestaties zonder integriteit leiden tot langdurige reputatieschade.</a:t>
            </a:r>
            <a:endParaRPr lang="en-US" sz="1800"/>
          </a:p>
        </p:txBody>
      </p:sp>
      <p:sp>
        <p:nvSpPr>
          <p:cNvPr id="10" name="Text 8"/>
          <p:cNvSpPr/>
          <p:nvPr/>
        </p:nvSpPr>
        <p:spPr>
          <a:xfrm>
            <a:off x="841248" y="4828032"/>
            <a:ext cx="164592" cy="201168"/>
          </a:xfrm>
          <a:prstGeom prst="rect">
            <a:avLst/>
          </a:prstGeom>
          <a:noFill/>
          <a:ln/>
        </p:spPr>
        <p:txBody>
          <a:bodyPr wrap="square" lIns="0" tIns="0" rIns="0" bIns="0" rtlCol="0" anchor="t"/>
          <a:lstStyle/>
          <a:p>
            <a:pPr marL="0" indent="0" algn="ctr">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11" name="Text 9"/>
          <p:cNvSpPr/>
          <p:nvPr/>
        </p:nvSpPr>
        <p:spPr>
          <a:xfrm>
            <a:off x="1115568" y="4828482"/>
            <a:ext cx="6309360" cy="731520"/>
          </a:xfrm>
          <a:prstGeom prst="rect">
            <a:avLst/>
          </a:prstGeom>
          <a:noFill/>
          <a:ln/>
        </p:spPr>
        <p:txBody>
          <a:bodyPr wrap="square" lIns="0" tIns="0" rIns="0" bIns="0" rtlCol="0" anchor="t">
            <a:normAutofit/>
          </a:bodyPr>
          <a:lstStyle/>
          <a:p>
            <a:pPr marL="0" indent="0">
              <a:buNone/>
            </a:pPr>
            <a:r>
              <a:rPr lang="en-US" sz="1800">
                <a:solidFill>
                  <a:srgbClr val="FFFFFF"/>
                </a:solidFill>
                <a:latin typeface="Gill Sans MT" pitchFamily="34" charset="0"/>
                <a:ea typeface="Gill Sans MT" pitchFamily="34" charset="-122"/>
                <a:cs typeface="Gill Sans MT" pitchFamily="34" charset="-120"/>
              </a:rPr>
              <a:t>Conclusie: Volkswagen kwam pas in beweging onder zware externe druk; eerder eerlijk handelen had de schade sterk kunnen beperken.</a:t>
            </a:r>
            <a:endParaRPr lang="en-US" sz="1800"/>
          </a:p>
        </p:txBody>
      </p:sp>
      <p:sp>
        <p:nvSpPr>
          <p:cNvPr id="12" name="Shape 10"/>
          <p:cNvSpPr/>
          <p:nvPr/>
        </p:nvSpPr>
        <p:spPr>
          <a:xfrm>
            <a:off x="8558784" y="1682496"/>
            <a:ext cx="2706624" cy="3584448"/>
          </a:xfrm>
          <a:prstGeom prst="rect">
            <a:avLst/>
          </a:prstGeom>
          <a:solidFill>
            <a:srgbClr val="0A1D36"/>
          </a:solidFill>
          <a:ln w="12700">
            <a:solidFill>
              <a:srgbClr val="F4C757"/>
            </a:solidFill>
            <a:prstDash val="solid"/>
          </a:ln>
        </p:spPr>
        <p:txBody>
          <a:bodyPr/>
          <a:lstStyle/>
          <a:p>
            <a:endParaRPr lang="nl-NL"/>
          </a:p>
        </p:txBody>
      </p:sp>
      <p:sp>
        <p:nvSpPr>
          <p:cNvPr id="13" name="Text 11"/>
          <p:cNvSpPr/>
          <p:nvPr/>
        </p:nvSpPr>
        <p:spPr>
          <a:xfrm>
            <a:off x="8796528" y="1938528"/>
            <a:ext cx="2194560" cy="384048"/>
          </a:xfrm>
          <a:prstGeom prst="rect">
            <a:avLst/>
          </a:prstGeom>
          <a:noFill/>
          <a:ln/>
        </p:spPr>
        <p:txBody>
          <a:bodyPr wrap="square" lIns="0" tIns="0" rIns="0" bIns="0" rtlCol="0" anchor="ctr"/>
          <a:lstStyle/>
          <a:p>
            <a:pPr marL="0" indent="0" algn="ctr">
              <a:buNone/>
            </a:pPr>
            <a:r>
              <a:rPr lang="en-US" sz="2900" b="1">
                <a:solidFill>
                  <a:srgbClr val="F4C757"/>
                </a:solidFill>
                <a:latin typeface="Gill Sans MT" pitchFamily="34" charset="0"/>
                <a:ea typeface="Gill Sans MT" pitchFamily="34" charset="-122"/>
                <a:cs typeface="Gill Sans MT" pitchFamily="34" charset="-120"/>
              </a:rPr>
              <a:t>11 mln</a:t>
            </a:r>
            <a:endParaRPr lang="en-US" sz="2900"/>
          </a:p>
        </p:txBody>
      </p:sp>
      <p:sp>
        <p:nvSpPr>
          <p:cNvPr id="14" name="Text 12"/>
          <p:cNvSpPr/>
          <p:nvPr/>
        </p:nvSpPr>
        <p:spPr>
          <a:xfrm>
            <a:off x="8759952" y="2395728"/>
            <a:ext cx="2286000" cy="256032"/>
          </a:xfrm>
          <a:prstGeom prst="rect">
            <a:avLst/>
          </a:prstGeom>
          <a:noFill/>
          <a:ln/>
        </p:spPr>
        <p:txBody>
          <a:bodyPr wrap="square" lIns="0" tIns="0" rIns="0" bIns="0" rtlCol="0" anchor="ctr"/>
          <a:lstStyle/>
          <a:p>
            <a:pPr marL="0" indent="0" algn="ctr">
              <a:buNone/>
            </a:pPr>
            <a:r>
              <a:rPr lang="en-US" sz="1150">
                <a:solidFill>
                  <a:srgbClr val="FFFFFF"/>
                </a:solidFill>
                <a:latin typeface="Gill Sans MT" pitchFamily="34" charset="0"/>
                <a:ea typeface="Gill Sans MT" pitchFamily="34" charset="-122"/>
                <a:cs typeface="Gill Sans MT" pitchFamily="34" charset="-120"/>
              </a:rPr>
              <a:t>voertuigen wereldwijd geraakt</a:t>
            </a:r>
            <a:endParaRPr lang="en-US" sz="1150"/>
          </a:p>
        </p:txBody>
      </p:sp>
      <p:sp>
        <p:nvSpPr>
          <p:cNvPr id="15" name="Shape 13"/>
          <p:cNvSpPr/>
          <p:nvPr/>
        </p:nvSpPr>
        <p:spPr>
          <a:xfrm>
            <a:off x="8887968" y="2852928"/>
            <a:ext cx="1993392" cy="0"/>
          </a:xfrm>
          <a:prstGeom prst="line">
            <a:avLst/>
          </a:prstGeom>
          <a:noFill/>
          <a:ln w="12700">
            <a:solidFill>
              <a:srgbClr val="6C7A90"/>
            </a:solidFill>
            <a:prstDash val="solid"/>
          </a:ln>
        </p:spPr>
        <p:txBody>
          <a:bodyPr/>
          <a:lstStyle/>
          <a:p>
            <a:endParaRPr lang="nl-NL"/>
          </a:p>
        </p:txBody>
      </p:sp>
      <p:sp>
        <p:nvSpPr>
          <p:cNvPr id="16" name="Text 14"/>
          <p:cNvSpPr/>
          <p:nvPr/>
        </p:nvSpPr>
        <p:spPr>
          <a:xfrm>
            <a:off x="8796528" y="3054096"/>
            <a:ext cx="2194560" cy="384048"/>
          </a:xfrm>
          <a:prstGeom prst="rect">
            <a:avLst/>
          </a:prstGeom>
          <a:noFill/>
          <a:ln/>
        </p:spPr>
        <p:txBody>
          <a:bodyPr wrap="square" lIns="0" tIns="0" rIns="0" bIns="0" rtlCol="0" anchor="ctr"/>
          <a:lstStyle/>
          <a:p>
            <a:pPr marL="0" indent="0" algn="ctr">
              <a:buNone/>
            </a:pPr>
            <a:r>
              <a:rPr lang="en-US" sz="2700" b="1">
                <a:solidFill>
                  <a:srgbClr val="F4C757"/>
                </a:solidFill>
                <a:latin typeface="Gill Sans MT" pitchFamily="34" charset="0"/>
                <a:ea typeface="Gill Sans MT" pitchFamily="34" charset="-122"/>
                <a:cs typeface="Gill Sans MT" pitchFamily="34" charset="-120"/>
              </a:rPr>
              <a:t>tot 40×</a:t>
            </a:r>
            <a:endParaRPr lang="en-US" sz="2700"/>
          </a:p>
        </p:txBody>
      </p:sp>
      <p:sp>
        <p:nvSpPr>
          <p:cNvPr id="17" name="Text 15"/>
          <p:cNvSpPr/>
          <p:nvPr/>
        </p:nvSpPr>
        <p:spPr>
          <a:xfrm>
            <a:off x="8714232" y="3511296"/>
            <a:ext cx="2395728" cy="292608"/>
          </a:xfrm>
          <a:prstGeom prst="rect">
            <a:avLst/>
          </a:prstGeom>
          <a:noFill/>
          <a:ln/>
        </p:spPr>
        <p:txBody>
          <a:bodyPr wrap="square" lIns="0" tIns="0" rIns="0" bIns="0" rtlCol="0" anchor="ctr"/>
          <a:lstStyle/>
          <a:p>
            <a:pPr marL="0" indent="0" algn="ctr">
              <a:buNone/>
            </a:pPr>
            <a:r>
              <a:rPr lang="en-US" sz="1120">
                <a:solidFill>
                  <a:srgbClr val="FFFFFF"/>
                </a:solidFill>
                <a:latin typeface="Gill Sans MT" pitchFamily="34" charset="0"/>
                <a:ea typeface="Gill Sans MT" pitchFamily="34" charset="-122"/>
                <a:cs typeface="Gill Sans MT" pitchFamily="34" charset="-120"/>
              </a:rPr>
              <a:t>meer vervuiling dan toegestaan</a:t>
            </a:r>
            <a:endParaRPr lang="en-US" sz="1120"/>
          </a:p>
        </p:txBody>
      </p:sp>
      <p:sp>
        <p:nvSpPr>
          <p:cNvPr id="18" name="Shape 16"/>
          <p:cNvSpPr/>
          <p:nvPr/>
        </p:nvSpPr>
        <p:spPr>
          <a:xfrm>
            <a:off x="8887968" y="4005072"/>
            <a:ext cx="1993392" cy="0"/>
          </a:xfrm>
          <a:prstGeom prst="line">
            <a:avLst/>
          </a:prstGeom>
          <a:noFill/>
          <a:ln w="12700">
            <a:solidFill>
              <a:srgbClr val="6C7A90"/>
            </a:solidFill>
            <a:prstDash val="solid"/>
          </a:ln>
        </p:spPr>
        <p:txBody>
          <a:bodyPr/>
          <a:lstStyle/>
          <a:p>
            <a:endParaRPr lang="nl-NL"/>
          </a:p>
        </p:txBody>
      </p:sp>
      <p:sp>
        <p:nvSpPr>
          <p:cNvPr id="19" name="Text 17"/>
          <p:cNvSpPr/>
          <p:nvPr/>
        </p:nvSpPr>
        <p:spPr>
          <a:xfrm>
            <a:off x="8613648" y="4206240"/>
            <a:ext cx="2560320" cy="384048"/>
          </a:xfrm>
          <a:prstGeom prst="rect">
            <a:avLst/>
          </a:prstGeom>
          <a:noFill/>
          <a:ln/>
        </p:spPr>
        <p:txBody>
          <a:bodyPr wrap="square" lIns="0" tIns="0" rIns="0" bIns="0" rtlCol="0" anchor="ctr"/>
          <a:lstStyle/>
          <a:p>
            <a:pPr marL="0" indent="0" algn="ctr">
              <a:buNone/>
            </a:pPr>
            <a:r>
              <a:rPr lang="en-US" sz="2550" b="1">
                <a:solidFill>
                  <a:srgbClr val="F4C757"/>
                </a:solidFill>
                <a:latin typeface="Gill Sans MT" pitchFamily="34" charset="0"/>
                <a:ea typeface="Gill Sans MT" pitchFamily="34" charset="-122"/>
                <a:cs typeface="Gill Sans MT" pitchFamily="34" charset="-120"/>
              </a:rPr>
              <a:t>$14.7 mrd</a:t>
            </a:r>
            <a:endParaRPr lang="en-US" sz="2550"/>
          </a:p>
        </p:txBody>
      </p:sp>
      <p:sp>
        <p:nvSpPr>
          <p:cNvPr id="20" name="Text 18"/>
          <p:cNvSpPr/>
          <p:nvPr/>
        </p:nvSpPr>
        <p:spPr>
          <a:xfrm>
            <a:off x="8723376" y="4645152"/>
            <a:ext cx="2359152" cy="292608"/>
          </a:xfrm>
          <a:prstGeom prst="rect">
            <a:avLst/>
          </a:prstGeom>
          <a:noFill/>
          <a:ln/>
        </p:spPr>
        <p:txBody>
          <a:bodyPr wrap="square" lIns="0" tIns="0" rIns="0" bIns="0" rtlCol="0" anchor="ctr"/>
          <a:lstStyle/>
          <a:p>
            <a:pPr marL="0" indent="0" algn="ctr">
              <a:buNone/>
            </a:pPr>
            <a:r>
              <a:rPr lang="en-US" sz="1120">
                <a:solidFill>
                  <a:srgbClr val="FFFFFF"/>
                </a:solidFill>
                <a:latin typeface="Gill Sans MT" pitchFamily="34" charset="0"/>
                <a:ea typeface="Gill Sans MT" pitchFamily="34" charset="-122"/>
                <a:cs typeface="Gill Sans MT" pitchFamily="34" charset="-120"/>
              </a:rPr>
              <a:t>U.S. schikking (2.0L-diesels)</a:t>
            </a:r>
            <a:endParaRPr lang="en-US" sz="1120"/>
          </a:p>
        </p:txBody>
      </p:sp>
      <p:pic>
        <p:nvPicPr>
          <p:cNvPr id="21" name="Image 0" descr="/mnt/data/ws32_ppt/assets/image3.png">
            <a:extLst>
              <a:ext uri="{FF2B5EF4-FFF2-40B4-BE49-F238E27FC236}">
                <a16:creationId xmlns:a16="http://schemas.microsoft.com/office/drawing/2014/main" id="{69D07193-83D3-410C-C047-9F39EAA99EC6}"/>
              </a:ext>
            </a:extLst>
          </p:cNvPr>
          <p:cNvPicPr>
            <a:picLocks noChangeAspect="1"/>
          </p:cNvPicPr>
          <p:nvPr/>
        </p:nvPicPr>
        <p:blipFill>
          <a:blip r:embed="rId3"/>
          <a:stretch>
            <a:fillRect/>
          </a:stretch>
        </p:blipFill>
        <p:spPr>
          <a:xfrm>
            <a:off x="10817352" y="109728"/>
            <a:ext cx="822960" cy="822960"/>
          </a:xfrm>
          <a:prstGeom prst="rect">
            <a:avLst/>
          </a:prstGeom>
        </p:spPr>
      </p:pic>
    </p:spTree>
    <p:extLst>
      <p:ext uri="{BB962C8B-B14F-4D97-AF65-F5344CB8AC3E}">
        <p14:creationId xmlns:p14="http://schemas.microsoft.com/office/powerpoint/2010/main" val="995787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40000"/>
                <a:lumOff val="60000"/>
              </a:schemeClr>
            </a:gs>
            <a:gs pos="83000">
              <a:schemeClr val="accent1">
                <a:lumMod val="75000"/>
              </a:schemeClr>
            </a:gs>
            <a:gs pos="91000">
              <a:schemeClr val="accent1">
                <a:lumMod val="50000"/>
              </a:schemeClr>
            </a:gs>
            <a:gs pos="100000">
              <a:srgbClr val="07162A"/>
            </a:gs>
          </a:gsLst>
          <a:lin ang="5400000" scaled="1"/>
        </a:gradFill>
        <a:effectLst/>
      </p:bgPr>
    </p:bg>
    <p:spTree>
      <p:nvGrpSpPr>
        <p:cNvPr id="1" name="">
          <a:extLst>
            <a:ext uri="{FF2B5EF4-FFF2-40B4-BE49-F238E27FC236}">
              <a16:creationId xmlns:a16="http://schemas.microsoft.com/office/drawing/2014/main" id="{C0F898C6-AC71-5779-4FA0-ACF9E11F51B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F7B2CA4-A6E0-16F4-49AA-C4492B7D0DE8}"/>
              </a:ext>
            </a:extLst>
          </p:cNvPr>
          <p:cNvSpPr/>
          <p:nvPr/>
        </p:nvSpPr>
        <p:spPr>
          <a:xfrm>
            <a:off x="658368" y="384048"/>
            <a:ext cx="5491420" cy="1828800"/>
          </a:xfrm>
          <a:prstGeom prst="rect">
            <a:avLst/>
          </a:prstGeom>
          <a:noFill/>
          <a:ln/>
        </p:spPr>
        <p:txBody>
          <a:bodyPr wrap="square" lIns="0" tIns="0" rIns="0" bIns="0" rtlCol="0" anchor="ctr"/>
          <a:lstStyle/>
          <a:p>
            <a:pPr marL="0" indent="0">
              <a:buNone/>
            </a:pPr>
            <a:endParaRPr lang="en-US" sz="3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4" name="Text 1">
            <a:extLst>
              <a:ext uri="{FF2B5EF4-FFF2-40B4-BE49-F238E27FC236}">
                <a16:creationId xmlns:a16="http://schemas.microsoft.com/office/drawing/2014/main" id="{F365B623-7B98-536C-917C-A3A8E41445BC}"/>
              </a:ext>
            </a:extLst>
          </p:cNvPr>
          <p:cNvSpPr/>
          <p:nvPr/>
        </p:nvSpPr>
        <p:spPr>
          <a:xfrm>
            <a:off x="658368" y="1865376"/>
            <a:ext cx="3840480" cy="320040"/>
          </a:xfrm>
          <a:prstGeom prst="rect">
            <a:avLst/>
          </a:prstGeom>
          <a:noFill/>
          <a:ln/>
        </p:spPr>
        <p:txBody>
          <a:bodyPr wrap="square" lIns="0" tIns="0" rIns="0" bIns="0" rtlCol="0" anchor="ctr"/>
          <a:lstStyle/>
          <a:p>
            <a:r>
              <a:rPr lang="en-US" sz="2000" b="1" i="1">
                <a:solidFill>
                  <a:srgbClr val="C00000"/>
                </a:solidFill>
                <a:latin typeface="Gill Sans MT"/>
              </a:rPr>
              <a:t>Target Data Breach</a:t>
            </a:r>
            <a:endParaRPr lang="en-US"/>
          </a:p>
        </p:txBody>
      </p:sp>
      <p:sp>
        <p:nvSpPr>
          <p:cNvPr id="6" name="Text 3">
            <a:extLst>
              <a:ext uri="{FF2B5EF4-FFF2-40B4-BE49-F238E27FC236}">
                <a16:creationId xmlns:a16="http://schemas.microsoft.com/office/drawing/2014/main" id="{39754A09-BFA6-915D-332D-5538C4A48EB5}"/>
              </a:ext>
            </a:extLst>
          </p:cNvPr>
          <p:cNvSpPr/>
          <p:nvPr/>
        </p:nvSpPr>
        <p:spPr>
          <a:xfrm>
            <a:off x="658368" y="4992624"/>
            <a:ext cx="4206240" cy="274320"/>
          </a:xfrm>
          <a:prstGeom prst="rect">
            <a:avLst/>
          </a:prstGeom>
          <a:noFill/>
          <a:ln/>
        </p:spPr>
        <p:txBody>
          <a:bodyPr wrap="square" lIns="0" tIns="0" rIns="0" bIns="0" rtlCol="0" anchor="ctr"/>
          <a:lstStyle/>
          <a:p>
            <a:pPr marL="0" indent="0">
              <a:buNone/>
            </a:pPr>
            <a:r>
              <a:rPr lang="en-US" sz="1700" b="1">
                <a:solidFill>
                  <a:srgbClr val="111111"/>
                </a:solidFill>
                <a:latin typeface="Gill Sans MT" pitchFamily="34" charset="0"/>
                <a:ea typeface="Gill Sans MT" pitchFamily="34" charset="-122"/>
                <a:cs typeface="Gill Sans MT" pitchFamily="34" charset="-120"/>
              </a:rPr>
              <a:t>Groep 10 · Firewall Force</a:t>
            </a:r>
            <a:endParaRPr lang="en-US" sz="1700"/>
          </a:p>
        </p:txBody>
      </p:sp>
      <p:sp>
        <p:nvSpPr>
          <p:cNvPr id="7" name="Text 4">
            <a:extLst>
              <a:ext uri="{FF2B5EF4-FFF2-40B4-BE49-F238E27FC236}">
                <a16:creationId xmlns:a16="http://schemas.microsoft.com/office/drawing/2014/main" id="{FE1CED0F-FC8A-C87B-EB75-15BB5F4C9C66}"/>
              </a:ext>
            </a:extLst>
          </p:cNvPr>
          <p:cNvSpPr/>
          <p:nvPr/>
        </p:nvSpPr>
        <p:spPr>
          <a:xfrm>
            <a:off x="658368" y="5358384"/>
            <a:ext cx="4297680" cy="320040"/>
          </a:xfrm>
          <a:prstGeom prst="rect">
            <a:avLst/>
          </a:prstGeom>
          <a:noFill/>
          <a:ln/>
        </p:spPr>
        <p:txBody>
          <a:bodyPr wrap="square" lIns="0" tIns="0" rIns="0" bIns="0" rtlCol="0" anchor="ctr"/>
          <a:lstStyle/>
          <a:p>
            <a:pPr marL="0" indent="0">
              <a:buNone/>
            </a:pPr>
            <a:r>
              <a:rPr lang="en-US" sz="1600">
                <a:solidFill>
                  <a:srgbClr val="111111"/>
                </a:solidFill>
                <a:latin typeface="Gill Sans MT" pitchFamily="34" charset="0"/>
                <a:ea typeface="Gill Sans MT" pitchFamily="34" charset="-122"/>
                <a:cs typeface="Gill Sans MT" pitchFamily="34" charset="-120"/>
              </a:rPr>
              <a:t>Bavli</a:t>
            </a:r>
            <a:r>
              <a:rPr lang="en-US" sz="1600" b="1">
                <a:solidFill>
                  <a:srgbClr val="111111"/>
                </a:solidFill>
                <a:latin typeface="Gill Sans MT" pitchFamily="34" charset="0"/>
                <a:ea typeface="Gill Sans MT" pitchFamily="34" charset="-122"/>
                <a:cs typeface="Gill Sans MT" pitchFamily="34" charset="-120"/>
              </a:rPr>
              <a:t>, </a:t>
            </a:r>
            <a:r>
              <a:rPr lang="en-US" sz="1600">
                <a:solidFill>
                  <a:srgbClr val="111111"/>
                </a:solidFill>
                <a:latin typeface="Gill Sans MT" pitchFamily="34" charset="0"/>
                <a:ea typeface="Gill Sans MT" pitchFamily="34" charset="-122"/>
                <a:cs typeface="Gill Sans MT" pitchFamily="34" charset="-120"/>
              </a:rPr>
              <a:t>Jonas, Lucas, </a:t>
            </a:r>
            <a:r>
              <a:rPr lang="en-US" sz="1600" b="1">
                <a:solidFill>
                  <a:srgbClr val="111111"/>
                </a:solidFill>
                <a:latin typeface="Gill Sans MT" pitchFamily="34" charset="0"/>
                <a:ea typeface="Gill Sans MT" pitchFamily="34" charset="-122"/>
                <a:cs typeface="Gill Sans MT" pitchFamily="34" charset="-120"/>
              </a:rPr>
              <a:t>Vo</a:t>
            </a:r>
            <a:endParaRPr lang="en-US" sz="1600" b="1"/>
          </a:p>
        </p:txBody>
      </p:sp>
      <p:pic>
        <p:nvPicPr>
          <p:cNvPr id="2" name="Picture 1" descr="Target's data breach fumble, top data breach lessons for businesses">
            <a:extLst>
              <a:ext uri="{FF2B5EF4-FFF2-40B4-BE49-F238E27FC236}">
                <a16:creationId xmlns:a16="http://schemas.microsoft.com/office/drawing/2014/main" id="{171812EF-1884-C1D9-2D2D-085219DCBB9D}"/>
              </a:ext>
            </a:extLst>
          </p:cNvPr>
          <p:cNvPicPr>
            <a:picLocks noChangeAspect="1"/>
          </p:cNvPicPr>
          <p:nvPr/>
        </p:nvPicPr>
        <p:blipFill>
          <a:blip r:embed="rId3"/>
          <a:stretch>
            <a:fillRect/>
          </a:stretch>
        </p:blipFill>
        <p:spPr>
          <a:xfrm>
            <a:off x="6305370" y="2023074"/>
            <a:ext cx="4929637" cy="2768720"/>
          </a:xfrm>
          <a:prstGeom prst="rect">
            <a:avLst/>
          </a:prstGeom>
        </p:spPr>
      </p:pic>
    </p:spTree>
    <p:extLst>
      <p:ext uri="{BB962C8B-B14F-4D97-AF65-F5344CB8AC3E}">
        <p14:creationId xmlns:p14="http://schemas.microsoft.com/office/powerpoint/2010/main" val="622783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1325"/>
        </a:solidFill>
        <a:effectLst/>
      </p:bgPr>
    </p:bg>
    <p:spTree>
      <p:nvGrpSpPr>
        <p:cNvPr id="1" name="">
          <a:extLst>
            <a:ext uri="{FF2B5EF4-FFF2-40B4-BE49-F238E27FC236}">
              <a16:creationId xmlns:a16="http://schemas.microsoft.com/office/drawing/2014/main" id="{B9F36132-D226-4BDD-F8A1-3DEBC4EFACED}"/>
            </a:ext>
          </a:extLst>
        </p:cNvPr>
        <p:cNvGrpSpPr/>
        <p:nvPr/>
      </p:nvGrpSpPr>
      <p:grpSpPr>
        <a:xfrm>
          <a:off x="0" y="0"/>
          <a:ext cx="0" cy="0"/>
          <a:chOff x="0" y="0"/>
          <a:chExt cx="0" cy="0"/>
        </a:xfrm>
      </p:grpSpPr>
      <p:pic>
        <p:nvPicPr>
          <p:cNvPr id="2" name="Image 0" descr="/mnt/data/ws32_ppt/assets/image3.png">
            <a:extLst>
              <a:ext uri="{FF2B5EF4-FFF2-40B4-BE49-F238E27FC236}">
                <a16:creationId xmlns:a16="http://schemas.microsoft.com/office/drawing/2014/main" id="{20BEAE6E-D389-F1AF-205F-5A1CDBAA74B6}"/>
              </a:ext>
            </a:extLst>
          </p:cNvPr>
          <p:cNvPicPr>
            <a:picLocks noChangeAspect="1"/>
          </p:cNvPicPr>
          <p:nvPr/>
        </p:nvPicPr>
        <p:blipFill>
          <a:blip r:embed="rId3"/>
          <a:stretch>
            <a:fillRect/>
          </a:stretch>
        </p:blipFill>
        <p:spPr>
          <a:xfrm>
            <a:off x="10817352" y="109728"/>
            <a:ext cx="822960" cy="822960"/>
          </a:xfrm>
          <a:prstGeom prst="rect">
            <a:avLst/>
          </a:prstGeom>
        </p:spPr>
      </p:pic>
      <p:sp>
        <p:nvSpPr>
          <p:cNvPr id="3" name="Text 0">
            <a:extLst>
              <a:ext uri="{FF2B5EF4-FFF2-40B4-BE49-F238E27FC236}">
                <a16:creationId xmlns:a16="http://schemas.microsoft.com/office/drawing/2014/main" id="{5DC3005C-4933-EFFA-B041-070105DA89D4}"/>
              </a:ext>
            </a:extLst>
          </p:cNvPr>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KEY BEHAVIOUR COMPONENTEN</a:t>
            </a:r>
            <a:endParaRPr lang="en-US" sz="3100"/>
          </a:p>
        </p:txBody>
      </p:sp>
      <p:sp>
        <p:nvSpPr>
          <p:cNvPr id="4" name="Text 1">
            <a:extLst>
              <a:ext uri="{FF2B5EF4-FFF2-40B4-BE49-F238E27FC236}">
                <a16:creationId xmlns:a16="http://schemas.microsoft.com/office/drawing/2014/main" id="{C2120216-CD9B-8633-4D5C-522078FBDE4A}"/>
              </a:ext>
            </a:extLst>
          </p:cNvPr>
          <p:cNvSpPr/>
          <p:nvPr/>
        </p:nvSpPr>
        <p:spPr>
          <a:xfrm>
            <a:off x="896112" y="1709928"/>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5" name="Text 2">
            <a:extLst>
              <a:ext uri="{FF2B5EF4-FFF2-40B4-BE49-F238E27FC236}">
                <a16:creationId xmlns:a16="http://schemas.microsoft.com/office/drawing/2014/main" id="{1DAAD6B0-50F4-83A3-E085-46DA4199ABEA}"/>
              </a:ext>
            </a:extLst>
          </p:cNvPr>
          <p:cNvSpPr/>
          <p:nvPr/>
        </p:nvSpPr>
        <p:spPr>
          <a:xfrm>
            <a:off x="1170432" y="1700784"/>
            <a:ext cx="6629400" cy="1032320"/>
          </a:xfrm>
          <a:prstGeom prst="rect">
            <a:avLst/>
          </a:prstGeom>
          <a:noFill/>
          <a:ln/>
        </p:spPr>
        <p:txBody>
          <a:bodyPr wrap="square" lIns="0" tIns="0" rIns="0" bIns="0" rtlCol="0" anchor="ctr">
            <a:normAutofit/>
          </a:bodyPr>
          <a:lstStyle/>
          <a:p>
            <a:r>
              <a:rPr lang="en-US" sz="1700" b="1">
                <a:solidFill>
                  <a:srgbClr val="FFFFFF"/>
                </a:solidFill>
                <a:ea typeface="+mn-lt"/>
                <a:cs typeface="+mn-lt"/>
              </a:rPr>
              <a:t>Be transparent — </a:t>
            </a:r>
            <a:r>
              <a:rPr lang="en-US" sz="1700">
                <a:solidFill>
                  <a:srgbClr val="FFFFFF"/>
                </a:solidFill>
                <a:ea typeface="+mn-lt"/>
                <a:cs typeface="+mn-lt"/>
              </a:rPr>
              <a:t>Gedeeltelijk</a:t>
            </a:r>
            <a:r>
              <a:rPr lang="en-US" sz="1700" b="1">
                <a:solidFill>
                  <a:srgbClr val="FFFFFF"/>
                </a:solidFill>
                <a:ea typeface="+mn-lt"/>
                <a:cs typeface="+mn-lt"/>
              </a:rPr>
              <a:t>: </a:t>
            </a:r>
            <a:r>
              <a:rPr lang="en-US" sz="1700">
                <a:solidFill>
                  <a:srgbClr val="FFFFFF"/>
                </a:solidFill>
                <a:ea typeface="+mn-lt"/>
                <a:cs typeface="+mn-lt"/>
              </a:rPr>
              <a:t>Target </a:t>
            </a:r>
            <a:r>
              <a:rPr lang="en-US" sz="1700" err="1">
                <a:solidFill>
                  <a:srgbClr val="FFFFFF"/>
                </a:solidFill>
                <a:ea typeface="+mn-lt"/>
                <a:cs typeface="+mn-lt"/>
              </a:rPr>
              <a:t>communiceerde</a:t>
            </a:r>
            <a:r>
              <a:rPr lang="en-US" sz="1700">
                <a:solidFill>
                  <a:srgbClr val="FFFFFF"/>
                </a:solidFill>
                <a:ea typeface="+mn-lt"/>
                <a:cs typeface="+mn-lt"/>
              </a:rPr>
              <a:t> </a:t>
            </a:r>
            <a:r>
              <a:rPr lang="en-US" sz="1700" err="1">
                <a:solidFill>
                  <a:srgbClr val="FFFFFF"/>
                </a:solidFill>
                <a:ea typeface="+mn-lt"/>
                <a:cs typeface="+mn-lt"/>
              </a:rPr>
              <a:t>uiteindelijk</a:t>
            </a:r>
            <a:r>
              <a:rPr lang="en-US" sz="1700">
                <a:solidFill>
                  <a:srgbClr val="FFFFFF"/>
                </a:solidFill>
                <a:ea typeface="+mn-lt"/>
                <a:cs typeface="+mn-lt"/>
              </a:rPr>
              <a:t> open over het </a:t>
            </a:r>
            <a:r>
              <a:rPr lang="en-US" sz="1700" err="1">
                <a:solidFill>
                  <a:srgbClr val="FFFFFF"/>
                </a:solidFill>
                <a:ea typeface="+mn-lt"/>
                <a:cs typeface="+mn-lt"/>
              </a:rPr>
              <a:t>datalek</a:t>
            </a:r>
            <a:r>
              <a:rPr lang="en-US" sz="1700">
                <a:solidFill>
                  <a:srgbClr val="FFFFFF"/>
                </a:solidFill>
                <a:ea typeface="+mn-lt"/>
                <a:cs typeface="+mn-lt"/>
              </a:rPr>
              <a:t>, maar pas </a:t>
            </a:r>
            <a:r>
              <a:rPr lang="en-US" sz="1700" err="1">
                <a:solidFill>
                  <a:srgbClr val="FFFFFF"/>
                </a:solidFill>
                <a:ea typeface="+mn-lt"/>
                <a:cs typeface="+mn-lt"/>
              </a:rPr>
              <a:t>nadat</a:t>
            </a:r>
            <a:r>
              <a:rPr lang="en-US" sz="1700">
                <a:solidFill>
                  <a:srgbClr val="FFFFFF"/>
                </a:solidFill>
                <a:ea typeface="+mn-lt"/>
                <a:cs typeface="+mn-lt"/>
              </a:rPr>
              <a:t> het </a:t>
            </a:r>
            <a:r>
              <a:rPr lang="en-US" sz="1700" err="1">
                <a:solidFill>
                  <a:srgbClr val="FFFFFF"/>
                </a:solidFill>
                <a:ea typeface="+mn-lt"/>
                <a:cs typeface="+mn-lt"/>
              </a:rPr>
              <a:t>nieuws</a:t>
            </a:r>
            <a:r>
              <a:rPr lang="en-US" sz="1700">
                <a:solidFill>
                  <a:srgbClr val="FFFFFF"/>
                </a:solidFill>
                <a:ea typeface="+mn-lt"/>
                <a:cs typeface="+mn-lt"/>
              </a:rPr>
              <a:t> al extern was </a:t>
            </a:r>
            <a:r>
              <a:rPr lang="en-US" sz="1700" err="1">
                <a:solidFill>
                  <a:srgbClr val="FFFFFF"/>
                </a:solidFill>
                <a:ea typeface="+mn-lt"/>
                <a:cs typeface="+mn-lt"/>
              </a:rPr>
              <a:t>uitgebracht</a:t>
            </a:r>
            <a:r>
              <a:rPr lang="en-US" sz="1700">
                <a:solidFill>
                  <a:srgbClr val="FFFFFF"/>
                </a:solidFill>
                <a:ea typeface="+mn-lt"/>
                <a:cs typeface="+mn-lt"/>
              </a:rPr>
              <a:t>. </a:t>
            </a:r>
            <a:r>
              <a:rPr lang="en-US" sz="1700" err="1">
                <a:solidFill>
                  <a:srgbClr val="FFFFFF"/>
                </a:solidFill>
                <a:ea typeface="+mn-lt"/>
                <a:cs typeface="+mn-lt"/>
              </a:rPr>
              <a:t>Daardoor</a:t>
            </a:r>
            <a:r>
              <a:rPr lang="en-US" sz="1700">
                <a:solidFill>
                  <a:srgbClr val="FFFFFF"/>
                </a:solidFill>
                <a:ea typeface="+mn-lt"/>
                <a:cs typeface="+mn-lt"/>
              </a:rPr>
              <a:t> was de </a:t>
            </a:r>
            <a:r>
              <a:rPr lang="en-US" sz="1700" err="1">
                <a:solidFill>
                  <a:srgbClr val="FFFFFF"/>
                </a:solidFill>
                <a:ea typeface="+mn-lt"/>
                <a:cs typeface="+mn-lt"/>
              </a:rPr>
              <a:t>transparantie</a:t>
            </a:r>
            <a:r>
              <a:rPr lang="en-US" sz="1700">
                <a:solidFill>
                  <a:srgbClr val="FFFFFF"/>
                </a:solidFill>
                <a:ea typeface="+mn-lt"/>
                <a:cs typeface="+mn-lt"/>
              </a:rPr>
              <a:t> </a:t>
            </a:r>
            <a:r>
              <a:rPr lang="en-US" sz="1700" err="1">
                <a:solidFill>
                  <a:srgbClr val="FFFFFF"/>
                </a:solidFill>
                <a:ea typeface="+mn-lt"/>
                <a:cs typeface="+mn-lt"/>
              </a:rPr>
              <a:t>meer</a:t>
            </a:r>
            <a:r>
              <a:rPr lang="en-US" sz="1700">
                <a:solidFill>
                  <a:srgbClr val="FFFFFF"/>
                </a:solidFill>
                <a:ea typeface="+mn-lt"/>
                <a:cs typeface="+mn-lt"/>
              </a:rPr>
              <a:t> </a:t>
            </a:r>
            <a:r>
              <a:rPr lang="en-US" sz="1700" err="1">
                <a:solidFill>
                  <a:srgbClr val="FFFFFF"/>
                </a:solidFill>
                <a:ea typeface="+mn-lt"/>
                <a:cs typeface="+mn-lt"/>
              </a:rPr>
              <a:t>reactief</a:t>
            </a:r>
            <a:r>
              <a:rPr lang="en-US" sz="1700">
                <a:solidFill>
                  <a:srgbClr val="FFFFFF"/>
                </a:solidFill>
                <a:ea typeface="+mn-lt"/>
                <a:cs typeface="+mn-lt"/>
              </a:rPr>
              <a:t> dan </a:t>
            </a:r>
            <a:r>
              <a:rPr lang="en-US" sz="1700" err="1">
                <a:solidFill>
                  <a:srgbClr val="FFFFFF"/>
                </a:solidFill>
                <a:ea typeface="+mn-lt"/>
                <a:cs typeface="+mn-lt"/>
              </a:rPr>
              <a:t>proactief</a:t>
            </a:r>
            <a:r>
              <a:rPr lang="en-US" sz="1700">
                <a:solidFill>
                  <a:srgbClr val="FFFFFF"/>
                </a:solidFill>
                <a:ea typeface="+mn-lt"/>
                <a:cs typeface="+mn-lt"/>
              </a:rPr>
              <a:t>.</a:t>
            </a:r>
          </a:p>
        </p:txBody>
      </p:sp>
      <p:sp>
        <p:nvSpPr>
          <p:cNvPr id="6" name="Text 3">
            <a:extLst>
              <a:ext uri="{FF2B5EF4-FFF2-40B4-BE49-F238E27FC236}">
                <a16:creationId xmlns:a16="http://schemas.microsoft.com/office/drawing/2014/main" id="{BC2684B5-A809-10E4-3044-E24FEC94170F}"/>
              </a:ext>
            </a:extLst>
          </p:cNvPr>
          <p:cNvSpPr/>
          <p:nvPr/>
        </p:nvSpPr>
        <p:spPr>
          <a:xfrm>
            <a:off x="896112" y="2888552"/>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7" name="Text 4">
            <a:extLst>
              <a:ext uri="{FF2B5EF4-FFF2-40B4-BE49-F238E27FC236}">
                <a16:creationId xmlns:a16="http://schemas.microsoft.com/office/drawing/2014/main" id="{3516097B-1237-184F-2D7E-F52252EE8994}"/>
              </a:ext>
            </a:extLst>
          </p:cNvPr>
          <p:cNvSpPr/>
          <p:nvPr/>
        </p:nvSpPr>
        <p:spPr>
          <a:xfrm>
            <a:off x="1170432" y="2879408"/>
            <a:ext cx="6629400" cy="1032320"/>
          </a:xfrm>
          <a:prstGeom prst="rect">
            <a:avLst/>
          </a:prstGeom>
          <a:noFill/>
          <a:ln/>
        </p:spPr>
        <p:txBody>
          <a:bodyPr wrap="square" lIns="0" tIns="0" rIns="0" bIns="0" rtlCol="0" anchor="ctr">
            <a:normAutofit/>
          </a:bodyPr>
          <a:lstStyle/>
          <a:p>
            <a:r>
              <a:rPr lang="en-US" sz="1700" b="1">
                <a:solidFill>
                  <a:srgbClr val="FFFFFF"/>
                </a:solidFill>
                <a:latin typeface="Gill Sans MT"/>
                <a:ea typeface="Gill Sans MT" pitchFamily="34" charset="-122"/>
                <a:cs typeface="Gill Sans MT" pitchFamily="34" charset="-120"/>
              </a:rPr>
              <a:t>Act with urgency — </a:t>
            </a:r>
            <a:r>
              <a:rPr lang="en-US" sz="1700" err="1">
                <a:solidFill>
                  <a:srgbClr val="FFFFFF"/>
                </a:solidFill>
                <a:ea typeface="+mn-lt"/>
                <a:cs typeface="+mn-lt"/>
              </a:rPr>
              <a:t>Onvoldoende</a:t>
            </a:r>
            <a:r>
              <a:rPr lang="en-US" sz="1700">
                <a:solidFill>
                  <a:srgbClr val="FFFFFF"/>
                </a:solidFill>
                <a:ea typeface="+mn-lt"/>
                <a:cs typeface="+mn-lt"/>
              </a:rPr>
              <a:t> in het begin</a:t>
            </a:r>
            <a:r>
              <a:rPr lang="en-US" sz="1700">
                <a:solidFill>
                  <a:srgbClr val="FFFFFF"/>
                </a:solidFill>
                <a:latin typeface="Gill Sans MT"/>
                <a:ea typeface="Gill Sans MT" pitchFamily="34" charset="-122"/>
                <a:cs typeface="Gill Sans MT" pitchFamily="34" charset="-120"/>
              </a:rPr>
              <a:t>: </a:t>
            </a:r>
            <a:r>
              <a:rPr lang="en-US" sz="1700">
                <a:solidFill>
                  <a:srgbClr val="FFFFFF"/>
                </a:solidFill>
                <a:ea typeface="+mn-lt"/>
                <a:cs typeface="+mn-lt"/>
              </a:rPr>
              <a:t>Target </a:t>
            </a:r>
            <a:r>
              <a:rPr lang="en-US" sz="1700" err="1">
                <a:solidFill>
                  <a:srgbClr val="FFFFFF"/>
                </a:solidFill>
                <a:ea typeface="+mn-lt"/>
                <a:cs typeface="+mn-lt"/>
              </a:rPr>
              <a:t>kreeg</a:t>
            </a:r>
            <a:r>
              <a:rPr lang="en-US" sz="1700">
                <a:solidFill>
                  <a:srgbClr val="FFFFFF"/>
                </a:solidFill>
                <a:ea typeface="+mn-lt"/>
                <a:cs typeface="+mn-lt"/>
              </a:rPr>
              <a:t> </a:t>
            </a:r>
            <a:r>
              <a:rPr lang="en-US" sz="1700" err="1">
                <a:solidFill>
                  <a:srgbClr val="FFFFFF"/>
                </a:solidFill>
                <a:ea typeface="+mn-lt"/>
                <a:cs typeface="+mn-lt"/>
              </a:rPr>
              <a:t>beveiligingswaarschuwingen</a:t>
            </a:r>
            <a:r>
              <a:rPr lang="en-US" sz="1700">
                <a:solidFill>
                  <a:srgbClr val="FFFFFF"/>
                </a:solidFill>
                <a:ea typeface="+mn-lt"/>
                <a:cs typeface="+mn-lt"/>
              </a:rPr>
              <a:t>, maar </a:t>
            </a:r>
            <a:r>
              <a:rPr lang="en-US" sz="1700" err="1">
                <a:solidFill>
                  <a:srgbClr val="FFFFFF"/>
                </a:solidFill>
                <a:ea typeface="+mn-lt"/>
                <a:cs typeface="+mn-lt"/>
              </a:rPr>
              <a:t>greep</a:t>
            </a:r>
            <a:r>
              <a:rPr lang="en-US" sz="1700">
                <a:solidFill>
                  <a:srgbClr val="FFFFFF"/>
                </a:solidFill>
                <a:ea typeface="+mn-lt"/>
                <a:cs typeface="+mn-lt"/>
              </a:rPr>
              <a:t> intern </a:t>
            </a:r>
            <a:r>
              <a:rPr lang="en-US" sz="1700" err="1">
                <a:solidFill>
                  <a:srgbClr val="FFFFFF"/>
                </a:solidFill>
                <a:ea typeface="+mn-lt"/>
                <a:cs typeface="+mn-lt"/>
              </a:rPr>
              <a:t>niet</a:t>
            </a:r>
            <a:r>
              <a:rPr lang="en-US" sz="1700">
                <a:solidFill>
                  <a:srgbClr val="FFFFFF"/>
                </a:solidFill>
                <a:ea typeface="+mn-lt"/>
                <a:cs typeface="+mn-lt"/>
              </a:rPr>
              <a:t> </a:t>
            </a:r>
            <a:r>
              <a:rPr lang="en-US" sz="1700" err="1">
                <a:solidFill>
                  <a:srgbClr val="FFFFFF"/>
                </a:solidFill>
                <a:ea typeface="+mn-lt"/>
                <a:cs typeface="+mn-lt"/>
              </a:rPr>
              <a:t>snel</a:t>
            </a:r>
            <a:r>
              <a:rPr lang="en-US" sz="1700">
                <a:solidFill>
                  <a:srgbClr val="FFFFFF"/>
                </a:solidFill>
                <a:ea typeface="+mn-lt"/>
                <a:cs typeface="+mn-lt"/>
              </a:rPr>
              <a:t> </a:t>
            </a:r>
            <a:r>
              <a:rPr lang="en-US" sz="1700" err="1">
                <a:solidFill>
                  <a:srgbClr val="FFFFFF"/>
                </a:solidFill>
                <a:ea typeface="+mn-lt"/>
                <a:cs typeface="+mn-lt"/>
              </a:rPr>
              <a:t>genoeg</a:t>
            </a:r>
            <a:r>
              <a:rPr lang="en-US" sz="1700">
                <a:solidFill>
                  <a:srgbClr val="FFFFFF"/>
                </a:solidFill>
                <a:ea typeface="+mn-lt"/>
                <a:cs typeface="+mn-lt"/>
              </a:rPr>
              <a:t> in. Pas later </a:t>
            </a:r>
            <a:r>
              <a:rPr lang="en-US" sz="1700" err="1">
                <a:solidFill>
                  <a:srgbClr val="FFFFFF"/>
                </a:solidFill>
                <a:ea typeface="+mn-lt"/>
                <a:cs typeface="+mn-lt"/>
              </a:rPr>
              <a:t>kwamen</a:t>
            </a:r>
            <a:r>
              <a:rPr lang="en-US" sz="1700">
                <a:solidFill>
                  <a:srgbClr val="FFFFFF"/>
                </a:solidFill>
                <a:ea typeface="+mn-lt"/>
                <a:cs typeface="+mn-lt"/>
              </a:rPr>
              <a:t> </a:t>
            </a:r>
            <a:r>
              <a:rPr lang="en-US" sz="1700" err="1">
                <a:solidFill>
                  <a:srgbClr val="FFFFFF"/>
                </a:solidFill>
                <a:ea typeface="+mn-lt"/>
                <a:cs typeface="+mn-lt"/>
              </a:rPr>
              <a:t>zichtbare</a:t>
            </a:r>
            <a:r>
              <a:rPr lang="en-US" sz="1700">
                <a:solidFill>
                  <a:srgbClr val="FFFFFF"/>
                </a:solidFill>
                <a:ea typeface="+mn-lt"/>
                <a:cs typeface="+mn-lt"/>
              </a:rPr>
              <a:t> </a:t>
            </a:r>
            <a:r>
              <a:rPr lang="en-US" sz="1700" err="1">
                <a:solidFill>
                  <a:srgbClr val="FFFFFF"/>
                </a:solidFill>
                <a:ea typeface="+mn-lt"/>
                <a:cs typeface="+mn-lt"/>
              </a:rPr>
              <a:t>maatregelen</a:t>
            </a:r>
            <a:r>
              <a:rPr lang="en-US" sz="1700">
                <a:solidFill>
                  <a:srgbClr val="FFFFFF"/>
                </a:solidFill>
                <a:ea typeface="+mn-lt"/>
                <a:cs typeface="+mn-lt"/>
              </a:rPr>
              <a:t> </a:t>
            </a:r>
            <a:r>
              <a:rPr lang="en-US" sz="1700" err="1">
                <a:solidFill>
                  <a:srgbClr val="FFFFFF"/>
                </a:solidFill>
                <a:ea typeface="+mn-lt"/>
                <a:cs typeface="+mn-lt"/>
              </a:rPr>
              <a:t>richting</a:t>
            </a:r>
            <a:r>
              <a:rPr lang="en-US" sz="1700">
                <a:solidFill>
                  <a:srgbClr val="FFFFFF"/>
                </a:solidFill>
                <a:ea typeface="+mn-lt"/>
                <a:cs typeface="+mn-lt"/>
              </a:rPr>
              <a:t> </a:t>
            </a:r>
            <a:r>
              <a:rPr lang="en-US" sz="1700" err="1">
                <a:solidFill>
                  <a:srgbClr val="FFFFFF"/>
                </a:solidFill>
                <a:ea typeface="+mn-lt"/>
                <a:cs typeface="+mn-lt"/>
              </a:rPr>
              <a:t>klanten</a:t>
            </a:r>
            <a:r>
              <a:rPr lang="en-US" sz="1700">
                <a:solidFill>
                  <a:srgbClr val="FFFFFF"/>
                </a:solidFill>
                <a:ea typeface="+mn-lt"/>
                <a:cs typeface="+mn-lt"/>
              </a:rPr>
              <a:t> </a:t>
            </a:r>
            <a:r>
              <a:rPr lang="en-US" sz="1700" err="1">
                <a:solidFill>
                  <a:srgbClr val="FFFFFF"/>
                </a:solidFill>
                <a:ea typeface="+mn-lt"/>
                <a:cs typeface="+mn-lt"/>
              </a:rPr>
              <a:t>en</a:t>
            </a:r>
            <a:r>
              <a:rPr lang="en-US" sz="1700">
                <a:solidFill>
                  <a:srgbClr val="FFFFFF"/>
                </a:solidFill>
                <a:ea typeface="+mn-lt"/>
                <a:cs typeface="+mn-lt"/>
              </a:rPr>
              <a:t> </a:t>
            </a:r>
            <a:r>
              <a:rPr lang="en-US" sz="1700" err="1">
                <a:solidFill>
                  <a:srgbClr val="FFFFFF"/>
                </a:solidFill>
                <a:ea typeface="+mn-lt"/>
                <a:cs typeface="+mn-lt"/>
              </a:rPr>
              <a:t>systemen</a:t>
            </a:r>
            <a:r>
              <a:rPr lang="en-US" sz="1700">
                <a:solidFill>
                  <a:srgbClr val="FFFFFF"/>
                </a:solidFill>
                <a:ea typeface="+mn-lt"/>
                <a:cs typeface="+mn-lt"/>
              </a:rPr>
              <a:t>.</a:t>
            </a:r>
            <a:endParaRPr lang="en-US" sz="1700">
              <a:latin typeface="Gill Sans MT"/>
            </a:endParaRPr>
          </a:p>
        </p:txBody>
      </p:sp>
      <p:sp>
        <p:nvSpPr>
          <p:cNvPr id="8" name="Text 5">
            <a:extLst>
              <a:ext uri="{FF2B5EF4-FFF2-40B4-BE49-F238E27FC236}">
                <a16:creationId xmlns:a16="http://schemas.microsoft.com/office/drawing/2014/main" id="{7C94808B-AFA9-BC70-FE0B-3F0585C441E4}"/>
              </a:ext>
            </a:extLst>
          </p:cNvPr>
          <p:cNvSpPr/>
          <p:nvPr/>
        </p:nvSpPr>
        <p:spPr>
          <a:xfrm>
            <a:off x="896112" y="4067175"/>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9" name="Text 6">
            <a:extLst>
              <a:ext uri="{FF2B5EF4-FFF2-40B4-BE49-F238E27FC236}">
                <a16:creationId xmlns:a16="http://schemas.microsoft.com/office/drawing/2014/main" id="{C2BBABB6-BE96-E900-B25C-6276F3769BD0}"/>
              </a:ext>
            </a:extLst>
          </p:cNvPr>
          <p:cNvSpPr/>
          <p:nvPr/>
        </p:nvSpPr>
        <p:spPr>
          <a:xfrm>
            <a:off x="1170432" y="4058031"/>
            <a:ext cx="6629400" cy="1032320"/>
          </a:xfrm>
          <a:prstGeom prst="rect">
            <a:avLst/>
          </a:prstGeom>
          <a:noFill/>
          <a:ln/>
        </p:spPr>
        <p:txBody>
          <a:bodyPr wrap="square" lIns="0" tIns="0" rIns="0" bIns="0" rtlCol="0" anchor="ctr">
            <a:normAutofit/>
          </a:bodyPr>
          <a:lstStyle/>
          <a:p>
            <a:r>
              <a:rPr lang="en-US" sz="1700" b="1">
                <a:solidFill>
                  <a:srgbClr val="FFFFFF"/>
                </a:solidFill>
                <a:latin typeface="Gill Sans MT"/>
                <a:ea typeface="Gill Sans MT" pitchFamily="34" charset="-122"/>
                <a:cs typeface="Gill Sans MT" pitchFamily="34" charset="-120"/>
              </a:rPr>
              <a:t>Follow your values — </a:t>
            </a:r>
            <a:r>
              <a:rPr lang="en-US" sz="1700" err="1">
                <a:solidFill>
                  <a:srgbClr val="FFFFFF"/>
                </a:solidFill>
                <a:ea typeface="+mn-lt"/>
                <a:cs typeface="+mn-lt"/>
              </a:rPr>
              <a:t>Deels</a:t>
            </a:r>
            <a:r>
              <a:rPr lang="en-US" sz="1700">
                <a:solidFill>
                  <a:srgbClr val="FFFFFF"/>
                </a:solidFill>
                <a:ea typeface="+mn-lt"/>
                <a:cs typeface="+mn-lt"/>
              </a:rPr>
              <a:t> </a:t>
            </a:r>
            <a:r>
              <a:rPr lang="en-US" sz="1700" err="1">
                <a:solidFill>
                  <a:srgbClr val="FFFFFF"/>
                </a:solidFill>
                <a:ea typeface="+mn-lt"/>
                <a:cs typeface="+mn-lt"/>
              </a:rPr>
              <a:t>zichtbaar</a:t>
            </a:r>
            <a:r>
              <a:rPr lang="en-US" sz="1700">
                <a:solidFill>
                  <a:srgbClr val="FFFFFF"/>
                </a:solidFill>
                <a:latin typeface="Gill Sans MT"/>
                <a:ea typeface="Gill Sans MT" pitchFamily="34" charset="-122"/>
                <a:cs typeface="Gill Sans MT" pitchFamily="34" charset="-120"/>
              </a:rPr>
              <a:t>: </a:t>
            </a:r>
            <a:r>
              <a:rPr lang="en-US" sz="1700">
                <a:solidFill>
                  <a:srgbClr val="FFFFFF"/>
                </a:solidFill>
                <a:ea typeface="+mn-lt"/>
                <a:cs typeface="+mn-lt"/>
              </a:rPr>
              <a:t>Na de breach </a:t>
            </a:r>
            <a:r>
              <a:rPr lang="en-US" sz="1700" err="1">
                <a:solidFill>
                  <a:srgbClr val="FFFFFF"/>
                </a:solidFill>
                <a:ea typeface="+mn-lt"/>
                <a:cs typeface="+mn-lt"/>
              </a:rPr>
              <a:t>bood</a:t>
            </a:r>
            <a:r>
              <a:rPr lang="en-US" sz="1700">
                <a:solidFill>
                  <a:srgbClr val="FFFFFF"/>
                </a:solidFill>
                <a:ea typeface="+mn-lt"/>
                <a:cs typeface="+mn-lt"/>
              </a:rPr>
              <a:t> Target excuses, </a:t>
            </a:r>
            <a:r>
              <a:rPr lang="en-US" sz="1700" err="1">
                <a:solidFill>
                  <a:srgbClr val="FFFFFF"/>
                </a:solidFill>
                <a:ea typeface="+mn-lt"/>
                <a:cs typeface="+mn-lt"/>
              </a:rPr>
              <a:t>bescherming</a:t>
            </a:r>
            <a:r>
              <a:rPr lang="en-US" sz="1700">
                <a:solidFill>
                  <a:srgbClr val="FFFFFF"/>
                </a:solidFill>
                <a:ea typeface="+mn-lt"/>
                <a:cs typeface="+mn-lt"/>
              </a:rPr>
              <a:t> </a:t>
            </a:r>
            <a:r>
              <a:rPr lang="en-US" sz="1700" err="1">
                <a:solidFill>
                  <a:srgbClr val="FFFFFF"/>
                </a:solidFill>
                <a:ea typeface="+mn-lt"/>
                <a:cs typeface="+mn-lt"/>
              </a:rPr>
              <a:t>en</a:t>
            </a:r>
            <a:r>
              <a:rPr lang="en-US" sz="1700">
                <a:solidFill>
                  <a:srgbClr val="FFFFFF"/>
                </a:solidFill>
                <a:ea typeface="+mn-lt"/>
                <a:cs typeface="+mn-lt"/>
              </a:rPr>
              <a:t> </a:t>
            </a:r>
            <a:r>
              <a:rPr lang="en-US" sz="1700" err="1">
                <a:solidFill>
                  <a:srgbClr val="FFFFFF"/>
                </a:solidFill>
                <a:ea typeface="+mn-lt"/>
                <a:cs typeface="+mn-lt"/>
              </a:rPr>
              <a:t>compensatie</a:t>
            </a:r>
            <a:r>
              <a:rPr lang="en-US" sz="1700">
                <a:solidFill>
                  <a:srgbClr val="FFFFFF"/>
                </a:solidFill>
                <a:ea typeface="+mn-lt"/>
                <a:cs typeface="+mn-lt"/>
              </a:rPr>
              <a:t> </a:t>
            </a:r>
            <a:r>
              <a:rPr lang="en-US" sz="1700" err="1">
                <a:solidFill>
                  <a:srgbClr val="FFFFFF"/>
                </a:solidFill>
                <a:ea typeface="+mn-lt"/>
                <a:cs typeface="+mn-lt"/>
              </a:rPr>
              <a:t>aan</a:t>
            </a:r>
            <a:r>
              <a:rPr lang="en-US" sz="1700">
                <a:solidFill>
                  <a:srgbClr val="FFFFFF"/>
                </a:solidFill>
                <a:ea typeface="+mn-lt"/>
                <a:cs typeface="+mn-lt"/>
              </a:rPr>
              <a:t> </a:t>
            </a:r>
            <a:r>
              <a:rPr lang="en-US" sz="1700" err="1">
                <a:solidFill>
                  <a:srgbClr val="FFFFFF"/>
                </a:solidFill>
                <a:ea typeface="+mn-lt"/>
                <a:cs typeface="+mn-lt"/>
              </a:rPr>
              <a:t>klanten</a:t>
            </a:r>
            <a:r>
              <a:rPr lang="en-US" sz="1700">
                <a:solidFill>
                  <a:srgbClr val="FFFFFF"/>
                </a:solidFill>
                <a:ea typeface="+mn-lt"/>
                <a:cs typeface="+mn-lt"/>
              </a:rPr>
              <a:t>. Toch </a:t>
            </a:r>
            <a:r>
              <a:rPr lang="en-US" sz="1700" err="1">
                <a:solidFill>
                  <a:srgbClr val="FFFFFF"/>
                </a:solidFill>
                <a:ea typeface="+mn-lt"/>
                <a:cs typeface="+mn-lt"/>
              </a:rPr>
              <a:t>laat</a:t>
            </a:r>
            <a:r>
              <a:rPr lang="en-US" sz="1700">
                <a:solidFill>
                  <a:srgbClr val="FFFFFF"/>
                </a:solidFill>
                <a:ea typeface="+mn-lt"/>
                <a:cs typeface="+mn-lt"/>
              </a:rPr>
              <a:t> de </a:t>
            </a:r>
            <a:r>
              <a:rPr lang="en-US" sz="1700" err="1">
                <a:solidFill>
                  <a:srgbClr val="FFFFFF"/>
                </a:solidFill>
                <a:ea typeface="+mn-lt"/>
                <a:cs typeface="+mn-lt"/>
              </a:rPr>
              <a:t>trage</a:t>
            </a:r>
            <a:r>
              <a:rPr lang="en-US" sz="1700">
                <a:solidFill>
                  <a:srgbClr val="FFFFFF"/>
                </a:solidFill>
                <a:ea typeface="+mn-lt"/>
                <a:cs typeface="+mn-lt"/>
              </a:rPr>
              <a:t> </a:t>
            </a:r>
            <a:r>
              <a:rPr lang="en-US" sz="1700" err="1">
                <a:solidFill>
                  <a:srgbClr val="FFFFFF"/>
                </a:solidFill>
                <a:ea typeface="+mn-lt"/>
                <a:cs typeface="+mn-lt"/>
              </a:rPr>
              <a:t>eerste</a:t>
            </a:r>
            <a:r>
              <a:rPr lang="en-US" sz="1700">
                <a:solidFill>
                  <a:srgbClr val="FFFFFF"/>
                </a:solidFill>
                <a:ea typeface="+mn-lt"/>
                <a:cs typeface="+mn-lt"/>
              </a:rPr>
              <a:t> </a:t>
            </a:r>
            <a:r>
              <a:rPr lang="en-US" sz="1700" err="1">
                <a:solidFill>
                  <a:srgbClr val="FFFFFF"/>
                </a:solidFill>
                <a:ea typeface="+mn-lt"/>
                <a:cs typeface="+mn-lt"/>
              </a:rPr>
              <a:t>reactie</a:t>
            </a:r>
            <a:r>
              <a:rPr lang="en-US" sz="1700">
                <a:solidFill>
                  <a:srgbClr val="FFFFFF"/>
                </a:solidFill>
                <a:ea typeface="+mn-lt"/>
                <a:cs typeface="+mn-lt"/>
              </a:rPr>
              <a:t> </a:t>
            </a:r>
            <a:r>
              <a:rPr lang="en-US" sz="1700" err="1">
                <a:solidFill>
                  <a:srgbClr val="FFFFFF"/>
                </a:solidFill>
                <a:ea typeface="+mn-lt"/>
                <a:cs typeface="+mn-lt"/>
              </a:rPr>
              <a:t>zien</a:t>
            </a:r>
            <a:r>
              <a:rPr lang="en-US" sz="1700">
                <a:solidFill>
                  <a:srgbClr val="FFFFFF"/>
                </a:solidFill>
                <a:ea typeface="+mn-lt"/>
                <a:cs typeface="+mn-lt"/>
              </a:rPr>
              <a:t> </a:t>
            </a:r>
            <a:r>
              <a:rPr lang="en-US" sz="1700" err="1">
                <a:solidFill>
                  <a:srgbClr val="FFFFFF"/>
                </a:solidFill>
                <a:ea typeface="+mn-lt"/>
                <a:cs typeface="+mn-lt"/>
              </a:rPr>
              <a:t>dat</a:t>
            </a:r>
            <a:r>
              <a:rPr lang="en-US" sz="1700">
                <a:solidFill>
                  <a:srgbClr val="FFFFFF"/>
                </a:solidFill>
                <a:ea typeface="+mn-lt"/>
                <a:cs typeface="+mn-lt"/>
              </a:rPr>
              <a:t> </a:t>
            </a:r>
            <a:r>
              <a:rPr lang="en-US" sz="1700" err="1">
                <a:solidFill>
                  <a:srgbClr val="FFFFFF"/>
                </a:solidFill>
                <a:ea typeface="+mn-lt"/>
                <a:cs typeface="+mn-lt"/>
              </a:rPr>
              <a:t>klantveiligheid</a:t>
            </a:r>
            <a:r>
              <a:rPr lang="en-US" sz="1700">
                <a:solidFill>
                  <a:srgbClr val="FFFFFF"/>
                </a:solidFill>
                <a:ea typeface="+mn-lt"/>
                <a:cs typeface="+mn-lt"/>
              </a:rPr>
              <a:t> </a:t>
            </a:r>
            <a:r>
              <a:rPr lang="en-US" sz="1700" err="1">
                <a:solidFill>
                  <a:srgbClr val="FFFFFF"/>
                </a:solidFill>
                <a:ea typeface="+mn-lt"/>
                <a:cs typeface="+mn-lt"/>
              </a:rPr>
              <a:t>eerder</a:t>
            </a:r>
            <a:r>
              <a:rPr lang="en-US" sz="1700">
                <a:solidFill>
                  <a:srgbClr val="FFFFFF"/>
                </a:solidFill>
                <a:ea typeface="+mn-lt"/>
                <a:cs typeface="+mn-lt"/>
              </a:rPr>
              <a:t> </a:t>
            </a:r>
            <a:r>
              <a:rPr lang="en-US" sz="1700" err="1">
                <a:solidFill>
                  <a:srgbClr val="FFFFFF"/>
                </a:solidFill>
                <a:ea typeface="+mn-lt"/>
                <a:cs typeface="+mn-lt"/>
              </a:rPr>
              <a:t>niet</a:t>
            </a:r>
            <a:r>
              <a:rPr lang="en-US" sz="1700">
                <a:solidFill>
                  <a:srgbClr val="FFFFFF"/>
                </a:solidFill>
                <a:ea typeface="+mn-lt"/>
                <a:cs typeface="+mn-lt"/>
              </a:rPr>
              <a:t> </a:t>
            </a:r>
            <a:r>
              <a:rPr lang="en-US" sz="1700" err="1">
                <a:solidFill>
                  <a:srgbClr val="FFFFFF"/>
                </a:solidFill>
                <a:ea typeface="+mn-lt"/>
                <a:cs typeface="+mn-lt"/>
              </a:rPr>
              <a:t>sterk</a:t>
            </a:r>
            <a:r>
              <a:rPr lang="en-US" sz="1700">
                <a:solidFill>
                  <a:srgbClr val="FFFFFF"/>
                </a:solidFill>
                <a:ea typeface="+mn-lt"/>
                <a:cs typeface="+mn-lt"/>
              </a:rPr>
              <a:t> </a:t>
            </a:r>
            <a:r>
              <a:rPr lang="en-US" sz="1700" err="1">
                <a:solidFill>
                  <a:srgbClr val="FFFFFF"/>
                </a:solidFill>
                <a:ea typeface="+mn-lt"/>
                <a:cs typeface="+mn-lt"/>
              </a:rPr>
              <a:t>genoeg</a:t>
            </a:r>
            <a:r>
              <a:rPr lang="en-US" sz="1700">
                <a:solidFill>
                  <a:srgbClr val="FFFFFF"/>
                </a:solidFill>
                <a:ea typeface="+mn-lt"/>
                <a:cs typeface="+mn-lt"/>
              </a:rPr>
              <a:t> </a:t>
            </a:r>
            <a:r>
              <a:rPr lang="en-US" sz="1700" err="1">
                <a:solidFill>
                  <a:srgbClr val="FFFFFF"/>
                </a:solidFill>
                <a:ea typeface="+mn-lt"/>
                <a:cs typeface="+mn-lt"/>
              </a:rPr>
              <a:t>werd</a:t>
            </a:r>
            <a:r>
              <a:rPr lang="en-US" sz="1700">
                <a:solidFill>
                  <a:srgbClr val="FFFFFF"/>
                </a:solidFill>
                <a:ea typeface="+mn-lt"/>
                <a:cs typeface="+mn-lt"/>
              </a:rPr>
              <a:t> </a:t>
            </a:r>
            <a:r>
              <a:rPr lang="en-US" sz="1700" err="1">
                <a:solidFill>
                  <a:srgbClr val="FFFFFF"/>
                </a:solidFill>
                <a:ea typeface="+mn-lt"/>
                <a:cs typeface="+mn-lt"/>
              </a:rPr>
              <a:t>bewaakt</a:t>
            </a:r>
            <a:r>
              <a:rPr lang="en-US" sz="1700">
                <a:solidFill>
                  <a:srgbClr val="FFFFFF"/>
                </a:solidFill>
                <a:ea typeface="+mn-lt"/>
                <a:cs typeface="+mn-lt"/>
              </a:rPr>
              <a:t>.</a:t>
            </a:r>
            <a:endParaRPr lang="en-US" sz="1700" err="1">
              <a:latin typeface="Gill Sans MT"/>
            </a:endParaRPr>
          </a:p>
        </p:txBody>
      </p:sp>
      <p:sp>
        <p:nvSpPr>
          <p:cNvPr id="10" name="Text 7">
            <a:extLst>
              <a:ext uri="{FF2B5EF4-FFF2-40B4-BE49-F238E27FC236}">
                <a16:creationId xmlns:a16="http://schemas.microsoft.com/office/drawing/2014/main" id="{D58251F0-7FA1-6E57-655B-EB997E3CDA82}"/>
              </a:ext>
            </a:extLst>
          </p:cNvPr>
          <p:cNvSpPr/>
          <p:nvPr/>
        </p:nvSpPr>
        <p:spPr>
          <a:xfrm>
            <a:off x="896112" y="5245799"/>
            <a:ext cx="164592" cy="256032"/>
          </a:xfrm>
          <a:prstGeom prst="rect">
            <a:avLst/>
          </a:prstGeom>
          <a:noFill/>
          <a:ln/>
        </p:spPr>
        <p:txBody>
          <a:bodyPr wrap="square" lIns="0" tIns="0" rIns="0" bIns="0" rtlCol="0" anchor="ctr"/>
          <a:lstStyle/>
          <a:p>
            <a:pPr marL="0" indent="0">
              <a:buNone/>
            </a:pPr>
            <a:r>
              <a:rPr lang="en-US" sz="1930" b="1">
                <a:solidFill>
                  <a:srgbClr val="F4C757"/>
                </a:solidFill>
                <a:latin typeface="Gill Sans MT" pitchFamily="34" charset="0"/>
                <a:ea typeface="Gill Sans MT" pitchFamily="34" charset="-122"/>
                <a:cs typeface="Gill Sans MT" pitchFamily="34" charset="-120"/>
              </a:rPr>
              <a:t>•</a:t>
            </a:r>
            <a:endParaRPr lang="en-US" sz="1930"/>
          </a:p>
        </p:txBody>
      </p:sp>
      <p:sp>
        <p:nvSpPr>
          <p:cNvPr id="11" name="Text 8">
            <a:extLst>
              <a:ext uri="{FF2B5EF4-FFF2-40B4-BE49-F238E27FC236}">
                <a16:creationId xmlns:a16="http://schemas.microsoft.com/office/drawing/2014/main" id="{5B496652-DF51-9B5A-E985-42C108463DF1}"/>
              </a:ext>
            </a:extLst>
          </p:cNvPr>
          <p:cNvSpPr/>
          <p:nvPr/>
        </p:nvSpPr>
        <p:spPr>
          <a:xfrm>
            <a:off x="1170432" y="5236655"/>
            <a:ext cx="6629400" cy="1032320"/>
          </a:xfrm>
          <a:prstGeom prst="rect">
            <a:avLst/>
          </a:prstGeom>
          <a:noFill/>
          <a:ln/>
        </p:spPr>
        <p:txBody>
          <a:bodyPr wrap="square" lIns="0" tIns="0" rIns="0" bIns="0" rtlCol="0" anchor="ctr">
            <a:normAutofit lnSpcReduction="10000"/>
          </a:bodyPr>
          <a:lstStyle/>
          <a:p>
            <a:r>
              <a:rPr lang="en-US" sz="1700" b="1">
                <a:solidFill>
                  <a:srgbClr val="FFFFFF"/>
                </a:solidFill>
                <a:latin typeface="Gill Sans MT"/>
                <a:ea typeface="Gill Sans MT" pitchFamily="34" charset="-122"/>
                <a:cs typeface="Gill Sans MT" pitchFamily="34" charset="-120"/>
              </a:rPr>
              <a:t>Sharing power — </a:t>
            </a:r>
            <a:r>
              <a:rPr lang="en-US" sz="1700" err="1">
                <a:solidFill>
                  <a:srgbClr val="FFFFFF"/>
                </a:solidFill>
                <a:ea typeface="+mn-lt"/>
                <a:cs typeface="+mn-lt"/>
              </a:rPr>
              <a:t>Vooral</a:t>
            </a:r>
            <a:r>
              <a:rPr lang="en-US" sz="1700">
                <a:solidFill>
                  <a:srgbClr val="FFFFFF"/>
                </a:solidFill>
                <a:ea typeface="+mn-lt"/>
                <a:cs typeface="+mn-lt"/>
              </a:rPr>
              <a:t> later </a:t>
            </a:r>
            <a:r>
              <a:rPr lang="en-US" sz="1700" err="1">
                <a:solidFill>
                  <a:srgbClr val="FFFFFF"/>
                </a:solidFill>
                <a:ea typeface="+mn-lt"/>
                <a:cs typeface="+mn-lt"/>
              </a:rPr>
              <a:t>zichtbaar</a:t>
            </a:r>
            <a:r>
              <a:rPr lang="en-US" sz="1700" b="1">
                <a:solidFill>
                  <a:srgbClr val="FFFFFF"/>
                </a:solidFill>
                <a:latin typeface="Gill Sans MT"/>
                <a:ea typeface="Gill Sans MT" pitchFamily="34" charset="-122"/>
                <a:cs typeface="Gill Sans MT" pitchFamily="34" charset="-120"/>
              </a:rPr>
              <a:t>:</a:t>
            </a:r>
            <a:r>
              <a:rPr lang="en-US" sz="1700">
                <a:solidFill>
                  <a:srgbClr val="FFFFFF"/>
                </a:solidFill>
                <a:latin typeface="Gill Sans MT"/>
                <a:ea typeface="Gill Sans MT" pitchFamily="34" charset="-122"/>
                <a:cs typeface="Gill Sans MT" pitchFamily="34" charset="-120"/>
              </a:rPr>
              <a:t> </a:t>
            </a:r>
            <a:r>
              <a:rPr lang="en-US" sz="1700">
                <a:solidFill>
                  <a:srgbClr val="FFFFFF"/>
                </a:solidFill>
                <a:ea typeface="+mn-lt"/>
                <a:cs typeface="+mn-lt"/>
              </a:rPr>
              <a:t>Target werkte na de breach samen met externe experts en voerde leiderschaps- en beveiligingsveranderingen door. Dat past goed bij sharing power in de herstelfase.</a:t>
            </a:r>
            <a:endParaRPr lang="en-US" sz="1700" err="1">
              <a:latin typeface="Gill Sans MT"/>
            </a:endParaRPr>
          </a:p>
        </p:txBody>
      </p:sp>
      <p:pic>
        <p:nvPicPr>
          <p:cNvPr id="12" name="Picture 11" descr="Target Data Breach Case Study: Timeline, Costs &amp; Lessons">
            <a:extLst>
              <a:ext uri="{FF2B5EF4-FFF2-40B4-BE49-F238E27FC236}">
                <a16:creationId xmlns:a16="http://schemas.microsoft.com/office/drawing/2014/main" id="{34B3D989-CE81-25A9-7B51-175E186B50C5}"/>
              </a:ext>
            </a:extLst>
          </p:cNvPr>
          <p:cNvPicPr>
            <a:picLocks noChangeAspect="1"/>
          </p:cNvPicPr>
          <p:nvPr/>
        </p:nvPicPr>
        <p:blipFill>
          <a:blip r:embed="rId4"/>
          <a:stretch>
            <a:fillRect/>
          </a:stretch>
        </p:blipFill>
        <p:spPr>
          <a:xfrm>
            <a:off x="8663796" y="2730260"/>
            <a:ext cx="2743200" cy="1828800"/>
          </a:xfrm>
          <a:prstGeom prst="rect">
            <a:avLst/>
          </a:prstGeom>
        </p:spPr>
      </p:pic>
    </p:spTree>
    <p:extLst>
      <p:ext uri="{BB962C8B-B14F-4D97-AF65-F5344CB8AC3E}">
        <p14:creationId xmlns:p14="http://schemas.microsoft.com/office/powerpoint/2010/main" val="574751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1325"/>
        </a:solidFill>
        <a:effectLst/>
      </p:bgPr>
    </p:bg>
    <p:spTree>
      <p:nvGrpSpPr>
        <p:cNvPr id="1" name="">
          <a:extLst>
            <a:ext uri="{FF2B5EF4-FFF2-40B4-BE49-F238E27FC236}">
              <a16:creationId xmlns:a16="http://schemas.microsoft.com/office/drawing/2014/main" id="{F32BBD21-43CE-0A71-5417-7FD169FA5886}"/>
            </a:ext>
          </a:extLst>
        </p:cNvPr>
        <p:cNvGrpSpPr/>
        <p:nvPr/>
      </p:nvGrpSpPr>
      <p:grpSpPr>
        <a:xfrm>
          <a:off x="0" y="0"/>
          <a:ext cx="0" cy="0"/>
          <a:chOff x="0" y="0"/>
          <a:chExt cx="0" cy="0"/>
        </a:xfrm>
      </p:grpSpPr>
      <p:pic>
        <p:nvPicPr>
          <p:cNvPr id="2" name="Image 0" descr="/mnt/data/ws32_ppt/assets/image3.png">
            <a:extLst>
              <a:ext uri="{FF2B5EF4-FFF2-40B4-BE49-F238E27FC236}">
                <a16:creationId xmlns:a16="http://schemas.microsoft.com/office/drawing/2014/main" id="{434F2E3C-3CB6-CF22-0615-95A9F509B7EE}"/>
              </a:ext>
            </a:extLst>
          </p:cNvPr>
          <p:cNvPicPr>
            <a:picLocks noChangeAspect="1"/>
          </p:cNvPicPr>
          <p:nvPr/>
        </p:nvPicPr>
        <p:blipFill>
          <a:blip r:embed="rId3"/>
          <a:stretch>
            <a:fillRect/>
          </a:stretch>
        </p:blipFill>
        <p:spPr>
          <a:xfrm>
            <a:off x="10817352" y="109728"/>
            <a:ext cx="822960" cy="822960"/>
          </a:xfrm>
          <a:prstGeom prst="rect">
            <a:avLst/>
          </a:prstGeom>
        </p:spPr>
      </p:pic>
      <p:sp>
        <p:nvSpPr>
          <p:cNvPr id="3" name="Text 0">
            <a:extLst>
              <a:ext uri="{FF2B5EF4-FFF2-40B4-BE49-F238E27FC236}">
                <a16:creationId xmlns:a16="http://schemas.microsoft.com/office/drawing/2014/main" id="{97A2A2A2-8D7C-2F1A-1846-20499D31DE2C}"/>
              </a:ext>
            </a:extLst>
          </p:cNvPr>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SITUATIONEEL LEIDERSCHAP</a:t>
            </a:r>
            <a:endParaRPr lang="en-US" sz="3100"/>
          </a:p>
        </p:txBody>
      </p:sp>
      <p:sp>
        <p:nvSpPr>
          <p:cNvPr id="6" name="Text 3">
            <a:extLst>
              <a:ext uri="{FF2B5EF4-FFF2-40B4-BE49-F238E27FC236}">
                <a16:creationId xmlns:a16="http://schemas.microsoft.com/office/drawing/2014/main" id="{3F3C9791-9FD8-53EB-624A-80C092CFF791}"/>
              </a:ext>
            </a:extLst>
          </p:cNvPr>
          <p:cNvSpPr/>
          <p:nvPr/>
        </p:nvSpPr>
        <p:spPr>
          <a:xfrm>
            <a:off x="871293" y="3160395"/>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7" name="Text 4">
            <a:extLst>
              <a:ext uri="{FF2B5EF4-FFF2-40B4-BE49-F238E27FC236}">
                <a16:creationId xmlns:a16="http://schemas.microsoft.com/office/drawing/2014/main" id="{CF4E043D-DD22-D5DF-288D-9E0210BB2BBB}"/>
              </a:ext>
            </a:extLst>
          </p:cNvPr>
          <p:cNvSpPr/>
          <p:nvPr/>
        </p:nvSpPr>
        <p:spPr>
          <a:xfrm>
            <a:off x="1170432" y="2902458"/>
            <a:ext cx="6263640" cy="1027938"/>
          </a:xfrm>
          <a:prstGeom prst="rect">
            <a:avLst/>
          </a:prstGeom>
          <a:noFill/>
          <a:ln/>
        </p:spPr>
        <p:txBody>
          <a:bodyPr wrap="square" lIns="0" tIns="0" rIns="0" bIns="0" rtlCol="0" anchor="ctr">
            <a:normAutofit/>
          </a:bodyPr>
          <a:lstStyle/>
          <a:p>
            <a:r>
              <a:rPr lang="en-US" sz="1700" b="1" err="1">
                <a:solidFill>
                  <a:srgbClr val="FFFFFF"/>
                </a:solidFill>
                <a:latin typeface="Gill Sans MT"/>
                <a:ea typeface="Gill Sans MT" pitchFamily="34" charset="-122"/>
                <a:cs typeface="Gill Sans MT" pitchFamily="34" charset="-120"/>
              </a:rPr>
              <a:t>Instrueren</a:t>
            </a:r>
            <a:r>
              <a:rPr lang="en-US" sz="1700" b="1">
                <a:solidFill>
                  <a:srgbClr val="FFFFFF"/>
                </a:solidFill>
                <a:latin typeface="Gill Sans MT"/>
                <a:ea typeface="Gill Sans MT" pitchFamily="34" charset="-122"/>
                <a:cs typeface="Gill Sans MT" pitchFamily="34" charset="-120"/>
              </a:rPr>
              <a:t> — </a:t>
            </a:r>
            <a:r>
              <a:rPr lang="en-US" sz="1700">
                <a:solidFill>
                  <a:srgbClr val="FFFFFF"/>
                </a:solidFill>
                <a:ea typeface="+mn-lt"/>
                <a:cs typeface="+mn-lt"/>
              </a:rPr>
              <a:t>Relevant: Bij </a:t>
            </a:r>
            <a:r>
              <a:rPr lang="en-US" sz="1700" err="1">
                <a:solidFill>
                  <a:srgbClr val="FFFFFF"/>
                </a:solidFill>
                <a:ea typeface="+mn-lt"/>
                <a:cs typeface="+mn-lt"/>
              </a:rPr>
              <a:t>een</a:t>
            </a:r>
            <a:r>
              <a:rPr lang="en-US" sz="1700">
                <a:solidFill>
                  <a:srgbClr val="FFFFFF"/>
                </a:solidFill>
                <a:ea typeface="+mn-lt"/>
                <a:cs typeface="+mn-lt"/>
              </a:rPr>
              <a:t> </a:t>
            </a:r>
            <a:r>
              <a:rPr lang="en-US" sz="1700" err="1">
                <a:solidFill>
                  <a:srgbClr val="FFFFFF"/>
                </a:solidFill>
                <a:ea typeface="+mn-lt"/>
                <a:cs typeface="+mn-lt"/>
              </a:rPr>
              <a:t>cybercrisis</a:t>
            </a:r>
            <a:r>
              <a:rPr lang="en-US" sz="1700">
                <a:solidFill>
                  <a:srgbClr val="FFFFFF"/>
                </a:solidFill>
                <a:ea typeface="+mn-lt"/>
                <a:cs typeface="+mn-lt"/>
              </a:rPr>
              <a:t> is </a:t>
            </a:r>
            <a:r>
              <a:rPr lang="en-US" sz="1700" err="1">
                <a:solidFill>
                  <a:srgbClr val="FFFFFF"/>
                </a:solidFill>
                <a:ea typeface="+mn-lt"/>
                <a:cs typeface="+mn-lt"/>
              </a:rPr>
              <a:t>snelle</a:t>
            </a:r>
            <a:r>
              <a:rPr lang="en-US" sz="1700">
                <a:solidFill>
                  <a:srgbClr val="FFFFFF"/>
                </a:solidFill>
                <a:ea typeface="+mn-lt"/>
                <a:cs typeface="+mn-lt"/>
              </a:rPr>
              <a:t>, top-down </a:t>
            </a:r>
            <a:r>
              <a:rPr lang="en-US" sz="1700" err="1">
                <a:solidFill>
                  <a:srgbClr val="FFFFFF"/>
                </a:solidFill>
                <a:ea typeface="+mn-lt"/>
                <a:cs typeface="+mn-lt"/>
              </a:rPr>
              <a:t>sturing</a:t>
            </a:r>
            <a:r>
              <a:rPr lang="en-US" sz="1700">
                <a:solidFill>
                  <a:srgbClr val="FFFFFF"/>
                </a:solidFill>
                <a:ea typeface="+mn-lt"/>
                <a:cs typeface="+mn-lt"/>
              </a:rPr>
              <a:t> </a:t>
            </a:r>
            <a:r>
              <a:rPr lang="en-US" sz="1700" err="1">
                <a:solidFill>
                  <a:srgbClr val="FFFFFF"/>
                </a:solidFill>
                <a:ea typeface="+mn-lt"/>
                <a:cs typeface="+mn-lt"/>
              </a:rPr>
              <a:t>nodig</a:t>
            </a:r>
            <a:r>
              <a:rPr lang="en-US" sz="1700">
                <a:solidFill>
                  <a:srgbClr val="FFFFFF"/>
                </a:solidFill>
                <a:ea typeface="+mn-lt"/>
                <a:cs typeface="+mn-lt"/>
              </a:rPr>
              <a:t> om direct in </a:t>
            </a:r>
            <a:r>
              <a:rPr lang="en-US" sz="1700" err="1">
                <a:solidFill>
                  <a:srgbClr val="FFFFFF"/>
                </a:solidFill>
                <a:ea typeface="+mn-lt"/>
                <a:cs typeface="+mn-lt"/>
              </a:rPr>
              <a:t>te</a:t>
            </a:r>
            <a:r>
              <a:rPr lang="en-US" sz="1700">
                <a:solidFill>
                  <a:srgbClr val="FFFFFF"/>
                </a:solidFill>
                <a:ea typeface="+mn-lt"/>
                <a:cs typeface="+mn-lt"/>
              </a:rPr>
              <a:t> </a:t>
            </a:r>
            <a:r>
              <a:rPr lang="en-US" sz="1700" err="1">
                <a:solidFill>
                  <a:srgbClr val="FFFFFF"/>
                </a:solidFill>
                <a:ea typeface="+mn-lt"/>
                <a:cs typeface="+mn-lt"/>
              </a:rPr>
              <a:t>grijpen</a:t>
            </a:r>
            <a:r>
              <a:rPr lang="en-US" sz="1700">
                <a:solidFill>
                  <a:srgbClr val="FFFFFF"/>
                </a:solidFill>
                <a:ea typeface="+mn-lt"/>
                <a:cs typeface="+mn-lt"/>
              </a:rPr>
              <a:t> </a:t>
            </a:r>
            <a:r>
              <a:rPr lang="en-US" sz="1700" err="1">
                <a:solidFill>
                  <a:srgbClr val="FFFFFF"/>
                </a:solidFill>
                <a:ea typeface="+mn-lt"/>
                <a:cs typeface="+mn-lt"/>
              </a:rPr>
              <a:t>en</a:t>
            </a:r>
            <a:r>
              <a:rPr lang="en-US" sz="1700">
                <a:solidFill>
                  <a:srgbClr val="FFFFFF"/>
                </a:solidFill>
                <a:ea typeface="+mn-lt"/>
                <a:cs typeface="+mn-lt"/>
              </a:rPr>
              <a:t> </a:t>
            </a:r>
            <a:r>
              <a:rPr lang="en-US" sz="1700" err="1">
                <a:solidFill>
                  <a:srgbClr val="FFFFFF"/>
                </a:solidFill>
                <a:ea typeface="+mn-lt"/>
                <a:cs typeface="+mn-lt"/>
              </a:rPr>
              <a:t>schade</a:t>
            </a:r>
            <a:r>
              <a:rPr lang="en-US" sz="1700">
                <a:solidFill>
                  <a:srgbClr val="FFFFFF"/>
                </a:solidFill>
                <a:ea typeface="+mn-lt"/>
                <a:cs typeface="+mn-lt"/>
              </a:rPr>
              <a:t> </a:t>
            </a:r>
            <a:r>
              <a:rPr lang="en-US" sz="1700" err="1">
                <a:solidFill>
                  <a:srgbClr val="FFFFFF"/>
                </a:solidFill>
                <a:ea typeface="+mn-lt"/>
                <a:cs typeface="+mn-lt"/>
              </a:rPr>
              <a:t>te</a:t>
            </a:r>
            <a:r>
              <a:rPr lang="en-US" sz="1700">
                <a:solidFill>
                  <a:srgbClr val="FFFFFF"/>
                </a:solidFill>
                <a:ea typeface="+mn-lt"/>
                <a:cs typeface="+mn-lt"/>
              </a:rPr>
              <a:t> </a:t>
            </a:r>
            <a:r>
              <a:rPr lang="en-US" sz="1700" err="1">
                <a:solidFill>
                  <a:srgbClr val="FFFFFF"/>
                </a:solidFill>
                <a:ea typeface="+mn-lt"/>
                <a:cs typeface="+mn-lt"/>
              </a:rPr>
              <a:t>beperken</a:t>
            </a:r>
            <a:r>
              <a:rPr lang="en-US" sz="1700">
                <a:solidFill>
                  <a:srgbClr val="FFFFFF"/>
                </a:solidFill>
                <a:ea typeface="+mn-lt"/>
                <a:cs typeface="+mn-lt"/>
              </a:rPr>
              <a:t>.</a:t>
            </a:r>
            <a:endParaRPr lang="en-US" sz="1700">
              <a:solidFill>
                <a:srgbClr val="FFFFFF"/>
              </a:solidFill>
            </a:endParaRPr>
          </a:p>
        </p:txBody>
      </p:sp>
      <p:sp>
        <p:nvSpPr>
          <p:cNvPr id="10" name="Text 7">
            <a:extLst>
              <a:ext uri="{FF2B5EF4-FFF2-40B4-BE49-F238E27FC236}">
                <a16:creationId xmlns:a16="http://schemas.microsoft.com/office/drawing/2014/main" id="{27A859D6-A749-BCCD-55C0-EFBC70DF6C74}"/>
              </a:ext>
            </a:extLst>
          </p:cNvPr>
          <p:cNvSpPr/>
          <p:nvPr/>
        </p:nvSpPr>
        <p:spPr>
          <a:xfrm>
            <a:off x="883113" y="4029783"/>
            <a:ext cx="164592" cy="256032"/>
          </a:xfrm>
          <a:prstGeom prst="rect">
            <a:avLst/>
          </a:prstGeom>
          <a:noFill/>
          <a:ln/>
        </p:spPr>
        <p:txBody>
          <a:bodyPr wrap="square" lIns="0" tIns="0" rIns="0" bIns="0" rtlCol="0" anchor="ctr"/>
          <a:lstStyle/>
          <a:p>
            <a:pPr marL="0" indent="0">
              <a:buNone/>
            </a:pPr>
            <a:r>
              <a:rPr lang="en-US" sz="1920" b="1">
                <a:solidFill>
                  <a:srgbClr val="F4C757"/>
                </a:solidFill>
                <a:latin typeface="Gill Sans MT" pitchFamily="34" charset="0"/>
                <a:ea typeface="Gill Sans MT" pitchFamily="34" charset="-122"/>
                <a:cs typeface="Gill Sans MT" pitchFamily="34" charset="-120"/>
              </a:rPr>
              <a:t>•</a:t>
            </a:r>
            <a:endParaRPr lang="en-US" sz="1920"/>
          </a:p>
        </p:txBody>
      </p:sp>
      <p:sp>
        <p:nvSpPr>
          <p:cNvPr id="11" name="Text 8">
            <a:extLst>
              <a:ext uri="{FF2B5EF4-FFF2-40B4-BE49-F238E27FC236}">
                <a16:creationId xmlns:a16="http://schemas.microsoft.com/office/drawing/2014/main" id="{866A33E4-3C4F-620B-FC75-8B709935BDD0}"/>
              </a:ext>
            </a:extLst>
          </p:cNvPr>
          <p:cNvSpPr/>
          <p:nvPr/>
        </p:nvSpPr>
        <p:spPr>
          <a:xfrm>
            <a:off x="1040736" y="4805499"/>
            <a:ext cx="6263640" cy="1027938"/>
          </a:xfrm>
          <a:prstGeom prst="rect">
            <a:avLst/>
          </a:prstGeom>
          <a:noFill/>
          <a:ln/>
        </p:spPr>
        <p:txBody>
          <a:bodyPr wrap="square" lIns="0" tIns="0" rIns="0" bIns="0" rtlCol="0" anchor="ctr">
            <a:normAutofit/>
          </a:bodyPr>
          <a:lstStyle/>
          <a:p>
            <a:r>
              <a:rPr lang="en-US" sz="1700" b="1" err="1">
                <a:solidFill>
                  <a:srgbClr val="FFFFFF"/>
                </a:solidFill>
                <a:latin typeface="Gill Sans MT"/>
                <a:ea typeface="Gill Sans MT" pitchFamily="34" charset="-122"/>
                <a:cs typeface="Gill Sans MT" pitchFamily="34" charset="-120"/>
              </a:rPr>
              <a:t>Delegeren</a:t>
            </a:r>
            <a:r>
              <a:rPr lang="en-US" sz="1700" b="1">
                <a:solidFill>
                  <a:srgbClr val="FFFFFF"/>
                </a:solidFill>
                <a:latin typeface="Gill Sans MT"/>
                <a:ea typeface="Gill Sans MT" pitchFamily="34" charset="-122"/>
                <a:cs typeface="Gill Sans MT" pitchFamily="34" charset="-120"/>
              </a:rPr>
              <a:t> — </a:t>
            </a:r>
            <a:r>
              <a:rPr lang="en-US" sz="1700" b="1">
                <a:solidFill>
                  <a:srgbClr val="FFFFFF"/>
                </a:solidFill>
                <a:ea typeface="+mn-lt"/>
                <a:cs typeface="+mn-lt"/>
              </a:rPr>
              <a:t>Relevant:</a:t>
            </a:r>
            <a:endParaRPr lang="en-US" sz="1700" b="1">
              <a:solidFill>
                <a:srgbClr val="FFFFFF"/>
              </a:solidFill>
              <a:latin typeface="Gill Sans MT"/>
              <a:ea typeface="Gill Sans MT" pitchFamily="34" charset="-122"/>
              <a:cs typeface="Gill Sans MT" pitchFamily="34" charset="-120"/>
            </a:endParaRPr>
          </a:p>
          <a:p>
            <a:r>
              <a:rPr lang="en-US" sz="1700">
                <a:solidFill>
                  <a:srgbClr val="FFFFFF"/>
                </a:solidFill>
                <a:ea typeface="+mn-lt"/>
                <a:cs typeface="+mn-lt"/>
              </a:rPr>
              <a:t>Target </a:t>
            </a:r>
            <a:r>
              <a:rPr lang="en-US" sz="1700" err="1">
                <a:solidFill>
                  <a:srgbClr val="FFFFFF"/>
                </a:solidFill>
                <a:ea typeface="+mn-lt"/>
                <a:cs typeface="+mn-lt"/>
              </a:rPr>
              <a:t>schakelde</a:t>
            </a:r>
            <a:r>
              <a:rPr lang="en-US" sz="1700">
                <a:solidFill>
                  <a:srgbClr val="FFFFFF"/>
                </a:solidFill>
                <a:ea typeface="+mn-lt"/>
                <a:cs typeface="+mn-lt"/>
              </a:rPr>
              <a:t> later experts </a:t>
            </a:r>
            <a:r>
              <a:rPr lang="en-US" sz="1700" err="1">
                <a:solidFill>
                  <a:srgbClr val="FFFFFF"/>
                </a:solidFill>
                <a:ea typeface="+mn-lt"/>
                <a:cs typeface="+mn-lt"/>
              </a:rPr>
              <a:t>en</a:t>
            </a:r>
            <a:r>
              <a:rPr lang="en-US" sz="1700">
                <a:solidFill>
                  <a:srgbClr val="FFFFFF"/>
                </a:solidFill>
                <a:ea typeface="+mn-lt"/>
                <a:cs typeface="+mn-lt"/>
              </a:rPr>
              <a:t> </a:t>
            </a:r>
            <a:r>
              <a:rPr lang="en-US" sz="1700" err="1">
                <a:solidFill>
                  <a:srgbClr val="FFFFFF"/>
                </a:solidFill>
                <a:ea typeface="+mn-lt"/>
                <a:cs typeface="+mn-lt"/>
              </a:rPr>
              <a:t>nieuwe</a:t>
            </a:r>
            <a:r>
              <a:rPr lang="en-US" sz="1700">
                <a:solidFill>
                  <a:srgbClr val="FFFFFF"/>
                </a:solidFill>
                <a:ea typeface="+mn-lt"/>
                <a:cs typeface="+mn-lt"/>
              </a:rPr>
              <a:t> security-</a:t>
            </a:r>
            <a:r>
              <a:rPr lang="en-US" sz="1700" err="1">
                <a:solidFill>
                  <a:srgbClr val="FFFFFF"/>
                </a:solidFill>
                <a:ea typeface="+mn-lt"/>
                <a:cs typeface="+mn-lt"/>
              </a:rPr>
              <a:t>leiders</a:t>
            </a:r>
            <a:r>
              <a:rPr lang="en-US" sz="1700">
                <a:solidFill>
                  <a:srgbClr val="FFFFFF"/>
                </a:solidFill>
                <a:ea typeface="+mn-lt"/>
                <a:cs typeface="+mn-lt"/>
              </a:rPr>
              <a:t> in om het </a:t>
            </a:r>
            <a:r>
              <a:rPr lang="en-US" sz="1700" err="1">
                <a:solidFill>
                  <a:srgbClr val="FFFFFF"/>
                </a:solidFill>
                <a:ea typeface="+mn-lt"/>
                <a:cs typeface="+mn-lt"/>
              </a:rPr>
              <a:t>herstel</a:t>
            </a:r>
            <a:r>
              <a:rPr lang="en-US" sz="1700">
                <a:solidFill>
                  <a:srgbClr val="FFFFFF"/>
                </a:solidFill>
                <a:ea typeface="+mn-lt"/>
                <a:cs typeface="+mn-lt"/>
              </a:rPr>
              <a:t> </a:t>
            </a:r>
            <a:r>
              <a:rPr lang="en-US" sz="1700" err="1">
                <a:solidFill>
                  <a:srgbClr val="FFFFFF"/>
                </a:solidFill>
                <a:ea typeface="+mn-lt"/>
                <a:cs typeface="+mn-lt"/>
              </a:rPr>
              <a:t>en</a:t>
            </a:r>
            <a:r>
              <a:rPr lang="en-US" sz="1700">
                <a:solidFill>
                  <a:srgbClr val="FFFFFF"/>
                </a:solidFill>
                <a:ea typeface="+mn-lt"/>
                <a:cs typeface="+mn-lt"/>
              </a:rPr>
              <a:t> de </a:t>
            </a:r>
            <a:r>
              <a:rPr lang="en-US" sz="1700" err="1">
                <a:solidFill>
                  <a:srgbClr val="FFFFFF"/>
                </a:solidFill>
                <a:ea typeface="+mn-lt"/>
                <a:cs typeface="+mn-lt"/>
              </a:rPr>
              <a:t>verbeteringen</a:t>
            </a:r>
            <a:r>
              <a:rPr lang="en-US" sz="1700">
                <a:solidFill>
                  <a:srgbClr val="FFFFFF"/>
                </a:solidFill>
                <a:ea typeface="+mn-lt"/>
                <a:cs typeface="+mn-lt"/>
              </a:rPr>
              <a:t> door </a:t>
            </a:r>
            <a:r>
              <a:rPr lang="en-US" sz="1700" err="1">
                <a:solidFill>
                  <a:srgbClr val="FFFFFF"/>
                </a:solidFill>
                <a:ea typeface="+mn-lt"/>
                <a:cs typeface="+mn-lt"/>
              </a:rPr>
              <a:t>te</a:t>
            </a:r>
            <a:r>
              <a:rPr lang="en-US" sz="1700">
                <a:solidFill>
                  <a:srgbClr val="FFFFFF"/>
                </a:solidFill>
                <a:ea typeface="+mn-lt"/>
                <a:cs typeface="+mn-lt"/>
              </a:rPr>
              <a:t> </a:t>
            </a:r>
            <a:r>
              <a:rPr lang="en-US" sz="1700" err="1">
                <a:solidFill>
                  <a:srgbClr val="FFFFFF"/>
                </a:solidFill>
                <a:ea typeface="+mn-lt"/>
                <a:cs typeface="+mn-lt"/>
              </a:rPr>
              <a:t>voeren</a:t>
            </a:r>
            <a:r>
              <a:rPr lang="en-US" sz="1700">
                <a:solidFill>
                  <a:srgbClr val="FFFFFF"/>
                </a:solidFill>
                <a:ea typeface="+mn-lt"/>
                <a:cs typeface="+mn-lt"/>
              </a:rPr>
              <a:t>.</a:t>
            </a:r>
            <a:endParaRPr lang="en-US">
              <a:ea typeface="+mn-lt"/>
              <a:cs typeface="+mn-lt"/>
            </a:endParaRPr>
          </a:p>
        </p:txBody>
      </p:sp>
      <p:sp>
        <p:nvSpPr>
          <p:cNvPr id="4" name="Text 4">
            <a:extLst>
              <a:ext uri="{FF2B5EF4-FFF2-40B4-BE49-F238E27FC236}">
                <a16:creationId xmlns:a16="http://schemas.microsoft.com/office/drawing/2014/main" id="{C1BFA4E8-321D-BF42-0B6E-D89D8FE788B1}"/>
              </a:ext>
            </a:extLst>
          </p:cNvPr>
          <p:cNvSpPr/>
          <p:nvPr/>
        </p:nvSpPr>
        <p:spPr>
          <a:xfrm>
            <a:off x="1038352" y="3776217"/>
            <a:ext cx="6263640" cy="1027938"/>
          </a:xfrm>
          <a:prstGeom prst="rect">
            <a:avLst/>
          </a:prstGeom>
          <a:noFill/>
          <a:ln/>
        </p:spPr>
        <p:txBody>
          <a:bodyPr wrap="square" lIns="0" tIns="0" rIns="0" bIns="0" rtlCol="0" anchor="ctr">
            <a:normAutofit/>
          </a:bodyPr>
          <a:lstStyle/>
          <a:p>
            <a:r>
              <a:rPr lang="en-US" sz="1700" b="1" err="1">
                <a:solidFill>
                  <a:srgbClr val="FFFFFF"/>
                </a:solidFill>
                <a:ea typeface="+mn-lt"/>
                <a:cs typeface="+mn-lt"/>
              </a:rPr>
              <a:t>Overtuigen</a:t>
            </a:r>
            <a:r>
              <a:rPr lang="en-US" sz="1700" b="1">
                <a:solidFill>
                  <a:srgbClr val="FFFFFF"/>
                </a:solidFill>
                <a:ea typeface="+mn-lt"/>
                <a:cs typeface="+mn-lt"/>
              </a:rPr>
              <a:t>/</a:t>
            </a:r>
            <a:r>
              <a:rPr lang="en-US" sz="1700" b="1" err="1">
                <a:solidFill>
                  <a:srgbClr val="FFFFFF"/>
                </a:solidFill>
                <a:ea typeface="+mn-lt"/>
                <a:cs typeface="+mn-lt"/>
              </a:rPr>
              <a:t>Coachen</a:t>
            </a:r>
            <a:r>
              <a:rPr lang="en-US" sz="1700" b="1">
                <a:solidFill>
                  <a:srgbClr val="FFFFFF"/>
                </a:solidFill>
                <a:ea typeface="+mn-lt"/>
                <a:cs typeface="+mn-lt"/>
              </a:rPr>
              <a:t> — Relevant:</a:t>
            </a:r>
            <a:endParaRPr lang="en-US" b="1">
              <a:ea typeface="+mn-lt"/>
              <a:cs typeface="+mn-lt"/>
            </a:endParaRPr>
          </a:p>
          <a:p>
            <a:r>
              <a:rPr lang="en-US" sz="1700">
                <a:solidFill>
                  <a:srgbClr val="FFFFFF"/>
                </a:solidFill>
                <a:ea typeface="+mn-lt"/>
                <a:cs typeface="+mn-lt"/>
              </a:rPr>
              <a:t>Na de acute </a:t>
            </a:r>
            <a:r>
              <a:rPr lang="en-US" sz="1700" err="1">
                <a:solidFill>
                  <a:srgbClr val="FFFFFF"/>
                </a:solidFill>
                <a:ea typeface="+mn-lt"/>
                <a:cs typeface="+mn-lt"/>
              </a:rPr>
              <a:t>fase</a:t>
            </a:r>
            <a:r>
              <a:rPr lang="en-US" sz="1700">
                <a:solidFill>
                  <a:srgbClr val="FFFFFF"/>
                </a:solidFill>
                <a:ea typeface="+mn-lt"/>
                <a:cs typeface="+mn-lt"/>
              </a:rPr>
              <a:t> was </a:t>
            </a:r>
            <a:r>
              <a:rPr lang="en-US" sz="1700" err="1">
                <a:solidFill>
                  <a:srgbClr val="FFFFFF"/>
                </a:solidFill>
                <a:ea typeface="+mn-lt"/>
                <a:cs typeface="+mn-lt"/>
              </a:rPr>
              <a:t>communicatie</a:t>
            </a:r>
            <a:r>
              <a:rPr lang="en-US" sz="1700">
                <a:solidFill>
                  <a:srgbClr val="FFFFFF"/>
                </a:solidFill>
                <a:ea typeface="+mn-lt"/>
                <a:cs typeface="+mn-lt"/>
              </a:rPr>
              <a:t> </a:t>
            </a:r>
            <a:r>
              <a:rPr lang="en-US" sz="1700" err="1">
                <a:solidFill>
                  <a:srgbClr val="FFFFFF"/>
                </a:solidFill>
                <a:ea typeface="+mn-lt"/>
                <a:cs typeface="+mn-lt"/>
              </a:rPr>
              <a:t>belangrijk</a:t>
            </a:r>
            <a:r>
              <a:rPr lang="en-US" sz="1700">
                <a:solidFill>
                  <a:srgbClr val="FFFFFF"/>
                </a:solidFill>
                <a:ea typeface="+mn-lt"/>
                <a:cs typeface="+mn-lt"/>
              </a:rPr>
              <a:t> om </a:t>
            </a:r>
            <a:r>
              <a:rPr lang="en-US" sz="1700" err="1">
                <a:solidFill>
                  <a:srgbClr val="FFFFFF"/>
                </a:solidFill>
                <a:ea typeface="+mn-lt"/>
                <a:cs typeface="+mn-lt"/>
              </a:rPr>
              <a:t>vertrouwen</a:t>
            </a:r>
            <a:r>
              <a:rPr lang="en-US" sz="1700">
                <a:solidFill>
                  <a:srgbClr val="FFFFFF"/>
                </a:solidFill>
                <a:ea typeface="+mn-lt"/>
                <a:cs typeface="+mn-lt"/>
              </a:rPr>
              <a:t> van </a:t>
            </a:r>
            <a:r>
              <a:rPr lang="en-US" sz="1700" err="1">
                <a:solidFill>
                  <a:srgbClr val="FFFFFF"/>
                </a:solidFill>
                <a:ea typeface="+mn-lt"/>
                <a:cs typeface="+mn-lt"/>
              </a:rPr>
              <a:t>klanten</a:t>
            </a:r>
            <a:r>
              <a:rPr lang="en-US" sz="1700">
                <a:solidFill>
                  <a:srgbClr val="FFFFFF"/>
                </a:solidFill>
                <a:ea typeface="+mn-lt"/>
                <a:cs typeface="+mn-lt"/>
              </a:rPr>
              <a:t> </a:t>
            </a:r>
            <a:r>
              <a:rPr lang="en-US" sz="1700" err="1">
                <a:solidFill>
                  <a:srgbClr val="FFFFFF"/>
                </a:solidFill>
                <a:ea typeface="+mn-lt"/>
                <a:cs typeface="+mn-lt"/>
              </a:rPr>
              <a:t>en</a:t>
            </a:r>
            <a:r>
              <a:rPr lang="en-US" sz="1700">
                <a:solidFill>
                  <a:srgbClr val="FFFFFF"/>
                </a:solidFill>
                <a:ea typeface="+mn-lt"/>
                <a:cs typeface="+mn-lt"/>
              </a:rPr>
              <a:t> stakeholders </a:t>
            </a:r>
            <a:r>
              <a:rPr lang="en-US" sz="1700" err="1">
                <a:solidFill>
                  <a:srgbClr val="FFFFFF"/>
                </a:solidFill>
                <a:ea typeface="+mn-lt"/>
                <a:cs typeface="+mn-lt"/>
              </a:rPr>
              <a:t>terug</a:t>
            </a:r>
            <a:r>
              <a:rPr lang="en-US" sz="1700">
                <a:solidFill>
                  <a:srgbClr val="FFFFFF"/>
                </a:solidFill>
                <a:ea typeface="+mn-lt"/>
                <a:cs typeface="+mn-lt"/>
              </a:rPr>
              <a:t> </a:t>
            </a:r>
            <a:r>
              <a:rPr lang="en-US" sz="1700" err="1">
                <a:solidFill>
                  <a:srgbClr val="FFFFFF"/>
                </a:solidFill>
                <a:ea typeface="+mn-lt"/>
                <a:cs typeface="+mn-lt"/>
              </a:rPr>
              <a:t>te</a:t>
            </a:r>
            <a:r>
              <a:rPr lang="en-US" sz="1700">
                <a:solidFill>
                  <a:srgbClr val="FFFFFF"/>
                </a:solidFill>
                <a:ea typeface="+mn-lt"/>
                <a:cs typeface="+mn-lt"/>
              </a:rPr>
              <a:t> </a:t>
            </a:r>
            <a:r>
              <a:rPr lang="en-US" sz="1700" err="1">
                <a:solidFill>
                  <a:srgbClr val="FFFFFF"/>
                </a:solidFill>
                <a:ea typeface="+mn-lt"/>
                <a:cs typeface="+mn-lt"/>
              </a:rPr>
              <a:t>winnen</a:t>
            </a:r>
            <a:r>
              <a:rPr lang="en-US" sz="1700">
                <a:solidFill>
                  <a:srgbClr val="FFFFFF"/>
                </a:solidFill>
                <a:ea typeface="+mn-lt"/>
                <a:cs typeface="+mn-lt"/>
              </a:rPr>
              <a:t>.</a:t>
            </a:r>
            <a:endParaRPr lang="en-US">
              <a:ea typeface="+mn-lt"/>
              <a:cs typeface="+mn-lt"/>
            </a:endParaRPr>
          </a:p>
        </p:txBody>
      </p:sp>
    </p:spTree>
    <p:extLst>
      <p:ext uri="{BB962C8B-B14F-4D97-AF65-F5344CB8AC3E}">
        <p14:creationId xmlns:p14="http://schemas.microsoft.com/office/powerpoint/2010/main" val="3060224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1325"/>
        </a:solidFill>
        <a:effectLst/>
      </p:bgPr>
    </p:bg>
    <p:spTree>
      <p:nvGrpSpPr>
        <p:cNvPr id="1" name="">
          <a:extLst>
            <a:ext uri="{FF2B5EF4-FFF2-40B4-BE49-F238E27FC236}">
              <a16:creationId xmlns:a16="http://schemas.microsoft.com/office/drawing/2014/main" id="{14E01C3D-8EB0-829C-BABE-813941706FAE}"/>
            </a:ext>
          </a:extLst>
        </p:cNvPr>
        <p:cNvGrpSpPr/>
        <p:nvPr/>
      </p:nvGrpSpPr>
      <p:grpSpPr>
        <a:xfrm>
          <a:off x="0" y="0"/>
          <a:ext cx="0" cy="0"/>
          <a:chOff x="0" y="0"/>
          <a:chExt cx="0" cy="0"/>
        </a:xfrm>
      </p:grpSpPr>
      <p:pic>
        <p:nvPicPr>
          <p:cNvPr id="2" name="Image 0" descr="/mnt/data/ws32_ppt/assets/image3.png">
            <a:extLst>
              <a:ext uri="{FF2B5EF4-FFF2-40B4-BE49-F238E27FC236}">
                <a16:creationId xmlns:a16="http://schemas.microsoft.com/office/drawing/2014/main" id="{D8C2EE05-4C4A-5714-4EBA-30B544682E18}"/>
              </a:ext>
            </a:extLst>
          </p:cNvPr>
          <p:cNvPicPr>
            <a:picLocks noChangeAspect="1"/>
          </p:cNvPicPr>
          <p:nvPr/>
        </p:nvPicPr>
        <p:blipFill>
          <a:blip r:embed="rId3"/>
          <a:stretch>
            <a:fillRect/>
          </a:stretch>
        </p:blipFill>
        <p:spPr>
          <a:xfrm>
            <a:off x="10817352" y="109728"/>
            <a:ext cx="822960" cy="822960"/>
          </a:xfrm>
          <a:prstGeom prst="rect">
            <a:avLst/>
          </a:prstGeom>
        </p:spPr>
      </p:pic>
      <p:sp>
        <p:nvSpPr>
          <p:cNvPr id="3" name="Text 0">
            <a:extLst>
              <a:ext uri="{FF2B5EF4-FFF2-40B4-BE49-F238E27FC236}">
                <a16:creationId xmlns:a16="http://schemas.microsoft.com/office/drawing/2014/main" id="{BD8B2E19-E985-A193-3388-2A3BBD2E91D5}"/>
              </a:ext>
            </a:extLst>
          </p:cNvPr>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a:solidFill>
                  <a:srgbClr val="FFFFFF"/>
                </a:solidFill>
                <a:latin typeface="Gill Sans MT" pitchFamily="34" charset="0"/>
                <a:ea typeface="Gill Sans MT" pitchFamily="34" charset="-122"/>
                <a:cs typeface="Gill Sans MT" pitchFamily="34" charset="-120"/>
              </a:rPr>
              <a:t>KEY TAKE-AWAYS &amp; CONCLUSIE</a:t>
            </a:r>
            <a:endParaRPr lang="en-US" sz="3100"/>
          </a:p>
        </p:txBody>
      </p:sp>
      <p:sp>
        <p:nvSpPr>
          <p:cNvPr id="4" name="Text 1">
            <a:extLst>
              <a:ext uri="{FF2B5EF4-FFF2-40B4-BE49-F238E27FC236}">
                <a16:creationId xmlns:a16="http://schemas.microsoft.com/office/drawing/2014/main" id="{8485734A-72F1-8D34-ACAE-94FC9B0E48BD}"/>
              </a:ext>
            </a:extLst>
          </p:cNvPr>
          <p:cNvSpPr/>
          <p:nvPr/>
        </p:nvSpPr>
        <p:spPr>
          <a:xfrm>
            <a:off x="896112" y="2066544"/>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5" name="Text 2">
            <a:extLst>
              <a:ext uri="{FF2B5EF4-FFF2-40B4-BE49-F238E27FC236}">
                <a16:creationId xmlns:a16="http://schemas.microsoft.com/office/drawing/2014/main" id="{7ABE4A2D-7309-D695-8CB0-27D7CD4FEFD4}"/>
              </a:ext>
            </a:extLst>
          </p:cNvPr>
          <p:cNvSpPr/>
          <p:nvPr/>
        </p:nvSpPr>
        <p:spPr>
          <a:xfrm>
            <a:off x="1170432" y="1783080"/>
            <a:ext cx="6492240" cy="800100"/>
          </a:xfrm>
          <a:prstGeom prst="rect">
            <a:avLst/>
          </a:prstGeom>
          <a:noFill/>
          <a:ln/>
        </p:spPr>
        <p:txBody>
          <a:bodyPr wrap="square" lIns="0" tIns="0" rIns="0" bIns="0" rtlCol="0" anchor="ctr">
            <a:normAutofit/>
          </a:bodyPr>
          <a:lstStyle/>
          <a:p>
            <a:r>
              <a:rPr lang="en-US" b="1">
                <a:solidFill>
                  <a:srgbClr val="FFFFFF"/>
                </a:solidFill>
                <a:ea typeface="+mn-lt"/>
                <a:cs typeface="+mn-lt"/>
              </a:rPr>
              <a:t>Snel </a:t>
            </a:r>
            <a:r>
              <a:rPr lang="en-US" b="1" err="1">
                <a:solidFill>
                  <a:srgbClr val="FFFFFF"/>
                </a:solidFill>
                <a:ea typeface="+mn-lt"/>
                <a:cs typeface="+mn-lt"/>
              </a:rPr>
              <a:t>reageren</a:t>
            </a:r>
            <a:r>
              <a:rPr lang="en-US" b="1">
                <a:solidFill>
                  <a:srgbClr val="FFFFFF"/>
                </a:solidFill>
                <a:ea typeface="+mn-lt"/>
                <a:cs typeface="+mn-lt"/>
              </a:rPr>
              <a:t> is </a:t>
            </a:r>
            <a:r>
              <a:rPr lang="en-US" b="1" err="1">
                <a:solidFill>
                  <a:srgbClr val="FFFFFF"/>
                </a:solidFill>
                <a:ea typeface="+mn-lt"/>
                <a:cs typeface="+mn-lt"/>
              </a:rPr>
              <a:t>cruciaal</a:t>
            </a:r>
            <a:r>
              <a:rPr lang="en-US" b="1">
                <a:solidFill>
                  <a:srgbClr val="FFFFFF"/>
                </a:solidFill>
                <a:ea typeface="+mn-lt"/>
                <a:cs typeface="+mn-lt"/>
              </a:rPr>
              <a:t>:</a:t>
            </a:r>
            <a:endParaRPr lang="en-US" b="1"/>
          </a:p>
          <a:p>
            <a:r>
              <a:rPr lang="en-US">
                <a:solidFill>
                  <a:srgbClr val="FFFFFF"/>
                </a:solidFill>
                <a:ea typeface="+mn-lt"/>
                <a:cs typeface="+mn-lt"/>
              </a:rPr>
              <a:t>De </a:t>
            </a:r>
            <a:r>
              <a:rPr lang="en-US" err="1">
                <a:solidFill>
                  <a:srgbClr val="FFFFFF"/>
                </a:solidFill>
                <a:ea typeface="+mn-lt"/>
                <a:cs typeface="+mn-lt"/>
              </a:rPr>
              <a:t>grootste</a:t>
            </a:r>
            <a:r>
              <a:rPr lang="en-US">
                <a:solidFill>
                  <a:srgbClr val="FFFFFF"/>
                </a:solidFill>
                <a:ea typeface="+mn-lt"/>
                <a:cs typeface="+mn-lt"/>
              </a:rPr>
              <a:t> </a:t>
            </a:r>
            <a:r>
              <a:rPr lang="en-US" err="1">
                <a:solidFill>
                  <a:srgbClr val="FFFFFF"/>
                </a:solidFill>
                <a:ea typeface="+mn-lt"/>
                <a:cs typeface="+mn-lt"/>
              </a:rPr>
              <a:t>fout</a:t>
            </a:r>
            <a:r>
              <a:rPr lang="en-US">
                <a:solidFill>
                  <a:srgbClr val="FFFFFF"/>
                </a:solidFill>
                <a:ea typeface="+mn-lt"/>
                <a:cs typeface="+mn-lt"/>
              </a:rPr>
              <a:t> </a:t>
            </a:r>
            <a:r>
              <a:rPr lang="en-US" err="1">
                <a:solidFill>
                  <a:srgbClr val="FFFFFF"/>
                </a:solidFill>
                <a:ea typeface="+mn-lt"/>
                <a:cs typeface="+mn-lt"/>
              </a:rPr>
              <a:t>zat</a:t>
            </a:r>
            <a:r>
              <a:rPr lang="en-US">
                <a:solidFill>
                  <a:srgbClr val="FFFFFF"/>
                </a:solidFill>
                <a:ea typeface="+mn-lt"/>
                <a:cs typeface="+mn-lt"/>
              </a:rPr>
              <a:t> in het </a:t>
            </a:r>
            <a:r>
              <a:rPr lang="en-US" err="1">
                <a:solidFill>
                  <a:srgbClr val="FFFFFF"/>
                </a:solidFill>
                <a:ea typeface="+mn-lt"/>
                <a:cs typeface="+mn-lt"/>
              </a:rPr>
              <a:t>niet</a:t>
            </a:r>
            <a:r>
              <a:rPr lang="en-US">
                <a:solidFill>
                  <a:srgbClr val="FFFFFF"/>
                </a:solidFill>
                <a:ea typeface="+mn-lt"/>
                <a:cs typeface="+mn-lt"/>
              </a:rPr>
              <a:t> </a:t>
            </a:r>
            <a:r>
              <a:rPr lang="en-US" err="1">
                <a:solidFill>
                  <a:srgbClr val="FFFFFF"/>
                </a:solidFill>
                <a:ea typeface="+mn-lt"/>
                <a:cs typeface="+mn-lt"/>
              </a:rPr>
              <a:t>tijdig</a:t>
            </a:r>
            <a:r>
              <a:rPr lang="en-US">
                <a:solidFill>
                  <a:srgbClr val="FFFFFF"/>
                </a:solidFill>
                <a:ea typeface="+mn-lt"/>
                <a:cs typeface="+mn-lt"/>
              </a:rPr>
              <a:t> </a:t>
            </a:r>
            <a:r>
              <a:rPr lang="en-US" err="1">
                <a:solidFill>
                  <a:srgbClr val="FFFFFF"/>
                </a:solidFill>
                <a:ea typeface="+mn-lt"/>
                <a:cs typeface="+mn-lt"/>
              </a:rPr>
              <a:t>opvolgen</a:t>
            </a:r>
            <a:r>
              <a:rPr lang="en-US">
                <a:solidFill>
                  <a:srgbClr val="FFFFFF"/>
                </a:solidFill>
                <a:ea typeface="+mn-lt"/>
                <a:cs typeface="+mn-lt"/>
              </a:rPr>
              <a:t> van </a:t>
            </a:r>
            <a:r>
              <a:rPr lang="en-US" err="1">
                <a:solidFill>
                  <a:srgbClr val="FFFFFF"/>
                </a:solidFill>
                <a:ea typeface="+mn-lt"/>
                <a:cs typeface="+mn-lt"/>
              </a:rPr>
              <a:t>waarschuwingen</a:t>
            </a:r>
            <a:r>
              <a:rPr lang="en-US">
                <a:solidFill>
                  <a:srgbClr val="FFFFFF"/>
                </a:solidFill>
                <a:ea typeface="+mn-lt"/>
                <a:cs typeface="+mn-lt"/>
              </a:rPr>
              <a:t>.</a:t>
            </a:r>
            <a:endParaRPr lang="en-US">
              <a:ea typeface="+mn-lt"/>
              <a:cs typeface="+mn-lt"/>
            </a:endParaRPr>
          </a:p>
        </p:txBody>
      </p:sp>
      <p:sp>
        <p:nvSpPr>
          <p:cNvPr id="6" name="Text 3">
            <a:extLst>
              <a:ext uri="{FF2B5EF4-FFF2-40B4-BE49-F238E27FC236}">
                <a16:creationId xmlns:a16="http://schemas.microsoft.com/office/drawing/2014/main" id="{78E56E8E-7DB4-A0FF-8071-44C9A2C61B31}"/>
              </a:ext>
            </a:extLst>
          </p:cNvPr>
          <p:cNvSpPr/>
          <p:nvPr/>
        </p:nvSpPr>
        <p:spPr>
          <a:xfrm>
            <a:off x="896112" y="2921508"/>
            <a:ext cx="164592" cy="256032"/>
          </a:xfrm>
          <a:prstGeom prst="rect">
            <a:avLst/>
          </a:prstGeom>
          <a:noFill/>
          <a:ln/>
        </p:spPr>
        <p:txBody>
          <a:bodyPr wrap="square" lIns="0" tIns="0" rIns="0" bIns="0" rtlCol="0" anchor="ctr"/>
          <a:lstStyle/>
          <a:p>
            <a:pPr marL="0" indent="0">
              <a:buNone/>
            </a:pPr>
            <a:r>
              <a:rPr lang="en-US" sz="2000" b="1">
                <a:solidFill>
                  <a:srgbClr val="F4C757"/>
                </a:solidFill>
                <a:latin typeface="Gill Sans MT" pitchFamily="34" charset="0"/>
                <a:ea typeface="Gill Sans MT" pitchFamily="34" charset="-122"/>
                <a:cs typeface="Gill Sans MT" pitchFamily="34" charset="-120"/>
              </a:rPr>
              <a:t>•</a:t>
            </a:r>
            <a:endParaRPr lang="en-US" sz="2000"/>
          </a:p>
        </p:txBody>
      </p:sp>
      <p:sp>
        <p:nvSpPr>
          <p:cNvPr id="7" name="Text 4">
            <a:extLst>
              <a:ext uri="{FF2B5EF4-FFF2-40B4-BE49-F238E27FC236}">
                <a16:creationId xmlns:a16="http://schemas.microsoft.com/office/drawing/2014/main" id="{892BDB16-317C-3EFE-7EC0-7AD2413CE004}"/>
              </a:ext>
            </a:extLst>
          </p:cNvPr>
          <p:cNvSpPr/>
          <p:nvPr/>
        </p:nvSpPr>
        <p:spPr>
          <a:xfrm>
            <a:off x="1170432" y="2784348"/>
            <a:ext cx="6492240" cy="800100"/>
          </a:xfrm>
          <a:prstGeom prst="rect">
            <a:avLst/>
          </a:prstGeom>
          <a:noFill/>
          <a:ln/>
        </p:spPr>
        <p:txBody>
          <a:bodyPr wrap="square" lIns="0" tIns="0" rIns="0" bIns="0" rtlCol="0" anchor="ctr">
            <a:normAutofit lnSpcReduction="10000"/>
          </a:bodyPr>
          <a:lstStyle/>
          <a:p>
            <a:r>
              <a:rPr lang="en-US" b="1" err="1">
                <a:solidFill>
                  <a:srgbClr val="FFFFFF"/>
                </a:solidFill>
                <a:ea typeface="+mn-lt"/>
                <a:cs typeface="+mn-lt"/>
              </a:rPr>
              <a:t>Transparantie</a:t>
            </a:r>
            <a:r>
              <a:rPr lang="en-US" b="1">
                <a:solidFill>
                  <a:srgbClr val="FFFFFF"/>
                </a:solidFill>
                <a:ea typeface="+mn-lt"/>
                <a:cs typeface="+mn-lt"/>
              </a:rPr>
              <a:t> </a:t>
            </a:r>
            <a:r>
              <a:rPr lang="en-US" b="1" err="1">
                <a:solidFill>
                  <a:srgbClr val="FFFFFF"/>
                </a:solidFill>
                <a:ea typeface="+mn-lt"/>
                <a:cs typeface="+mn-lt"/>
              </a:rPr>
              <a:t>moet</a:t>
            </a:r>
            <a:r>
              <a:rPr lang="en-US" b="1">
                <a:solidFill>
                  <a:srgbClr val="FFFFFF"/>
                </a:solidFill>
                <a:ea typeface="+mn-lt"/>
                <a:cs typeface="+mn-lt"/>
              </a:rPr>
              <a:t> </a:t>
            </a:r>
            <a:r>
              <a:rPr lang="en-US" b="1" err="1">
                <a:solidFill>
                  <a:srgbClr val="FFFFFF"/>
                </a:solidFill>
                <a:ea typeface="+mn-lt"/>
                <a:cs typeface="+mn-lt"/>
              </a:rPr>
              <a:t>vroeg</a:t>
            </a:r>
            <a:r>
              <a:rPr lang="en-US" b="1">
                <a:solidFill>
                  <a:srgbClr val="FFFFFF"/>
                </a:solidFill>
                <a:ea typeface="+mn-lt"/>
                <a:cs typeface="+mn-lt"/>
              </a:rPr>
              <a:t> </a:t>
            </a:r>
            <a:r>
              <a:rPr lang="en-US" b="1" err="1">
                <a:solidFill>
                  <a:srgbClr val="FFFFFF"/>
                </a:solidFill>
                <a:ea typeface="+mn-lt"/>
                <a:cs typeface="+mn-lt"/>
              </a:rPr>
              <a:t>komen</a:t>
            </a:r>
            <a:r>
              <a:rPr lang="en-US" b="1">
                <a:solidFill>
                  <a:srgbClr val="FFFFFF"/>
                </a:solidFill>
                <a:ea typeface="+mn-lt"/>
                <a:cs typeface="+mn-lt"/>
              </a:rPr>
              <a:t>:</a:t>
            </a:r>
            <a:endParaRPr lang="en-US" b="1">
              <a:ea typeface="+mn-lt"/>
              <a:cs typeface="+mn-lt"/>
            </a:endParaRPr>
          </a:p>
          <a:p>
            <a:r>
              <a:rPr lang="en-US">
                <a:solidFill>
                  <a:srgbClr val="FFFFFF"/>
                </a:solidFill>
                <a:ea typeface="+mn-lt"/>
                <a:cs typeface="+mn-lt"/>
              </a:rPr>
              <a:t>Open </a:t>
            </a:r>
            <a:r>
              <a:rPr lang="en-US" err="1">
                <a:solidFill>
                  <a:srgbClr val="FFFFFF"/>
                </a:solidFill>
                <a:ea typeface="+mn-lt"/>
                <a:cs typeface="+mn-lt"/>
              </a:rPr>
              <a:t>communiceren</a:t>
            </a:r>
            <a:r>
              <a:rPr lang="en-US">
                <a:solidFill>
                  <a:srgbClr val="FFFFFF"/>
                </a:solidFill>
                <a:ea typeface="+mn-lt"/>
                <a:cs typeface="+mn-lt"/>
              </a:rPr>
              <a:t> </a:t>
            </a:r>
            <a:r>
              <a:rPr lang="en-US" err="1">
                <a:solidFill>
                  <a:srgbClr val="FFFFFF"/>
                </a:solidFill>
                <a:ea typeface="+mn-lt"/>
                <a:cs typeface="+mn-lt"/>
              </a:rPr>
              <a:t>helpt</a:t>
            </a:r>
            <a:r>
              <a:rPr lang="en-US">
                <a:solidFill>
                  <a:srgbClr val="FFFFFF"/>
                </a:solidFill>
                <a:ea typeface="+mn-lt"/>
                <a:cs typeface="+mn-lt"/>
              </a:rPr>
              <a:t>, maar het effect is </a:t>
            </a:r>
            <a:r>
              <a:rPr lang="en-US" err="1">
                <a:solidFill>
                  <a:srgbClr val="FFFFFF"/>
                </a:solidFill>
                <a:ea typeface="+mn-lt"/>
                <a:cs typeface="+mn-lt"/>
              </a:rPr>
              <a:t>sterker</a:t>
            </a:r>
            <a:r>
              <a:rPr lang="en-US">
                <a:solidFill>
                  <a:srgbClr val="FFFFFF"/>
                </a:solidFill>
                <a:ea typeface="+mn-lt"/>
                <a:cs typeface="+mn-lt"/>
              </a:rPr>
              <a:t> </a:t>
            </a:r>
            <a:r>
              <a:rPr lang="en-US" err="1">
                <a:solidFill>
                  <a:srgbClr val="FFFFFF"/>
                </a:solidFill>
                <a:ea typeface="+mn-lt"/>
                <a:cs typeface="+mn-lt"/>
              </a:rPr>
              <a:t>als</a:t>
            </a:r>
            <a:r>
              <a:rPr lang="en-US">
                <a:solidFill>
                  <a:srgbClr val="FFFFFF"/>
                </a:solidFill>
                <a:ea typeface="+mn-lt"/>
                <a:cs typeface="+mn-lt"/>
              </a:rPr>
              <a:t> het </a:t>
            </a:r>
            <a:r>
              <a:rPr lang="en-US" err="1">
                <a:solidFill>
                  <a:srgbClr val="FFFFFF"/>
                </a:solidFill>
                <a:ea typeface="+mn-lt"/>
                <a:cs typeface="+mn-lt"/>
              </a:rPr>
              <a:t>proactief</a:t>
            </a:r>
            <a:r>
              <a:rPr lang="en-US">
                <a:solidFill>
                  <a:srgbClr val="FFFFFF"/>
                </a:solidFill>
                <a:ea typeface="+mn-lt"/>
                <a:cs typeface="+mn-lt"/>
              </a:rPr>
              <a:t> </a:t>
            </a:r>
            <a:r>
              <a:rPr lang="en-US" err="1">
                <a:solidFill>
                  <a:srgbClr val="FFFFFF"/>
                </a:solidFill>
                <a:ea typeface="+mn-lt"/>
                <a:cs typeface="+mn-lt"/>
              </a:rPr>
              <a:t>gebeurt</a:t>
            </a:r>
            <a:r>
              <a:rPr lang="en-US">
                <a:solidFill>
                  <a:srgbClr val="FFFFFF"/>
                </a:solidFill>
                <a:ea typeface="+mn-lt"/>
                <a:cs typeface="+mn-lt"/>
              </a:rPr>
              <a:t>.</a:t>
            </a:r>
            <a:endParaRPr lang="en-US">
              <a:ea typeface="+mn-lt"/>
              <a:cs typeface="+mn-lt"/>
            </a:endParaRPr>
          </a:p>
        </p:txBody>
      </p:sp>
      <p:sp>
        <p:nvSpPr>
          <p:cNvPr id="8" name="Text 4">
            <a:extLst>
              <a:ext uri="{FF2B5EF4-FFF2-40B4-BE49-F238E27FC236}">
                <a16:creationId xmlns:a16="http://schemas.microsoft.com/office/drawing/2014/main" id="{292BFC06-77CC-0392-162A-8317B32BF53B}"/>
              </a:ext>
            </a:extLst>
          </p:cNvPr>
          <p:cNvSpPr/>
          <p:nvPr/>
        </p:nvSpPr>
        <p:spPr>
          <a:xfrm>
            <a:off x="1058672" y="3800348"/>
            <a:ext cx="6492240" cy="800100"/>
          </a:xfrm>
          <a:prstGeom prst="rect">
            <a:avLst/>
          </a:prstGeom>
          <a:noFill/>
          <a:ln/>
        </p:spPr>
        <p:txBody>
          <a:bodyPr wrap="square" lIns="0" tIns="0" rIns="0" bIns="0" rtlCol="0" anchor="ctr">
            <a:normAutofit lnSpcReduction="10000"/>
          </a:bodyPr>
          <a:lstStyle/>
          <a:p>
            <a:r>
              <a:rPr lang="en-US" b="1" err="1">
                <a:solidFill>
                  <a:srgbClr val="FFFFFF"/>
                </a:solidFill>
                <a:ea typeface="+mn-lt"/>
                <a:cs typeface="+mn-lt"/>
              </a:rPr>
              <a:t>Leiderschap</a:t>
            </a:r>
            <a:r>
              <a:rPr lang="en-US" b="1">
                <a:solidFill>
                  <a:srgbClr val="FFFFFF"/>
                </a:solidFill>
                <a:ea typeface="+mn-lt"/>
                <a:cs typeface="+mn-lt"/>
              </a:rPr>
              <a:t> </a:t>
            </a:r>
            <a:r>
              <a:rPr lang="en-US" b="1" err="1">
                <a:solidFill>
                  <a:srgbClr val="FFFFFF"/>
                </a:solidFill>
                <a:ea typeface="+mn-lt"/>
                <a:cs typeface="+mn-lt"/>
              </a:rPr>
              <a:t>vraagt</a:t>
            </a:r>
            <a:r>
              <a:rPr lang="en-US" b="1">
                <a:solidFill>
                  <a:srgbClr val="FFFFFF"/>
                </a:solidFill>
                <a:ea typeface="+mn-lt"/>
                <a:cs typeface="+mn-lt"/>
              </a:rPr>
              <a:t> </a:t>
            </a:r>
            <a:r>
              <a:rPr lang="en-US" b="1" err="1">
                <a:solidFill>
                  <a:srgbClr val="FFFFFF"/>
                </a:solidFill>
                <a:ea typeface="+mn-lt"/>
                <a:cs typeface="+mn-lt"/>
              </a:rPr>
              <a:t>eerst</a:t>
            </a:r>
            <a:r>
              <a:rPr lang="en-US" b="1">
                <a:solidFill>
                  <a:srgbClr val="FFFFFF"/>
                </a:solidFill>
                <a:ea typeface="+mn-lt"/>
                <a:cs typeface="+mn-lt"/>
              </a:rPr>
              <a:t> </a:t>
            </a:r>
            <a:r>
              <a:rPr lang="en-US" b="1" err="1">
                <a:solidFill>
                  <a:srgbClr val="FFFFFF"/>
                </a:solidFill>
                <a:ea typeface="+mn-lt"/>
                <a:cs typeface="+mn-lt"/>
              </a:rPr>
              <a:t>sturing</a:t>
            </a:r>
            <a:r>
              <a:rPr lang="en-US" b="1">
                <a:solidFill>
                  <a:srgbClr val="FFFFFF"/>
                </a:solidFill>
                <a:ea typeface="+mn-lt"/>
                <a:cs typeface="+mn-lt"/>
              </a:rPr>
              <a:t>, </a:t>
            </a:r>
            <a:r>
              <a:rPr lang="en-US" b="1" err="1">
                <a:solidFill>
                  <a:srgbClr val="FFFFFF"/>
                </a:solidFill>
                <a:ea typeface="+mn-lt"/>
                <a:cs typeface="+mn-lt"/>
              </a:rPr>
              <a:t>daarna</a:t>
            </a:r>
            <a:r>
              <a:rPr lang="en-US" b="1">
                <a:solidFill>
                  <a:srgbClr val="FFFFFF"/>
                </a:solidFill>
                <a:ea typeface="+mn-lt"/>
                <a:cs typeface="+mn-lt"/>
              </a:rPr>
              <a:t> </a:t>
            </a:r>
            <a:r>
              <a:rPr lang="en-US" b="1" err="1">
                <a:solidFill>
                  <a:srgbClr val="FFFFFF"/>
                </a:solidFill>
                <a:ea typeface="+mn-lt"/>
                <a:cs typeface="+mn-lt"/>
              </a:rPr>
              <a:t>samenwerking</a:t>
            </a:r>
            <a:r>
              <a:rPr lang="en-US" b="1">
                <a:solidFill>
                  <a:srgbClr val="FFFFFF"/>
                </a:solidFill>
                <a:ea typeface="+mn-lt"/>
                <a:cs typeface="+mn-lt"/>
              </a:rPr>
              <a:t>:</a:t>
            </a:r>
            <a:endParaRPr lang="en-US">
              <a:ea typeface="+mn-lt"/>
              <a:cs typeface="+mn-lt"/>
            </a:endParaRPr>
          </a:p>
          <a:p>
            <a:r>
              <a:rPr lang="en-US" err="1">
                <a:solidFill>
                  <a:srgbClr val="FFFFFF"/>
                </a:solidFill>
                <a:ea typeface="+mn-lt"/>
                <a:cs typeface="+mn-lt"/>
              </a:rPr>
              <a:t>Eerst</a:t>
            </a:r>
            <a:r>
              <a:rPr lang="en-US">
                <a:solidFill>
                  <a:srgbClr val="FFFFFF"/>
                </a:solidFill>
                <a:ea typeface="+mn-lt"/>
                <a:cs typeface="+mn-lt"/>
              </a:rPr>
              <a:t> </a:t>
            </a:r>
            <a:r>
              <a:rPr lang="en-US" err="1">
                <a:solidFill>
                  <a:srgbClr val="FFFFFF"/>
                </a:solidFill>
                <a:ea typeface="+mn-lt"/>
                <a:cs typeface="+mn-lt"/>
              </a:rPr>
              <a:t>moet</a:t>
            </a:r>
            <a:r>
              <a:rPr lang="en-US">
                <a:solidFill>
                  <a:srgbClr val="FFFFFF"/>
                </a:solidFill>
                <a:ea typeface="+mn-lt"/>
                <a:cs typeface="+mn-lt"/>
              </a:rPr>
              <a:t> je </a:t>
            </a:r>
            <a:r>
              <a:rPr lang="en-US" err="1">
                <a:solidFill>
                  <a:srgbClr val="FFFFFF"/>
                </a:solidFill>
                <a:ea typeface="+mn-lt"/>
                <a:cs typeface="+mn-lt"/>
              </a:rPr>
              <a:t>strak</a:t>
            </a:r>
            <a:r>
              <a:rPr lang="en-US">
                <a:solidFill>
                  <a:srgbClr val="FFFFFF"/>
                </a:solidFill>
                <a:ea typeface="+mn-lt"/>
                <a:cs typeface="+mn-lt"/>
              </a:rPr>
              <a:t> </a:t>
            </a:r>
            <a:r>
              <a:rPr lang="en-US" err="1">
                <a:solidFill>
                  <a:srgbClr val="FFFFFF"/>
                </a:solidFill>
                <a:ea typeface="+mn-lt"/>
                <a:cs typeface="+mn-lt"/>
              </a:rPr>
              <a:t>ingrijpen</a:t>
            </a:r>
            <a:r>
              <a:rPr lang="en-US">
                <a:solidFill>
                  <a:srgbClr val="FFFFFF"/>
                </a:solidFill>
                <a:ea typeface="+mn-lt"/>
                <a:cs typeface="+mn-lt"/>
              </a:rPr>
              <a:t>, </a:t>
            </a:r>
            <a:r>
              <a:rPr lang="en-US" err="1">
                <a:solidFill>
                  <a:srgbClr val="FFFFFF"/>
                </a:solidFill>
                <a:ea typeface="+mn-lt"/>
                <a:cs typeface="+mn-lt"/>
              </a:rPr>
              <a:t>daarna</a:t>
            </a:r>
            <a:r>
              <a:rPr lang="en-US">
                <a:solidFill>
                  <a:srgbClr val="FFFFFF"/>
                </a:solidFill>
                <a:ea typeface="+mn-lt"/>
                <a:cs typeface="+mn-lt"/>
              </a:rPr>
              <a:t> experts </a:t>
            </a:r>
            <a:r>
              <a:rPr lang="en-US" err="1">
                <a:solidFill>
                  <a:srgbClr val="FFFFFF"/>
                </a:solidFill>
                <a:ea typeface="+mn-lt"/>
                <a:cs typeface="+mn-lt"/>
              </a:rPr>
              <a:t>ruimte</a:t>
            </a:r>
            <a:r>
              <a:rPr lang="en-US">
                <a:solidFill>
                  <a:srgbClr val="FFFFFF"/>
                </a:solidFill>
                <a:ea typeface="+mn-lt"/>
                <a:cs typeface="+mn-lt"/>
              </a:rPr>
              <a:t> </a:t>
            </a:r>
            <a:r>
              <a:rPr lang="en-US" err="1">
                <a:solidFill>
                  <a:srgbClr val="FFFFFF"/>
                </a:solidFill>
                <a:ea typeface="+mn-lt"/>
                <a:cs typeface="+mn-lt"/>
              </a:rPr>
              <a:t>geven</a:t>
            </a:r>
            <a:r>
              <a:rPr lang="en-US">
                <a:solidFill>
                  <a:srgbClr val="FFFFFF"/>
                </a:solidFill>
                <a:ea typeface="+mn-lt"/>
                <a:cs typeface="+mn-lt"/>
              </a:rPr>
              <a:t> om het </a:t>
            </a:r>
            <a:r>
              <a:rPr lang="en-US" err="1">
                <a:solidFill>
                  <a:srgbClr val="FFFFFF"/>
                </a:solidFill>
                <a:ea typeface="+mn-lt"/>
                <a:cs typeface="+mn-lt"/>
              </a:rPr>
              <a:t>herstel</a:t>
            </a:r>
            <a:r>
              <a:rPr lang="en-US">
                <a:solidFill>
                  <a:srgbClr val="FFFFFF"/>
                </a:solidFill>
                <a:ea typeface="+mn-lt"/>
                <a:cs typeface="+mn-lt"/>
              </a:rPr>
              <a:t> </a:t>
            </a:r>
            <a:r>
              <a:rPr lang="en-US" err="1">
                <a:solidFill>
                  <a:srgbClr val="FFFFFF"/>
                </a:solidFill>
                <a:ea typeface="+mn-lt"/>
                <a:cs typeface="+mn-lt"/>
              </a:rPr>
              <a:t>te</a:t>
            </a:r>
            <a:r>
              <a:rPr lang="en-US">
                <a:solidFill>
                  <a:srgbClr val="FFFFFF"/>
                </a:solidFill>
                <a:ea typeface="+mn-lt"/>
                <a:cs typeface="+mn-lt"/>
              </a:rPr>
              <a:t> </a:t>
            </a:r>
            <a:r>
              <a:rPr lang="en-US" err="1">
                <a:solidFill>
                  <a:srgbClr val="FFFFFF"/>
                </a:solidFill>
                <a:ea typeface="+mn-lt"/>
                <a:cs typeface="+mn-lt"/>
              </a:rPr>
              <a:t>leiden</a:t>
            </a:r>
            <a:r>
              <a:rPr lang="en-US">
                <a:solidFill>
                  <a:srgbClr val="FFFFFF"/>
                </a:solidFill>
                <a:ea typeface="+mn-lt"/>
                <a:cs typeface="+mn-lt"/>
              </a:rPr>
              <a:t>.</a:t>
            </a:r>
            <a:endParaRPr lang="en-US">
              <a:ea typeface="+mn-lt"/>
              <a:cs typeface="+mn-lt"/>
            </a:endParaRPr>
          </a:p>
        </p:txBody>
      </p:sp>
    </p:spTree>
    <p:extLst>
      <p:ext uri="{BB962C8B-B14F-4D97-AF65-F5344CB8AC3E}">
        <p14:creationId xmlns:p14="http://schemas.microsoft.com/office/powerpoint/2010/main" val="99373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254E"/>
          </a:solidFill>
          <a:ln w="12700">
            <a:solidFill>
              <a:srgbClr val="05254E"/>
            </a:solidFill>
            <a:prstDash val="solid"/>
          </a:ln>
        </p:spPr>
        <p:txBody>
          <a:bodyPr/>
          <a:lstStyle/>
          <a:p>
            <a:endParaRPr lang="nl-NL"/>
          </a:p>
        </p:txBody>
      </p:sp>
      <p:sp>
        <p:nvSpPr>
          <p:cNvPr id="3" name="Shape 1"/>
          <p:cNvSpPr/>
          <p:nvPr/>
        </p:nvSpPr>
        <p:spPr>
          <a:xfrm>
            <a:off x="0" y="1737360"/>
            <a:ext cx="12191695" cy="4069080"/>
          </a:xfrm>
          <a:prstGeom prst="rect">
            <a:avLst/>
          </a:prstGeom>
          <a:solidFill>
            <a:srgbClr val="6F7378">
              <a:alpha val="80000"/>
            </a:srgbClr>
          </a:solidFill>
          <a:ln w="12700">
            <a:solidFill>
              <a:srgbClr val="6F7378">
                <a:alpha val="0"/>
              </a:srgbClr>
            </a:solidFill>
            <a:prstDash val="solid"/>
          </a:ln>
        </p:spPr>
        <p:txBody>
          <a:bodyPr/>
          <a:lstStyle/>
          <a:p>
            <a:endParaRPr lang="nl-NL"/>
          </a:p>
        </p:txBody>
      </p:sp>
      <p:sp>
        <p:nvSpPr>
          <p:cNvPr id="4" name="Shape 2"/>
          <p:cNvSpPr/>
          <p:nvPr/>
        </p:nvSpPr>
        <p:spPr>
          <a:xfrm>
            <a:off x="0" y="5394960"/>
            <a:ext cx="12191695" cy="1463040"/>
          </a:xfrm>
          <a:prstGeom prst="rect">
            <a:avLst/>
          </a:prstGeom>
          <a:solidFill>
            <a:srgbClr val="8C633B"/>
          </a:solidFill>
          <a:ln w="12700">
            <a:solidFill>
              <a:srgbClr val="8C633B"/>
            </a:solidFill>
            <a:prstDash val="solid"/>
          </a:ln>
        </p:spPr>
        <p:txBody>
          <a:bodyPr/>
          <a:lstStyle/>
          <a:p>
            <a:endParaRPr lang="nl-NL"/>
          </a:p>
        </p:txBody>
      </p:sp>
      <p:sp>
        <p:nvSpPr>
          <p:cNvPr id="5" name="Shape 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6" name="Shape 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7" name="Shape 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8" name="Shape 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9" name="Shape 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0" name="Shape 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1" name="Shape 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2" name="Shape 1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3" name="Shape 11"/>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4" name="Shape 12"/>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5" name="Shape 1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6" name="Shape 1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7" name="Shape 1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8" name="Shape 1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9" name="Shape 1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0" name="Shape 1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1" name="Shape 1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2" name="Shape 2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3" name="Shape 21"/>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4" name="Shape 22"/>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5" name="Shape 2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6" name="Shape 2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7" name="Shape 2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8" name="Shape 2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9" name="Shape 2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0" name="Shape 2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1" name="Shape 2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2" name="Shape 3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3" name="Shape 31"/>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4" name="Shape 32"/>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5" name="Shape 33"/>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6" name="Shape 34"/>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7" name="Shape 35"/>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8" name="Shape 36"/>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pic>
        <p:nvPicPr>
          <p:cNvPr id="3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2760" y="164592"/>
            <a:ext cx="1005840" cy="1005840"/>
          </a:xfrm>
          <a:prstGeom prst="rect">
            <a:avLst/>
          </a:prstGeom>
        </p:spPr>
      </p:pic>
      <p:sp>
        <p:nvSpPr>
          <p:cNvPr id="40" name="Text 37"/>
          <p:cNvSpPr/>
          <p:nvPr/>
        </p:nvSpPr>
        <p:spPr>
          <a:xfrm>
            <a:off x="658368" y="420624"/>
            <a:ext cx="7132320" cy="457200"/>
          </a:xfrm>
          <a:prstGeom prst="rect">
            <a:avLst/>
          </a:prstGeom>
          <a:noFill/>
          <a:ln/>
        </p:spPr>
        <p:txBody>
          <a:bodyPr wrap="square" lIns="0" tIns="0" rIns="0" bIns="0" rtlCol="0" anchor="ctr"/>
          <a:lstStyle/>
          <a:p>
            <a:pPr marL="0" indent="0">
              <a:buNone/>
            </a:pPr>
            <a:r>
              <a:rPr lang="en-US" sz="2200">
                <a:solidFill>
                  <a:srgbClr val="FFFFFF"/>
                </a:solidFill>
                <a:latin typeface="Aptos" pitchFamily="34" charset="0"/>
                <a:ea typeface="Aptos" pitchFamily="34" charset="-122"/>
                <a:cs typeface="Aptos" pitchFamily="34" charset="-120"/>
              </a:rPr>
              <a:t>TEAMREFLECTIE – BAVLI</a:t>
            </a:r>
            <a:endParaRPr lang="en-US" sz="2200"/>
          </a:p>
        </p:txBody>
      </p:sp>
      <p:sp>
        <p:nvSpPr>
          <p:cNvPr id="41" name="Text 38"/>
          <p:cNvSpPr/>
          <p:nvPr/>
        </p:nvSpPr>
        <p:spPr>
          <a:xfrm>
            <a:off x="676656" y="868680"/>
            <a:ext cx="7772400" cy="228600"/>
          </a:xfrm>
          <a:prstGeom prst="rect">
            <a:avLst/>
          </a:prstGeom>
          <a:noFill/>
          <a:ln/>
        </p:spPr>
        <p:txBody>
          <a:bodyPr wrap="square" lIns="0" tIns="0" rIns="0" bIns="0" rtlCol="0" anchor="ctr"/>
          <a:lstStyle/>
          <a:p>
            <a:pPr marL="0" indent="0">
              <a:buNone/>
            </a:pPr>
            <a:r>
              <a:rPr lang="en-US" sz="1000" i="1">
                <a:solidFill>
                  <a:srgbClr val="E0B24A"/>
                </a:solidFill>
                <a:latin typeface="Aptos" pitchFamily="34" charset="0"/>
                <a:ea typeface="Aptos" pitchFamily="34" charset="-122"/>
                <a:cs typeface="Aptos" pitchFamily="34" charset="-120"/>
              </a:rPr>
              <a:t>WS3.2 Challenge M2</a:t>
            </a:r>
            <a:endParaRPr lang="en-US" sz="1000"/>
          </a:p>
        </p:txBody>
      </p:sp>
      <p:sp>
        <p:nvSpPr>
          <p:cNvPr id="42" name="Text 39"/>
          <p:cNvSpPr/>
          <p:nvPr/>
        </p:nvSpPr>
        <p:spPr>
          <a:xfrm>
            <a:off x="896112" y="1399032"/>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3" name="Text 40"/>
          <p:cNvSpPr/>
          <p:nvPr/>
        </p:nvSpPr>
        <p:spPr>
          <a:xfrm>
            <a:off x="1133856" y="1389888"/>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Key behaviour — </a:t>
            </a:r>
            <a:r>
              <a:rPr lang="en-US" sz="1550">
                <a:solidFill>
                  <a:srgbClr val="F2F2F2"/>
                </a:solidFill>
                <a:latin typeface="Aptos" pitchFamily="34" charset="0"/>
                <a:ea typeface="Aptos" pitchFamily="34" charset="-122"/>
                <a:cs typeface="Aptos" pitchFamily="34" charset="-120"/>
              </a:rPr>
              <a:t>Ik herken vooral act with urgency, sharing power en follow your values; be transparent kwam minder sterk naar voren.</a:t>
            </a:r>
            <a:endParaRPr lang="en-US" sz="1550"/>
          </a:p>
        </p:txBody>
      </p:sp>
      <p:sp>
        <p:nvSpPr>
          <p:cNvPr id="44" name="Text 41"/>
          <p:cNvSpPr/>
          <p:nvPr/>
        </p:nvSpPr>
        <p:spPr>
          <a:xfrm>
            <a:off x="896112" y="2340864"/>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5" name="Text 42"/>
          <p:cNvSpPr/>
          <p:nvPr/>
        </p:nvSpPr>
        <p:spPr>
          <a:xfrm>
            <a:off x="1133856" y="2331720"/>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Samenwerking — </a:t>
            </a:r>
            <a:r>
              <a:rPr lang="en-US" sz="1550">
                <a:solidFill>
                  <a:srgbClr val="F2F2F2"/>
                </a:solidFill>
                <a:latin typeface="Aptos" pitchFamily="34" charset="0"/>
                <a:ea typeface="Aptos" pitchFamily="34" charset="-122"/>
                <a:cs typeface="Aptos" pitchFamily="34" charset="-120"/>
              </a:rPr>
              <a:t>De groep werkte uiteindelijk goed samen, maar de opsplitsing en onduidelijkheid over het BCP maakten de start lastig.</a:t>
            </a:r>
            <a:endParaRPr lang="en-US" sz="1550"/>
          </a:p>
        </p:txBody>
      </p:sp>
      <p:sp>
        <p:nvSpPr>
          <p:cNvPr id="46" name="Text 43"/>
          <p:cNvSpPr/>
          <p:nvPr/>
        </p:nvSpPr>
        <p:spPr>
          <a:xfrm>
            <a:off x="896112" y="3282696"/>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7" name="Text 44"/>
          <p:cNvSpPr/>
          <p:nvPr/>
        </p:nvSpPr>
        <p:spPr>
          <a:xfrm>
            <a:off x="1133856" y="3273552"/>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Leiderschap — </a:t>
            </a:r>
            <a:r>
              <a:rPr lang="en-US" sz="1550">
                <a:solidFill>
                  <a:srgbClr val="F2F2F2"/>
                </a:solidFill>
                <a:latin typeface="Aptos" pitchFamily="34" charset="0"/>
                <a:ea typeface="Aptos" pitchFamily="34" charset="-122"/>
                <a:cs typeface="Aptos" pitchFamily="34" charset="-120"/>
              </a:rPr>
              <a:t>Ik paste vooral instrueren en coachen toe; motiveren speelde mee, delegeren paste minder bij de urgentie.</a:t>
            </a:r>
            <a:endParaRPr lang="en-US" sz="1550"/>
          </a:p>
        </p:txBody>
      </p:sp>
      <p:sp>
        <p:nvSpPr>
          <p:cNvPr id="48" name="Text 45"/>
          <p:cNvSpPr/>
          <p:nvPr/>
        </p:nvSpPr>
        <p:spPr>
          <a:xfrm>
            <a:off x="896112" y="4224528"/>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9" name="Text 46"/>
          <p:cNvSpPr/>
          <p:nvPr/>
        </p:nvSpPr>
        <p:spPr>
          <a:xfrm>
            <a:off x="1133856" y="4215384"/>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Achteraf anders — </a:t>
            </a:r>
            <a:r>
              <a:rPr lang="en-US" sz="1550">
                <a:solidFill>
                  <a:srgbClr val="F2F2F2"/>
                </a:solidFill>
                <a:latin typeface="Aptos" pitchFamily="34" charset="0"/>
                <a:ea typeface="Aptos" pitchFamily="34" charset="-122"/>
                <a:cs typeface="Aptos" pitchFamily="34" charset="-120"/>
              </a:rPr>
              <a:t>Ik zou eerder strak sturen op rolverdeling, informatie delen en daarna sneller samen reflecteren op keuzes.</a:t>
            </a:r>
            <a:endParaRPr lang="en-US" sz="1550"/>
          </a:p>
        </p:txBody>
      </p:sp>
      <p:sp>
        <p:nvSpPr>
          <p:cNvPr id="50" name="Shape 47"/>
          <p:cNvSpPr/>
          <p:nvPr/>
        </p:nvSpPr>
        <p:spPr>
          <a:xfrm>
            <a:off x="8092440" y="1627632"/>
            <a:ext cx="3218688" cy="3246120"/>
          </a:xfrm>
          <a:prstGeom prst="roundRect">
            <a:avLst>
              <a:gd name="adj" fmla="val 1705"/>
            </a:avLst>
          </a:prstGeom>
          <a:solidFill>
            <a:srgbClr val="113C68">
              <a:alpha val="92000"/>
            </a:srgbClr>
          </a:solidFill>
          <a:ln w="15240">
            <a:solidFill>
              <a:srgbClr val="E0B24A"/>
            </a:solidFill>
            <a:prstDash val="solid"/>
          </a:ln>
        </p:spPr>
        <p:txBody>
          <a:bodyPr/>
          <a:lstStyle/>
          <a:p>
            <a:endParaRPr lang="nl-NL"/>
          </a:p>
        </p:txBody>
      </p:sp>
      <p:sp>
        <p:nvSpPr>
          <p:cNvPr id="51" name="Text 48"/>
          <p:cNvSpPr/>
          <p:nvPr/>
        </p:nvSpPr>
        <p:spPr>
          <a:xfrm>
            <a:off x="8339328" y="1847088"/>
            <a:ext cx="2651760" cy="292608"/>
          </a:xfrm>
          <a:prstGeom prst="rect">
            <a:avLst/>
          </a:prstGeom>
          <a:noFill/>
          <a:ln/>
        </p:spPr>
        <p:txBody>
          <a:bodyPr wrap="square" lIns="0" tIns="0" rIns="0" bIns="0" rtlCol="0" anchor="ctr"/>
          <a:lstStyle/>
          <a:p>
            <a:pPr marL="0" indent="0">
              <a:buNone/>
            </a:pPr>
            <a:r>
              <a:rPr lang="en-US" sz="1600" b="1">
                <a:solidFill>
                  <a:srgbClr val="E0B24A"/>
                </a:solidFill>
                <a:latin typeface="Aptos" pitchFamily="34" charset="0"/>
                <a:ea typeface="Aptos" pitchFamily="34" charset="-122"/>
                <a:cs typeface="Aptos" pitchFamily="34" charset="-120"/>
              </a:rPr>
              <a:t>BELANGRIJKSTE LES</a:t>
            </a:r>
            <a:endParaRPr lang="en-US" sz="1600"/>
          </a:p>
        </p:txBody>
      </p:sp>
      <p:sp>
        <p:nvSpPr>
          <p:cNvPr id="52" name="Text 49"/>
          <p:cNvSpPr/>
          <p:nvPr/>
        </p:nvSpPr>
        <p:spPr>
          <a:xfrm>
            <a:off x="8357616" y="2304288"/>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3" name="Text 50"/>
          <p:cNvSpPr/>
          <p:nvPr/>
        </p:nvSpPr>
        <p:spPr>
          <a:xfrm>
            <a:off x="8595360" y="2295144"/>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Sneller structuur aanbrengen</a:t>
            </a:r>
            <a:endParaRPr lang="en-US" sz="1350"/>
          </a:p>
        </p:txBody>
      </p:sp>
      <p:sp>
        <p:nvSpPr>
          <p:cNvPr id="54" name="Text 51"/>
          <p:cNvSpPr/>
          <p:nvPr/>
        </p:nvSpPr>
        <p:spPr>
          <a:xfrm>
            <a:off x="8357616" y="2907792"/>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5" name="Text 52"/>
          <p:cNvSpPr/>
          <p:nvPr/>
        </p:nvSpPr>
        <p:spPr>
          <a:xfrm>
            <a:off x="8595360" y="2898648"/>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Duidelijker communiceren</a:t>
            </a:r>
            <a:endParaRPr lang="en-US" sz="1350"/>
          </a:p>
        </p:txBody>
      </p:sp>
      <p:sp>
        <p:nvSpPr>
          <p:cNvPr id="56" name="Text 53"/>
          <p:cNvSpPr/>
          <p:nvPr/>
        </p:nvSpPr>
        <p:spPr>
          <a:xfrm>
            <a:off x="8357616" y="3511296"/>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7" name="Text 54"/>
          <p:cNvSpPr/>
          <p:nvPr/>
        </p:nvSpPr>
        <p:spPr>
          <a:xfrm>
            <a:off x="8595360" y="3502152"/>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Iedereen hetzelfde overzicht</a:t>
            </a:r>
            <a:endParaRPr lang="en-US" sz="13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254E"/>
          </a:solidFill>
          <a:ln w="12700">
            <a:solidFill>
              <a:srgbClr val="05254E"/>
            </a:solidFill>
            <a:prstDash val="solid"/>
          </a:ln>
        </p:spPr>
        <p:txBody>
          <a:bodyPr/>
          <a:lstStyle/>
          <a:p>
            <a:endParaRPr lang="nl-NL"/>
          </a:p>
        </p:txBody>
      </p:sp>
      <p:sp>
        <p:nvSpPr>
          <p:cNvPr id="3" name="Shape 1"/>
          <p:cNvSpPr/>
          <p:nvPr/>
        </p:nvSpPr>
        <p:spPr>
          <a:xfrm>
            <a:off x="0" y="1737360"/>
            <a:ext cx="12191695" cy="4069080"/>
          </a:xfrm>
          <a:prstGeom prst="rect">
            <a:avLst/>
          </a:prstGeom>
          <a:solidFill>
            <a:srgbClr val="6F7378">
              <a:alpha val="80000"/>
            </a:srgbClr>
          </a:solidFill>
          <a:ln w="12700">
            <a:solidFill>
              <a:srgbClr val="6F7378">
                <a:alpha val="0"/>
              </a:srgbClr>
            </a:solidFill>
            <a:prstDash val="solid"/>
          </a:ln>
        </p:spPr>
        <p:txBody>
          <a:bodyPr/>
          <a:lstStyle/>
          <a:p>
            <a:endParaRPr lang="nl-NL"/>
          </a:p>
        </p:txBody>
      </p:sp>
      <p:sp>
        <p:nvSpPr>
          <p:cNvPr id="4" name="Shape 2"/>
          <p:cNvSpPr/>
          <p:nvPr/>
        </p:nvSpPr>
        <p:spPr>
          <a:xfrm>
            <a:off x="0" y="5394960"/>
            <a:ext cx="12191695" cy="1463040"/>
          </a:xfrm>
          <a:prstGeom prst="rect">
            <a:avLst/>
          </a:prstGeom>
          <a:solidFill>
            <a:srgbClr val="8C633B"/>
          </a:solidFill>
          <a:ln w="12700">
            <a:solidFill>
              <a:srgbClr val="8C633B"/>
            </a:solidFill>
            <a:prstDash val="solid"/>
          </a:ln>
        </p:spPr>
        <p:txBody>
          <a:bodyPr/>
          <a:lstStyle/>
          <a:p>
            <a:endParaRPr lang="nl-NL"/>
          </a:p>
        </p:txBody>
      </p:sp>
      <p:sp>
        <p:nvSpPr>
          <p:cNvPr id="5" name="Shape 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6" name="Shape 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7" name="Shape 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8" name="Shape 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9" name="Shape 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0" name="Shape 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1" name="Shape 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2" name="Shape 1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3" name="Shape 11"/>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4" name="Shape 12"/>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5" name="Shape 1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6" name="Shape 1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7" name="Shape 1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8" name="Shape 1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9" name="Shape 1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0" name="Shape 1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1" name="Shape 1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2" name="Shape 2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3" name="Shape 21"/>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4" name="Shape 22"/>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5" name="Shape 2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6" name="Shape 2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7" name="Shape 2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8" name="Shape 2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9" name="Shape 2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0" name="Shape 2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1" name="Shape 2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2" name="Shape 3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3" name="Shape 31"/>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4" name="Shape 32"/>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5" name="Shape 33"/>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6" name="Shape 34"/>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7" name="Shape 35"/>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8" name="Shape 36"/>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pic>
        <p:nvPicPr>
          <p:cNvPr id="3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2760" y="164592"/>
            <a:ext cx="1005840" cy="1005840"/>
          </a:xfrm>
          <a:prstGeom prst="rect">
            <a:avLst/>
          </a:prstGeom>
        </p:spPr>
      </p:pic>
      <p:sp>
        <p:nvSpPr>
          <p:cNvPr id="40" name="Text 37"/>
          <p:cNvSpPr/>
          <p:nvPr/>
        </p:nvSpPr>
        <p:spPr>
          <a:xfrm>
            <a:off x="658368" y="420624"/>
            <a:ext cx="7132320" cy="457200"/>
          </a:xfrm>
          <a:prstGeom prst="rect">
            <a:avLst/>
          </a:prstGeom>
          <a:noFill/>
          <a:ln/>
        </p:spPr>
        <p:txBody>
          <a:bodyPr wrap="square" lIns="0" tIns="0" rIns="0" bIns="0" rtlCol="0" anchor="ctr"/>
          <a:lstStyle/>
          <a:p>
            <a:pPr marL="0" indent="0">
              <a:buNone/>
            </a:pPr>
            <a:r>
              <a:rPr lang="en-US" sz="2200">
                <a:solidFill>
                  <a:srgbClr val="FFFFFF"/>
                </a:solidFill>
                <a:latin typeface="Aptos" pitchFamily="34" charset="0"/>
                <a:ea typeface="Aptos" pitchFamily="34" charset="-122"/>
                <a:cs typeface="Aptos" pitchFamily="34" charset="-120"/>
              </a:rPr>
              <a:t>TEAMREFLECTIE – JONAS</a:t>
            </a:r>
            <a:endParaRPr lang="en-US" sz="2200"/>
          </a:p>
        </p:txBody>
      </p:sp>
      <p:sp>
        <p:nvSpPr>
          <p:cNvPr id="41" name="Text 38"/>
          <p:cNvSpPr/>
          <p:nvPr/>
        </p:nvSpPr>
        <p:spPr>
          <a:xfrm>
            <a:off x="676656" y="868680"/>
            <a:ext cx="7772400" cy="228600"/>
          </a:xfrm>
          <a:prstGeom prst="rect">
            <a:avLst/>
          </a:prstGeom>
          <a:noFill/>
          <a:ln/>
        </p:spPr>
        <p:txBody>
          <a:bodyPr wrap="square" lIns="0" tIns="0" rIns="0" bIns="0" rtlCol="0" anchor="ctr"/>
          <a:lstStyle/>
          <a:p>
            <a:pPr marL="0" indent="0">
              <a:buNone/>
            </a:pPr>
            <a:r>
              <a:rPr lang="en-US" sz="1000" i="1">
                <a:solidFill>
                  <a:srgbClr val="E0B24A"/>
                </a:solidFill>
                <a:latin typeface="Aptos" pitchFamily="34" charset="0"/>
                <a:ea typeface="Aptos" pitchFamily="34" charset="-122"/>
                <a:cs typeface="Aptos" pitchFamily="34" charset="-120"/>
              </a:rPr>
              <a:t>WS3.2 Challenge M2</a:t>
            </a:r>
            <a:endParaRPr lang="en-US" sz="1000"/>
          </a:p>
        </p:txBody>
      </p:sp>
      <p:sp>
        <p:nvSpPr>
          <p:cNvPr id="42" name="Text 39"/>
          <p:cNvSpPr/>
          <p:nvPr/>
        </p:nvSpPr>
        <p:spPr>
          <a:xfrm>
            <a:off x="896112" y="1399032"/>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3" name="Text 40"/>
          <p:cNvSpPr/>
          <p:nvPr/>
        </p:nvSpPr>
        <p:spPr>
          <a:xfrm>
            <a:off x="1133856" y="1389888"/>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Key behaviour — </a:t>
            </a:r>
            <a:r>
              <a:rPr lang="en-US" sz="1550">
                <a:solidFill>
                  <a:srgbClr val="F2F2F2"/>
                </a:solidFill>
                <a:latin typeface="Aptos" pitchFamily="34" charset="0"/>
                <a:ea typeface="Aptos" pitchFamily="34" charset="-122"/>
                <a:cs typeface="Aptos" pitchFamily="34" charset="-120"/>
              </a:rPr>
              <a:t>Ik herken vooral act with urgency en deels sharing power; be transparent bleef in de onduidelijke startsituatie achter.</a:t>
            </a:r>
            <a:endParaRPr lang="en-US" sz="1550"/>
          </a:p>
        </p:txBody>
      </p:sp>
      <p:sp>
        <p:nvSpPr>
          <p:cNvPr id="44" name="Text 41"/>
          <p:cNvSpPr/>
          <p:nvPr/>
        </p:nvSpPr>
        <p:spPr>
          <a:xfrm>
            <a:off x="896112" y="2340864"/>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5" name="Text 42"/>
          <p:cNvSpPr/>
          <p:nvPr/>
        </p:nvSpPr>
        <p:spPr>
          <a:xfrm>
            <a:off x="1133856" y="2331720"/>
            <a:ext cx="6126480" cy="658368"/>
          </a:xfrm>
          <a:prstGeom prst="rect">
            <a:avLst/>
          </a:prstGeom>
          <a:noFill/>
          <a:ln/>
        </p:spPr>
        <p:txBody>
          <a:bodyPr wrap="square" lIns="0" tIns="0" rIns="0" bIns="0" rtlCol="0" anchor="ctr">
            <a:normAutofit lnSpcReduction="10000"/>
          </a:bodyPr>
          <a:lstStyle/>
          <a:p>
            <a:pPr marL="0" indent="0">
              <a:buNone/>
            </a:pPr>
            <a:r>
              <a:rPr lang="en-US" sz="1550" b="1">
                <a:solidFill>
                  <a:srgbClr val="FFFFFF"/>
                </a:solidFill>
                <a:latin typeface="Aptos" pitchFamily="34" charset="0"/>
                <a:ea typeface="Aptos" pitchFamily="34" charset="-122"/>
                <a:cs typeface="Aptos" pitchFamily="34" charset="-120"/>
              </a:rPr>
              <a:t>Samenwerking — </a:t>
            </a:r>
            <a:r>
              <a:rPr lang="en-US" sz="1550">
                <a:solidFill>
                  <a:srgbClr val="F2F2F2"/>
                </a:solidFill>
                <a:latin typeface="Aptos" pitchFamily="34" charset="0"/>
                <a:ea typeface="Aptos" pitchFamily="34" charset="-122"/>
                <a:cs typeface="Aptos" pitchFamily="34" charset="-120"/>
              </a:rPr>
              <a:t>Vooraf waren we goed voorbereid, maar de onverwachte opsplitsing zorgde ervoor dat ik in een onbekende groep terechtkwam.</a:t>
            </a:r>
            <a:endParaRPr lang="en-US" sz="1550"/>
          </a:p>
        </p:txBody>
      </p:sp>
      <p:sp>
        <p:nvSpPr>
          <p:cNvPr id="46" name="Text 43"/>
          <p:cNvSpPr/>
          <p:nvPr/>
        </p:nvSpPr>
        <p:spPr>
          <a:xfrm>
            <a:off x="896112" y="3282696"/>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7" name="Text 44"/>
          <p:cNvSpPr/>
          <p:nvPr/>
        </p:nvSpPr>
        <p:spPr>
          <a:xfrm>
            <a:off x="1133856" y="3273552"/>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Leiderschap — </a:t>
            </a:r>
            <a:r>
              <a:rPr lang="en-US" sz="1550">
                <a:solidFill>
                  <a:srgbClr val="F2F2F2"/>
                </a:solidFill>
                <a:latin typeface="Aptos" pitchFamily="34" charset="0"/>
                <a:ea typeface="Aptos" pitchFamily="34" charset="-122"/>
                <a:cs typeface="Aptos" pitchFamily="34" charset="-120"/>
              </a:rPr>
              <a:t>Als voorzitter van het crisisteam had ik meer moeten instrueren en coachen; motiveren en delegeren waren minder passend.</a:t>
            </a:r>
            <a:endParaRPr lang="en-US" sz="1550"/>
          </a:p>
        </p:txBody>
      </p:sp>
      <p:sp>
        <p:nvSpPr>
          <p:cNvPr id="48" name="Text 45"/>
          <p:cNvSpPr/>
          <p:nvPr/>
        </p:nvSpPr>
        <p:spPr>
          <a:xfrm>
            <a:off x="896112" y="4224528"/>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9" name="Text 46"/>
          <p:cNvSpPr/>
          <p:nvPr/>
        </p:nvSpPr>
        <p:spPr>
          <a:xfrm>
            <a:off x="1133856" y="4215384"/>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Achteraf anders — </a:t>
            </a:r>
            <a:r>
              <a:rPr lang="en-US" sz="1550">
                <a:solidFill>
                  <a:srgbClr val="F2F2F2"/>
                </a:solidFill>
                <a:latin typeface="Aptos" pitchFamily="34" charset="0"/>
                <a:ea typeface="Aptos" pitchFamily="34" charset="-122"/>
                <a:cs typeface="Aptos" pitchFamily="34" charset="-120"/>
              </a:rPr>
              <a:t>Ik zou de inhoud meer loslaten en sterker sturen op structuur, rust, eigenaarschap en bedrijfscontinuïteit.</a:t>
            </a:r>
            <a:endParaRPr lang="en-US" sz="1550"/>
          </a:p>
        </p:txBody>
      </p:sp>
      <p:sp>
        <p:nvSpPr>
          <p:cNvPr id="50" name="Shape 47"/>
          <p:cNvSpPr/>
          <p:nvPr/>
        </p:nvSpPr>
        <p:spPr>
          <a:xfrm>
            <a:off x="8092440" y="1627632"/>
            <a:ext cx="3218688" cy="3246120"/>
          </a:xfrm>
          <a:prstGeom prst="roundRect">
            <a:avLst>
              <a:gd name="adj" fmla="val 1705"/>
            </a:avLst>
          </a:prstGeom>
          <a:solidFill>
            <a:srgbClr val="113C68">
              <a:alpha val="92000"/>
            </a:srgbClr>
          </a:solidFill>
          <a:ln w="15240">
            <a:solidFill>
              <a:srgbClr val="E0B24A"/>
            </a:solidFill>
            <a:prstDash val="solid"/>
          </a:ln>
        </p:spPr>
        <p:txBody>
          <a:bodyPr/>
          <a:lstStyle/>
          <a:p>
            <a:endParaRPr lang="nl-NL"/>
          </a:p>
        </p:txBody>
      </p:sp>
      <p:sp>
        <p:nvSpPr>
          <p:cNvPr id="51" name="Text 48"/>
          <p:cNvSpPr/>
          <p:nvPr/>
        </p:nvSpPr>
        <p:spPr>
          <a:xfrm>
            <a:off x="8339328" y="1847088"/>
            <a:ext cx="2651760" cy="292608"/>
          </a:xfrm>
          <a:prstGeom prst="rect">
            <a:avLst/>
          </a:prstGeom>
          <a:noFill/>
          <a:ln/>
        </p:spPr>
        <p:txBody>
          <a:bodyPr wrap="square" lIns="0" tIns="0" rIns="0" bIns="0" rtlCol="0" anchor="ctr"/>
          <a:lstStyle/>
          <a:p>
            <a:pPr marL="0" indent="0">
              <a:buNone/>
            </a:pPr>
            <a:r>
              <a:rPr lang="en-US" sz="1600" b="1">
                <a:solidFill>
                  <a:srgbClr val="E0B24A"/>
                </a:solidFill>
                <a:latin typeface="Aptos" pitchFamily="34" charset="0"/>
                <a:ea typeface="Aptos" pitchFamily="34" charset="-122"/>
                <a:cs typeface="Aptos" pitchFamily="34" charset="-120"/>
              </a:rPr>
              <a:t>BELANGRIJKSTE LES</a:t>
            </a:r>
            <a:endParaRPr lang="en-US" sz="1600"/>
          </a:p>
        </p:txBody>
      </p:sp>
      <p:sp>
        <p:nvSpPr>
          <p:cNvPr id="52" name="Text 49"/>
          <p:cNvSpPr/>
          <p:nvPr/>
        </p:nvSpPr>
        <p:spPr>
          <a:xfrm>
            <a:off x="8357616" y="2304288"/>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3" name="Text 50"/>
          <p:cNvSpPr/>
          <p:nvPr/>
        </p:nvSpPr>
        <p:spPr>
          <a:xfrm>
            <a:off x="8595360" y="2295144"/>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Meer procesbewaking</a:t>
            </a:r>
            <a:endParaRPr lang="en-US" sz="1350"/>
          </a:p>
        </p:txBody>
      </p:sp>
      <p:sp>
        <p:nvSpPr>
          <p:cNvPr id="54" name="Text 51"/>
          <p:cNvSpPr/>
          <p:nvPr/>
        </p:nvSpPr>
        <p:spPr>
          <a:xfrm>
            <a:off x="8357616" y="2907792"/>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5" name="Text 52"/>
          <p:cNvSpPr/>
          <p:nvPr/>
        </p:nvSpPr>
        <p:spPr>
          <a:xfrm>
            <a:off x="8595360" y="2898648"/>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Rust in overleg houden</a:t>
            </a:r>
            <a:endParaRPr lang="en-US" sz="1350"/>
          </a:p>
        </p:txBody>
      </p:sp>
      <p:sp>
        <p:nvSpPr>
          <p:cNvPr id="56" name="Text 53"/>
          <p:cNvSpPr/>
          <p:nvPr/>
        </p:nvSpPr>
        <p:spPr>
          <a:xfrm>
            <a:off x="8357616" y="3511296"/>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7" name="Text 54"/>
          <p:cNvSpPr/>
          <p:nvPr/>
        </p:nvSpPr>
        <p:spPr>
          <a:xfrm>
            <a:off x="8595360" y="3502152"/>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Focus op bedrijfsvoering</a:t>
            </a:r>
            <a:endParaRPr lang="en-US" sz="13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254E"/>
          </a:solidFill>
          <a:ln w="12700">
            <a:solidFill>
              <a:srgbClr val="05254E"/>
            </a:solidFill>
            <a:prstDash val="solid"/>
          </a:ln>
        </p:spPr>
        <p:txBody>
          <a:bodyPr/>
          <a:lstStyle/>
          <a:p>
            <a:endParaRPr lang="nl-NL"/>
          </a:p>
        </p:txBody>
      </p:sp>
      <p:sp>
        <p:nvSpPr>
          <p:cNvPr id="3" name="Shape 1"/>
          <p:cNvSpPr/>
          <p:nvPr/>
        </p:nvSpPr>
        <p:spPr>
          <a:xfrm>
            <a:off x="0" y="1737360"/>
            <a:ext cx="12191695" cy="4069080"/>
          </a:xfrm>
          <a:prstGeom prst="rect">
            <a:avLst/>
          </a:prstGeom>
          <a:solidFill>
            <a:srgbClr val="6F7378">
              <a:alpha val="80000"/>
            </a:srgbClr>
          </a:solidFill>
          <a:ln w="12700">
            <a:solidFill>
              <a:srgbClr val="6F7378">
                <a:alpha val="0"/>
              </a:srgbClr>
            </a:solidFill>
            <a:prstDash val="solid"/>
          </a:ln>
        </p:spPr>
        <p:txBody>
          <a:bodyPr/>
          <a:lstStyle/>
          <a:p>
            <a:endParaRPr lang="nl-NL"/>
          </a:p>
        </p:txBody>
      </p:sp>
      <p:sp>
        <p:nvSpPr>
          <p:cNvPr id="4" name="Shape 2"/>
          <p:cNvSpPr/>
          <p:nvPr/>
        </p:nvSpPr>
        <p:spPr>
          <a:xfrm>
            <a:off x="0" y="5394960"/>
            <a:ext cx="12191695" cy="1463040"/>
          </a:xfrm>
          <a:prstGeom prst="rect">
            <a:avLst/>
          </a:prstGeom>
          <a:solidFill>
            <a:srgbClr val="8C633B"/>
          </a:solidFill>
          <a:ln w="12700">
            <a:solidFill>
              <a:srgbClr val="8C633B"/>
            </a:solidFill>
            <a:prstDash val="solid"/>
          </a:ln>
        </p:spPr>
        <p:txBody>
          <a:bodyPr/>
          <a:lstStyle/>
          <a:p>
            <a:endParaRPr lang="nl-NL"/>
          </a:p>
        </p:txBody>
      </p:sp>
      <p:sp>
        <p:nvSpPr>
          <p:cNvPr id="5" name="Shape 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6" name="Shape 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7" name="Shape 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8" name="Shape 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9" name="Shape 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0" name="Shape 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1" name="Shape 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2" name="Shape 1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3" name="Shape 11"/>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4" name="Shape 12"/>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5" name="Shape 1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6" name="Shape 1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7" name="Shape 1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8" name="Shape 1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19" name="Shape 1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0" name="Shape 1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1" name="Shape 1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2" name="Shape 2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3" name="Shape 21"/>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4" name="Shape 22"/>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5" name="Shape 23"/>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6" name="Shape 24"/>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7" name="Shape 25"/>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8" name="Shape 26"/>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29" name="Shape 27"/>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0" name="Shape 28"/>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1" name="Shape 29"/>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2" name="Shape 30"/>
          <p:cNvSpPr/>
          <p:nvPr/>
        </p:nvSpPr>
        <p:spPr>
          <a:xfrm>
            <a:off x="914400" y="914400"/>
            <a:ext cx="914400" cy="914400"/>
          </a:xfrm>
          <a:prstGeom prst="line">
            <a:avLst/>
          </a:prstGeom>
          <a:noFill/>
          <a:ln w="15240">
            <a:solidFill>
              <a:srgbClr val="6E4A2A">
                <a:alpha val="85000"/>
              </a:srgbClr>
            </a:solidFill>
            <a:prstDash val="solid"/>
          </a:ln>
        </p:spPr>
        <p:txBody>
          <a:bodyPr/>
          <a:lstStyle/>
          <a:p>
            <a:endParaRPr lang="nl-NL"/>
          </a:p>
        </p:txBody>
      </p:sp>
      <p:sp>
        <p:nvSpPr>
          <p:cNvPr id="33" name="Shape 31"/>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4" name="Shape 32"/>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5" name="Shape 33"/>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6" name="Shape 34"/>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7" name="Shape 35"/>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sp>
        <p:nvSpPr>
          <p:cNvPr id="38" name="Shape 36"/>
          <p:cNvSpPr/>
          <p:nvPr/>
        </p:nvSpPr>
        <p:spPr>
          <a:xfrm>
            <a:off x="914400" y="914400"/>
            <a:ext cx="914400" cy="914400"/>
          </a:xfrm>
          <a:prstGeom prst="line">
            <a:avLst/>
          </a:prstGeom>
          <a:noFill/>
          <a:ln w="6350">
            <a:solidFill>
              <a:srgbClr val="9B754A">
                <a:alpha val="65000"/>
              </a:srgbClr>
            </a:solidFill>
            <a:prstDash val="solid"/>
          </a:ln>
        </p:spPr>
        <p:txBody>
          <a:bodyPr/>
          <a:lstStyle/>
          <a:p>
            <a:endParaRPr lang="nl-NL"/>
          </a:p>
        </p:txBody>
      </p:sp>
      <p:pic>
        <p:nvPicPr>
          <p:cNvPr id="3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2760" y="164592"/>
            <a:ext cx="1005840" cy="1005840"/>
          </a:xfrm>
          <a:prstGeom prst="rect">
            <a:avLst/>
          </a:prstGeom>
        </p:spPr>
      </p:pic>
      <p:sp>
        <p:nvSpPr>
          <p:cNvPr id="40" name="Text 37"/>
          <p:cNvSpPr/>
          <p:nvPr/>
        </p:nvSpPr>
        <p:spPr>
          <a:xfrm>
            <a:off x="658368" y="420624"/>
            <a:ext cx="7132320" cy="457200"/>
          </a:xfrm>
          <a:prstGeom prst="rect">
            <a:avLst/>
          </a:prstGeom>
          <a:noFill/>
          <a:ln/>
        </p:spPr>
        <p:txBody>
          <a:bodyPr wrap="square" lIns="0" tIns="0" rIns="0" bIns="0" rtlCol="0" anchor="ctr"/>
          <a:lstStyle/>
          <a:p>
            <a:pPr marL="0" indent="0">
              <a:buNone/>
            </a:pPr>
            <a:r>
              <a:rPr lang="en-US" sz="2200">
                <a:solidFill>
                  <a:srgbClr val="FFFFFF"/>
                </a:solidFill>
                <a:latin typeface="Aptos" pitchFamily="34" charset="0"/>
                <a:ea typeface="Aptos" pitchFamily="34" charset="-122"/>
                <a:cs typeface="Aptos" pitchFamily="34" charset="-120"/>
              </a:rPr>
              <a:t>TEAMREFLECTIE – LUCAS</a:t>
            </a:r>
            <a:endParaRPr lang="en-US" sz="2200"/>
          </a:p>
        </p:txBody>
      </p:sp>
      <p:sp>
        <p:nvSpPr>
          <p:cNvPr id="41" name="Text 38"/>
          <p:cNvSpPr/>
          <p:nvPr/>
        </p:nvSpPr>
        <p:spPr>
          <a:xfrm>
            <a:off x="676656" y="868680"/>
            <a:ext cx="7772400" cy="228600"/>
          </a:xfrm>
          <a:prstGeom prst="rect">
            <a:avLst/>
          </a:prstGeom>
          <a:noFill/>
          <a:ln/>
        </p:spPr>
        <p:txBody>
          <a:bodyPr wrap="square" lIns="0" tIns="0" rIns="0" bIns="0" rtlCol="0" anchor="ctr"/>
          <a:lstStyle/>
          <a:p>
            <a:pPr marL="0" indent="0">
              <a:buNone/>
            </a:pPr>
            <a:r>
              <a:rPr lang="en-US" sz="1000" i="1">
                <a:solidFill>
                  <a:srgbClr val="E0B24A"/>
                </a:solidFill>
                <a:latin typeface="Aptos" pitchFamily="34" charset="0"/>
                <a:ea typeface="Aptos" pitchFamily="34" charset="-122"/>
                <a:cs typeface="Aptos" pitchFamily="34" charset="-120"/>
              </a:rPr>
              <a:t>WS3.2 Challenge M2</a:t>
            </a:r>
            <a:endParaRPr lang="en-US" sz="1000"/>
          </a:p>
        </p:txBody>
      </p:sp>
      <p:sp>
        <p:nvSpPr>
          <p:cNvPr id="42" name="Text 39"/>
          <p:cNvSpPr/>
          <p:nvPr/>
        </p:nvSpPr>
        <p:spPr>
          <a:xfrm>
            <a:off x="896112" y="1399032"/>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3" name="Text 40"/>
          <p:cNvSpPr/>
          <p:nvPr/>
        </p:nvSpPr>
        <p:spPr>
          <a:xfrm>
            <a:off x="1133856" y="1389888"/>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Key behaviour — </a:t>
            </a:r>
            <a:r>
              <a:rPr lang="en-US" sz="1550">
                <a:solidFill>
                  <a:srgbClr val="F2F2F2"/>
                </a:solidFill>
                <a:latin typeface="Aptos" pitchFamily="34" charset="0"/>
                <a:ea typeface="Aptos" pitchFamily="34" charset="-122"/>
                <a:cs typeface="Aptos" pitchFamily="34" charset="-120"/>
              </a:rPr>
              <a:t>Ik herken vooral sharing power en act with urgency; be transparent was in het begin nog niet sterk genoeg.</a:t>
            </a:r>
            <a:endParaRPr lang="en-US" sz="1550"/>
          </a:p>
        </p:txBody>
      </p:sp>
      <p:sp>
        <p:nvSpPr>
          <p:cNvPr id="44" name="Text 41"/>
          <p:cNvSpPr/>
          <p:nvPr/>
        </p:nvSpPr>
        <p:spPr>
          <a:xfrm>
            <a:off x="896112" y="2340864"/>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5" name="Text 42"/>
          <p:cNvSpPr/>
          <p:nvPr/>
        </p:nvSpPr>
        <p:spPr>
          <a:xfrm>
            <a:off x="1133856" y="2331720"/>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Samenwerking — </a:t>
            </a:r>
            <a:r>
              <a:rPr lang="en-US" sz="1550">
                <a:solidFill>
                  <a:srgbClr val="F2F2F2"/>
                </a:solidFill>
                <a:latin typeface="Aptos" pitchFamily="34" charset="0"/>
                <a:ea typeface="Aptos" pitchFamily="34" charset="-122"/>
                <a:cs typeface="Aptos" pitchFamily="34" charset="-120"/>
              </a:rPr>
              <a:t>De start voelde ongemakkelijk, maar later viel iedereen meer in zijn rol en verliepen de gesprekken soepeler.</a:t>
            </a:r>
            <a:endParaRPr lang="en-US" sz="1550"/>
          </a:p>
        </p:txBody>
      </p:sp>
      <p:sp>
        <p:nvSpPr>
          <p:cNvPr id="46" name="Text 43"/>
          <p:cNvSpPr/>
          <p:nvPr/>
        </p:nvSpPr>
        <p:spPr>
          <a:xfrm>
            <a:off x="896112" y="3282696"/>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7" name="Text 44"/>
          <p:cNvSpPr/>
          <p:nvPr/>
        </p:nvSpPr>
        <p:spPr>
          <a:xfrm>
            <a:off x="1133856" y="3273552"/>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Leiderschap — </a:t>
            </a:r>
            <a:r>
              <a:rPr lang="en-US" sz="1550">
                <a:solidFill>
                  <a:srgbClr val="F2F2F2"/>
                </a:solidFill>
                <a:latin typeface="Aptos" pitchFamily="34" charset="0"/>
                <a:ea typeface="Aptos" pitchFamily="34" charset="-122"/>
                <a:cs typeface="Aptos" pitchFamily="34" charset="-120"/>
              </a:rPr>
              <a:t>Mijn rol was vooral coachend en deels motiverend; instrueren en delegeren kwamen minder sterk naar voren.</a:t>
            </a:r>
            <a:endParaRPr lang="en-US" sz="1550"/>
          </a:p>
        </p:txBody>
      </p:sp>
      <p:sp>
        <p:nvSpPr>
          <p:cNvPr id="48" name="Text 45"/>
          <p:cNvSpPr/>
          <p:nvPr/>
        </p:nvSpPr>
        <p:spPr>
          <a:xfrm>
            <a:off x="896112" y="4224528"/>
            <a:ext cx="164592" cy="201168"/>
          </a:xfrm>
          <a:prstGeom prst="rect">
            <a:avLst/>
          </a:prstGeom>
          <a:noFill/>
          <a:ln/>
        </p:spPr>
        <p:txBody>
          <a:bodyPr wrap="square" lIns="0" tIns="0" rIns="0" bIns="0" rtlCol="0" anchor="ctr"/>
          <a:lstStyle/>
          <a:p>
            <a:pPr marL="0" indent="0">
              <a:buNone/>
            </a:pPr>
            <a:r>
              <a:rPr lang="en-US" sz="1800">
                <a:solidFill>
                  <a:srgbClr val="E0B24A"/>
                </a:solidFill>
                <a:latin typeface="Aptos" pitchFamily="34" charset="0"/>
                <a:ea typeface="Aptos" pitchFamily="34" charset="-122"/>
                <a:cs typeface="Aptos" pitchFamily="34" charset="-120"/>
              </a:rPr>
              <a:t>•</a:t>
            </a:r>
            <a:endParaRPr lang="en-US" sz="1800"/>
          </a:p>
        </p:txBody>
      </p:sp>
      <p:sp>
        <p:nvSpPr>
          <p:cNvPr id="49" name="Text 46"/>
          <p:cNvSpPr/>
          <p:nvPr/>
        </p:nvSpPr>
        <p:spPr>
          <a:xfrm>
            <a:off x="1133856" y="4215384"/>
            <a:ext cx="6126480" cy="658368"/>
          </a:xfrm>
          <a:prstGeom prst="rect">
            <a:avLst/>
          </a:prstGeom>
          <a:noFill/>
          <a:ln/>
        </p:spPr>
        <p:txBody>
          <a:bodyPr wrap="square" lIns="0" tIns="0" rIns="0" bIns="0" rtlCol="0" anchor="ctr">
            <a:normAutofit/>
          </a:bodyPr>
          <a:lstStyle/>
          <a:p>
            <a:pPr marL="0" indent="0">
              <a:buNone/>
            </a:pPr>
            <a:r>
              <a:rPr lang="en-US" sz="1550" b="1">
                <a:solidFill>
                  <a:srgbClr val="FFFFFF"/>
                </a:solidFill>
                <a:latin typeface="Aptos" pitchFamily="34" charset="0"/>
                <a:ea typeface="Aptos" pitchFamily="34" charset="-122"/>
                <a:cs typeface="Aptos" pitchFamily="34" charset="-120"/>
              </a:rPr>
              <a:t>Achteraf anders — </a:t>
            </a:r>
            <a:r>
              <a:rPr lang="en-US" sz="1550">
                <a:solidFill>
                  <a:srgbClr val="F2F2F2"/>
                </a:solidFill>
                <a:latin typeface="Aptos" pitchFamily="34" charset="0"/>
                <a:ea typeface="Aptos" pitchFamily="34" charset="-122"/>
                <a:cs typeface="Aptos" pitchFamily="34" charset="-120"/>
              </a:rPr>
              <a:t>Ik zou sneller duidelijke kaders afspreken en meer diepgang in het BCP aanbrengen voor extra houvast.</a:t>
            </a:r>
            <a:endParaRPr lang="en-US" sz="1550"/>
          </a:p>
        </p:txBody>
      </p:sp>
      <p:sp>
        <p:nvSpPr>
          <p:cNvPr id="50" name="Shape 47"/>
          <p:cNvSpPr/>
          <p:nvPr/>
        </p:nvSpPr>
        <p:spPr>
          <a:xfrm>
            <a:off x="8092440" y="1627632"/>
            <a:ext cx="3218688" cy="3246120"/>
          </a:xfrm>
          <a:prstGeom prst="roundRect">
            <a:avLst>
              <a:gd name="adj" fmla="val 1705"/>
            </a:avLst>
          </a:prstGeom>
          <a:solidFill>
            <a:srgbClr val="113C68">
              <a:alpha val="92000"/>
            </a:srgbClr>
          </a:solidFill>
          <a:ln w="15240">
            <a:solidFill>
              <a:srgbClr val="E0B24A"/>
            </a:solidFill>
            <a:prstDash val="solid"/>
          </a:ln>
        </p:spPr>
        <p:txBody>
          <a:bodyPr/>
          <a:lstStyle/>
          <a:p>
            <a:endParaRPr lang="nl-NL"/>
          </a:p>
        </p:txBody>
      </p:sp>
      <p:sp>
        <p:nvSpPr>
          <p:cNvPr id="51" name="Text 48"/>
          <p:cNvSpPr/>
          <p:nvPr/>
        </p:nvSpPr>
        <p:spPr>
          <a:xfrm>
            <a:off x="8339328" y="1847088"/>
            <a:ext cx="2651760" cy="292608"/>
          </a:xfrm>
          <a:prstGeom prst="rect">
            <a:avLst/>
          </a:prstGeom>
          <a:noFill/>
          <a:ln/>
        </p:spPr>
        <p:txBody>
          <a:bodyPr wrap="square" lIns="0" tIns="0" rIns="0" bIns="0" rtlCol="0" anchor="ctr"/>
          <a:lstStyle/>
          <a:p>
            <a:pPr marL="0" indent="0">
              <a:buNone/>
            </a:pPr>
            <a:r>
              <a:rPr lang="en-US" sz="1600" b="1">
                <a:solidFill>
                  <a:srgbClr val="E0B24A"/>
                </a:solidFill>
                <a:latin typeface="Aptos" pitchFamily="34" charset="0"/>
                <a:ea typeface="Aptos" pitchFamily="34" charset="-122"/>
                <a:cs typeface="Aptos" pitchFamily="34" charset="-120"/>
              </a:rPr>
              <a:t>BELANGRIJKSTE LES</a:t>
            </a:r>
            <a:endParaRPr lang="en-US" sz="1600"/>
          </a:p>
        </p:txBody>
      </p:sp>
      <p:sp>
        <p:nvSpPr>
          <p:cNvPr id="52" name="Text 49"/>
          <p:cNvSpPr/>
          <p:nvPr/>
        </p:nvSpPr>
        <p:spPr>
          <a:xfrm>
            <a:off x="8357616" y="2304288"/>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3" name="Text 50"/>
          <p:cNvSpPr/>
          <p:nvPr/>
        </p:nvSpPr>
        <p:spPr>
          <a:xfrm>
            <a:off x="8595360" y="2295144"/>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Gezamenlijke start is cruciaal</a:t>
            </a:r>
            <a:endParaRPr lang="en-US" sz="1350"/>
          </a:p>
        </p:txBody>
      </p:sp>
      <p:sp>
        <p:nvSpPr>
          <p:cNvPr id="54" name="Text 51"/>
          <p:cNvSpPr/>
          <p:nvPr/>
        </p:nvSpPr>
        <p:spPr>
          <a:xfrm>
            <a:off x="8357616" y="2907792"/>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5" name="Text 52"/>
          <p:cNvSpPr/>
          <p:nvPr/>
        </p:nvSpPr>
        <p:spPr>
          <a:xfrm>
            <a:off x="8595360" y="2898648"/>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BCP mag dieper uitgewerkt</a:t>
            </a:r>
            <a:endParaRPr lang="en-US" sz="1350"/>
          </a:p>
        </p:txBody>
      </p:sp>
      <p:sp>
        <p:nvSpPr>
          <p:cNvPr id="56" name="Text 53"/>
          <p:cNvSpPr/>
          <p:nvPr/>
        </p:nvSpPr>
        <p:spPr>
          <a:xfrm>
            <a:off x="8357616" y="3511296"/>
            <a:ext cx="164592" cy="164592"/>
          </a:xfrm>
          <a:prstGeom prst="rect">
            <a:avLst/>
          </a:prstGeom>
          <a:noFill/>
          <a:ln/>
        </p:spPr>
        <p:txBody>
          <a:bodyPr wrap="square" lIns="0" tIns="0" rIns="0" bIns="0" rtlCol="0" anchor="ctr"/>
          <a:lstStyle/>
          <a:p>
            <a:pPr marL="0" indent="0">
              <a:buNone/>
            </a:pPr>
            <a:r>
              <a:rPr lang="en-US" sz="1600">
                <a:solidFill>
                  <a:srgbClr val="E0B24A"/>
                </a:solidFill>
                <a:latin typeface="Aptos" pitchFamily="34" charset="0"/>
                <a:ea typeface="Aptos" pitchFamily="34" charset="-122"/>
                <a:cs typeface="Aptos" pitchFamily="34" charset="-120"/>
              </a:rPr>
              <a:t>•</a:t>
            </a:r>
            <a:endParaRPr lang="en-US" sz="1600"/>
          </a:p>
        </p:txBody>
      </p:sp>
      <p:sp>
        <p:nvSpPr>
          <p:cNvPr id="57" name="Text 54"/>
          <p:cNvSpPr/>
          <p:nvPr/>
        </p:nvSpPr>
        <p:spPr>
          <a:xfrm>
            <a:off x="8595360" y="3502152"/>
            <a:ext cx="2331720" cy="530352"/>
          </a:xfrm>
          <a:prstGeom prst="rect">
            <a:avLst/>
          </a:prstGeom>
          <a:noFill/>
          <a:ln/>
        </p:spPr>
        <p:txBody>
          <a:bodyPr wrap="square" lIns="0" tIns="0" rIns="0" bIns="0" rtlCol="0" anchor="ctr">
            <a:normAutofit/>
          </a:bodyPr>
          <a:lstStyle/>
          <a:p>
            <a:pPr marL="0" indent="0">
              <a:buNone/>
            </a:pPr>
            <a:r>
              <a:rPr lang="en-US" sz="1350">
                <a:solidFill>
                  <a:srgbClr val="FFFFFF"/>
                </a:solidFill>
                <a:latin typeface="Aptos" pitchFamily="34" charset="0"/>
                <a:ea typeface="Aptos" pitchFamily="34" charset="-122"/>
                <a:cs typeface="Aptos" pitchFamily="34" charset="-120"/>
              </a:rPr>
              <a:t>Meer houvast in crisis</a:t>
            </a:r>
            <a:endParaRPr lang="en-US" sz="13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84AD865079C64FB2A1609C0E278A07" ma:contentTypeVersion="8" ma:contentTypeDescription="Een nieuw document maken." ma:contentTypeScope="" ma:versionID="007c038766a1c56a306316f999624245">
  <xsd:schema xmlns:xsd="http://www.w3.org/2001/XMLSchema" xmlns:xs="http://www.w3.org/2001/XMLSchema" xmlns:p="http://schemas.microsoft.com/office/2006/metadata/properties" xmlns:ns2="81db8cb5-9360-48f0-9784-c515b20ec4ce" targetNamespace="http://schemas.microsoft.com/office/2006/metadata/properties" ma:root="true" ma:fieldsID="505556352b862a5ce3d16ad6cdefa105" ns2:_="">
    <xsd:import namespace="81db8cb5-9360-48f0-9784-c515b20ec4c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b8cb5-9360-48f0-9784-c515b20ec4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5CC37A-D887-49C4-9300-B43C1CA61039}">
  <ds:schemaRefs>
    <ds:schemaRef ds:uri="81db8cb5-9360-48f0-9784-c515b20ec4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3EF0DF-085F-47ED-803D-4D5837BC75C4}">
  <ds:schemaRefs>
    <ds:schemaRef ds:uri="81db8cb5-9360-48f0-9784-c515b20ec4c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3C47B5B-80F6-40A7-B92C-73010261C6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19</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WS3.2 – Crisismanagement | Pepsi – Misguided Ad Campaign</dc:title>
  <dc:subject>WS3.2 Crisismanagement – Pepsi</dc:subject>
  <dc:creator>OpenAI</dc:creator>
  <cp:revision>1</cp:revision>
  <dcterms:created xsi:type="dcterms:W3CDTF">2026-03-24T21:23:33Z</dcterms:created>
  <dcterms:modified xsi:type="dcterms:W3CDTF">2026-03-26T12:08:43Z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0x0101008184AD865079C64FB2A1609C0E278A07</vt:lpwstr>
  </property>
</Properties>
</file>