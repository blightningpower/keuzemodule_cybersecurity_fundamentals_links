
<file path=[Content_Types].xml><?xml version="1.0" encoding="utf-8"?>
<Types xmlns="http://schemas.openxmlformats.org/package/2006/content-types">
  <Default Extension="bin" ContentType="image/unknown"/>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CD56"/>
    <a:srgbClr val="0716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396D5D-F563-4FB4-8233-5A2A33CEC755}" v="109" dt="2026-03-24T21:40:39.8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200" d="100"/>
          <a:sy n="200" d="100"/>
        </p:scale>
        <p:origin x="72" y="-313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vli Armanyous" userId="2614e947-2a9c-4f9a-b146-f5ffa7aca4cc" providerId="ADAL" clId="{F9025844-0D46-4D37-8C74-FC46BD0E6BF2}"/>
    <pc:docChg chg="undo custSel modSld">
      <pc:chgData name="Bavli Armanyous" userId="2614e947-2a9c-4f9a-b146-f5ffa7aca4cc" providerId="ADAL" clId="{F9025844-0D46-4D37-8C74-FC46BD0E6BF2}" dt="2026-03-24T21:52:30.610" v="321" actId="1076"/>
      <pc:docMkLst>
        <pc:docMk/>
      </pc:docMkLst>
      <pc:sldChg chg="addSp delSp modSp mod setBg">
        <pc:chgData name="Bavli Armanyous" userId="2614e947-2a9c-4f9a-b146-f5ffa7aca4cc" providerId="ADAL" clId="{F9025844-0D46-4D37-8C74-FC46BD0E6BF2}" dt="2026-03-24T21:50:18.861" v="311" actId="207"/>
        <pc:sldMkLst>
          <pc:docMk/>
          <pc:sldMk cId="0" sldId="256"/>
        </pc:sldMkLst>
        <pc:spChg chg="mod">
          <ac:chgData name="Bavli Armanyous" userId="2614e947-2a9c-4f9a-b146-f5ffa7aca4cc" providerId="ADAL" clId="{F9025844-0D46-4D37-8C74-FC46BD0E6BF2}" dt="2026-03-24T21:49:34.689" v="308" actId="20577"/>
          <ac:spMkLst>
            <pc:docMk/>
            <pc:sldMk cId="0" sldId="256"/>
            <ac:spMk id="3" creationId="{00000000-0000-0000-0000-000000000000}"/>
          </ac:spMkLst>
        </pc:spChg>
        <pc:spChg chg="mod">
          <ac:chgData name="Bavli Armanyous" userId="2614e947-2a9c-4f9a-b146-f5ffa7aca4cc" providerId="ADAL" clId="{F9025844-0D46-4D37-8C74-FC46BD0E6BF2}" dt="2026-03-24T21:50:04.851" v="310" actId="207"/>
          <ac:spMkLst>
            <pc:docMk/>
            <pc:sldMk cId="0" sldId="256"/>
            <ac:spMk id="4" creationId="{00000000-0000-0000-0000-000000000000}"/>
          </ac:spMkLst>
        </pc:spChg>
        <pc:spChg chg="mod">
          <ac:chgData name="Bavli Armanyous" userId="2614e947-2a9c-4f9a-b146-f5ffa7aca4cc" providerId="ADAL" clId="{F9025844-0D46-4D37-8C74-FC46BD0E6BF2}" dt="2026-03-24T21:50:18.861" v="311" actId="207"/>
          <ac:spMkLst>
            <pc:docMk/>
            <pc:sldMk cId="0" sldId="256"/>
            <ac:spMk id="5" creationId="{00000000-0000-0000-0000-000000000000}"/>
          </ac:spMkLst>
        </pc:spChg>
        <pc:spChg chg="mod">
          <ac:chgData name="Bavli Armanyous" userId="2614e947-2a9c-4f9a-b146-f5ffa7aca4cc" providerId="ADAL" clId="{F9025844-0D46-4D37-8C74-FC46BD0E6BF2}" dt="2026-03-24T21:34:03.585" v="14" actId="113"/>
          <ac:spMkLst>
            <pc:docMk/>
            <pc:sldMk cId="0" sldId="256"/>
            <ac:spMk id="7" creationId="{00000000-0000-0000-0000-000000000000}"/>
          </ac:spMkLst>
        </pc:spChg>
        <pc:spChg chg="add mod">
          <ac:chgData name="Bavli Armanyous" userId="2614e947-2a9c-4f9a-b146-f5ffa7aca4cc" providerId="ADAL" clId="{F9025844-0D46-4D37-8C74-FC46BD0E6BF2}" dt="2026-03-24T21:48:47.346" v="304" actId="1076"/>
          <ac:spMkLst>
            <pc:docMk/>
            <pc:sldMk cId="0" sldId="256"/>
            <ac:spMk id="19" creationId="{AA32B604-666C-3B89-1B30-AAAB17F5BAF4}"/>
          </ac:spMkLst>
        </pc:spChg>
        <pc:picChg chg="del mod">
          <ac:chgData name="Bavli Armanyous" userId="2614e947-2a9c-4f9a-b146-f5ffa7aca4cc" providerId="ADAL" clId="{F9025844-0D46-4D37-8C74-FC46BD0E6BF2}" dt="2026-03-24T21:32:37.944" v="1" actId="21"/>
          <ac:picMkLst>
            <pc:docMk/>
            <pc:sldMk cId="0" sldId="256"/>
            <ac:picMk id="2" creationId="{00000000-0000-0000-0000-000000000000}"/>
          </ac:picMkLst>
        </pc:picChg>
        <pc:picChg chg="add del mod">
          <ac:chgData name="Bavli Armanyous" userId="2614e947-2a9c-4f9a-b146-f5ffa7aca4cc" providerId="ADAL" clId="{F9025844-0D46-4D37-8C74-FC46BD0E6BF2}" dt="2026-03-24T21:33:05.428" v="5" actId="478"/>
          <ac:picMkLst>
            <pc:docMk/>
            <pc:sldMk cId="0" sldId="256"/>
            <ac:picMk id="8" creationId="{00000000-0000-0000-0000-000000000000}"/>
          </ac:picMkLst>
        </pc:picChg>
        <pc:picChg chg="add del mod">
          <ac:chgData name="Bavli Armanyous" userId="2614e947-2a9c-4f9a-b146-f5ffa7aca4cc" providerId="ADAL" clId="{F9025844-0D46-4D37-8C74-FC46BD0E6BF2}" dt="2026-03-24T21:33:30.985" v="8" actId="478"/>
          <ac:picMkLst>
            <pc:docMk/>
            <pc:sldMk cId="0" sldId="256"/>
            <ac:picMk id="10" creationId="{99D71CB7-E6A0-138C-B5B6-8A556C894110}"/>
          </ac:picMkLst>
        </pc:picChg>
        <pc:picChg chg="add del mod">
          <ac:chgData name="Bavli Armanyous" userId="2614e947-2a9c-4f9a-b146-f5ffa7aca4cc" providerId="ADAL" clId="{F9025844-0D46-4D37-8C74-FC46BD0E6BF2}" dt="2026-03-24T21:33:37.623" v="10" actId="478"/>
          <ac:picMkLst>
            <pc:docMk/>
            <pc:sldMk cId="0" sldId="256"/>
            <ac:picMk id="11" creationId="{1AB6B1C0-E259-26AB-4A0F-B7DB12678C5C}"/>
          </ac:picMkLst>
        </pc:picChg>
        <pc:picChg chg="add del mod">
          <ac:chgData name="Bavli Armanyous" userId="2614e947-2a9c-4f9a-b146-f5ffa7aca4cc" providerId="ADAL" clId="{F9025844-0D46-4D37-8C74-FC46BD0E6BF2}" dt="2026-03-24T21:33:49.195" v="13" actId="478"/>
          <ac:picMkLst>
            <pc:docMk/>
            <pc:sldMk cId="0" sldId="256"/>
            <ac:picMk id="13" creationId="{650A1C9D-0800-72F7-54FC-AEB28C156056}"/>
          </ac:picMkLst>
        </pc:picChg>
        <pc:picChg chg="add del mod">
          <ac:chgData name="Bavli Armanyous" userId="2614e947-2a9c-4f9a-b146-f5ffa7aca4cc" providerId="ADAL" clId="{F9025844-0D46-4D37-8C74-FC46BD0E6BF2}" dt="2026-03-24T21:34:57.919" v="20" actId="478"/>
          <ac:picMkLst>
            <pc:docMk/>
            <pc:sldMk cId="0" sldId="256"/>
            <ac:picMk id="15" creationId="{C3BFCCC4-A550-0846-1931-480600375BE5}"/>
          </ac:picMkLst>
        </pc:picChg>
        <pc:picChg chg="add del mod modCrop">
          <ac:chgData name="Bavli Armanyous" userId="2614e947-2a9c-4f9a-b146-f5ffa7aca4cc" providerId="ADAL" clId="{F9025844-0D46-4D37-8C74-FC46BD0E6BF2}" dt="2026-03-24T21:47:58.797" v="297" actId="478"/>
          <ac:picMkLst>
            <pc:docMk/>
            <pc:sldMk cId="0" sldId="256"/>
            <ac:picMk id="17" creationId="{203F36AC-0F98-35E0-7A54-78E9C16D5823}"/>
          </ac:picMkLst>
        </pc:picChg>
        <pc:picChg chg="add mod">
          <ac:chgData name="Bavli Armanyous" userId="2614e947-2a9c-4f9a-b146-f5ffa7aca4cc" providerId="ADAL" clId="{F9025844-0D46-4D37-8C74-FC46BD0E6BF2}" dt="2026-03-24T21:39:37.453" v="246"/>
          <ac:picMkLst>
            <pc:docMk/>
            <pc:sldMk cId="0" sldId="256"/>
            <ac:picMk id="18" creationId="{203F36AC-0F98-35E0-7A54-78E9C16D5823}"/>
          </ac:picMkLst>
        </pc:picChg>
      </pc:sldChg>
      <pc:sldChg chg="modSp mod">
        <pc:chgData name="Bavli Armanyous" userId="2614e947-2a9c-4f9a-b146-f5ffa7aca4cc" providerId="ADAL" clId="{F9025844-0D46-4D37-8C74-FC46BD0E6BF2}" dt="2026-03-24T21:52:30.610" v="321" actId="1076"/>
        <pc:sldMkLst>
          <pc:docMk/>
          <pc:sldMk cId="0" sldId="258"/>
        </pc:sldMkLst>
        <pc:spChg chg="mod">
          <ac:chgData name="Bavli Armanyous" userId="2614e947-2a9c-4f9a-b146-f5ffa7aca4cc" providerId="ADAL" clId="{F9025844-0D46-4D37-8C74-FC46BD0E6BF2}" dt="2026-03-24T21:51:32.985" v="317" actId="1076"/>
          <ac:spMkLst>
            <pc:docMk/>
            <pc:sldMk cId="0" sldId="258"/>
            <ac:spMk id="4" creationId="{00000000-0000-0000-0000-000000000000}"/>
          </ac:spMkLst>
        </pc:spChg>
        <pc:spChg chg="mod">
          <ac:chgData name="Bavli Armanyous" userId="2614e947-2a9c-4f9a-b146-f5ffa7aca4cc" providerId="ADAL" clId="{F9025844-0D46-4D37-8C74-FC46BD0E6BF2}" dt="2026-03-24T21:51:47.349" v="318" actId="1076"/>
          <ac:spMkLst>
            <pc:docMk/>
            <pc:sldMk cId="0" sldId="258"/>
            <ac:spMk id="6" creationId="{00000000-0000-0000-0000-000000000000}"/>
          </ac:spMkLst>
        </pc:spChg>
        <pc:spChg chg="mod">
          <ac:chgData name="Bavli Armanyous" userId="2614e947-2a9c-4f9a-b146-f5ffa7aca4cc" providerId="ADAL" clId="{F9025844-0D46-4D37-8C74-FC46BD0E6BF2}" dt="2026-03-24T21:52:05.116" v="319" actId="1076"/>
          <ac:spMkLst>
            <pc:docMk/>
            <pc:sldMk cId="0" sldId="258"/>
            <ac:spMk id="8" creationId="{00000000-0000-0000-0000-000000000000}"/>
          </ac:spMkLst>
        </pc:spChg>
        <pc:spChg chg="mod">
          <ac:chgData name="Bavli Armanyous" userId="2614e947-2a9c-4f9a-b146-f5ffa7aca4cc" providerId="ADAL" clId="{F9025844-0D46-4D37-8C74-FC46BD0E6BF2}" dt="2026-03-24T21:52:30.610" v="321" actId="1076"/>
          <ac:spMkLst>
            <pc:docMk/>
            <pc:sldMk cId="0" sldId="258"/>
            <ac:spMk id="10" creationId="{00000000-0000-0000-0000-000000000000}"/>
          </ac:spMkLst>
        </pc:spChg>
      </pc:sldChg>
      <pc:sldChg chg="modSp mod">
        <pc:chgData name="Bavli Armanyous" userId="2614e947-2a9c-4f9a-b146-f5ffa7aca4cc" providerId="ADAL" clId="{F9025844-0D46-4D37-8C74-FC46BD0E6BF2}" dt="2026-03-24T21:51:21.299" v="316" actId="1076"/>
        <pc:sldMkLst>
          <pc:docMk/>
          <pc:sldMk cId="0" sldId="259"/>
        </pc:sldMkLst>
        <pc:spChg chg="mod">
          <ac:chgData name="Bavli Armanyous" userId="2614e947-2a9c-4f9a-b146-f5ffa7aca4cc" providerId="ADAL" clId="{F9025844-0D46-4D37-8C74-FC46BD0E6BF2}" dt="2026-03-24T21:51:11.446" v="315" actId="1076"/>
          <ac:spMkLst>
            <pc:docMk/>
            <pc:sldMk cId="0" sldId="259"/>
            <ac:spMk id="4" creationId="{00000000-0000-0000-0000-000000000000}"/>
          </ac:spMkLst>
        </pc:spChg>
        <pc:spChg chg="mod">
          <ac:chgData name="Bavli Armanyous" userId="2614e947-2a9c-4f9a-b146-f5ffa7aca4cc" providerId="ADAL" clId="{F9025844-0D46-4D37-8C74-FC46BD0E6BF2}" dt="2026-03-24T21:50:59.730" v="313" actId="1076"/>
          <ac:spMkLst>
            <pc:docMk/>
            <pc:sldMk cId="0" sldId="259"/>
            <ac:spMk id="6" creationId="{00000000-0000-0000-0000-000000000000}"/>
          </ac:spMkLst>
        </pc:spChg>
        <pc:spChg chg="mod">
          <ac:chgData name="Bavli Armanyous" userId="2614e947-2a9c-4f9a-b146-f5ffa7aca4cc" providerId="ADAL" clId="{F9025844-0D46-4D37-8C74-FC46BD0E6BF2}" dt="2026-03-24T21:51:03.832" v="314" actId="1076"/>
          <ac:spMkLst>
            <pc:docMk/>
            <pc:sldMk cId="0" sldId="259"/>
            <ac:spMk id="8" creationId="{00000000-0000-0000-0000-000000000000}"/>
          </ac:spMkLst>
        </pc:spChg>
        <pc:spChg chg="mod">
          <ac:chgData name="Bavli Armanyous" userId="2614e947-2a9c-4f9a-b146-f5ffa7aca4cc" providerId="ADAL" clId="{F9025844-0D46-4D37-8C74-FC46BD0E6BF2}" dt="2026-03-24T21:51:21.299" v="316" actId="1076"/>
          <ac:spMkLst>
            <pc:docMk/>
            <pc:sldMk cId="0" sldId="259"/>
            <ac:spMk id="1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1736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Bavli
Welkom allemaal, ik ben Bavli en ik presenteer deze casus namens onze groep Firewall Force.
Vandaag bespreek ik de Pepsi-casus uit 2017, waarin een reclame met Kendall Jenner binnen één dag uitgroeide tot een reputatiecrisis.
Ik laat eerst kort zien wat er gebeurde, daarna welke key behaviour componenten we herkennen, welke vormen van situationeel leiderschap relevant zijn en tot slot de belangrijkste lessen.
[Sources]
- Template/designbron: Business Continuity Management – GreenTaste Food Co.pptx (door gebruiker geüpload)
- Inhoudelijke basis: Uitwerking WS3.2 – Crisismanagement.docx (door gebruiker geüpload)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Bavli
De kern van deze casus is dat Pepsi de kritiek inhoudelijk niet kon voorkomen, maar wel snel reageerde toen de ophef ontstond.
Act with urgency zien we het sterkst terug, omdat Pepsi de commercial snel verwijderde en verdere uitrol stopzette.
Be transparent is deels zichtbaar, omdat Pepsi publiekelijk toegaf dat het de plank had misgeslagen.
Follow your values en sharing power zijn juist zwakker: de campagne sloot niet geloofwaardig aan op de waarden die Pepsi wilde uitstralen, en er lijkt vooraf te weinig ruimte te zijn geweest voor kritisch tegengeluid.
[Sources]
- Inhoudelijke basis: Uitwerking WS3.2 – Crisismanagement.docx (door gebruiker geüpload)
- Officiële verklaring Pepsi, 5 april 2017: https://www.pepsico.com/newsroom/press-releases/2017/pepsi-statement-re--pepsi-moments-content
- Afbeelding advertentiestill: https://cdn.prod.website-files.com/639f339fd4fdced020c3fd4a/65a8049d10f377ce2649541f_kendall%20jenner%20ad%20%28handing%20pepsi%20can%29.webp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Bavli
Als we kijken naar situationeel leiderschap, dan zijn vooral coachen, instrueren en motiveren relevant.
Coachen hoort vooral thuis vóór publicatie: een leider moet dan kritische vragen stellen en het team helpen om maatschappelijke gevoeligheden beter te zien.
Instrueren is juist nodig zodra de crisis uitbreekt, omdat er dan snel en duidelijk gestuurd moet worden op acties en communicatie.
Motiveren past bij de herstelfase, wanneer een team na reputatieschade weer vertrouwen en richting nodig heeft. Delegeren is in deze situatie minder passend, omdat te veel loslaten de reactie trager en onduidelijker had kunnen maken.
[Sources]
- Inhoudelijke basis: Uitwerking WS3.2 – Crisismanagement.docx (door gebruiker geüpload)
- Officiële verklaring Pepsi, 5 april 2017: https://www.pepsico.com/newsroom/press-releases/2017/pepsi-statement-re--pepsi-moments-content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Bavli
De belangrijkste les uit deze casus is dat een organisatie niet alleen naar de eigen intentie moet kijken, maar vooral naar hoe het publiek de boodschap gaat interpreteren.
Daarnaast laat deze casus zien dat crisismanagement al begint vóór publicatie: juist in de voorbereiding moeten risico's, gevoeligheden en feedback serieus worden getoetst.
Pepsi deed één ding goed: het bedrijf reageerde snel. Maar die snelheid kon de reputatieschade niet helemaal ongedaan maken.
Mijn conclusie is daarom dat Pepsi de crisis waarschijnlijk had kunnen beperken met betere toetsing, meer kritisch tegengeluid en sterker leiderschap in de voorbereidingsfase.
[Sources]
- Inhoudelijke basis: Uitwerking WS3.2 – Crisismanagement.docx (door gebruiker geüpload)
- Officiële verklaring Pepsi, 5 april 2017: https://www.pepsico.com/newsroom/press-releases/2017/pepsi-statement-re--pepsi-moments-content
- Afbeelding Pepsi-blikje: https://i5.walmartimages.com/asr/69f93370-7023-4bfb-a0fc-e5cc931e49b6_1.7d37e56bd03cee7eee8a41395de92e30.jpeg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bin"/></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bin"/></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gradFill>
          <a:gsLst>
            <a:gs pos="0">
              <a:schemeClr val="accent1">
                <a:lumMod val="40000"/>
                <a:lumOff val="60000"/>
              </a:schemeClr>
            </a:gs>
            <a:gs pos="83000">
              <a:schemeClr val="accent1">
                <a:lumMod val="75000"/>
              </a:schemeClr>
            </a:gs>
            <a:gs pos="91000">
              <a:schemeClr val="accent1">
                <a:lumMod val="50000"/>
              </a:schemeClr>
            </a:gs>
            <a:gs pos="100000">
              <a:srgbClr val="07162A"/>
            </a:gs>
          </a:gsLst>
          <a:lin ang="5400000" scaled="1"/>
        </a:gradFill>
        <a:effectLst/>
      </p:bgPr>
    </p:bg>
    <p:spTree>
      <p:nvGrpSpPr>
        <p:cNvPr id="1" name=""/>
        <p:cNvGrpSpPr/>
        <p:nvPr/>
      </p:nvGrpSpPr>
      <p:grpSpPr>
        <a:xfrm>
          <a:off x="0" y="0"/>
          <a:ext cx="0" cy="0"/>
          <a:chOff x="0" y="0"/>
          <a:chExt cx="0" cy="0"/>
        </a:xfrm>
      </p:grpSpPr>
      <p:sp>
        <p:nvSpPr>
          <p:cNvPr id="3" name="Text 0"/>
          <p:cNvSpPr/>
          <p:nvPr/>
        </p:nvSpPr>
        <p:spPr>
          <a:xfrm>
            <a:off x="658368" y="384048"/>
            <a:ext cx="5491420" cy="1828800"/>
          </a:xfrm>
          <a:prstGeom prst="rect">
            <a:avLst/>
          </a:prstGeom>
          <a:noFill/>
          <a:ln/>
        </p:spPr>
        <p:txBody>
          <a:bodyPr wrap="square" lIns="0" tIns="0" rIns="0" bIns="0" rtlCol="0" anchor="ctr"/>
          <a:lstStyle/>
          <a:p>
            <a:pPr marL="0" indent="0">
              <a:buNone/>
            </a:pPr>
            <a:r>
              <a:rPr lang="en-US" sz="30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Gill Sans MT" pitchFamily="34" charset="0"/>
                <a:ea typeface="Gill Sans MT" pitchFamily="34" charset="-122"/>
                <a:cs typeface="Gill Sans MT" pitchFamily="34" charset="-120"/>
              </a:rPr>
              <a:t>WS3.2</a:t>
            </a:r>
            <a:endParaRPr lang="en-US" sz="30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ndParaRPr>
          </a:p>
          <a:p>
            <a:pPr marL="0" indent="0">
              <a:buNone/>
            </a:pPr>
            <a:r>
              <a:rPr lang="en-US" sz="30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Gill Sans MT" pitchFamily="34" charset="0"/>
                <a:ea typeface="Gill Sans MT" pitchFamily="34" charset="-122"/>
                <a:cs typeface="Gill Sans MT" pitchFamily="34" charset="-120"/>
              </a:rPr>
              <a:t>CRISISMANAGEMENT</a:t>
            </a:r>
            <a:endParaRPr lang="en-US" sz="30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ndParaRPr>
          </a:p>
        </p:txBody>
      </p:sp>
      <p:sp>
        <p:nvSpPr>
          <p:cNvPr id="4" name="Text 1"/>
          <p:cNvSpPr/>
          <p:nvPr/>
        </p:nvSpPr>
        <p:spPr>
          <a:xfrm>
            <a:off x="658368" y="1865376"/>
            <a:ext cx="3840480" cy="320040"/>
          </a:xfrm>
          <a:prstGeom prst="rect">
            <a:avLst/>
          </a:prstGeom>
          <a:noFill/>
          <a:ln/>
        </p:spPr>
        <p:txBody>
          <a:bodyPr wrap="square" lIns="0" tIns="0" rIns="0" bIns="0" rtlCol="0" anchor="ctr"/>
          <a:lstStyle/>
          <a:p>
            <a:pPr marL="0" indent="0">
              <a:buNone/>
            </a:pPr>
            <a:r>
              <a:rPr lang="en-US" sz="2000" b="1" i="1" dirty="0">
                <a:solidFill>
                  <a:srgbClr val="C00000"/>
                </a:solidFill>
                <a:latin typeface="Gill Sans MT" pitchFamily="34" charset="0"/>
                <a:ea typeface="Gill Sans MT" pitchFamily="34" charset="-122"/>
                <a:cs typeface="Gill Sans MT" pitchFamily="34" charset="-120"/>
              </a:rPr>
              <a:t>Pepsi – Misguided Ad Campaign</a:t>
            </a:r>
            <a:endParaRPr lang="en-US" sz="2000" dirty="0">
              <a:solidFill>
                <a:srgbClr val="C00000"/>
              </a:solidFill>
            </a:endParaRPr>
          </a:p>
        </p:txBody>
      </p:sp>
      <p:sp>
        <p:nvSpPr>
          <p:cNvPr id="5" name="Text 2"/>
          <p:cNvSpPr/>
          <p:nvPr/>
        </p:nvSpPr>
        <p:spPr>
          <a:xfrm>
            <a:off x="658368" y="2295144"/>
            <a:ext cx="4389120" cy="237744"/>
          </a:xfrm>
          <a:prstGeom prst="rect">
            <a:avLst/>
          </a:prstGeom>
          <a:noFill/>
          <a:ln/>
        </p:spPr>
        <p:txBody>
          <a:bodyPr wrap="square" lIns="0" tIns="0" rIns="0" bIns="0" rtlCol="0" anchor="ctr"/>
          <a:lstStyle/>
          <a:p>
            <a:pPr marL="0" indent="0">
              <a:buNone/>
            </a:pPr>
            <a:r>
              <a:rPr lang="en-US" sz="1300" dirty="0">
                <a:solidFill>
                  <a:schemeClr val="bg1">
                    <a:lumMod val="85000"/>
                  </a:schemeClr>
                </a:solidFill>
                <a:latin typeface="Gill Sans MT" pitchFamily="34" charset="0"/>
                <a:ea typeface="Gill Sans MT" pitchFamily="34" charset="-122"/>
                <a:cs typeface="Gill Sans MT" pitchFamily="34" charset="-120"/>
              </a:rPr>
              <a:t>2017 · reputatiecrisis na protestcommercial</a:t>
            </a:r>
            <a:endParaRPr lang="en-US" sz="1300" dirty="0">
              <a:solidFill>
                <a:schemeClr val="bg1">
                  <a:lumMod val="85000"/>
                </a:schemeClr>
              </a:solidFill>
            </a:endParaRPr>
          </a:p>
        </p:txBody>
      </p:sp>
      <p:sp>
        <p:nvSpPr>
          <p:cNvPr id="6" name="Text 3"/>
          <p:cNvSpPr/>
          <p:nvPr/>
        </p:nvSpPr>
        <p:spPr>
          <a:xfrm>
            <a:off x="658368" y="4992624"/>
            <a:ext cx="4206240" cy="274320"/>
          </a:xfrm>
          <a:prstGeom prst="rect">
            <a:avLst/>
          </a:prstGeom>
          <a:noFill/>
          <a:ln/>
        </p:spPr>
        <p:txBody>
          <a:bodyPr wrap="square" lIns="0" tIns="0" rIns="0" bIns="0" rtlCol="0" anchor="ctr"/>
          <a:lstStyle/>
          <a:p>
            <a:pPr marL="0" indent="0">
              <a:buNone/>
            </a:pPr>
            <a:r>
              <a:rPr lang="en-US" sz="1700" b="1" dirty="0">
                <a:solidFill>
                  <a:srgbClr val="111111"/>
                </a:solidFill>
                <a:latin typeface="Gill Sans MT" pitchFamily="34" charset="0"/>
                <a:ea typeface="Gill Sans MT" pitchFamily="34" charset="-122"/>
                <a:cs typeface="Gill Sans MT" pitchFamily="34" charset="-120"/>
              </a:rPr>
              <a:t>Groep 10 · Firewall Force</a:t>
            </a:r>
            <a:endParaRPr lang="en-US" sz="1700" dirty="0"/>
          </a:p>
        </p:txBody>
      </p:sp>
      <p:sp>
        <p:nvSpPr>
          <p:cNvPr id="7" name="Text 4"/>
          <p:cNvSpPr/>
          <p:nvPr/>
        </p:nvSpPr>
        <p:spPr>
          <a:xfrm>
            <a:off x="658368" y="5358384"/>
            <a:ext cx="4297680" cy="320040"/>
          </a:xfrm>
          <a:prstGeom prst="rect">
            <a:avLst/>
          </a:prstGeom>
          <a:noFill/>
          <a:ln/>
        </p:spPr>
        <p:txBody>
          <a:bodyPr wrap="square" lIns="0" tIns="0" rIns="0" bIns="0" rtlCol="0" anchor="ctr"/>
          <a:lstStyle/>
          <a:p>
            <a:pPr marL="0" indent="0">
              <a:buNone/>
            </a:pPr>
            <a:r>
              <a:rPr lang="en-US" sz="1600" b="1" dirty="0">
                <a:solidFill>
                  <a:srgbClr val="111111"/>
                </a:solidFill>
                <a:latin typeface="Gill Sans MT" pitchFamily="34" charset="0"/>
                <a:ea typeface="Gill Sans MT" pitchFamily="34" charset="-122"/>
                <a:cs typeface="Gill Sans MT" pitchFamily="34" charset="-120"/>
              </a:rPr>
              <a:t>Bavli, </a:t>
            </a:r>
            <a:r>
              <a:rPr lang="en-US" sz="1600" dirty="0">
                <a:solidFill>
                  <a:srgbClr val="111111"/>
                </a:solidFill>
                <a:latin typeface="Gill Sans MT" pitchFamily="34" charset="0"/>
                <a:ea typeface="Gill Sans MT" pitchFamily="34" charset="-122"/>
                <a:cs typeface="Gill Sans MT" pitchFamily="34" charset="-120"/>
              </a:rPr>
              <a:t>Jonas, Lucas, Vo</a:t>
            </a:r>
            <a:endParaRPr lang="en-US" sz="1600" dirty="0"/>
          </a:p>
        </p:txBody>
      </p:sp>
      <p:sp>
        <p:nvSpPr>
          <p:cNvPr id="19" name="Rechthoek: afgeronde hoeken 18">
            <a:extLst>
              <a:ext uri="{FF2B5EF4-FFF2-40B4-BE49-F238E27FC236}">
                <a16:creationId xmlns:a16="http://schemas.microsoft.com/office/drawing/2014/main" id="{AA32B604-666C-3B89-1B30-AAAB17F5BAF4}"/>
              </a:ext>
            </a:extLst>
          </p:cNvPr>
          <p:cNvSpPr/>
          <p:nvPr/>
        </p:nvSpPr>
        <p:spPr>
          <a:xfrm>
            <a:off x="6149788" y="556264"/>
            <a:ext cx="4843182" cy="4757919"/>
          </a:xfrm>
          <a:prstGeom prst="roundRect">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21325"/>
        </a:solidFill>
        <a:effectLst/>
      </p:bgPr>
    </p:bg>
    <p:spTree>
      <p:nvGrpSpPr>
        <p:cNvPr id="1" name=""/>
        <p:cNvGrpSpPr/>
        <p:nvPr/>
      </p:nvGrpSpPr>
      <p:grpSpPr>
        <a:xfrm>
          <a:off x="0" y="0"/>
          <a:ext cx="0" cy="0"/>
          <a:chOff x="0" y="0"/>
          <a:chExt cx="0" cy="0"/>
        </a:xfrm>
      </p:grpSpPr>
      <p:pic>
        <p:nvPicPr>
          <p:cNvPr id="2" name="Image 0" descr="/mnt/data/ws32_ppt/assets/image3.png"/>
          <p:cNvPicPr>
            <a:picLocks noChangeAspect="1"/>
          </p:cNvPicPr>
          <p:nvPr/>
        </p:nvPicPr>
        <p:blipFill>
          <a:blip r:embed="rId3"/>
          <a:stretch>
            <a:fillRect/>
          </a:stretch>
        </p:blipFill>
        <p:spPr>
          <a:xfrm>
            <a:off x="10817352" y="109728"/>
            <a:ext cx="822960" cy="822960"/>
          </a:xfrm>
          <a:prstGeom prst="rect">
            <a:avLst/>
          </a:prstGeom>
        </p:spPr>
      </p:pic>
      <p:sp>
        <p:nvSpPr>
          <p:cNvPr id="3" name="Text 0"/>
          <p:cNvSpPr/>
          <p:nvPr/>
        </p:nvSpPr>
        <p:spPr>
          <a:xfrm>
            <a:off x="530352" y="512064"/>
            <a:ext cx="6949440" cy="475488"/>
          </a:xfrm>
          <a:prstGeom prst="rect">
            <a:avLst/>
          </a:prstGeom>
          <a:noFill/>
          <a:ln/>
        </p:spPr>
        <p:txBody>
          <a:bodyPr wrap="square" lIns="0" tIns="0" rIns="0" bIns="0" rtlCol="0" anchor="ctr"/>
          <a:lstStyle/>
          <a:p>
            <a:pPr marL="0" indent="0" algn="ctr">
              <a:buNone/>
            </a:pPr>
            <a:r>
              <a:rPr lang="en-US" sz="3100" dirty="0">
                <a:solidFill>
                  <a:srgbClr val="FFFFFF"/>
                </a:solidFill>
                <a:latin typeface="Gill Sans MT" pitchFamily="34" charset="0"/>
                <a:ea typeface="Gill Sans MT" pitchFamily="34" charset="-122"/>
                <a:cs typeface="Gill Sans MT" pitchFamily="34" charset="-120"/>
              </a:rPr>
              <a:t>KEY BEHAVIOUR COMPONENTEN</a:t>
            </a:r>
            <a:endParaRPr lang="en-US" sz="3100" dirty="0"/>
          </a:p>
        </p:txBody>
      </p:sp>
      <p:sp>
        <p:nvSpPr>
          <p:cNvPr id="4" name="Text 1"/>
          <p:cNvSpPr/>
          <p:nvPr/>
        </p:nvSpPr>
        <p:spPr>
          <a:xfrm>
            <a:off x="896112" y="1709928"/>
            <a:ext cx="164592" cy="256032"/>
          </a:xfrm>
          <a:prstGeom prst="rect">
            <a:avLst/>
          </a:prstGeom>
          <a:noFill/>
          <a:ln/>
        </p:spPr>
        <p:txBody>
          <a:bodyPr wrap="square" lIns="0" tIns="0" rIns="0" bIns="0" rtlCol="0" anchor="ctr"/>
          <a:lstStyle/>
          <a:p>
            <a:pPr marL="0" indent="0">
              <a:buNone/>
            </a:pPr>
            <a:r>
              <a:rPr lang="en-US" sz="1930" b="1" dirty="0">
                <a:solidFill>
                  <a:srgbClr val="F4C757"/>
                </a:solidFill>
                <a:latin typeface="Gill Sans MT" pitchFamily="34" charset="0"/>
                <a:ea typeface="Gill Sans MT" pitchFamily="34" charset="-122"/>
                <a:cs typeface="Gill Sans MT" pitchFamily="34" charset="-120"/>
              </a:rPr>
              <a:t>•</a:t>
            </a:r>
            <a:endParaRPr lang="en-US" sz="1930" dirty="0"/>
          </a:p>
        </p:txBody>
      </p:sp>
      <p:sp>
        <p:nvSpPr>
          <p:cNvPr id="5" name="Text 2"/>
          <p:cNvSpPr/>
          <p:nvPr/>
        </p:nvSpPr>
        <p:spPr>
          <a:xfrm>
            <a:off x="1170432" y="1700784"/>
            <a:ext cx="6629400" cy="1032320"/>
          </a:xfrm>
          <a:prstGeom prst="rect">
            <a:avLst/>
          </a:prstGeom>
          <a:noFill/>
          <a:ln/>
        </p:spPr>
        <p:txBody>
          <a:bodyPr wrap="square" lIns="0" tIns="0" rIns="0" bIns="0" rtlCol="0" anchor="ctr">
            <a:normAutofit/>
          </a:bodyPr>
          <a:lstStyle/>
          <a:p>
            <a:pPr marL="0" indent="0">
              <a:buNone/>
            </a:pPr>
            <a:r>
              <a:rPr lang="en-US" sz="1730" b="1" dirty="0">
                <a:solidFill>
                  <a:srgbClr val="FFFFFF"/>
                </a:solidFill>
                <a:latin typeface="Gill Sans MT" pitchFamily="34" charset="0"/>
                <a:ea typeface="Gill Sans MT" pitchFamily="34" charset="-122"/>
                <a:cs typeface="Gill Sans MT" pitchFamily="34" charset="-120"/>
              </a:rPr>
              <a:t>Be transparent — </a:t>
            </a:r>
            <a:r>
              <a:rPr lang="en-US" sz="1730" dirty="0">
                <a:solidFill>
                  <a:srgbClr val="FFFFFF"/>
                </a:solidFill>
                <a:latin typeface="Gill Sans MT" pitchFamily="34" charset="0"/>
                <a:ea typeface="Gill Sans MT" pitchFamily="34" charset="-122"/>
                <a:cs typeface="Gill Sans MT" pitchFamily="34" charset="-120"/>
              </a:rPr>
              <a:t>deels zichtbaar: Pepsi erkende achteraf snel dat de campagne misplaatst was.</a:t>
            </a:r>
            <a:endParaRPr lang="en-US" sz="1730" dirty="0"/>
          </a:p>
        </p:txBody>
      </p:sp>
      <p:sp>
        <p:nvSpPr>
          <p:cNvPr id="6" name="Text 3"/>
          <p:cNvSpPr/>
          <p:nvPr/>
        </p:nvSpPr>
        <p:spPr>
          <a:xfrm>
            <a:off x="896112" y="2888552"/>
            <a:ext cx="164592" cy="256032"/>
          </a:xfrm>
          <a:prstGeom prst="rect">
            <a:avLst/>
          </a:prstGeom>
          <a:noFill/>
          <a:ln/>
        </p:spPr>
        <p:txBody>
          <a:bodyPr wrap="square" lIns="0" tIns="0" rIns="0" bIns="0" rtlCol="0" anchor="ctr"/>
          <a:lstStyle/>
          <a:p>
            <a:pPr marL="0" indent="0">
              <a:buNone/>
            </a:pPr>
            <a:r>
              <a:rPr lang="en-US" sz="1930" b="1" dirty="0">
                <a:solidFill>
                  <a:srgbClr val="F4C757"/>
                </a:solidFill>
                <a:latin typeface="Gill Sans MT" pitchFamily="34" charset="0"/>
                <a:ea typeface="Gill Sans MT" pitchFamily="34" charset="-122"/>
                <a:cs typeface="Gill Sans MT" pitchFamily="34" charset="-120"/>
              </a:rPr>
              <a:t>•</a:t>
            </a:r>
            <a:endParaRPr lang="en-US" sz="1930" dirty="0"/>
          </a:p>
        </p:txBody>
      </p:sp>
      <p:sp>
        <p:nvSpPr>
          <p:cNvPr id="7" name="Text 4"/>
          <p:cNvSpPr/>
          <p:nvPr/>
        </p:nvSpPr>
        <p:spPr>
          <a:xfrm>
            <a:off x="1170432" y="2879408"/>
            <a:ext cx="6629400" cy="1032320"/>
          </a:xfrm>
          <a:prstGeom prst="rect">
            <a:avLst/>
          </a:prstGeom>
          <a:noFill/>
          <a:ln/>
        </p:spPr>
        <p:txBody>
          <a:bodyPr wrap="square" lIns="0" tIns="0" rIns="0" bIns="0" rtlCol="0" anchor="ctr">
            <a:normAutofit/>
          </a:bodyPr>
          <a:lstStyle/>
          <a:p>
            <a:pPr marL="0" indent="0">
              <a:buNone/>
            </a:pPr>
            <a:r>
              <a:rPr lang="en-US" sz="1730" b="1" dirty="0">
                <a:solidFill>
                  <a:srgbClr val="FFFFFF"/>
                </a:solidFill>
                <a:latin typeface="Gill Sans MT" pitchFamily="34" charset="0"/>
                <a:ea typeface="Gill Sans MT" pitchFamily="34" charset="-122"/>
                <a:cs typeface="Gill Sans MT" pitchFamily="34" charset="-120"/>
              </a:rPr>
              <a:t>Act with urgency — </a:t>
            </a:r>
            <a:r>
              <a:rPr lang="en-US" sz="1730" dirty="0">
                <a:solidFill>
                  <a:srgbClr val="FFFFFF"/>
                </a:solidFill>
                <a:latin typeface="Gill Sans MT" pitchFamily="34" charset="0"/>
                <a:ea typeface="Gill Sans MT" pitchFamily="34" charset="-122"/>
                <a:cs typeface="Gill Sans MT" pitchFamily="34" charset="-120"/>
              </a:rPr>
              <a:t>duidelijk zichtbaar: de advertentie ging offline en de uitrol werd direct stopgezet.</a:t>
            </a:r>
            <a:endParaRPr lang="en-US" sz="1730" dirty="0"/>
          </a:p>
        </p:txBody>
      </p:sp>
      <p:sp>
        <p:nvSpPr>
          <p:cNvPr id="8" name="Text 5"/>
          <p:cNvSpPr/>
          <p:nvPr/>
        </p:nvSpPr>
        <p:spPr>
          <a:xfrm>
            <a:off x="896112" y="4067175"/>
            <a:ext cx="164592" cy="256032"/>
          </a:xfrm>
          <a:prstGeom prst="rect">
            <a:avLst/>
          </a:prstGeom>
          <a:noFill/>
          <a:ln/>
        </p:spPr>
        <p:txBody>
          <a:bodyPr wrap="square" lIns="0" tIns="0" rIns="0" bIns="0" rtlCol="0" anchor="ctr"/>
          <a:lstStyle/>
          <a:p>
            <a:pPr marL="0" indent="0">
              <a:buNone/>
            </a:pPr>
            <a:r>
              <a:rPr lang="en-US" sz="1930" b="1" dirty="0">
                <a:solidFill>
                  <a:srgbClr val="F4C757"/>
                </a:solidFill>
                <a:latin typeface="Gill Sans MT" pitchFamily="34" charset="0"/>
                <a:ea typeface="Gill Sans MT" pitchFamily="34" charset="-122"/>
                <a:cs typeface="Gill Sans MT" pitchFamily="34" charset="-120"/>
              </a:rPr>
              <a:t>•</a:t>
            </a:r>
            <a:endParaRPr lang="en-US" sz="1930" dirty="0"/>
          </a:p>
        </p:txBody>
      </p:sp>
      <p:sp>
        <p:nvSpPr>
          <p:cNvPr id="9" name="Text 6"/>
          <p:cNvSpPr/>
          <p:nvPr/>
        </p:nvSpPr>
        <p:spPr>
          <a:xfrm>
            <a:off x="1170432" y="4058031"/>
            <a:ext cx="6629400" cy="1032320"/>
          </a:xfrm>
          <a:prstGeom prst="rect">
            <a:avLst/>
          </a:prstGeom>
          <a:noFill/>
          <a:ln/>
        </p:spPr>
        <p:txBody>
          <a:bodyPr wrap="square" lIns="0" tIns="0" rIns="0" bIns="0" rtlCol="0" anchor="ctr">
            <a:normAutofit/>
          </a:bodyPr>
          <a:lstStyle/>
          <a:p>
            <a:pPr marL="0" indent="0">
              <a:buNone/>
            </a:pPr>
            <a:r>
              <a:rPr lang="en-US" sz="1730" b="1" dirty="0">
                <a:solidFill>
                  <a:srgbClr val="FFFFFF"/>
                </a:solidFill>
                <a:latin typeface="Gill Sans MT" pitchFamily="34" charset="0"/>
                <a:ea typeface="Gill Sans MT" pitchFamily="34" charset="-122"/>
                <a:cs typeface="Gill Sans MT" pitchFamily="34" charset="-120"/>
              </a:rPr>
              <a:t>Follow your values — </a:t>
            </a:r>
            <a:r>
              <a:rPr lang="en-US" sz="1730" dirty="0">
                <a:solidFill>
                  <a:srgbClr val="FFFFFF"/>
                </a:solidFill>
                <a:latin typeface="Gill Sans MT" pitchFamily="34" charset="0"/>
                <a:ea typeface="Gill Sans MT" pitchFamily="34" charset="-122"/>
                <a:cs typeface="Gill Sans MT" pitchFamily="34" charset="-120"/>
              </a:rPr>
              <a:t>onvoldoende: de boodschap van eenheid sloot niet aan op de uitvoering.</a:t>
            </a:r>
            <a:endParaRPr lang="en-US" sz="1730" dirty="0"/>
          </a:p>
        </p:txBody>
      </p:sp>
      <p:sp>
        <p:nvSpPr>
          <p:cNvPr id="10" name="Text 7"/>
          <p:cNvSpPr/>
          <p:nvPr/>
        </p:nvSpPr>
        <p:spPr>
          <a:xfrm>
            <a:off x="896112" y="5245799"/>
            <a:ext cx="164592" cy="256032"/>
          </a:xfrm>
          <a:prstGeom prst="rect">
            <a:avLst/>
          </a:prstGeom>
          <a:noFill/>
          <a:ln/>
        </p:spPr>
        <p:txBody>
          <a:bodyPr wrap="square" lIns="0" tIns="0" rIns="0" bIns="0" rtlCol="0" anchor="ctr"/>
          <a:lstStyle/>
          <a:p>
            <a:pPr marL="0" indent="0">
              <a:buNone/>
            </a:pPr>
            <a:r>
              <a:rPr lang="en-US" sz="1930" b="1" dirty="0">
                <a:solidFill>
                  <a:srgbClr val="F4C757"/>
                </a:solidFill>
                <a:latin typeface="Gill Sans MT" pitchFamily="34" charset="0"/>
                <a:ea typeface="Gill Sans MT" pitchFamily="34" charset="-122"/>
                <a:cs typeface="Gill Sans MT" pitchFamily="34" charset="-120"/>
              </a:rPr>
              <a:t>•</a:t>
            </a:r>
            <a:endParaRPr lang="en-US" sz="1930" dirty="0"/>
          </a:p>
        </p:txBody>
      </p:sp>
      <p:sp>
        <p:nvSpPr>
          <p:cNvPr id="11" name="Text 8"/>
          <p:cNvSpPr/>
          <p:nvPr/>
        </p:nvSpPr>
        <p:spPr>
          <a:xfrm>
            <a:off x="1170432" y="5236655"/>
            <a:ext cx="6629400" cy="1032320"/>
          </a:xfrm>
          <a:prstGeom prst="rect">
            <a:avLst/>
          </a:prstGeom>
          <a:noFill/>
          <a:ln/>
        </p:spPr>
        <p:txBody>
          <a:bodyPr wrap="square" lIns="0" tIns="0" rIns="0" bIns="0" rtlCol="0" anchor="ctr">
            <a:normAutofit/>
          </a:bodyPr>
          <a:lstStyle/>
          <a:p>
            <a:pPr marL="0" indent="0">
              <a:buNone/>
            </a:pPr>
            <a:r>
              <a:rPr lang="en-US" sz="1730" b="1" dirty="0">
                <a:solidFill>
                  <a:srgbClr val="FFFFFF"/>
                </a:solidFill>
                <a:latin typeface="Gill Sans MT" pitchFamily="34" charset="0"/>
                <a:ea typeface="Gill Sans MT" pitchFamily="34" charset="-122"/>
                <a:cs typeface="Gill Sans MT" pitchFamily="34" charset="-120"/>
              </a:rPr>
              <a:t>Sharing power — </a:t>
            </a:r>
            <a:r>
              <a:rPr lang="en-US" sz="1730" dirty="0">
                <a:solidFill>
                  <a:srgbClr val="FFFFFF"/>
                </a:solidFill>
                <a:latin typeface="Gill Sans MT" pitchFamily="34" charset="0"/>
                <a:ea typeface="Gill Sans MT" pitchFamily="34" charset="-122"/>
                <a:cs typeface="Gill Sans MT" pitchFamily="34" charset="-120"/>
              </a:rPr>
              <a:t>nauwelijks zichtbaar: er lijkt te weinig kritische of diverse feedback vooraf te zijn meegenomen.</a:t>
            </a:r>
            <a:endParaRPr lang="en-US" sz="1730" dirty="0"/>
          </a:p>
        </p:txBody>
      </p:sp>
      <p:pic>
        <p:nvPicPr>
          <p:cNvPr id="12" name="Image 1" descr="/mnt/data/ws32_ppt/assets/kendall_pepsi.webp"/>
          <p:cNvPicPr>
            <a:picLocks noChangeAspect="1"/>
          </p:cNvPicPr>
          <p:nvPr/>
        </p:nvPicPr>
        <p:blipFill>
          <a:blip r:embed="rId4"/>
          <a:srcRect l="13618" r="13618"/>
          <a:stretch/>
        </p:blipFill>
        <p:spPr>
          <a:xfrm>
            <a:off x="8092440" y="2057400"/>
            <a:ext cx="3611880" cy="26060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21325"/>
        </a:solidFill>
        <a:effectLst/>
      </p:bgPr>
    </p:bg>
    <p:spTree>
      <p:nvGrpSpPr>
        <p:cNvPr id="1" name=""/>
        <p:cNvGrpSpPr/>
        <p:nvPr/>
      </p:nvGrpSpPr>
      <p:grpSpPr>
        <a:xfrm>
          <a:off x="0" y="0"/>
          <a:ext cx="0" cy="0"/>
          <a:chOff x="0" y="0"/>
          <a:chExt cx="0" cy="0"/>
        </a:xfrm>
      </p:grpSpPr>
      <p:pic>
        <p:nvPicPr>
          <p:cNvPr id="2" name="Image 0" descr="/mnt/data/ws32_ppt/assets/image3.png"/>
          <p:cNvPicPr>
            <a:picLocks noChangeAspect="1"/>
          </p:cNvPicPr>
          <p:nvPr/>
        </p:nvPicPr>
        <p:blipFill>
          <a:blip r:embed="rId3"/>
          <a:stretch>
            <a:fillRect/>
          </a:stretch>
        </p:blipFill>
        <p:spPr>
          <a:xfrm>
            <a:off x="10817352" y="109728"/>
            <a:ext cx="822960" cy="822960"/>
          </a:xfrm>
          <a:prstGeom prst="rect">
            <a:avLst/>
          </a:prstGeom>
        </p:spPr>
      </p:pic>
      <p:sp>
        <p:nvSpPr>
          <p:cNvPr id="3" name="Text 0"/>
          <p:cNvSpPr/>
          <p:nvPr/>
        </p:nvSpPr>
        <p:spPr>
          <a:xfrm>
            <a:off x="530352" y="512064"/>
            <a:ext cx="6949440" cy="475488"/>
          </a:xfrm>
          <a:prstGeom prst="rect">
            <a:avLst/>
          </a:prstGeom>
          <a:noFill/>
          <a:ln/>
        </p:spPr>
        <p:txBody>
          <a:bodyPr wrap="square" lIns="0" tIns="0" rIns="0" bIns="0" rtlCol="0" anchor="ctr"/>
          <a:lstStyle/>
          <a:p>
            <a:pPr marL="0" indent="0" algn="ctr">
              <a:buNone/>
            </a:pPr>
            <a:r>
              <a:rPr lang="en-US" sz="3100" dirty="0">
                <a:solidFill>
                  <a:srgbClr val="FFFFFF"/>
                </a:solidFill>
                <a:latin typeface="Gill Sans MT" pitchFamily="34" charset="0"/>
                <a:ea typeface="Gill Sans MT" pitchFamily="34" charset="-122"/>
                <a:cs typeface="Gill Sans MT" pitchFamily="34" charset="-120"/>
              </a:rPr>
              <a:t>SITUATIONEEL LEIDERSCHAP</a:t>
            </a:r>
            <a:endParaRPr lang="en-US" sz="3100" dirty="0"/>
          </a:p>
        </p:txBody>
      </p:sp>
      <p:sp>
        <p:nvSpPr>
          <p:cNvPr id="4" name="Text 1"/>
          <p:cNvSpPr/>
          <p:nvPr/>
        </p:nvSpPr>
        <p:spPr>
          <a:xfrm>
            <a:off x="896112" y="1977009"/>
            <a:ext cx="164592" cy="256032"/>
          </a:xfrm>
          <a:prstGeom prst="rect">
            <a:avLst/>
          </a:prstGeom>
          <a:noFill/>
          <a:ln/>
        </p:spPr>
        <p:txBody>
          <a:bodyPr wrap="square" lIns="0" tIns="0" rIns="0" bIns="0" rtlCol="0" anchor="ctr"/>
          <a:lstStyle/>
          <a:p>
            <a:pPr marL="0" indent="0">
              <a:buNone/>
            </a:pPr>
            <a:r>
              <a:rPr lang="en-US" sz="1920" b="1" dirty="0">
                <a:solidFill>
                  <a:srgbClr val="F4C757"/>
                </a:solidFill>
                <a:latin typeface="Gill Sans MT" pitchFamily="34" charset="0"/>
                <a:ea typeface="Gill Sans MT" pitchFamily="34" charset="-122"/>
                <a:cs typeface="Gill Sans MT" pitchFamily="34" charset="-120"/>
              </a:rPr>
              <a:t>•</a:t>
            </a:r>
            <a:endParaRPr lang="en-US" sz="1920" dirty="0"/>
          </a:p>
        </p:txBody>
      </p:sp>
      <p:sp>
        <p:nvSpPr>
          <p:cNvPr id="5" name="Text 2"/>
          <p:cNvSpPr/>
          <p:nvPr/>
        </p:nvSpPr>
        <p:spPr>
          <a:xfrm>
            <a:off x="1170432" y="1719072"/>
            <a:ext cx="6263640" cy="1027938"/>
          </a:xfrm>
          <a:prstGeom prst="rect">
            <a:avLst/>
          </a:prstGeom>
          <a:noFill/>
          <a:ln/>
        </p:spPr>
        <p:txBody>
          <a:bodyPr wrap="square" lIns="0" tIns="0" rIns="0" bIns="0" rtlCol="0" anchor="ctr">
            <a:normAutofit/>
          </a:bodyPr>
          <a:lstStyle/>
          <a:p>
            <a:pPr marL="0" indent="0">
              <a:buNone/>
            </a:pPr>
            <a:r>
              <a:rPr lang="en-US" sz="1720" b="1" dirty="0">
                <a:solidFill>
                  <a:srgbClr val="FFFFFF"/>
                </a:solidFill>
                <a:latin typeface="Gill Sans MT" pitchFamily="34" charset="0"/>
                <a:ea typeface="Gill Sans MT" pitchFamily="34" charset="-122"/>
                <a:cs typeface="Gill Sans MT" pitchFamily="34" charset="-120"/>
              </a:rPr>
              <a:t>Coachen — </a:t>
            </a:r>
            <a:r>
              <a:rPr lang="en-US" sz="1720" dirty="0">
                <a:solidFill>
                  <a:srgbClr val="FFFFFF"/>
                </a:solidFill>
                <a:latin typeface="Gill Sans MT" pitchFamily="34" charset="0"/>
                <a:ea typeface="Gill Sans MT" pitchFamily="34" charset="-122"/>
                <a:cs typeface="Gill Sans MT" pitchFamily="34" charset="-120"/>
              </a:rPr>
              <a:t>vóór publicatie: kritische vragen stellen over context, risico en publieke interpretatie.</a:t>
            </a:r>
            <a:endParaRPr lang="en-US" sz="1720" dirty="0"/>
          </a:p>
        </p:txBody>
      </p:sp>
      <p:sp>
        <p:nvSpPr>
          <p:cNvPr id="6" name="Text 3"/>
          <p:cNvSpPr/>
          <p:nvPr/>
        </p:nvSpPr>
        <p:spPr>
          <a:xfrm>
            <a:off x="871293" y="3160395"/>
            <a:ext cx="164592" cy="256032"/>
          </a:xfrm>
          <a:prstGeom prst="rect">
            <a:avLst/>
          </a:prstGeom>
          <a:noFill/>
          <a:ln/>
        </p:spPr>
        <p:txBody>
          <a:bodyPr wrap="square" lIns="0" tIns="0" rIns="0" bIns="0" rtlCol="0" anchor="ctr"/>
          <a:lstStyle/>
          <a:p>
            <a:pPr marL="0" indent="0">
              <a:buNone/>
            </a:pPr>
            <a:r>
              <a:rPr lang="en-US" sz="1920" b="1" dirty="0">
                <a:solidFill>
                  <a:srgbClr val="F4C757"/>
                </a:solidFill>
                <a:latin typeface="Gill Sans MT" pitchFamily="34" charset="0"/>
                <a:ea typeface="Gill Sans MT" pitchFamily="34" charset="-122"/>
                <a:cs typeface="Gill Sans MT" pitchFamily="34" charset="-120"/>
              </a:rPr>
              <a:t>•</a:t>
            </a:r>
            <a:endParaRPr lang="en-US" sz="1920" dirty="0"/>
          </a:p>
        </p:txBody>
      </p:sp>
      <p:sp>
        <p:nvSpPr>
          <p:cNvPr id="7" name="Text 4"/>
          <p:cNvSpPr/>
          <p:nvPr/>
        </p:nvSpPr>
        <p:spPr>
          <a:xfrm>
            <a:off x="1170432" y="2902458"/>
            <a:ext cx="6263640" cy="1027938"/>
          </a:xfrm>
          <a:prstGeom prst="rect">
            <a:avLst/>
          </a:prstGeom>
          <a:noFill/>
          <a:ln/>
        </p:spPr>
        <p:txBody>
          <a:bodyPr wrap="square" lIns="0" tIns="0" rIns="0" bIns="0" rtlCol="0" anchor="ctr">
            <a:normAutofit/>
          </a:bodyPr>
          <a:lstStyle/>
          <a:p>
            <a:pPr marL="0" indent="0">
              <a:buNone/>
            </a:pPr>
            <a:r>
              <a:rPr lang="en-US" sz="1720" b="1" dirty="0">
                <a:solidFill>
                  <a:srgbClr val="FFFFFF"/>
                </a:solidFill>
                <a:latin typeface="Gill Sans MT" pitchFamily="34" charset="0"/>
                <a:ea typeface="Gill Sans MT" pitchFamily="34" charset="-122"/>
                <a:cs typeface="Gill Sans MT" pitchFamily="34" charset="-120"/>
              </a:rPr>
              <a:t>Instrueren — </a:t>
            </a:r>
            <a:r>
              <a:rPr lang="en-US" sz="1720" dirty="0">
                <a:solidFill>
                  <a:srgbClr val="FFFFFF"/>
                </a:solidFill>
                <a:latin typeface="Gill Sans MT" pitchFamily="34" charset="0"/>
                <a:ea typeface="Gill Sans MT" pitchFamily="34" charset="-122"/>
                <a:cs typeface="Gill Sans MT" pitchFamily="34" charset="-120"/>
              </a:rPr>
              <a:t>tijdens de crisis: advertentie stoppen, statement afstemmen en communicatie strak sturen.</a:t>
            </a:r>
            <a:endParaRPr lang="en-US" sz="1720" dirty="0"/>
          </a:p>
        </p:txBody>
      </p:sp>
      <p:sp>
        <p:nvSpPr>
          <p:cNvPr id="8" name="Text 5"/>
          <p:cNvSpPr/>
          <p:nvPr/>
        </p:nvSpPr>
        <p:spPr>
          <a:xfrm>
            <a:off x="896112" y="4315968"/>
            <a:ext cx="164592" cy="256032"/>
          </a:xfrm>
          <a:prstGeom prst="rect">
            <a:avLst/>
          </a:prstGeom>
          <a:noFill/>
          <a:ln/>
        </p:spPr>
        <p:txBody>
          <a:bodyPr wrap="square" lIns="0" tIns="0" rIns="0" bIns="0" rtlCol="0" anchor="ctr"/>
          <a:lstStyle/>
          <a:p>
            <a:pPr marL="0" indent="0">
              <a:buNone/>
            </a:pPr>
            <a:r>
              <a:rPr lang="en-US" sz="1920" b="1" dirty="0">
                <a:solidFill>
                  <a:srgbClr val="F4C757"/>
                </a:solidFill>
                <a:latin typeface="Gill Sans MT" pitchFamily="34" charset="0"/>
                <a:ea typeface="Gill Sans MT" pitchFamily="34" charset="-122"/>
                <a:cs typeface="Gill Sans MT" pitchFamily="34" charset="-120"/>
              </a:rPr>
              <a:t>•</a:t>
            </a:r>
            <a:endParaRPr lang="en-US" sz="1920" dirty="0"/>
          </a:p>
        </p:txBody>
      </p:sp>
      <p:sp>
        <p:nvSpPr>
          <p:cNvPr id="9" name="Text 6"/>
          <p:cNvSpPr/>
          <p:nvPr/>
        </p:nvSpPr>
        <p:spPr>
          <a:xfrm>
            <a:off x="1170432" y="4085844"/>
            <a:ext cx="6263640" cy="1027938"/>
          </a:xfrm>
          <a:prstGeom prst="rect">
            <a:avLst/>
          </a:prstGeom>
          <a:noFill/>
          <a:ln/>
        </p:spPr>
        <p:txBody>
          <a:bodyPr wrap="square" lIns="0" tIns="0" rIns="0" bIns="0" rtlCol="0" anchor="ctr">
            <a:normAutofit/>
          </a:bodyPr>
          <a:lstStyle/>
          <a:p>
            <a:pPr marL="0" indent="0">
              <a:buNone/>
            </a:pPr>
            <a:r>
              <a:rPr lang="en-US" sz="1720" b="1" dirty="0">
                <a:solidFill>
                  <a:srgbClr val="FFFFFF"/>
                </a:solidFill>
                <a:latin typeface="Gill Sans MT" pitchFamily="34" charset="0"/>
                <a:ea typeface="Gill Sans MT" pitchFamily="34" charset="-122"/>
                <a:cs typeface="Gill Sans MT" pitchFamily="34" charset="-120"/>
              </a:rPr>
              <a:t>Motiveren — </a:t>
            </a:r>
            <a:r>
              <a:rPr lang="en-US" sz="1720" dirty="0">
                <a:solidFill>
                  <a:srgbClr val="FFFFFF"/>
                </a:solidFill>
                <a:latin typeface="Gill Sans MT" pitchFamily="34" charset="0"/>
                <a:ea typeface="Gill Sans MT" pitchFamily="34" charset="-122"/>
                <a:cs typeface="Gill Sans MT" pitchFamily="34" charset="-120"/>
              </a:rPr>
              <a:t>tijdens herstel: rust houden en het team meenemen in het terugwinnen van vertrouwen.</a:t>
            </a:r>
            <a:endParaRPr lang="en-US" sz="1720" dirty="0"/>
          </a:p>
        </p:txBody>
      </p:sp>
      <p:sp>
        <p:nvSpPr>
          <p:cNvPr id="10" name="Text 7"/>
          <p:cNvSpPr/>
          <p:nvPr/>
        </p:nvSpPr>
        <p:spPr>
          <a:xfrm>
            <a:off x="890888" y="5499354"/>
            <a:ext cx="164592" cy="256032"/>
          </a:xfrm>
          <a:prstGeom prst="rect">
            <a:avLst/>
          </a:prstGeom>
          <a:noFill/>
          <a:ln/>
        </p:spPr>
        <p:txBody>
          <a:bodyPr wrap="square" lIns="0" tIns="0" rIns="0" bIns="0" rtlCol="0" anchor="ctr"/>
          <a:lstStyle/>
          <a:p>
            <a:pPr marL="0" indent="0">
              <a:buNone/>
            </a:pPr>
            <a:r>
              <a:rPr lang="en-US" sz="1920" b="1" dirty="0">
                <a:solidFill>
                  <a:srgbClr val="F4C757"/>
                </a:solidFill>
                <a:latin typeface="Gill Sans MT" pitchFamily="34" charset="0"/>
                <a:ea typeface="Gill Sans MT" pitchFamily="34" charset="-122"/>
                <a:cs typeface="Gill Sans MT" pitchFamily="34" charset="-120"/>
              </a:rPr>
              <a:t>•</a:t>
            </a:r>
            <a:endParaRPr lang="en-US" sz="1920" dirty="0"/>
          </a:p>
        </p:txBody>
      </p:sp>
      <p:sp>
        <p:nvSpPr>
          <p:cNvPr id="11" name="Text 8"/>
          <p:cNvSpPr/>
          <p:nvPr/>
        </p:nvSpPr>
        <p:spPr>
          <a:xfrm>
            <a:off x="1170432" y="5269230"/>
            <a:ext cx="6263640" cy="1027938"/>
          </a:xfrm>
          <a:prstGeom prst="rect">
            <a:avLst/>
          </a:prstGeom>
          <a:noFill/>
          <a:ln/>
        </p:spPr>
        <p:txBody>
          <a:bodyPr wrap="square" lIns="0" tIns="0" rIns="0" bIns="0" rtlCol="0" anchor="ctr">
            <a:normAutofit/>
          </a:bodyPr>
          <a:lstStyle/>
          <a:p>
            <a:pPr marL="0" indent="0">
              <a:buNone/>
            </a:pPr>
            <a:r>
              <a:rPr lang="en-US" sz="1720" b="1" dirty="0">
                <a:solidFill>
                  <a:srgbClr val="FFFFFF"/>
                </a:solidFill>
                <a:latin typeface="Gill Sans MT" pitchFamily="34" charset="0"/>
                <a:ea typeface="Gill Sans MT" pitchFamily="34" charset="-122"/>
                <a:cs typeface="Gill Sans MT" pitchFamily="34" charset="-120"/>
              </a:rPr>
              <a:t>Delegeren — </a:t>
            </a:r>
            <a:r>
              <a:rPr lang="en-US" sz="1720" dirty="0">
                <a:solidFill>
                  <a:srgbClr val="FFFFFF"/>
                </a:solidFill>
                <a:latin typeface="Gill Sans MT" pitchFamily="34" charset="0"/>
                <a:ea typeface="Gill Sans MT" pitchFamily="34" charset="-122"/>
                <a:cs typeface="Gill Sans MT" pitchFamily="34" charset="-120"/>
              </a:rPr>
              <a:t>is hier minder passend, omdat een gevoelige reputatiecrisis juist om duidelijke sturing vraagt.</a:t>
            </a:r>
            <a:endParaRPr lang="en-US" sz="1720" dirty="0"/>
          </a:p>
        </p:txBody>
      </p:sp>
      <p:sp>
        <p:nvSpPr>
          <p:cNvPr id="12" name="Text 9"/>
          <p:cNvSpPr/>
          <p:nvPr/>
        </p:nvSpPr>
        <p:spPr>
          <a:xfrm>
            <a:off x="7818120" y="1783080"/>
            <a:ext cx="2971800" cy="228600"/>
          </a:xfrm>
          <a:prstGeom prst="rect">
            <a:avLst/>
          </a:prstGeom>
          <a:noFill/>
          <a:ln/>
        </p:spPr>
        <p:txBody>
          <a:bodyPr wrap="square" lIns="0" tIns="0" rIns="0" bIns="0" rtlCol="0" anchor="ctr"/>
          <a:lstStyle/>
          <a:p>
            <a:pPr marL="0" indent="0">
              <a:buNone/>
            </a:pPr>
            <a:r>
              <a:rPr lang="en-US" sz="1200" b="1" dirty="0">
                <a:solidFill>
                  <a:srgbClr val="F4C757"/>
                </a:solidFill>
                <a:latin typeface="Gill Sans MT" pitchFamily="34" charset="0"/>
                <a:ea typeface="Gill Sans MT" pitchFamily="34" charset="-122"/>
                <a:cs typeface="Gill Sans MT" pitchFamily="34" charset="-120"/>
              </a:rPr>
              <a:t>OFFICIELE REACTIE</a:t>
            </a:r>
            <a:endParaRPr lang="en-US" sz="1200" dirty="0"/>
          </a:p>
        </p:txBody>
      </p:sp>
      <p:sp>
        <p:nvSpPr>
          <p:cNvPr id="13" name="Text 10"/>
          <p:cNvSpPr/>
          <p:nvPr/>
        </p:nvSpPr>
        <p:spPr>
          <a:xfrm>
            <a:off x="7818120" y="2057400"/>
            <a:ext cx="3154680" cy="2011680"/>
          </a:xfrm>
          <a:prstGeom prst="rect">
            <a:avLst/>
          </a:prstGeom>
          <a:noFill/>
          <a:ln/>
        </p:spPr>
        <p:txBody>
          <a:bodyPr wrap="square" lIns="0" tIns="0" rIns="0" bIns="0" rtlCol="0" anchor="ctr">
            <a:normAutofit/>
          </a:bodyPr>
          <a:lstStyle/>
          <a:p>
            <a:pPr marL="0" indent="0" algn="l">
              <a:buNone/>
            </a:pPr>
            <a:r>
              <a:rPr lang="en-US" sz="1800" i="1" dirty="0">
                <a:solidFill>
                  <a:srgbClr val="FFFFFF"/>
                </a:solidFill>
                <a:latin typeface="Gill Sans MT" pitchFamily="34" charset="0"/>
                <a:ea typeface="Gill Sans MT" pitchFamily="34" charset="-122"/>
                <a:cs typeface="Gill Sans MT" pitchFamily="34" charset="-120"/>
              </a:rPr>
              <a:t>"Clearly we missed the mark, and we apologize.</a:t>
            </a:r>
            <a:endParaRPr lang="en-US" sz="1800" dirty="0"/>
          </a:p>
          <a:p>
            <a:pPr marL="0" indent="0" algn="l">
              <a:buNone/>
            </a:pPr>
            <a:r>
              <a:rPr lang="en-US" sz="1800" i="1" dirty="0">
                <a:solidFill>
                  <a:srgbClr val="FFFFFF"/>
                </a:solidFill>
                <a:latin typeface="Gill Sans MT" pitchFamily="34" charset="0"/>
                <a:ea typeface="Gill Sans MT" pitchFamily="34" charset="-122"/>
                <a:cs typeface="Gill Sans MT" pitchFamily="34" charset="-120"/>
              </a:rPr>
              <a:t>We are removing the content and halting any further rollout."</a:t>
            </a:r>
            <a:endParaRPr lang="en-US" sz="1800" dirty="0"/>
          </a:p>
        </p:txBody>
      </p:sp>
      <p:sp>
        <p:nvSpPr>
          <p:cNvPr id="14" name="Text 11"/>
          <p:cNvSpPr/>
          <p:nvPr/>
        </p:nvSpPr>
        <p:spPr>
          <a:xfrm>
            <a:off x="7818120" y="4315968"/>
            <a:ext cx="2468880" cy="201168"/>
          </a:xfrm>
          <a:prstGeom prst="rect">
            <a:avLst/>
          </a:prstGeom>
          <a:noFill/>
          <a:ln/>
        </p:spPr>
        <p:txBody>
          <a:bodyPr wrap="square" lIns="0" tIns="0" rIns="0" bIns="0" rtlCol="0" anchor="ctr"/>
          <a:lstStyle/>
          <a:p>
            <a:pPr marL="0" indent="0">
              <a:buNone/>
            </a:pPr>
            <a:r>
              <a:rPr lang="en-US" sz="1200" b="1" dirty="0">
                <a:solidFill>
                  <a:srgbClr val="F4C757"/>
                </a:solidFill>
                <a:latin typeface="Gill Sans MT" pitchFamily="34" charset="0"/>
                <a:ea typeface="Gill Sans MT" pitchFamily="34" charset="-122"/>
                <a:cs typeface="Gill Sans MT" pitchFamily="34" charset="-120"/>
              </a:rPr>
              <a:t>— Pepsi, 5 april 2017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21325"/>
        </a:solidFill>
        <a:effectLst/>
      </p:bgPr>
    </p:bg>
    <p:spTree>
      <p:nvGrpSpPr>
        <p:cNvPr id="1" name=""/>
        <p:cNvGrpSpPr/>
        <p:nvPr/>
      </p:nvGrpSpPr>
      <p:grpSpPr>
        <a:xfrm>
          <a:off x="0" y="0"/>
          <a:ext cx="0" cy="0"/>
          <a:chOff x="0" y="0"/>
          <a:chExt cx="0" cy="0"/>
        </a:xfrm>
      </p:grpSpPr>
      <p:pic>
        <p:nvPicPr>
          <p:cNvPr id="2" name="Image 0" descr="/mnt/data/ws32_ppt/assets/image3.png"/>
          <p:cNvPicPr>
            <a:picLocks noChangeAspect="1"/>
          </p:cNvPicPr>
          <p:nvPr/>
        </p:nvPicPr>
        <p:blipFill>
          <a:blip r:embed="rId3"/>
          <a:stretch>
            <a:fillRect/>
          </a:stretch>
        </p:blipFill>
        <p:spPr>
          <a:xfrm>
            <a:off x="10817352" y="109728"/>
            <a:ext cx="822960" cy="822960"/>
          </a:xfrm>
          <a:prstGeom prst="rect">
            <a:avLst/>
          </a:prstGeom>
        </p:spPr>
      </p:pic>
      <p:sp>
        <p:nvSpPr>
          <p:cNvPr id="3" name="Text 0"/>
          <p:cNvSpPr/>
          <p:nvPr/>
        </p:nvSpPr>
        <p:spPr>
          <a:xfrm>
            <a:off x="530352" y="512064"/>
            <a:ext cx="6949440" cy="475488"/>
          </a:xfrm>
          <a:prstGeom prst="rect">
            <a:avLst/>
          </a:prstGeom>
          <a:noFill/>
          <a:ln/>
        </p:spPr>
        <p:txBody>
          <a:bodyPr wrap="square" lIns="0" tIns="0" rIns="0" bIns="0" rtlCol="0" anchor="ctr"/>
          <a:lstStyle/>
          <a:p>
            <a:pPr marL="0" indent="0" algn="ctr">
              <a:buNone/>
            </a:pPr>
            <a:r>
              <a:rPr lang="en-US" sz="3100" dirty="0">
                <a:solidFill>
                  <a:srgbClr val="FFFFFF"/>
                </a:solidFill>
                <a:latin typeface="Gill Sans MT" pitchFamily="34" charset="0"/>
                <a:ea typeface="Gill Sans MT" pitchFamily="34" charset="-122"/>
                <a:cs typeface="Gill Sans MT" pitchFamily="34" charset="-120"/>
              </a:rPr>
              <a:t>KEY TAKE-AWAYS &amp; CONCLUSIE</a:t>
            </a:r>
            <a:endParaRPr lang="en-US" sz="3100" dirty="0"/>
          </a:p>
        </p:txBody>
      </p:sp>
      <p:sp>
        <p:nvSpPr>
          <p:cNvPr id="4" name="Text 1"/>
          <p:cNvSpPr/>
          <p:nvPr/>
        </p:nvSpPr>
        <p:spPr>
          <a:xfrm>
            <a:off x="896112" y="2066544"/>
            <a:ext cx="164592" cy="256032"/>
          </a:xfrm>
          <a:prstGeom prst="rect">
            <a:avLst/>
          </a:prstGeom>
          <a:noFill/>
          <a:ln/>
        </p:spPr>
        <p:txBody>
          <a:bodyPr wrap="square" lIns="0" tIns="0" rIns="0" bIns="0" rtlCol="0" anchor="ctr"/>
          <a:lstStyle/>
          <a:p>
            <a:pPr marL="0" indent="0">
              <a:buNone/>
            </a:pPr>
            <a:r>
              <a:rPr lang="en-US" sz="2000" b="1" dirty="0">
                <a:solidFill>
                  <a:srgbClr val="F4C757"/>
                </a:solidFill>
                <a:latin typeface="Gill Sans MT" pitchFamily="34" charset="0"/>
                <a:ea typeface="Gill Sans MT" pitchFamily="34" charset="-122"/>
                <a:cs typeface="Gill Sans MT" pitchFamily="34" charset="-120"/>
              </a:rPr>
              <a:t>•</a:t>
            </a:r>
            <a:endParaRPr lang="en-US" sz="2000" dirty="0"/>
          </a:p>
        </p:txBody>
      </p:sp>
      <p:sp>
        <p:nvSpPr>
          <p:cNvPr id="5" name="Text 2"/>
          <p:cNvSpPr/>
          <p:nvPr/>
        </p:nvSpPr>
        <p:spPr>
          <a:xfrm>
            <a:off x="1170432" y="1783080"/>
            <a:ext cx="6492240" cy="800100"/>
          </a:xfrm>
          <a:prstGeom prst="rect">
            <a:avLst/>
          </a:prstGeom>
          <a:noFill/>
          <a:ln/>
        </p:spPr>
        <p:txBody>
          <a:bodyPr wrap="square" lIns="0" tIns="0" rIns="0" bIns="0" rtlCol="0" anchor="ctr">
            <a:normAutofit/>
          </a:bodyPr>
          <a:lstStyle/>
          <a:p>
            <a:pPr marL="0" indent="0">
              <a:buNone/>
            </a:pPr>
            <a:r>
              <a:rPr lang="en-US" sz="1800" dirty="0">
                <a:solidFill>
                  <a:srgbClr val="FFFFFF"/>
                </a:solidFill>
                <a:latin typeface="Gill Sans MT" pitchFamily="34" charset="0"/>
                <a:ea typeface="Gill Sans MT" pitchFamily="34" charset="-122"/>
                <a:cs typeface="Gill Sans MT" pitchFamily="34" charset="-120"/>
              </a:rPr>
              <a:t>Publieke interpretatie is belangrijker dan alleen een goede intentie.</a:t>
            </a:r>
            <a:endParaRPr lang="en-US" sz="1800" dirty="0"/>
          </a:p>
        </p:txBody>
      </p:sp>
      <p:sp>
        <p:nvSpPr>
          <p:cNvPr id="6" name="Text 3"/>
          <p:cNvSpPr/>
          <p:nvPr/>
        </p:nvSpPr>
        <p:spPr>
          <a:xfrm>
            <a:off x="896112" y="2921508"/>
            <a:ext cx="164592" cy="256032"/>
          </a:xfrm>
          <a:prstGeom prst="rect">
            <a:avLst/>
          </a:prstGeom>
          <a:noFill/>
          <a:ln/>
        </p:spPr>
        <p:txBody>
          <a:bodyPr wrap="square" lIns="0" tIns="0" rIns="0" bIns="0" rtlCol="0" anchor="ctr"/>
          <a:lstStyle/>
          <a:p>
            <a:pPr marL="0" indent="0">
              <a:buNone/>
            </a:pPr>
            <a:r>
              <a:rPr lang="en-US" sz="2000" b="1" dirty="0">
                <a:solidFill>
                  <a:srgbClr val="F4C757"/>
                </a:solidFill>
                <a:latin typeface="Gill Sans MT" pitchFamily="34" charset="0"/>
                <a:ea typeface="Gill Sans MT" pitchFamily="34" charset="-122"/>
                <a:cs typeface="Gill Sans MT" pitchFamily="34" charset="-120"/>
              </a:rPr>
              <a:t>•</a:t>
            </a:r>
            <a:endParaRPr lang="en-US" sz="2000" dirty="0"/>
          </a:p>
        </p:txBody>
      </p:sp>
      <p:sp>
        <p:nvSpPr>
          <p:cNvPr id="7" name="Text 4"/>
          <p:cNvSpPr/>
          <p:nvPr/>
        </p:nvSpPr>
        <p:spPr>
          <a:xfrm>
            <a:off x="1170432" y="2784348"/>
            <a:ext cx="6492240" cy="800100"/>
          </a:xfrm>
          <a:prstGeom prst="rect">
            <a:avLst/>
          </a:prstGeom>
          <a:noFill/>
          <a:ln/>
        </p:spPr>
        <p:txBody>
          <a:bodyPr wrap="square" lIns="0" tIns="0" rIns="0" bIns="0" rtlCol="0" anchor="ctr">
            <a:normAutofit/>
          </a:bodyPr>
          <a:lstStyle/>
          <a:p>
            <a:pPr marL="0" indent="0">
              <a:buNone/>
            </a:pPr>
            <a:r>
              <a:rPr lang="en-US" sz="1800" dirty="0">
                <a:solidFill>
                  <a:srgbClr val="FFFFFF"/>
                </a:solidFill>
                <a:latin typeface="Gill Sans MT" pitchFamily="34" charset="0"/>
                <a:ea typeface="Gill Sans MT" pitchFamily="34" charset="-122"/>
                <a:cs typeface="Gill Sans MT" pitchFamily="34" charset="-120"/>
              </a:rPr>
              <a:t>Crisismanagement begint al vóór publicatie, in toetsing en besluitvorming.</a:t>
            </a:r>
            <a:endParaRPr lang="en-US" sz="1800" dirty="0"/>
          </a:p>
        </p:txBody>
      </p:sp>
      <p:sp>
        <p:nvSpPr>
          <p:cNvPr id="8" name="Text 5"/>
          <p:cNvSpPr/>
          <p:nvPr/>
        </p:nvSpPr>
        <p:spPr>
          <a:xfrm>
            <a:off x="896112" y="4057650"/>
            <a:ext cx="164592" cy="256032"/>
          </a:xfrm>
          <a:prstGeom prst="rect">
            <a:avLst/>
          </a:prstGeom>
          <a:noFill/>
          <a:ln/>
        </p:spPr>
        <p:txBody>
          <a:bodyPr wrap="square" lIns="0" tIns="0" rIns="0" bIns="0" rtlCol="0" anchor="ctr"/>
          <a:lstStyle/>
          <a:p>
            <a:pPr marL="0" indent="0">
              <a:buNone/>
            </a:pPr>
            <a:r>
              <a:rPr lang="en-US" sz="2000" b="1" dirty="0">
                <a:solidFill>
                  <a:srgbClr val="F4C757"/>
                </a:solidFill>
                <a:latin typeface="Gill Sans MT" pitchFamily="34" charset="0"/>
                <a:ea typeface="Gill Sans MT" pitchFamily="34" charset="-122"/>
                <a:cs typeface="Gill Sans MT" pitchFamily="34" charset="-120"/>
              </a:rPr>
              <a:t>•</a:t>
            </a:r>
            <a:endParaRPr lang="en-US" sz="2000" dirty="0"/>
          </a:p>
        </p:txBody>
      </p:sp>
      <p:sp>
        <p:nvSpPr>
          <p:cNvPr id="9" name="Text 6"/>
          <p:cNvSpPr/>
          <p:nvPr/>
        </p:nvSpPr>
        <p:spPr>
          <a:xfrm>
            <a:off x="1170432" y="3785616"/>
            <a:ext cx="6492240" cy="800100"/>
          </a:xfrm>
          <a:prstGeom prst="rect">
            <a:avLst/>
          </a:prstGeom>
          <a:noFill/>
          <a:ln/>
        </p:spPr>
        <p:txBody>
          <a:bodyPr wrap="square" lIns="0" tIns="0" rIns="0" bIns="0" rtlCol="0" anchor="ctr">
            <a:normAutofit/>
          </a:bodyPr>
          <a:lstStyle/>
          <a:p>
            <a:pPr marL="0" indent="0">
              <a:buNone/>
            </a:pPr>
            <a:r>
              <a:rPr lang="en-US" sz="1800" dirty="0">
                <a:solidFill>
                  <a:srgbClr val="FFFFFF"/>
                </a:solidFill>
                <a:latin typeface="Gill Sans MT" pitchFamily="34" charset="0"/>
                <a:ea typeface="Gill Sans MT" pitchFamily="34" charset="-122"/>
                <a:cs typeface="Gill Sans MT" pitchFamily="34" charset="-120"/>
              </a:rPr>
              <a:t>Snel reageren helpt, maar voorkomt niet alle reputatieschade.</a:t>
            </a:r>
            <a:endParaRPr lang="en-US" sz="1800" dirty="0"/>
          </a:p>
        </p:txBody>
      </p:sp>
      <p:sp>
        <p:nvSpPr>
          <p:cNvPr id="10" name="Text 7"/>
          <p:cNvSpPr/>
          <p:nvPr/>
        </p:nvSpPr>
        <p:spPr>
          <a:xfrm>
            <a:off x="896112" y="4924044"/>
            <a:ext cx="164592" cy="256032"/>
          </a:xfrm>
          <a:prstGeom prst="rect">
            <a:avLst/>
          </a:prstGeom>
          <a:noFill/>
          <a:ln/>
        </p:spPr>
        <p:txBody>
          <a:bodyPr wrap="square" lIns="0" tIns="0" rIns="0" bIns="0" rtlCol="0" anchor="ctr"/>
          <a:lstStyle/>
          <a:p>
            <a:pPr marL="0" indent="0">
              <a:buNone/>
            </a:pPr>
            <a:r>
              <a:rPr lang="en-US" sz="2000" b="1" dirty="0">
                <a:solidFill>
                  <a:srgbClr val="F4C757"/>
                </a:solidFill>
                <a:latin typeface="Gill Sans MT" pitchFamily="34" charset="0"/>
                <a:ea typeface="Gill Sans MT" pitchFamily="34" charset="-122"/>
                <a:cs typeface="Gill Sans MT" pitchFamily="34" charset="-120"/>
              </a:rPr>
              <a:t>•</a:t>
            </a:r>
            <a:endParaRPr lang="en-US" sz="2000" dirty="0"/>
          </a:p>
        </p:txBody>
      </p:sp>
      <p:sp>
        <p:nvSpPr>
          <p:cNvPr id="11" name="Text 8"/>
          <p:cNvSpPr/>
          <p:nvPr/>
        </p:nvSpPr>
        <p:spPr>
          <a:xfrm>
            <a:off x="1170432" y="4786884"/>
            <a:ext cx="6492240" cy="800100"/>
          </a:xfrm>
          <a:prstGeom prst="rect">
            <a:avLst/>
          </a:prstGeom>
          <a:noFill/>
          <a:ln/>
        </p:spPr>
        <p:txBody>
          <a:bodyPr wrap="square" lIns="0" tIns="0" rIns="0" bIns="0" rtlCol="0" anchor="ctr">
            <a:normAutofit/>
          </a:bodyPr>
          <a:lstStyle/>
          <a:p>
            <a:pPr marL="0" indent="0">
              <a:buNone/>
            </a:pPr>
            <a:r>
              <a:rPr lang="en-US" sz="1800" dirty="0">
                <a:solidFill>
                  <a:srgbClr val="FFFFFF"/>
                </a:solidFill>
                <a:latin typeface="Gill Sans MT" pitchFamily="34" charset="0"/>
                <a:ea typeface="Gill Sans MT" pitchFamily="34" charset="-122"/>
                <a:cs typeface="Gill Sans MT" pitchFamily="34" charset="-120"/>
              </a:rPr>
              <a:t>Conclusie: Pepsi reageerde snel, maar beter luisteren en vooraf toetsen had de crisis waarschijnlijk beperkt.</a:t>
            </a:r>
            <a:endParaRPr lang="en-US" sz="1800" dirty="0"/>
          </a:p>
        </p:txBody>
      </p:sp>
      <p:pic>
        <p:nvPicPr>
          <p:cNvPr id="12" name="Image 1" descr="/mnt/data/ws32_ppt/assets/pepsi_can.webp"/>
          <p:cNvPicPr>
            <a:picLocks noChangeAspect="1"/>
          </p:cNvPicPr>
          <p:nvPr/>
        </p:nvPicPr>
        <p:blipFill>
          <a:blip r:embed="rId4"/>
          <a:stretch>
            <a:fillRect/>
          </a:stretch>
        </p:blipFill>
        <p:spPr>
          <a:xfrm>
            <a:off x="8503920" y="2194560"/>
            <a:ext cx="2377440" cy="23774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913</Words>
  <Application>Microsoft Office PowerPoint</Application>
  <PresentationFormat>Breedbeeld</PresentationFormat>
  <Paragraphs>45</Paragraphs>
  <Slides>4</Slides>
  <Notes>4</Notes>
  <HiddenSlides>0</HiddenSlides>
  <MMClips>0</MMClips>
  <ScaleCrop>false</ScaleCrop>
  <HeadingPairs>
    <vt:vector size="6" baseType="variant">
      <vt:variant>
        <vt:lpstr>Gebruikte lettertypen</vt:lpstr>
      </vt:variant>
      <vt:variant>
        <vt:i4>2</vt:i4>
      </vt:variant>
      <vt:variant>
        <vt:lpstr>Thema</vt:lpstr>
      </vt:variant>
      <vt:variant>
        <vt:i4>1</vt:i4>
      </vt:variant>
      <vt:variant>
        <vt:lpstr>Diatitels</vt:lpstr>
      </vt:variant>
      <vt:variant>
        <vt:i4>4</vt:i4>
      </vt:variant>
    </vt:vector>
  </HeadingPairs>
  <TitlesOfParts>
    <vt:vector size="7" baseType="lpstr">
      <vt:lpstr>Arial</vt:lpstr>
      <vt:lpstr>Gill Sans MT</vt:lpstr>
      <vt:lpstr>Office Theme</vt:lpstr>
      <vt:lpstr>PowerPoint-presentatie</vt:lpstr>
      <vt:lpstr>PowerPoint-presentatie</vt:lpstr>
      <vt:lpstr>PowerPoint-presentatie</vt:lpstr>
      <vt:lpstr>PowerPoint-presentatie</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WS3.2 – Crisismanagement | Pepsi – Misguided Ad Campaign</dc:title>
  <dc:subject>WS3.2 Crisismanagement – Pepsi</dc:subject>
  <dc:creator>OpenAI</dc:creator>
  <cp:lastModifiedBy>Bavli Armanyous</cp:lastModifiedBy>
  <cp:revision>1</cp:revision>
  <dcterms:created xsi:type="dcterms:W3CDTF">2026-03-24T21:23:33Z</dcterms:created>
  <dcterms:modified xsi:type="dcterms:W3CDTF">2026-03-24T21:52:39Z</dcterms:modified>
</cp:coreProperties>
</file>