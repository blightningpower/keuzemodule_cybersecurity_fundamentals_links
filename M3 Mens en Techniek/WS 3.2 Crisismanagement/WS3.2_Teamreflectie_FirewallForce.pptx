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Bavli reflecteert dat tijdens de challenge vooral snelheid van handelen belangrijk was. Hij noemt ook samenwerking met Lucas en verbeteringen aan het BCP zoals MFA en noodprocedures. Achteraf zou hij eerder structuur aanbrengen en transparanter communiceren binnen de groep.
[Sources]
- Team Reflectieverslag 2.0 - Challenge M2.docx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Jonas beschrijft dat hij onverwacht in een onbekende groep terechtkwam en als voorzitter te veel tegelijk probeerde te doen. Zijn belangrijkste les is dat een crisisoverleg vraagt om structuur, rust en eigenaarschap per rol.
[Sources]
- Team Reflectieverslag 2.0 - Challenge M2.docx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Lucas geeft aan dat de gesprekken beter gingen zodra iedereen in zijn rol viel. Hij gebruikte het BCP als basis voor besluitvorming en zou achteraf meer diepgang en een duidelijkere gezamenlijke start willen.
[Sources]
- Team Reflectieverslag 2.0 - Challenge M2.docx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 groepsniveau kwamen vooral snelheid van handelen en samenwerking naar voren. De belangrijkste gezamenlijke les is dat een crisisaanpak beter werkt met duidelijke rollen, transparante communicatie en actief eigenaarschap.
[Sources]
- Team Reflectieverslag 2.0 - Challenge M2.docx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5254E"/>
          </a:solidFill>
          <a:ln w="12700">
            <a:solidFill>
              <a:srgbClr val="05254E"/>
            </a:solidFill>
            <a:prstDash val="solid"/>
          </a:ln>
        </p:spPr>
      </p:sp>
      <p:sp>
        <p:nvSpPr>
          <p:cNvPr id="3" name="Shape 1"/>
          <p:cNvSpPr/>
          <p:nvPr/>
        </p:nvSpPr>
        <p:spPr>
          <a:xfrm>
            <a:off x="0" y="1737360"/>
            <a:ext cx="12191695" cy="4069080"/>
          </a:xfrm>
          <a:prstGeom prst="rect">
            <a:avLst/>
          </a:prstGeom>
          <a:solidFill>
            <a:srgbClr val="6F7378">
              <a:alpha val="80000"/>
            </a:srgbClr>
          </a:solidFill>
          <a:ln w="12700">
            <a:solidFill>
              <a:srgbClr val="6F7378">
                <a:alpha val="0"/>
              </a:srgbClr>
            </a:solidFill>
            <a:prstDash val="solid"/>
          </a:ln>
        </p:spPr>
      </p:sp>
      <p:sp>
        <p:nvSpPr>
          <p:cNvPr id="4" name="Shape 2"/>
          <p:cNvSpPr/>
          <p:nvPr/>
        </p:nvSpPr>
        <p:spPr>
          <a:xfrm>
            <a:off x="0" y="5394960"/>
            <a:ext cx="12191695" cy="1463040"/>
          </a:xfrm>
          <a:prstGeom prst="rect">
            <a:avLst/>
          </a:prstGeom>
          <a:solidFill>
            <a:srgbClr val="8C633B"/>
          </a:solidFill>
          <a:ln w="12700">
            <a:solidFill>
              <a:srgbClr val="8C633B"/>
            </a:solidFill>
            <a:prstDash val="solid"/>
          </a:ln>
        </p:spPr>
      </p:sp>
      <p:sp>
        <p:nvSpPr>
          <p:cNvPr id="5" name="Shape 3"/>
          <p:cNvSpPr/>
          <p:nvPr/>
        </p:nvSpPr>
        <p:spPr>
          <a:xfrm>
            <a:off x="914400" y="914400"/>
            <a:ext cx="914400" cy="914400"/>
          </a:xfrm>
          <a:prstGeom prst="line">
            <a:avLst/>
          </a:prstGeom>
          <a:noFill/>
          <a:ln w="15240">
            <a:solidFill>
              <a:srgbClr val="6E4A2A">
                <a:alpha val="85000"/>
              </a:srgbClr>
            </a:solidFill>
            <a:prstDash val="solid"/>
          </a:ln>
        </p:spPr>
      </p:sp>
      <p:sp>
        <p:nvSpPr>
          <p:cNvPr id="6" name="Shape 4"/>
          <p:cNvSpPr/>
          <p:nvPr/>
        </p:nvSpPr>
        <p:spPr>
          <a:xfrm>
            <a:off x="914400" y="914400"/>
            <a:ext cx="914400" cy="914400"/>
          </a:xfrm>
          <a:prstGeom prst="line">
            <a:avLst/>
          </a:prstGeom>
          <a:noFill/>
          <a:ln w="15240">
            <a:solidFill>
              <a:srgbClr val="6E4A2A">
                <a:alpha val="85000"/>
              </a:srgbClr>
            </a:solidFill>
            <a:prstDash val="solid"/>
          </a:ln>
        </p:spPr>
      </p:sp>
      <p:sp>
        <p:nvSpPr>
          <p:cNvPr id="7" name="Shape 5"/>
          <p:cNvSpPr/>
          <p:nvPr/>
        </p:nvSpPr>
        <p:spPr>
          <a:xfrm>
            <a:off x="914400" y="914400"/>
            <a:ext cx="914400" cy="914400"/>
          </a:xfrm>
          <a:prstGeom prst="line">
            <a:avLst/>
          </a:prstGeom>
          <a:noFill/>
          <a:ln w="15240">
            <a:solidFill>
              <a:srgbClr val="6E4A2A">
                <a:alpha val="85000"/>
              </a:srgbClr>
            </a:solidFill>
            <a:prstDash val="solid"/>
          </a:ln>
        </p:spPr>
      </p:sp>
      <p:sp>
        <p:nvSpPr>
          <p:cNvPr id="8" name="Shape 6"/>
          <p:cNvSpPr/>
          <p:nvPr/>
        </p:nvSpPr>
        <p:spPr>
          <a:xfrm>
            <a:off x="914400" y="914400"/>
            <a:ext cx="914400" cy="914400"/>
          </a:xfrm>
          <a:prstGeom prst="line">
            <a:avLst/>
          </a:prstGeom>
          <a:noFill/>
          <a:ln w="15240">
            <a:solidFill>
              <a:srgbClr val="6E4A2A">
                <a:alpha val="85000"/>
              </a:srgbClr>
            </a:solidFill>
            <a:prstDash val="solid"/>
          </a:ln>
        </p:spPr>
      </p:sp>
      <p:sp>
        <p:nvSpPr>
          <p:cNvPr id="9" name="Shape 7"/>
          <p:cNvSpPr/>
          <p:nvPr/>
        </p:nvSpPr>
        <p:spPr>
          <a:xfrm>
            <a:off x="914400" y="914400"/>
            <a:ext cx="914400" cy="914400"/>
          </a:xfrm>
          <a:prstGeom prst="line">
            <a:avLst/>
          </a:prstGeom>
          <a:noFill/>
          <a:ln w="15240">
            <a:solidFill>
              <a:srgbClr val="6E4A2A">
                <a:alpha val="85000"/>
              </a:srgbClr>
            </a:solidFill>
            <a:prstDash val="solid"/>
          </a:ln>
        </p:spPr>
      </p:sp>
      <p:sp>
        <p:nvSpPr>
          <p:cNvPr id="10" name="Shape 8"/>
          <p:cNvSpPr/>
          <p:nvPr/>
        </p:nvSpPr>
        <p:spPr>
          <a:xfrm>
            <a:off x="914400" y="914400"/>
            <a:ext cx="914400" cy="914400"/>
          </a:xfrm>
          <a:prstGeom prst="line">
            <a:avLst/>
          </a:prstGeom>
          <a:noFill/>
          <a:ln w="15240">
            <a:solidFill>
              <a:srgbClr val="6E4A2A">
                <a:alpha val="85000"/>
              </a:srgbClr>
            </a:solidFill>
            <a:prstDash val="solid"/>
          </a:ln>
        </p:spPr>
      </p:sp>
      <p:sp>
        <p:nvSpPr>
          <p:cNvPr id="11" name="Shape 9"/>
          <p:cNvSpPr/>
          <p:nvPr/>
        </p:nvSpPr>
        <p:spPr>
          <a:xfrm>
            <a:off x="914400" y="914400"/>
            <a:ext cx="914400" cy="914400"/>
          </a:xfrm>
          <a:prstGeom prst="line">
            <a:avLst/>
          </a:prstGeom>
          <a:noFill/>
          <a:ln w="15240">
            <a:solidFill>
              <a:srgbClr val="6E4A2A">
                <a:alpha val="85000"/>
              </a:srgbClr>
            </a:solidFill>
            <a:prstDash val="solid"/>
          </a:ln>
        </p:spPr>
      </p:sp>
      <p:sp>
        <p:nvSpPr>
          <p:cNvPr id="12" name="Shape 10"/>
          <p:cNvSpPr/>
          <p:nvPr/>
        </p:nvSpPr>
        <p:spPr>
          <a:xfrm>
            <a:off x="914400" y="914400"/>
            <a:ext cx="914400" cy="914400"/>
          </a:xfrm>
          <a:prstGeom prst="line">
            <a:avLst/>
          </a:prstGeom>
          <a:noFill/>
          <a:ln w="15240">
            <a:solidFill>
              <a:srgbClr val="6E4A2A">
                <a:alpha val="85000"/>
              </a:srgbClr>
            </a:solidFill>
            <a:prstDash val="solid"/>
          </a:ln>
        </p:spPr>
      </p:sp>
      <p:sp>
        <p:nvSpPr>
          <p:cNvPr id="13" name="Shape 11"/>
          <p:cNvSpPr/>
          <p:nvPr/>
        </p:nvSpPr>
        <p:spPr>
          <a:xfrm>
            <a:off x="914400" y="914400"/>
            <a:ext cx="914400" cy="914400"/>
          </a:xfrm>
          <a:prstGeom prst="line">
            <a:avLst/>
          </a:prstGeom>
          <a:noFill/>
          <a:ln w="15240">
            <a:solidFill>
              <a:srgbClr val="6E4A2A">
                <a:alpha val="85000"/>
              </a:srgbClr>
            </a:solidFill>
            <a:prstDash val="solid"/>
          </a:ln>
        </p:spPr>
      </p:sp>
      <p:sp>
        <p:nvSpPr>
          <p:cNvPr id="14" name="Shape 12"/>
          <p:cNvSpPr/>
          <p:nvPr/>
        </p:nvSpPr>
        <p:spPr>
          <a:xfrm>
            <a:off x="914400" y="914400"/>
            <a:ext cx="914400" cy="914400"/>
          </a:xfrm>
          <a:prstGeom prst="line">
            <a:avLst/>
          </a:prstGeom>
          <a:noFill/>
          <a:ln w="15240">
            <a:solidFill>
              <a:srgbClr val="6E4A2A">
                <a:alpha val="85000"/>
              </a:srgbClr>
            </a:solidFill>
            <a:prstDash val="solid"/>
          </a:ln>
        </p:spPr>
      </p:sp>
      <p:sp>
        <p:nvSpPr>
          <p:cNvPr id="15" name="Shape 13"/>
          <p:cNvSpPr/>
          <p:nvPr/>
        </p:nvSpPr>
        <p:spPr>
          <a:xfrm>
            <a:off x="914400" y="914400"/>
            <a:ext cx="914400" cy="914400"/>
          </a:xfrm>
          <a:prstGeom prst="line">
            <a:avLst/>
          </a:prstGeom>
          <a:noFill/>
          <a:ln w="15240">
            <a:solidFill>
              <a:srgbClr val="6E4A2A">
                <a:alpha val="85000"/>
              </a:srgbClr>
            </a:solidFill>
            <a:prstDash val="solid"/>
          </a:ln>
        </p:spPr>
      </p:sp>
      <p:sp>
        <p:nvSpPr>
          <p:cNvPr id="16" name="Shape 14"/>
          <p:cNvSpPr/>
          <p:nvPr/>
        </p:nvSpPr>
        <p:spPr>
          <a:xfrm>
            <a:off x="914400" y="914400"/>
            <a:ext cx="914400" cy="914400"/>
          </a:xfrm>
          <a:prstGeom prst="line">
            <a:avLst/>
          </a:prstGeom>
          <a:noFill/>
          <a:ln w="15240">
            <a:solidFill>
              <a:srgbClr val="6E4A2A">
                <a:alpha val="85000"/>
              </a:srgbClr>
            </a:solidFill>
            <a:prstDash val="solid"/>
          </a:ln>
        </p:spPr>
      </p:sp>
      <p:sp>
        <p:nvSpPr>
          <p:cNvPr id="17" name="Shape 15"/>
          <p:cNvSpPr/>
          <p:nvPr/>
        </p:nvSpPr>
        <p:spPr>
          <a:xfrm>
            <a:off x="914400" y="914400"/>
            <a:ext cx="914400" cy="914400"/>
          </a:xfrm>
          <a:prstGeom prst="line">
            <a:avLst/>
          </a:prstGeom>
          <a:noFill/>
          <a:ln w="15240">
            <a:solidFill>
              <a:srgbClr val="6E4A2A">
                <a:alpha val="85000"/>
              </a:srgbClr>
            </a:solidFill>
            <a:prstDash val="solid"/>
          </a:ln>
        </p:spPr>
      </p:sp>
      <p:sp>
        <p:nvSpPr>
          <p:cNvPr id="18" name="Shape 16"/>
          <p:cNvSpPr/>
          <p:nvPr/>
        </p:nvSpPr>
        <p:spPr>
          <a:xfrm>
            <a:off x="914400" y="914400"/>
            <a:ext cx="914400" cy="914400"/>
          </a:xfrm>
          <a:prstGeom prst="line">
            <a:avLst/>
          </a:prstGeom>
          <a:noFill/>
          <a:ln w="15240">
            <a:solidFill>
              <a:srgbClr val="6E4A2A">
                <a:alpha val="85000"/>
              </a:srgbClr>
            </a:solidFill>
            <a:prstDash val="solid"/>
          </a:ln>
        </p:spPr>
      </p:sp>
      <p:sp>
        <p:nvSpPr>
          <p:cNvPr id="19" name="Shape 17"/>
          <p:cNvSpPr/>
          <p:nvPr/>
        </p:nvSpPr>
        <p:spPr>
          <a:xfrm>
            <a:off x="914400" y="914400"/>
            <a:ext cx="914400" cy="914400"/>
          </a:xfrm>
          <a:prstGeom prst="line">
            <a:avLst/>
          </a:prstGeom>
          <a:noFill/>
          <a:ln w="15240">
            <a:solidFill>
              <a:srgbClr val="6E4A2A">
                <a:alpha val="85000"/>
              </a:srgbClr>
            </a:solidFill>
            <a:prstDash val="solid"/>
          </a:ln>
        </p:spPr>
      </p:sp>
      <p:sp>
        <p:nvSpPr>
          <p:cNvPr id="20" name="Shape 18"/>
          <p:cNvSpPr/>
          <p:nvPr/>
        </p:nvSpPr>
        <p:spPr>
          <a:xfrm>
            <a:off x="914400" y="914400"/>
            <a:ext cx="914400" cy="914400"/>
          </a:xfrm>
          <a:prstGeom prst="line">
            <a:avLst/>
          </a:prstGeom>
          <a:noFill/>
          <a:ln w="15240">
            <a:solidFill>
              <a:srgbClr val="6E4A2A">
                <a:alpha val="85000"/>
              </a:srgbClr>
            </a:solidFill>
            <a:prstDash val="solid"/>
          </a:ln>
        </p:spPr>
      </p:sp>
      <p:sp>
        <p:nvSpPr>
          <p:cNvPr id="21" name="Shape 19"/>
          <p:cNvSpPr/>
          <p:nvPr/>
        </p:nvSpPr>
        <p:spPr>
          <a:xfrm>
            <a:off x="914400" y="914400"/>
            <a:ext cx="914400" cy="914400"/>
          </a:xfrm>
          <a:prstGeom prst="line">
            <a:avLst/>
          </a:prstGeom>
          <a:noFill/>
          <a:ln w="15240">
            <a:solidFill>
              <a:srgbClr val="6E4A2A">
                <a:alpha val="85000"/>
              </a:srgbClr>
            </a:solidFill>
            <a:prstDash val="solid"/>
          </a:ln>
        </p:spPr>
      </p:sp>
      <p:sp>
        <p:nvSpPr>
          <p:cNvPr id="22" name="Shape 20"/>
          <p:cNvSpPr/>
          <p:nvPr/>
        </p:nvSpPr>
        <p:spPr>
          <a:xfrm>
            <a:off x="914400" y="914400"/>
            <a:ext cx="914400" cy="914400"/>
          </a:xfrm>
          <a:prstGeom prst="line">
            <a:avLst/>
          </a:prstGeom>
          <a:noFill/>
          <a:ln w="15240">
            <a:solidFill>
              <a:srgbClr val="6E4A2A">
                <a:alpha val="85000"/>
              </a:srgbClr>
            </a:solidFill>
            <a:prstDash val="solid"/>
          </a:ln>
        </p:spPr>
      </p:sp>
      <p:sp>
        <p:nvSpPr>
          <p:cNvPr id="23" name="Shape 21"/>
          <p:cNvSpPr/>
          <p:nvPr/>
        </p:nvSpPr>
        <p:spPr>
          <a:xfrm>
            <a:off x="914400" y="914400"/>
            <a:ext cx="914400" cy="914400"/>
          </a:xfrm>
          <a:prstGeom prst="line">
            <a:avLst/>
          </a:prstGeom>
          <a:noFill/>
          <a:ln w="15240">
            <a:solidFill>
              <a:srgbClr val="6E4A2A">
                <a:alpha val="85000"/>
              </a:srgbClr>
            </a:solidFill>
            <a:prstDash val="solid"/>
          </a:ln>
        </p:spPr>
      </p:sp>
      <p:sp>
        <p:nvSpPr>
          <p:cNvPr id="24" name="Shape 22"/>
          <p:cNvSpPr/>
          <p:nvPr/>
        </p:nvSpPr>
        <p:spPr>
          <a:xfrm>
            <a:off x="914400" y="914400"/>
            <a:ext cx="914400" cy="914400"/>
          </a:xfrm>
          <a:prstGeom prst="line">
            <a:avLst/>
          </a:prstGeom>
          <a:noFill/>
          <a:ln w="15240">
            <a:solidFill>
              <a:srgbClr val="6E4A2A">
                <a:alpha val="85000"/>
              </a:srgbClr>
            </a:solidFill>
            <a:prstDash val="solid"/>
          </a:ln>
        </p:spPr>
      </p:sp>
      <p:sp>
        <p:nvSpPr>
          <p:cNvPr id="25" name="Shape 23"/>
          <p:cNvSpPr/>
          <p:nvPr/>
        </p:nvSpPr>
        <p:spPr>
          <a:xfrm>
            <a:off x="914400" y="914400"/>
            <a:ext cx="914400" cy="914400"/>
          </a:xfrm>
          <a:prstGeom prst="line">
            <a:avLst/>
          </a:prstGeom>
          <a:noFill/>
          <a:ln w="15240">
            <a:solidFill>
              <a:srgbClr val="6E4A2A">
                <a:alpha val="85000"/>
              </a:srgbClr>
            </a:solidFill>
            <a:prstDash val="solid"/>
          </a:ln>
        </p:spPr>
      </p:sp>
      <p:sp>
        <p:nvSpPr>
          <p:cNvPr id="26" name="Shape 24"/>
          <p:cNvSpPr/>
          <p:nvPr/>
        </p:nvSpPr>
        <p:spPr>
          <a:xfrm>
            <a:off x="914400" y="914400"/>
            <a:ext cx="914400" cy="914400"/>
          </a:xfrm>
          <a:prstGeom prst="line">
            <a:avLst/>
          </a:prstGeom>
          <a:noFill/>
          <a:ln w="15240">
            <a:solidFill>
              <a:srgbClr val="6E4A2A">
                <a:alpha val="85000"/>
              </a:srgbClr>
            </a:solidFill>
            <a:prstDash val="solid"/>
          </a:ln>
        </p:spPr>
      </p:sp>
      <p:sp>
        <p:nvSpPr>
          <p:cNvPr id="27" name="Shape 25"/>
          <p:cNvSpPr/>
          <p:nvPr/>
        </p:nvSpPr>
        <p:spPr>
          <a:xfrm>
            <a:off x="914400" y="914400"/>
            <a:ext cx="914400" cy="914400"/>
          </a:xfrm>
          <a:prstGeom prst="line">
            <a:avLst/>
          </a:prstGeom>
          <a:noFill/>
          <a:ln w="15240">
            <a:solidFill>
              <a:srgbClr val="6E4A2A">
                <a:alpha val="85000"/>
              </a:srgbClr>
            </a:solidFill>
            <a:prstDash val="solid"/>
          </a:ln>
        </p:spPr>
      </p:sp>
      <p:sp>
        <p:nvSpPr>
          <p:cNvPr id="28" name="Shape 26"/>
          <p:cNvSpPr/>
          <p:nvPr/>
        </p:nvSpPr>
        <p:spPr>
          <a:xfrm>
            <a:off x="914400" y="914400"/>
            <a:ext cx="914400" cy="914400"/>
          </a:xfrm>
          <a:prstGeom prst="line">
            <a:avLst/>
          </a:prstGeom>
          <a:noFill/>
          <a:ln w="15240">
            <a:solidFill>
              <a:srgbClr val="6E4A2A">
                <a:alpha val="85000"/>
              </a:srgbClr>
            </a:solidFill>
            <a:prstDash val="solid"/>
          </a:ln>
        </p:spPr>
      </p:sp>
      <p:sp>
        <p:nvSpPr>
          <p:cNvPr id="29" name="Shape 27"/>
          <p:cNvSpPr/>
          <p:nvPr/>
        </p:nvSpPr>
        <p:spPr>
          <a:xfrm>
            <a:off x="914400" y="914400"/>
            <a:ext cx="914400" cy="914400"/>
          </a:xfrm>
          <a:prstGeom prst="line">
            <a:avLst/>
          </a:prstGeom>
          <a:noFill/>
          <a:ln w="15240">
            <a:solidFill>
              <a:srgbClr val="6E4A2A">
                <a:alpha val="85000"/>
              </a:srgbClr>
            </a:solidFill>
            <a:prstDash val="solid"/>
          </a:ln>
        </p:spPr>
      </p:sp>
      <p:sp>
        <p:nvSpPr>
          <p:cNvPr id="30" name="Shape 28"/>
          <p:cNvSpPr/>
          <p:nvPr/>
        </p:nvSpPr>
        <p:spPr>
          <a:xfrm>
            <a:off x="914400" y="914400"/>
            <a:ext cx="914400" cy="914400"/>
          </a:xfrm>
          <a:prstGeom prst="line">
            <a:avLst/>
          </a:prstGeom>
          <a:noFill/>
          <a:ln w="15240">
            <a:solidFill>
              <a:srgbClr val="6E4A2A">
                <a:alpha val="85000"/>
              </a:srgbClr>
            </a:solidFill>
            <a:prstDash val="solid"/>
          </a:ln>
        </p:spPr>
      </p:sp>
      <p:sp>
        <p:nvSpPr>
          <p:cNvPr id="31" name="Shape 29"/>
          <p:cNvSpPr/>
          <p:nvPr/>
        </p:nvSpPr>
        <p:spPr>
          <a:xfrm>
            <a:off x="914400" y="914400"/>
            <a:ext cx="914400" cy="914400"/>
          </a:xfrm>
          <a:prstGeom prst="line">
            <a:avLst/>
          </a:prstGeom>
          <a:noFill/>
          <a:ln w="15240">
            <a:solidFill>
              <a:srgbClr val="6E4A2A">
                <a:alpha val="85000"/>
              </a:srgbClr>
            </a:solidFill>
            <a:prstDash val="solid"/>
          </a:ln>
        </p:spPr>
      </p:sp>
      <p:sp>
        <p:nvSpPr>
          <p:cNvPr id="32" name="Shape 30"/>
          <p:cNvSpPr/>
          <p:nvPr/>
        </p:nvSpPr>
        <p:spPr>
          <a:xfrm>
            <a:off x="914400" y="914400"/>
            <a:ext cx="914400" cy="914400"/>
          </a:xfrm>
          <a:prstGeom prst="line">
            <a:avLst/>
          </a:prstGeom>
          <a:noFill/>
          <a:ln w="15240">
            <a:solidFill>
              <a:srgbClr val="6E4A2A">
                <a:alpha val="85000"/>
              </a:srgbClr>
            </a:solidFill>
            <a:prstDash val="solid"/>
          </a:ln>
        </p:spPr>
      </p:sp>
      <p:sp>
        <p:nvSpPr>
          <p:cNvPr id="33" name="Shape 31"/>
          <p:cNvSpPr/>
          <p:nvPr/>
        </p:nvSpPr>
        <p:spPr>
          <a:xfrm>
            <a:off x="914400" y="914400"/>
            <a:ext cx="914400" cy="914400"/>
          </a:xfrm>
          <a:prstGeom prst="line">
            <a:avLst/>
          </a:prstGeom>
          <a:noFill/>
          <a:ln w="6350">
            <a:solidFill>
              <a:srgbClr val="9B754A">
                <a:alpha val="65000"/>
              </a:srgbClr>
            </a:solidFill>
            <a:prstDash val="solid"/>
          </a:ln>
        </p:spPr>
      </p:sp>
      <p:sp>
        <p:nvSpPr>
          <p:cNvPr id="34" name="Shape 32"/>
          <p:cNvSpPr/>
          <p:nvPr/>
        </p:nvSpPr>
        <p:spPr>
          <a:xfrm>
            <a:off x="914400" y="914400"/>
            <a:ext cx="914400" cy="914400"/>
          </a:xfrm>
          <a:prstGeom prst="line">
            <a:avLst/>
          </a:prstGeom>
          <a:noFill/>
          <a:ln w="6350">
            <a:solidFill>
              <a:srgbClr val="9B754A">
                <a:alpha val="65000"/>
              </a:srgbClr>
            </a:solidFill>
            <a:prstDash val="solid"/>
          </a:ln>
        </p:spPr>
      </p:sp>
      <p:sp>
        <p:nvSpPr>
          <p:cNvPr id="35" name="Shape 33"/>
          <p:cNvSpPr/>
          <p:nvPr/>
        </p:nvSpPr>
        <p:spPr>
          <a:xfrm>
            <a:off x="914400" y="914400"/>
            <a:ext cx="914400" cy="914400"/>
          </a:xfrm>
          <a:prstGeom prst="line">
            <a:avLst/>
          </a:prstGeom>
          <a:noFill/>
          <a:ln w="6350">
            <a:solidFill>
              <a:srgbClr val="9B754A">
                <a:alpha val="65000"/>
              </a:srgbClr>
            </a:solidFill>
            <a:prstDash val="solid"/>
          </a:ln>
        </p:spPr>
      </p:sp>
      <p:sp>
        <p:nvSpPr>
          <p:cNvPr id="36" name="Shape 34"/>
          <p:cNvSpPr/>
          <p:nvPr/>
        </p:nvSpPr>
        <p:spPr>
          <a:xfrm>
            <a:off x="914400" y="914400"/>
            <a:ext cx="914400" cy="914400"/>
          </a:xfrm>
          <a:prstGeom prst="line">
            <a:avLst/>
          </a:prstGeom>
          <a:noFill/>
          <a:ln w="6350">
            <a:solidFill>
              <a:srgbClr val="9B754A">
                <a:alpha val="65000"/>
              </a:srgbClr>
            </a:solidFill>
            <a:prstDash val="solid"/>
          </a:ln>
        </p:spPr>
      </p:sp>
      <p:sp>
        <p:nvSpPr>
          <p:cNvPr id="37" name="Shape 35"/>
          <p:cNvSpPr/>
          <p:nvPr/>
        </p:nvSpPr>
        <p:spPr>
          <a:xfrm>
            <a:off x="914400" y="914400"/>
            <a:ext cx="914400" cy="914400"/>
          </a:xfrm>
          <a:prstGeom prst="line">
            <a:avLst/>
          </a:prstGeom>
          <a:noFill/>
          <a:ln w="6350">
            <a:solidFill>
              <a:srgbClr val="9B754A">
                <a:alpha val="65000"/>
              </a:srgbClr>
            </a:solidFill>
            <a:prstDash val="solid"/>
          </a:ln>
        </p:spPr>
      </p:sp>
      <p:sp>
        <p:nvSpPr>
          <p:cNvPr id="38" name="Shape 36"/>
          <p:cNvSpPr/>
          <p:nvPr/>
        </p:nvSpPr>
        <p:spPr>
          <a:xfrm>
            <a:off x="914400" y="914400"/>
            <a:ext cx="914400" cy="914400"/>
          </a:xfrm>
          <a:prstGeom prst="line">
            <a:avLst/>
          </a:prstGeom>
          <a:noFill/>
          <a:ln w="6350">
            <a:solidFill>
              <a:srgbClr val="9B754A">
                <a:alpha val="65000"/>
              </a:srgbClr>
            </a:solidFill>
            <a:prstDash val="solid"/>
          </a:ln>
        </p:spPr>
      </p:sp>
      <p:pic>
        <p:nvPicPr>
          <p:cNvPr id="3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652760" y="164592"/>
            <a:ext cx="1005840" cy="1005840"/>
          </a:xfrm>
          <a:prstGeom prst="rect">
            <a:avLst/>
          </a:prstGeom>
        </p:spPr>
      </p:pic>
      <p:sp>
        <p:nvSpPr>
          <p:cNvPr id="40" name="Text 37"/>
          <p:cNvSpPr/>
          <p:nvPr/>
        </p:nvSpPr>
        <p:spPr>
          <a:xfrm>
            <a:off x="658368" y="420624"/>
            <a:ext cx="7132320" cy="457200"/>
          </a:xfrm>
          <a:prstGeom prst="rect">
            <a:avLst/>
          </a:prstGeom>
          <a:noFill/>
          <a:ln/>
        </p:spPr>
        <p:txBody>
          <a:bodyPr wrap="square" lIns="0" tIns="0" rIns="0" bIns="0" rtlCol="0" anchor="ctr"/>
          <a:lstStyle/>
          <a:p>
            <a:pPr indent="0" marL="0">
              <a:buNone/>
            </a:pPr>
            <a:r>
              <a:rPr lang="en-US" sz="2200" dirty="0">
                <a:solidFill>
                  <a:srgbClr val="FFFFFF"/>
                </a:solidFill>
                <a:latin typeface="Aptos" pitchFamily="34" charset="0"/>
                <a:ea typeface="Aptos" pitchFamily="34" charset="-122"/>
                <a:cs typeface="Aptos" pitchFamily="34" charset="-120"/>
              </a:rPr>
              <a:t>TEAMREFLECTIE – BAVLI</a:t>
            </a:r>
            <a:endParaRPr lang="en-US" sz="2200" dirty="0"/>
          </a:p>
        </p:txBody>
      </p:sp>
      <p:sp>
        <p:nvSpPr>
          <p:cNvPr id="41" name="Text 38"/>
          <p:cNvSpPr/>
          <p:nvPr/>
        </p:nvSpPr>
        <p:spPr>
          <a:xfrm>
            <a:off x="676656" y="868680"/>
            <a:ext cx="7772400" cy="228600"/>
          </a:xfrm>
          <a:prstGeom prst="rect">
            <a:avLst/>
          </a:prstGeom>
          <a:noFill/>
          <a:ln/>
        </p:spPr>
        <p:txBody>
          <a:bodyPr wrap="square" lIns="0" tIns="0" rIns="0" bIns="0" rtlCol="0" anchor="ctr"/>
          <a:lstStyle/>
          <a:p>
            <a:pPr indent="0" marL="0">
              <a:buNone/>
            </a:pPr>
            <a:r>
              <a:rPr lang="en-US" sz="1000" i="1" dirty="0">
                <a:solidFill>
                  <a:srgbClr val="E0B24A"/>
                </a:solidFill>
                <a:latin typeface="Aptos" pitchFamily="34" charset="0"/>
                <a:ea typeface="Aptos" pitchFamily="34" charset="-122"/>
                <a:cs typeface="Aptos" pitchFamily="34" charset="-120"/>
              </a:rPr>
              <a:t>WS3.2 Challenge M2</a:t>
            </a:r>
            <a:endParaRPr lang="en-US" sz="1000" dirty="0"/>
          </a:p>
        </p:txBody>
      </p:sp>
      <p:sp>
        <p:nvSpPr>
          <p:cNvPr id="42" name="Text 39"/>
          <p:cNvSpPr/>
          <p:nvPr/>
        </p:nvSpPr>
        <p:spPr>
          <a:xfrm>
            <a:off x="896112" y="1399032"/>
            <a:ext cx="164592" cy="201168"/>
          </a:xfrm>
          <a:prstGeom prst="rect">
            <a:avLst/>
          </a:prstGeom>
          <a:noFill/>
          <a:ln/>
        </p:spPr>
        <p:txBody>
          <a:bodyPr wrap="square" lIns="0" tIns="0" rIns="0" bIns="0" rtlCol="0" anchor="ctr"/>
          <a:lstStyle/>
          <a:p>
            <a:pPr indent="0" marL="0">
              <a:buNone/>
            </a:pPr>
            <a:r>
              <a:rPr lang="en-US" sz="1800" dirty="0">
                <a:solidFill>
                  <a:srgbClr val="E0B24A"/>
                </a:solidFill>
                <a:latin typeface="Aptos" pitchFamily="34" charset="0"/>
                <a:ea typeface="Aptos" pitchFamily="34" charset="-122"/>
                <a:cs typeface="Aptos" pitchFamily="34" charset="-120"/>
              </a:rPr>
              <a:t>•</a:t>
            </a:r>
            <a:endParaRPr lang="en-US" sz="1800" dirty="0"/>
          </a:p>
        </p:txBody>
      </p:sp>
      <p:sp>
        <p:nvSpPr>
          <p:cNvPr id="43" name="Text 40"/>
          <p:cNvSpPr/>
          <p:nvPr/>
        </p:nvSpPr>
        <p:spPr>
          <a:xfrm>
            <a:off x="1133856" y="1389888"/>
            <a:ext cx="6126480" cy="658368"/>
          </a:xfrm>
          <a:prstGeom prst="rect">
            <a:avLst/>
          </a:prstGeom>
          <a:noFill/>
          <a:ln/>
        </p:spPr>
        <p:txBody>
          <a:bodyPr wrap="square" lIns="0" tIns="0" rIns="0" bIns="0" rtlCol="0" anchor="ctr">
            <a:normAutofit/>
          </a:bodyPr>
          <a:lstStyle/>
          <a:p>
            <a:pPr indent="0" marL="0">
              <a:buNone/>
            </a:pPr>
            <a:r>
              <a:rPr lang="en-US" sz="1550" b="1" dirty="0">
                <a:solidFill>
                  <a:srgbClr val="FFFFFF"/>
                </a:solidFill>
                <a:latin typeface="Aptos" pitchFamily="34" charset="0"/>
                <a:ea typeface="Aptos" pitchFamily="34" charset="-122"/>
                <a:cs typeface="Aptos" pitchFamily="34" charset="-120"/>
              </a:rPr>
              <a:t>Key behaviour — </a:t>
            </a:r>
            <a:pPr indent="0" marL="0">
              <a:buNone/>
            </a:pPr>
            <a:r>
              <a:rPr lang="en-US" sz="1550" dirty="0">
                <a:solidFill>
                  <a:srgbClr val="F2F2F2"/>
                </a:solidFill>
                <a:latin typeface="Aptos" pitchFamily="34" charset="0"/>
                <a:ea typeface="Aptos" pitchFamily="34" charset="-122"/>
                <a:cs typeface="Aptos" pitchFamily="34" charset="-120"/>
              </a:rPr>
              <a:t>Ik herken vooral act with urgency, sharing power en follow your values; be transparent kwam minder sterk naar voren.</a:t>
            </a:r>
            <a:endParaRPr lang="en-US" sz="1550" dirty="0"/>
          </a:p>
        </p:txBody>
      </p:sp>
      <p:sp>
        <p:nvSpPr>
          <p:cNvPr id="44" name="Text 41"/>
          <p:cNvSpPr/>
          <p:nvPr/>
        </p:nvSpPr>
        <p:spPr>
          <a:xfrm>
            <a:off x="896112" y="2340864"/>
            <a:ext cx="164592" cy="201168"/>
          </a:xfrm>
          <a:prstGeom prst="rect">
            <a:avLst/>
          </a:prstGeom>
          <a:noFill/>
          <a:ln/>
        </p:spPr>
        <p:txBody>
          <a:bodyPr wrap="square" lIns="0" tIns="0" rIns="0" bIns="0" rtlCol="0" anchor="ctr"/>
          <a:lstStyle/>
          <a:p>
            <a:pPr indent="0" marL="0">
              <a:buNone/>
            </a:pPr>
            <a:r>
              <a:rPr lang="en-US" sz="1800" dirty="0">
                <a:solidFill>
                  <a:srgbClr val="E0B24A"/>
                </a:solidFill>
                <a:latin typeface="Aptos" pitchFamily="34" charset="0"/>
                <a:ea typeface="Aptos" pitchFamily="34" charset="-122"/>
                <a:cs typeface="Aptos" pitchFamily="34" charset="-120"/>
              </a:rPr>
              <a:t>•</a:t>
            </a:r>
            <a:endParaRPr lang="en-US" sz="1800" dirty="0"/>
          </a:p>
        </p:txBody>
      </p:sp>
      <p:sp>
        <p:nvSpPr>
          <p:cNvPr id="45" name="Text 42"/>
          <p:cNvSpPr/>
          <p:nvPr/>
        </p:nvSpPr>
        <p:spPr>
          <a:xfrm>
            <a:off x="1133856" y="2331720"/>
            <a:ext cx="6126480" cy="658368"/>
          </a:xfrm>
          <a:prstGeom prst="rect">
            <a:avLst/>
          </a:prstGeom>
          <a:noFill/>
          <a:ln/>
        </p:spPr>
        <p:txBody>
          <a:bodyPr wrap="square" lIns="0" tIns="0" rIns="0" bIns="0" rtlCol="0" anchor="ctr">
            <a:normAutofit/>
          </a:bodyPr>
          <a:lstStyle/>
          <a:p>
            <a:pPr indent="0" marL="0">
              <a:buNone/>
            </a:pPr>
            <a:r>
              <a:rPr lang="en-US" sz="1550" b="1" dirty="0">
                <a:solidFill>
                  <a:srgbClr val="FFFFFF"/>
                </a:solidFill>
                <a:latin typeface="Aptos" pitchFamily="34" charset="0"/>
                <a:ea typeface="Aptos" pitchFamily="34" charset="-122"/>
                <a:cs typeface="Aptos" pitchFamily="34" charset="-120"/>
              </a:rPr>
              <a:t>Samenwerking — </a:t>
            </a:r>
            <a:pPr indent="0" marL="0">
              <a:buNone/>
            </a:pPr>
            <a:r>
              <a:rPr lang="en-US" sz="1550" dirty="0">
                <a:solidFill>
                  <a:srgbClr val="F2F2F2"/>
                </a:solidFill>
                <a:latin typeface="Aptos" pitchFamily="34" charset="0"/>
                <a:ea typeface="Aptos" pitchFamily="34" charset="-122"/>
                <a:cs typeface="Aptos" pitchFamily="34" charset="-120"/>
              </a:rPr>
              <a:t>De groep werkte uiteindelijk goed samen, maar de opsplitsing en onduidelijkheid over het BCP maakten de start lastig.</a:t>
            </a:r>
            <a:endParaRPr lang="en-US" sz="1550" dirty="0"/>
          </a:p>
        </p:txBody>
      </p:sp>
      <p:sp>
        <p:nvSpPr>
          <p:cNvPr id="46" name="Text 43"/>
          <p:cNvSpPr/>
          <p:nvPr/>
        </p:nvSpPr>
        <p:spPr>
          <a:xfrm>
            <a:off x="896112" y="3282696"/>
            <a:ext cx="164592" cy="201168"/>
          </a:xfrm>
          <a:prstGeom prst="rect">
            <a:avLst/>
          </a:prstGeom>
          <a:noFill/>
          <a:ln/>
        </p:spPr>
        <p:txBody>
          <a:bodyPr wrap="square" lIns="0" tIns="0" rIns="0" bIns="0" rtlCol="0" anchor="ctr"/>
          <a:lstStyle/>
          <a:p>
            <a:pPr indent="0" marL="0">
              <a:buNone/>
            </a:pPr>
            <a:r>
              <a:rPr lang="en-US" sz="1800" dirty="0">
                <a:solidFill>
                  <a:srgbClr val="E0B24A"/>
                </a:solidFill>
                <a:latin typeface="Aptos" pitchFamily="34" charset="0"/>
                <a:ea typeface="Aptos" pitchFamily="34" charset="-122"/>
                <a:cs typeface="Aptos" pitchFamily="34" charset="-120"/>
              </a:rPr>
              <a:t>•</a:t>
            </a:r>
            <a:endParaRPr lang="en-US" sz="1800" dirty="0"/>
          </a:p>
        </p:txBody>
      </p:sp>
      <p:sp>
        <p:nvSpPr>
          <p:cNvPr id="47" name="Text 44"/>
          <p:cNvSpPr/>
          <p:nvPr/>
        </p:nvSpPr>
        <p:spPr>
          <a:xfrm>
            <a:off x="1133856" y="3273552"/>
            <a:ext cx="6126480" cy="658368"/>
          </a:xfrm>
          <a:prstGeom prst="rect">
            <a:avLst/>
          </a:prstGeom>
          <a:noFill/>
          <a:ln/>
        </p:spPr>
        <p:txBody>
          <a:bodyPr wrap="square" lIns="0" tIns="0" rIns="0" bIns="0" rtlCol="0" anchor="ctr">
            <a:normAutofit/>
          </a:bodyPr>
          <a:lstStyle/>
          <a:p>
            <a:pPr indent="0" marL="0">
              <a:buNone/>
            </a:pPr>
            <a:r>
              <a:rPr lang="en-US" sz="1550" b="1" dirty="0">
                <a:solidFill>
                  <a:srgbClr val="FFFFFF"/>
                </a:solidFill>
                <a:latin typeface="Aptos" pitchFamily="34" charset="0"/>
                <a:ea typeface="Aptos" pitchFamily="34" charset="-122"/>
                <a:cs typeface="Aptos" pitchFamily="34" charset="-120"/>
              </a:rPr>
              <a:t>Leiderschap — </a:t>
            </a:r>
            <a:pPr indent="0" marL="0">
              <a:buNone/>
            </a:pPr>
            <a:r>
              <a:rPr lang="en-US" sz="1550" dirty="0">
                <a:solidFill>
                  <a:srgbClr val="F2F2F2"/>
                </a:solidFill>
                <a:latin typeface="Aptos" pitchFamily="34" charset="0"/>
                <a:ea typeface="Aptos" pitchFamily="34" charset="-122"/>
                <a:cs typeface="Aptos" pitchFamily="34" charset="-120"/>
              </a:rPr>
              <a:t>Ik paste vooral instrueren en coachen toe; motiveren speelde mee, delegeren paste minder bij de urgentie.</a:t>
            </a:r>
            <a:endParaRPr lang="en-US" sz="1550" dirty="0"/>
          </a:p>
        </p:txBody>
      </p:sp>
      <p:sp>
        <p:nvSpPr>
          <p:cNvPr id="48" name="Text 45"/>
          <p:cNvSpPr/>
          <p:nvPr/>
        </p:nvSpPr>
        <p:spPr>
          <a:xfrm>
            <a:off x="896112" y="4224528"/>
            <a:ext cx="164592" cy="201168"/>
          </a:xfrm>
          <a:prstGeom prst="rect">
            <a:avLst/>
          </a:prstGeom>
          <a:noFill/>
          <a:ln/>
        </p:spPr>
        <p:txBody>
          <a:bodyPr wrap="square" lIns="0" tIns="0" rIns="0" bIns="0" rtlCol="0" anchor="ctr"/>
          <a:lstStyle/>
          <a:p>
            <a:pPr indent="0" marL="0">
              <a:buNone/>
            </a:pPr>
            <a:r>
              <a:rPr lang="en-US" sz="1800" dirty="0">
                <a:solidFill>
                  <a:srgbClr val="E0B24A"/>
                </a:solidFill>
                <a:latin typeface="Aptos" pitchFamily="34" charset="0"/>
                <a:ea typeface="Aptos" pitchFamily="34" charset="-122"/>
                <a:cs typeface="Aptos" pitchFamily="34" charset="-120"/>
              </a:rPr>
              <a:t>•</a:t>
            </a:r>
            <a:endParaRPr lang="en-US" sz="1800" dirty="0"/>
          </a:p>
        </p:txBody>
      </p:sp>
      <p:sp>
        <p:nvSpPr>
          <p:cNvPr id="49" name="Text 46"/>
          <p:cNvSpPr/>
          <p:nvPr/>
        </p:nvSpPr>
        <p:spPr>
          <a:xfrm>
            <a:off x="1133856" y="4215384"/>
            <a:ext cx="6126480" cy="658368"/>
          </a:xfrm>
          <a:prstGeom prst="rect">
            <a:avLst/>
          </a:prstGeom>
          <a:noFill/>
          <a:ln/>
        </p:spPr>
        <p:txBody>
          <a:bodyPr wrap="square" lIns="0" tIns="0" rIns="0" bIns="0" rtlCol="0" anchor="ctr">
            <a:normAutofit/>
          </a:bodyPr>
          <a:lstStyle/>
          <a:p>
            <a:pPr indent="0" marL="0">
              <a:buNone/>
            </a:pPr>
            <a:r>
              <a:rPr lang="en-US" sz="1550" b="1" dirty="0">
                <a:solidFill>
                  <a:srgbClr val="FFFFFF"/>
                </a:solidFill>
                <a:latin typeface="Aptos" pitchFamily="34" charset="0"/>
                <a:ea typeface="Aptos" pitchFamily="34" charset="-122"/>
                <a:cs typeface="Aptos" pitchFamily="34" charset="-120"/>
              </a:rPr>
              <a:t>Achteraf anders — </a:t>
            </a:r>
            <a:pPr indent="0" marL="0">
              <a:buNone/>
            </a:pPr>
            <a:r>
              <a:rPr lang="en-US" sz="1550" dirty="0">
                <a:solidFill>
                  <a:srgbClr val="F2F2F2"/>
                </a:solidFill>
                <a:latin typeface="Aptos" pitchFamily="34" charset="0"/>
                <a:ea typeface="Aptos" pitchFamily="34" charset="-122"/>
                <a:cs typeface="Aptos" pitchFamily="34" charset="-120"/>
              </a:rPr>
              <a:t>Ik zou eerder strak sturen op rolverdeling, informatie delen en daarna sneller samen reflecteren op keuzes.</a:t>
            </a:r>
            <a:endParaRPr lang="en-US" sz="1550" dirty="0"/>
          </a:p>
        </p:txBody>
      </p:sp>
      <p:sp>
        <p:nvSpPr>
          <p:cNvPr id="50" name="Shape 47"/>
          <p:cNvSpPr/>
          <p:nvPr/>
        </p:nvSpPr>
        <p:spPr>
          <a:xfrm>
            <a:off x="8092440" y="1627632"/>
            <a:ext cx="3218688" cy="3246120"/>
          </a:xfrm>
          <a:prstGeom prst="roundRect">
            <a:avLst>
              <a:gd name="adj" fmla="val 1705"/>
            </a:avLst>
          </a:prstGeom>
          <a:solidFill>
            <a:srgbClr val="113C68">
              <a:alpha val="92000"/>
            </a:srgbClr>
          </a:solidFill>
          <a:ln w="15240">
            <a:solidFill>
              <a:srgbClr val="E0B24A"/>
            </a:solidFill>
            <a:prstDash val="solid"/>
          </a:ln>
        </p:spPr>
      </p:sp>
      <p:sp>
        <p:nvSpPr>
          <p:cNvPr id="51" name="Text 48"/>
          <p:cNvSpPr/>
          <p:nvPr/>
        </p:nvSpPr>
        <p:spPr>
          <a:xfrm>
            <a:off x="8339328" y="1847088"/>
            <a:ext cx="2651760" cy="292608"/>
          </a:xfrm>
          <a:prstGeom prst="rect">
            <a:avLst/>
          </a:prstGeom>
          <a:noFill/>
          <a:ln/>
        </p:spPr>
        <p:txBody>
          <a:bodyPr wrap="square" lIns="0" tIns="0" rIns="0" bIns="0" rtlCol="0" anchor="ctr"/>
          <a:lstStyle/>
          <a:p>
            <a:pPr indent="0" marL="0">
              <a:buNone/>
            </a:pPr>
            <a:r>
              <a:rPr lang="en-US" sz="1600" b="1" dirty="0">
                <a:solidFill>
                  <a:srgbClr val="E0B24A"/>
                </a:solidFill>
                <a:latin typeface="Aptos" pitchFamily="34" charset="0"/>
                <a:ea typeface="Aptos" pitchFamily="34" charset="-122"/>
                <a:cs typeface="Aptos" pitchFamily="34" charset="-120"/>
              </a:rPr>
              <a:t>BELANGRIJKSTE LES</a:t>
            </a:r>
            <a:endParaRPr lang="en-US" sz="1600" dirty="0"/>
          </a:p>
        </p:txBody>
      </p:sp>
      <p:sp>
        <p:nvSpPr>
          <p:cNvPr id="52" name="Text 49"/>
          <p:cNvSpPr/>
          <p:nvPr/>
        </p:nvSpPr>
        <p:spPr>
          <a:xfrm>
            <a:off x="8357616" y="2304288"/>
            <a:ext cx="164592" cy="164592"/>
          </a:xfrm>
          <a:prstGeom prst="rect">
            <a:avLst/>
          </a:prstGeom>
          <a:noFill/>
          <a:ln/>
        </p:spPr>
        <p:txBody>
          <a:bodyPr wrap="square" lIns="0" tIns="0" rIns="0" bIns="0" rtlCol="0" anchor="ctr"/>
          <a:lstStyle/>
          <a:p>
            <a:pPr indent="0" marL="0">
              <a:buNone/>
            </a:pPr>
            <a:r>
              <a:rPr lang="en-US" sz="1600" dirty="0">
                <a:solidFill>
                  <a:srgbClr val="E0B24A"/>
                </a:solidFill>
                <a:latin typeface="Aptos" pitchFamily="34" charset="0"/>
                <a:ea typeface="Aptos" pitchFamily="34" charset="-122"/>
                <a:cs typeface="Aptos" pitchFamily="34" charset="-120"/>
              </a:rPr>
              <a:t>•</a:t>
            </a:r>
            <a:endParaRPr lang="en-US" sz="1600" dirty="0"/>
          </a:p>
        </p:txBody>
      </p:sp>
      <p:sp>
        <p:nvSpPr>
          <p:cNvPr id="53" name="Text 50"/>
          <p:cNvSpPr/>
          <p:nvPr/>
        </p:nvSpPr>
        <p:spPr>
          <a:xfrm>
            <a:off x="8595360" y="2295144"/>
            <a:ext cx="2331720" cy="530352"/>
          </a:xfrm>
          <a:prstGeom prst="rect">
            <a:avLst/>
          </a:prstGeom>
          <a:noFill/>
          <a:ln/>
        </p:spPr>
        <p:txBody>
          <a:bodyPr wrap="square" lIns="0" tIns="0" rIns="0" bIns="0" rtlCol="0" anchor="ctr">
            <a:normAutofit/>
          </a:bodyPr>
          <a:lstStyle/>
          <a:p>
            <a:pPr indent="0" marL="0">
              <a:buNone/>
            </a:pPr>
            <a:r>
              <a:rPr lang="en-US" sz="1350" dirty="0">
                <a:solidFill>
                  <a:srgbClr val="FFFFFF"/>
                </a:solidFill>
                <a:latin typeface="Aptos" pitchFamily="34" charset="0"/>
                <a:ea typeface="Aptos" pitchFamily="34" charset="-122"/>
                <a:cs typeface="Aptos" pitchFamily="34" charset="-120"/>
              </a:rPr>
              <a:t>Sneller structuur aanbrengen</a:t>
            </a:r>
            <a:endParaRPr lang="en-US" sz="1350" dirty="0"/>
          </a:p>
        </p:txBody>
      </p:sp>
      <p:sp>
        <p:nvSpPr>
          <p:cNvPr id="54" name="Text 51"/>
          <p:cNvSpPr/>
          <p:nvPr/>
        </p:nvSpPr>
        <p:spPr>
          <a:xfrm>
            <a:off x="8357616" y="2907792"/>
            <a:ext cx="164592" cy="164592"/>
          </a:xfrm>
          <a:prstGeom prst="rect">
            <a:avLst/>
          </a:prstGeom>
          <a:noFill/>
          <a:ln/>
        </p:spPr>
        <p:txBody>
          <a:bodyPr wrap="square" lIns="0" tIns="0" rIns="0" bIns="0" rtlCol="0" anchor="ctr"/>
          <a:lstStyle/>
          <a:p>
            <a:pPr indent="0" marL="0">
              <a:buNone/>
            </a:pPr>
            <a:r>
              <a:rPr lang="en-US" sz="1600" dirty="0">
                <a:solidFill>
                  <a:srgbClr val="E0B24A"/>
                </a:solidFill>
                <a:latin typeface="Aptos" pitchFamily="34" charset="0"/>
                <a:ea typeface="Aptos" pitchFamily="34" charset="-122"/>
                <a:cs typeface="Aptos" pitchFamily="34" charset="-120"/>
              </a:rPr>
              <a:t>•</a:t>
            </a:r>
            <a:endParaRPr lang="en-US" sz="1600" dirty="0"/>
          </a:p>
        </p:txBody>
      </p:sp>
      <p:sp>
        <p:nvSpPr>
          <p:cNvPr id="55" name="Text 52"/>
          <p:cNvSpPr/>
          <p:nvPr/>
        </p:nvSpPr>
        <p:spPr>
          <a:xfrm>
            <a:off x="8595360" y="2898648"/>
            <a:ext cx="2331720" cy="530352"/>
          </a:xfrm>
          <a:prstGeom prst="rect">
            <a:avLst/>
          </a:prstGeom>
          <a:noFill/>
          <a:ln/>
        </p:spPr>
        <p:txBody>
          <a:bodyPr wrap="square" lIns="0" tIns="0" rIns="0" bIns="0" rtlCol="0" anchor="ctr">
            <a:normAutofit/>
          </a:bodyPr>
          <a:lstStyle/>
          <a:p>
            <a:pPr indent="0" marL="0">
              <a:buNone/>
            </a:pPr>
            <a:r>
              <a:rPr lang="en-US" sz="1350" dirty="0">
                <a:solidFill>
                  <a:srgbClr val="FFFFFF"/>
                </a:solidFill>
                <a:latin typeface="Aptos" pitchFamily="34" charset="0"/>
                <a:ea typeface="Aptos" pitchFamily="34" charset="-122"/>
                <a:cs typeface="Aptos" pitchFamily="34" charset="-120"/>
              </a:rPr>
              <a:t>Duidelijker communiceren</a:t>
            </a:r>
            <a:endParaRPr lang="en-US" sz="1350" dirty="0"/>
          </a:p>
        </p:txBody>
      </p:sp>
      <p:sp>
        <p:nvSpPr>
          <p:cNvPr id="56" name="Text 53"/>
          <p:cNvSpPr/>
          <p:nvPr/>
        </p:nvSpPr>
        <p:spPr>
          <a:xfrm>
            <a:off x="8357616" y="3511296"/>
            <a:ext cx="164592" cy="164592"/>
          </a:xfrm>
          <a:prstGeom prst="rect">
            <a:avLst/>
          </a:prstGeom>
          <a:noFill/>
          <a:ln/>
        </p:spPr>
        <p:txBody>
          <a:bodyPr wrap="square" lIns="0" tIns="0" rIns="0" bIns="0" rtlCol="0" anchor="ctr"/>
          <a:lstStyle/>
          <a:p>
            <a:pPr indent="0" marL="0">
              <a:buNone/>
            </a:pPr>
            <a:r>
              <a:rPr lang="en-US" sz="1600" dirty="0">
                <a:solidFill>
                  <a:srgbClr val="E0B24A"/>
                </a:solidFill>
                <a:latin typeface="Aptos" pitchFamily="34" charset="0"/>
                <a:ea typeface="Aptos" pitchFamily="34" charset="-122"/>
                <a:cs typeface="Aptos" pitchFamily="34" charset="-120"/>
              </a:rPr>
              <a:t>•</a:t>
            </a:r>
            <a:endParaRPr lang="en-US" sz="1600" dirty="0"/>
          </a:p>
        </p:txBody>
      </p:sp>
      <p:sp>
        <p:nvSpPr>
          <p:cNvPr id="57" name="Text 54"/>
          <p:cNvSpPr/>
          <p:nvPr/>
        </p:nvSpPr>
        <p:spPr>
          <a:xfrm>
            <a:off x="8595360" y="3502152"/>
            <a:ext cx="2331720" cy="530352"/>
          </a:xfrm>
          <a:prstGeom prst="rect">
            <a:avLst/>
          </a:prstGeom>
          <a:noFill/>
          <a:ln/>
        </p:spPr>
        <p:txBody>
          <a:bodyPr wrap="square" lIns="0" tIns="0" rIns="0" bIns="0" rtlCol="0" anchor="ctr">
            <a:normAutofit/>
          </a:bodyPr>
          <a:lstStyle/>
          <a:p>
            <a:pPr indent="0" marL="0">
              <a:buNone/>
            </a:pPr>
            <a:r>
              <a:rPr lang="en-US" sz="1350" dirty="0">
                <a:solidFill>
                  <a:srgbClr val="FFFFFF"/>
                </a:solidFill>
                <a:latin typeface="Aptos" pitchFamily="34" charset="0"/>
                <a:ea typeface="Aptos" pitchFamily="34" charset="-122"/>
                <a:cs typeface="Aptos" pitchFamily="34" charset="-120"/>
              </a:rPr>
              <a:t>Iedereen hetzelfde overzicht</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5254E"/>
          </a:solidFill>
          <a:ln w="12700">
            <a:solidFill>
              <a:srgbClr val="05254E"/>
            </a:solidFill>
            <a:prstDash val="solid"/>
          </a:ln>
        </p:spPr>
      </p:sp>
      <p:sp>
        <p:nvSpPr>
          <p:cNvPr id="3" name="Shape 1"/>
          <p:cNvSpPr/>
          <p:nvPr/>
        </p:nvSpPr>
        <p:spPr>
          <a:xfrm>
            <a:off x="0" y="1737360"/>
            <a:ext cx="12191695" cy="4069080"/>
          </a:xfrm>
          <a:prstGeom prst="rect">
            <a:avLst/>
          </a:prstGeom>
          <a:solidFill>
            <a:srgbClr val="6F7378">
              <a:alpha val="80000"/>
            </a:srgbClr>
          </a:solidFill>
          <a:ln w="12700">
            <a:solidFill>
              <a:srgbClr val="6F7378">
                <a:alpha val="0"/>
              </a:srgbClr>
            </a:solidFill>
            <a:prstDash val="solid"/>
          </a:ln>
        </p:spPr>
      </p:sp>
      <p:sp>
        <p:nvSpPr>
          <p:cNvPr id="4" name="Shape 2"/>
          <p:cNvSpPr/>
          <p:nvPr/>
        </p:nvSpPr>
        <p:spPr>
          <a:xfrm>
            <a:off x="0" y="5394960"/>
            <a:ext cx="12191695" cy="1463040"/>
          </a:xfrm>
          <a:prstGeom prst="rect">
            <a:avLst/>
          </a:prstGeom>
          <a:solidFill>
            <a:srgbClr val="8C633B"/>
          </a:solidFill>
          <a:ln w="12700">
            <a:solidFill>
              <a:srgbClr val="8C633B"/>
            </a:solidFill>
            <a:prstDash val="solid"/>
          </a:ln>
        </p:spPr>
      </p:sp>
      <p:sp>
        <p:nvSpPr>
          <p:cNvPr id="5" name="Shape 3"/>
          <p:cNvSpPr/>
          <p:nvPr/>
        </p:nvSpPr>
        <p:spPr>
          <a:xfrm>
            <a:off x="914400" y="914400"/>
            <a:ext cx="914400" cy="914400"/>
          </a:xfrm>
          <a:prstGeom prst="line">
            <a:avLst/>
          </a:prstGeom>
          <a:noFill/>
          <a:ln w="15240">
            <a:solidFill>
              <a:srgbClr val="6E4A2A">
                <a:alpha val="85000"/>
              </a:srgbClr>
            </a:solidFill>
            <a:prstDash val="solid"/>
          </a:ln>
        </p:spPr>
      </p:sp>
      <p:sp>
        <p:nvSpPr>
          <p:cNvPr id="6" name="Shape 4"/>
          <p:cNvSpPr/>
          <p:nvPr/>
        </p:nvSpPr>
        <p:spPr>
          <a:xfrm>
            <a:off x="914400" y="914400"/>
            <a:ext cx="914400" cy="914400"/>
          </a:xfrm>
          <a:prstGeom prst="line">
            <a:avLst/>
          </a:prstGeom>
          <a:noFill/>
          <a:ln w="15240">
            <a:solidFill>
              <a:srgbClr val="6E4A2A">
                <a:alpha val="85000"/>
              </a:srgbClr>
            </a:solidFill>
            <a:prstDash val="solid"/>
          </a:ln>
        </p:spPr>
      </p:sp>
      <p:sp>
        <p:nvSpPr>
          <p:cNvPr id="7" name="Shape 5"/>
          <p:cNvSpPr/>
          <p:nvPr/>
        </p:nvSpPr>
        <p:spPr>
          <a:xfrm>
            <a:off x="914400" y="914400"/>
            <a:ext cx="914400" cy="914400"/>
          </a:xfrm>
          <a:prstGeom prst="line">
            <a:avLst/>
          </a:prstGeom>
          <a:noFill/>
          <a:ln w="15240">
            <a:solidFill>
              <a:srgbClr val="6E4A2A">
                <a:alpha val="85000"/>
              </a:srgbClr>
            </a:solidFill>
            <a:prstDash val="solid"/>
          </a:ln>
        </p:spPr>
      </p:sp>
      <p:sp>
        <p:nvSpPr>
          <p:cNvPr id="8" name="Shape 6"/>
          <p:cNvSpPr/>
          <p:nvPr/>
        </p:nvSpPr>
        <p:spPr>
          <a:xfrm>
            <a:off x="914400" y="914400"/>
            <a:ext cx="914400" cy="914400"/>
          </a:xfrm>
          <a:prstGeom prst="line">
            <a:avLst/>
          </a:prstGeom>
          <a:noFill/>
          <a:ln w="15240">
            <a:solidFill>
              <a:srgbClr val="6E4A2A">
                <a:alpha val="85000"/>
              </a:srgbClr>
            </a:solidFill>
            <a:prstDash val="solid"/>
          </a:ln>
        </p:spPr>
      </p:sp>
      <p:sp>
        <p:nvSpPr>
          <p:cNvPr id="9" name="Shape 7"/>
          <p:cNvSpPr/>
          <p:nvPr/>
        </p:nvSpPr>
        <p:spPr>
          <a:xfrm>
            <a:off x="914400" y="914400"/>
            <a:ext cx="914400" cy="914400"/>
          </a:xfrm>
          <a:prstGeom prst="line">
            <a:avLst/>
          </a:prstGeom>
          <a:noFill/>
          <a:ln w="15240">
            <a:solidFill>
              <a:srgbClr val="6E4A2A">
                <a:alpha val="85000"/>
              </a:srgbClr>
            </a:solidFill>
            <a:prstDash val="solid"/>
          </a:ln>
        </p:spPr>
      </p:sp>
      <p:sp>
        <p:nvSpPr>
          <p:cNvPr id="10" name="Shape 8"/>
          <p:cNvSpPr/>
          <p:nvPr/>
        </p:nvSpPr>
        <p:spPr>
          <a:xfrm>
            <a:off x="914400" y="914400"/>
            <a:ext cx="914400" cy="914400"/>
          </a:xfrm>
          <a:prstGeom prst="line">
            <a:avLst/>
          </a:prstGeom>
          <a:noFill/>
          <a:ln w="15240">
            <a:solidFill>
              <a:srgbClr val="6E4A2A">
                <a:alpha val="85000"/>
              </a:srgbClr>
            </a:solidFill>
            <a:prstDash val="solid"/>
          </a:ln>
        </p:spPr>
      </p:sp>
      <p:sp>
        <p:nvSpPr>
          <p:cNvPr id="11" name="Shape 9"/>
          <p:cNvSpPr/>
          <p:nvPr/>
        </p:nvSpPr>
        <p:spPr>
          <a:xfrm>
            <a:off x="914400" y="914400"/>
            <a:ext cx="914400" cy="914400"/>
          </a:xfrm>
          <a:prstGeom prst="line">
            <a:avLst/>
          </a:prstGeom>
          <a:noFill/>
          <a:ln w="15240">
            <a:solidFill>
              <a:srgbClr val="6E4A2A">
                <a:alpha val="85000"/>
              </a:srgbClr>
            </a:solidFill>
            <a:prstDash val="solid"/>
          </a:ln>
        </p:spPr>
      </p:sp>
      <p:sp>
        <p:nvSpPr>
          <p:cNvPr id="12" name="Shape 10"/>
          <p:cNvSpPr/>
          <p:nvPr/>
        </p:nvSpPr>
        <p:spPr>
          <a:xfrm>
            <a:off x="914400" y="914400"/>
            <a:ext cx="914400" cy="914400"/>
          </a:xfrm>
          <a:prstGeom prst="line">
            <a:avLst/>
          </a:prstGeom>
          <a:noFill/>
          <a:ln w="15240">
            <a:solidFill>
              <a:srgbClr val="6E4A2A">
                <a:alpha val="85000"/>
              </a:srgbClr>
            </a:solidFill>
            <a:prstDash val="solid"/>
          </a:ln>
        </p:spPr>
      </p:sp>
      <p:sp>
        <p:nvSpPr>
          <p:cNvPr id="13" name="Shape 11"/>
          <p:cNvSpPr/>
          <p:nvPr/>
        </p:nvSpPr>
        <p:spPr>
          <a:xfrm>
            <a:off x="914400" y="914400"/>
            <a:ext cx="914400" cy="914400"/>
          </a:xfrm>
          <a:prstGeom prst="line">
            <a:avLst/>
          </a:prstGeom>
          <a:noFill/>
          <a:ln w="15240">
            <a:solidFill>
              <a:srgbClr val="6E4A2A">
                <a:alpha val="85000"/>
              </a:srgbClr>
            </a:solidFill>
            <a:prstDash val="solid"/>
          </a:ln>
        </p:spPr>
      </p:sp>
      <p:sp>
        <p:nvSpPr>
          <p:cNvPr id="14" name="Shape 12"/>
          <p:cNvSpPr/>
          <p:nvPr/>
        </p:nvSpPr>
        <p:spPr>
          <a:xfrm>
            <a:off x="914400" y="914400"/>
            <a:ext cx="914400" cy="914400"/>
          </a:xfrm>
          <a:prstGeom prst="line">
            <a:avLst/>
          </a:prstGeom>
          <a:noFill/>
          <a:ln w="15240">
            <a:solidFill>
              <a:srgbClr val="6E4A2A">
                <a:alpha val="85000"/>
              </a:srgbClr>
            </a:solidFill>
            <a:prstDash val="solid"/>
          </a:ln>
        </p:spPr>
      </p:sp>
      <p:sp>
        <p:nvSpPr>
          <p:cNvPr id="15" name="Shape 13"/>
          <p:cNvSpPr/>
          <p:nvPr/>
        </p:nvSpPr>
        <p:spPr>
          <a:xfrm>
            <a:off x="914400" y="914400"/>
            <a:ext cx="914400" cy="914400"/>
          </a:xfrm>
          <a:prstGeom prst="line">
            <a:avLst/>
          </a:prstGeom>
          <a:noFill/>
          <a:ln w="15240">
            <a:solidFill>
              <a:srgbClr val="6E4A2A">
                <a:alpha val="85000"/>
              </a:srgbClr>
            </a:solidFill>
            <a:prstDash val="solid"/>
          </a:ln>
        </p:spPr>
      </p:sp>
      <p:sp>
        <p:nvSpPr>
          <p:cNvPr id="16" name="Shape 14"/>
          <p:cNvSpPr/>
          <p:nvPr/>
        </p:nvSpPr>
        <p:spPr>
          <a:xfrm>
            <a:off x="914400" y="914400"/>
            <a:ext cx="914400" cy="914400"/>
          </a:xfrm>
          <a:prstGeom prst="line">
            <a:avLst/>
          </a:prstGeom>
          <a:noFill/>
          <a:ln w="15240">
            <a:solidFill>
              <a:srgbClr val="6E4A2A">
                <a:alpha val="85000"/>
              </a:srgbClr>
            </a:solidFill>
            <a:prstDash val="solid"/>
          </a:ln>
        </p:spPr>
      </p:sp>
      <p:sp>
        <p:nvSpPr>
          <p:cNvPr id="17" name="Shape 15"/>
          <p:cNvSpPr/>
          <p:nvPr/>
        </p:nvSpPr>
        <p:spPr>
          <a:xfrm>
            <a:off x="914400" y="914400"/>
            <a:ext cx="914400" cy="914400"/>
          </a:xfrm>
          <a:prstGeom prst="line">
            <a:avLst/>
          </a:prstGeom>
          <a:noFill/>
          <a:ln w="15240">
            <a:solidFill>
              <a:srgbClr val="6E4A2A">
                <a:alpha val="85000"/>
              </a:srgbClr>
            </a:solidFill>
            <a:prstDash val="solid"/>
          </a:ln>
        </p:spPr>
      </p:sp>
      <p:sp>
        <p:nvSpPr>
          <p:cNvPr id="18" name="Shape 16"/>
          <p:cNvSpPr/>
          <p:nvPr/>
        </p:nvSpPr>
        <p:spPr>
          <a:xfrm>
            <a:off x="914400" y="914400"/>
            <a:ext cx="914400" cy="914400"/>
          </a:xfrm>
          <a:prstGeom prst="line">
            <a:avLst/>
          </a:prstGeom>
          <a:noFill/>
          <a:ln w="15240">
            <a:solidFill>
              <a:srgbClr val="6E4A2A">
                <a:alpha val="85000"/>
              </a:srgbClr>
            </a:solidFill>
            <a:prstDash val="solid"/>
          </a:ln>
        </p:spPr>
      </p:sp>
      <p:sp>
        <p:nvSpPr>
          <p:cNvPr id="19" name="Shape 17"/>
          <p:cNvSpPr/>
          <p:nvPr/>
        </p:nvSpPr>
        <p:spPr>
          <a:xfrm>
            <a:off x="914400" y="914400"/>
            <a:ext cx="914400" cy="914400"/>
          </a:xfrm>
          <a:prstGeom prst="line">
            <a:avLst/>
          </a:prstGeom>
          <a:noFill/>
          <a:ln w="15240">
            <a:solidFill>
              <a:srgbClr val="6E4A2A">
                <a:alpha val="85000"/>
              </a:srgbClr>
            </a:solidFill>
            <a:prstDash val="solid"/>
          </a:ln>
        </p:spPr>
      </p:sp>
      <p:sp>
        <p:nvSpPr>
          <p:cNvPr id="20" name="Shape 18"/>
          <p:cNvSpPr/>
          <p:nvPr/>
        </p:nvSpPr>
        <p:spPr>
          <a:xfrm>
            <a:off x="914400" y="914400"/>
            <a:ext cx="914400" cy="914400"/>
          </a:xfrm>
          <a:prstGeom prst="line">
            <a:avLst/>
          </a:prstGeom>
          <a:noFill/>
          <a:ln w="15240">
            <a:solidFill>
              <a:srgbClr val="6E4A2A">
                <a:alpha val="85000"/>
              </a:srgbClr>
            </a:solidFill>
            <a:prstDash val="solid"/>
          </a:ln>
        </p:spPr>
      </p:sp>
      <p:sp>
        <p:nvSpPr>
          <p:cNvPr id="21" name="Shape 19"/>
          <p:cNvSpPr/>
          <p:nvPr/>
        </p:nvSpPr>
        <p:spPr>
          <a:xfrm>
            <a:off x="914400" y="914400"/>
            <a:ext cx="914400" cy="914400"/>
          </a:xfrm>
          <a:prstGeom prst="line">
            <a:avLst/>
          </a:prstGeom>
          <a:noFill/>
          <a:ln w="15240">
            <a:solidFill>
              <a:srgbClr val="6E4A2A">
                <a:alpha val="85000"/>
              </a:srgbClr>
            </a:solidFill>
            <a:prstDash val="solid"/>
          </a:ln>
        </p:spPr>
      </p:sp>
      <p:sp>
        <p:nvSpPr>
          <p:cNvPr id="22" name="Shape 20"/>
          <p:cNvSpPr/>
          <p:nvPr/>
        </p:nvSpPr>
        <p:spPr>
          <a:xfrm>
            <a:off x="914400" y="914400"/>
            <a:ext cx="914400" cy="914400"/>
          </a:xfrm>
          <a:prstGeom prst="line">
            <a:avLst/>
          </a:prstGeom>
          <a:noFill/>
          <a:ln w="15240">
            <a:solidFill>
              <a:srgbClr val="6E4A2A">
                <a:alpha val="85000"/>
              </a:srgbClr>
            </a:solidFill>
            <a:prstDash val="solid"/>
          </a:ln>
        </p:spPr>
      </p:sp>
      <p:sp>
        <p:nvSpPr>
          <p:cNvPr id="23" name="Shape 21"/>
          <p:cNvSpPr/>
          <p:nvPr/>
        </p:nvSpPr>
        <p:spPr>
          <a:xfrm>
            <a:off x="914400" y="914400"/>
            <a:ext cx="914400" cy="914400"/>
          </a:xfrm>
          <a:prstGeom prst="line">
            <a:avLst/>
          </a:prstGeom>
          <a:noFill/>
          <a:ln w="15240">
            <a:solidFill>
              <a:srgbClr val="6E4A2A">
                <a:alpha val="85000"/>
              </a:srgbClr>
            </a:solidFill>
            <a:prstDash val="solid"/>
          </a:ln>
        </p:spPr>
      </p:sp>
      <p:sp>
        <p:nvSpPr>
          <p:cNvPr id="24" name="Shape 22"/>
          <p:cNvSpPr/>
          <p:nvPr/>
        </p:nvSpPr>
        <p:spPr>
          <a:xfrm>
            <a:off x="914400" y="914400"/>
            <a:ext cx="914400" cy="914400"/>
          </a:xfrm>
          <a:prstGeom prst="line">
            <a:avLst/>
          </a:prstGeom>
          <a:noFill/>
          <a:ln w="15240">
            <a:solidFill>
              <a:srgbClr val="6E4A2A">
                <a:alpha val="85000"/>
              </a:srgbClr>
            </a:solidFill>
            <a:prstDash val="solid"/>
          </a:ln>
        </p:spPr>
      </p:sp>
      <p:sp>
        <p:nvSpPr>
          <p:cNvPr id="25" name="Shape 23"/>
          <p:cNvSpPr/>
          <p:nvPr/>
        </p:nvSpPr>
        <p:spPr>
          <a:xfrm>
            <a:off x="914400" y="914400"/>
            <a:ext cx="914400" cy="914400"/>
          </a:xfrm>
          <a:prstGeom prst="line">
            <a:avLst/>
          </a:prstGeom>
          <a:noFill/>
          <a:ln w="15240">
            <a:solidFill>
              <a:srgbClr val="6E4A2A">
                <a:alpha val="85000"/>
              </a:srgbClr>
            </a:solidFill>
            <a:prstDash val="solid"/>
          </a:ln>
        </p:spPr>
      </p:sp>
      <p:sp>
        <p:nvSpPr>
          <p:cNvPr id="26" name="Shape 24"/>
          <p:cNvSpPr/>
          <p:nvPr/>
        </p:nvSpPr>
        <p:spPr>
          <a:xfrm>
            <a:off x="914400" y="914400"/>
            <a:ext cx="914400" cy="914400"/>
          </a:xfrm>
          <a:prstGeom prst="line">
            <a:avLst/>
          </a:prstGeom>
          <a:noFill/>
          <a:ln w="15240">
            <a:solidFill>
              <a:srgbClr val="6E4A2A">
                <a:alpha val="85000"/>
              </a:srgbClr>
            </a:solidFill>
            <a:prstDash val="solid"/>
          </a:ln>
        </p:spPr>
      </p:sp>
      <p:sp>
        <p:nvSpPr>
          <p:cNvPr id="27" name="Shape 25"/>
          <p:cNvSpPr/>
          <p:nvPr/>
        </p:nvSpPr>
        <p:spPr>
          <a:xfrm>
            <a:off x="914400" y="914400"/>
            <a:ext cx="914400" cy="914400"/>
          </a:xfrm>
          <a:prstGeom prst="line">
            <a:avLst/>
          </a:prstGeom>
          <a:noFill/>
          <a:ln w="15240">
            <a:solidFill>
              <a:srgbClr val="6E4A2A">
                <a:alpha val="85000"/>
              </a:srgbClr>
            </a:solidFill>
            <a:prstDash val="solid"/>
          </a:ln>
        </p:spPr>
      </p:sp>
      <p:sp>
        <p:nvSpPr>
          <p:cNvPr id="28" name="Shape 26"/>
          <p:cNvSpPr/>
          <p:nvPr/>
        </p:nvSpPr>
        <p:spPr>
          <a:xfrm>
            <a:off x="914400" y="914400"/>
            <a:ext cx="914400" cy="914400"/>
          </a:xfrm>
          <a:prstGeom prst="line">
            <a:avLst/>
          </a:prstGeom>
          <a:noFill/>
          <a:ln w="15240">
            <a:solidFill>
              <a:srgbClr val="6E4A2A">
                <a:alpha val="85000"/>
              </a:srgbClr>
            </a:solidFill>
            <a:prstDash val="solid"/>
          </a:ln>
        </p:spPr>
      </p:sp>
      <p:sp>
        <p:nvSpPr>
          <p:cNvPr id="29" name="Shape 27"/>
          <p:cNvSpPr/>
          <p:nvPr/>
        </p:nvSpPr>
        <p:spPr>
          <a:xfrm>
            <a:off x="914400" y="914400"/>
            <a:ext cx="914400" cy="914400"/>
          </a:xfrm>
          <a:prstGeom prst="line">
            <a:avLst/>
          </a:prstGeom>
          <a:noFill/>
          <a:ln w="15240">
            <a:solidFill>
              <a:srgbClr val="6E4A2A">
                <a:alpha val="85000"/>
              </a:srgbClr>
            </a:solidFill>
            <a:prstDash val="solid"/>
          </a:ln>
        </p:spPr>
      </p:sp>
      <p:sp>
        <p:nvSpPr>
          <p:cNvPr id="30" name="Shape 28"/>
          <p:cNvSpPr/>
          <p:nvPr/>
        </p:nvSpPr>
        <p:spPr>
          <a:xfrm>
            <a:off x="914400" y="914400"/>
            <a:ext cx="914400" cy="914400"/>
          </a:xfrm>
          <a:prstGeom prst="line">
            <a:avLst/>
          </a:prstGeom>
          <a:noFill/>
          <a:ln w="15240">
            <a:solidFill>
              <a:srgbClr val="6E4A2A">
                <a:alpha val="85000"/>
              </a:srgbClr>
            </a:solidFill>
            <a:prstDash val="solid"/>
          </a:ln>
        </p:spPr>
      </p:sp>
      <p:sp>
        <p:nvSpPr>
          <p:cNvPr id="31" name="Shape 29"/>
          <p:cNvSpPr/>
          <p:nvPr/>
        </p:nvSpPr>
        <p:spPr>
          <a:xfrm>
            <a:off x="914400" y="914400"/>
            <a:ext cx="914400" cy="914400"/>
          </a:xfrm>
          <a:prstGeom prst="line">
            <a:avLst/>
          </a:prstGeom>
          <a:noFill/>
          <a:ln w="15240">
            <a:solidFill>
              <a:srgbClr val="6E4A2A">
                <a:alpha val="85000"/>
              </a:srgbClr>
            </a:solidFill>
            <a:prstDash val="solid"/>
          </a:ln>
        </p:spPr>
      </p:sp>
      <p:sp>
        <p:nvSpPr>
          <p:cNvPr id="32" name="Shape 30"/>
          <p:cNvSpPr/>
          <p:nvPr/>
        </p:nvSpPr>
        <p:spPr>
          <a:xfrm>
            <a:off x="914400" y="914400"/>
            <a:ext cx="914400" cy="914400"/>
          </a:xfrm>
          <a:prstGeom prst="line">
            <a:avLst/>
          </a:prstGeom>
          <a:noFill/>
          <a:ln w="15240">
            <a:solidFill>
              <a:srgbClr val="6E4A2A">
                <a:alpha val="85000"/>
              </a:srgbClr>
            </a:solidFill>
            <a:prstDash val="solid"/>
          </a:ln>
        </p:spPr>
      </p:sp>
      <p:sp>
        <p:nvSpPr>
          <p:cNvPr id="33" name="Shape 31"/>
          <p:cNvSpPr/>
          <p:nvPr/>
        </p:nvSpPr>
        <p:spPr>
          <a:xfrm>
            <a:off x="914400" y="914400"/>
            <a:ext cx="914400" cy="914400"/>
          </a:xfrm>
          <a:prstGeom prst="line">
            <a:avLst/>
          </a:prstGeom>
          <a:noFill/>
          <a:ln w="6350">
            <a:solidFill>
              <a:srgbClr val="9B754A">
                <a:alpha val="65000"/>
              </a:srgbClr>
            </a:solidFill>
            <a:prstDash val="solid"/>
          </a:ln>
        </p:spPr>
      </p:sp>
      <p:sp>
        <p:nvSpPr>
          <p:cNvPr id="34" name="Shape 32"/>
          <p:cNvSpPr/>
          <p:nvPr/>
        </p:nvSpPr>
        <p:spPr>
          <a:xfrm>
            <a:off x="914400" y="914400"/>
            <a:ext cx="914400" cy="914400"/>
          </a:xfrm>
          <a:prstGeom prst="line">
            <a:avLst/>
          </a:prstGeom>
          <a:noFill/>
          <a:ln w="6350">
            <a:solidFill>
              <a:srgbClr val="9B754A">
                <a:alpha val="65000"/>
              </a:srgbClr>
            </a:solidFill>
            <a:prstDash val="solid"/>
          </a:ln>
        </p:spPr>
      </p:sp>
      <p:sp>
        <p:nvSpPr>
          <p:cNvPr id="35" name="Shape 33"/>
          <p:cNvSpPr/>
          <p:nvPr/>
        </p:nvSpPr>
        <p:spPr>
          <a:xfrm>
            <a:off x="914400" y="914400"/>
            <a:ext cx="914400" cy="914400"/>
          </a:xfrm>
          <a:prstGeom prst="line">
            <a:avLst/>
          </a:prstGeom>
          <a:noFill/>
          <a:ln w="6350">
            <a:solidFill>
              <a:srgbClr val="9B754A">
                <a:alpha val="65000"/>
              </a:srgbClr>
            </a:solidFill>
            <a:prstDash val="solid"/>
          </a:ln>
        </p:spPr>
      </p:sp>
      <p:sp>
        <p:nvSpPr>
          <p:cNvPr id="36" name="Shape 34"/>
          <p:cNvSpPr/>
          <p:nvPr/>
        </p:nvSpPr>
        <p:spPr>
          <a:xfrm>
            <a:off x="914400" y="914400"/>
            <a:ext cx="914400" cy="914400"/>
          </a:xfrm>
          <a:prstGeom prst="line">
            <a:avLst/>
          </a:prstGeom>
          <a:noFill/>
          <a:ln w="6350">
            <a:solidFill>
              <a:srgbClr val="9B754A">
                <a:alpha val="65000"/>
              </a:srgbClr>
            </a:solidFill>
            <a:prstDash val="solid"/>
          </a:ln>
        </p:spPr>
      </p:sp>
      <p:sp>
        <p:nvSpPr>
          <p:cNvPr id="37" name="Shape 35"/>
          <p:cNvSpPr/>
          <p:nvPr/>
        </p:nvSpPr>
        <p:spPr>
          <a:xfrm>
            <a:off x="914400" y="914400"/>
            <a:ext cx="914400" cy="914400"/>
          </a:xfrm>
          <a:prstGeom prst="line">
            <a:avLst/>
          </a:prstGeom>
          <a:noFill/>
          <a:ln w="6350">
            <a:solidFill>
              <a:srgbClr val="9B754A">
                <a:alpha val="65000"/>
              </a:srgbClr>
            </a:solidFill>
            <a:prstDash val="solid"/>
          </a:ln>
        </p:spPr>
      </p:sp>
      <p:sp>
        <p:nvSpPr>
          <p:cNvPr id="38" name="Shape 36"/>
          <p:cNvSpPr/>
          <p:nvPr/>
        </p:nvSpPr>
        <p:spPr>
          <a:xfrm>
            <a:off x="914400" y="914400"/>
            <a:ext cx="914400" cy="914400"/>
          </a:xfrm>
          <a:prstGeom prst="line">
            <a:avLst/>
          </a:prstGeom>
          <a:noFill/>
          <a:ln w="6350">
            <a:solidFill>
              <a:srgbClr val="9B754A">
                <a:alpha val="65000"/>
              </a:srgbClr>
            </a:solidFill>
            <a:prstDash val="solid"/>
          </a:ln>
        </p:spPr>
      </p:sp>
      <p:pic>
        <p:nvPicPr>
          <p:cNvPr id="3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652760" y="164592"/>
            <a:ext cx="1005840" cy="1005840"/>
          </a:xfrm>
          <a:prstGeom prst="rect">
            <a:avLst/>
          </a:prstGeom>
        </p:spPr>
      </p:pic>
      <p:sp>
        <p:nvSpPr>
          <p:cNvPr id="40" name="Text 37"/>
          <p:cNvSpPr/>
          <p:nvPr/>
        </p:nvSpPr>
        <p:spPr>
          <a:xfrm>
            <a:off x="658368" y="420624"/>
            <a:ext cx="7132320" cy="457200"/>
          </a:xfrm>
          <a:prstGeom prst="rect">
            <a:avLst/>
          </a:prstGeom>
          <a:noFill/>
          <a:ln/>
        </p:spPr>
        <p:txBody>
          <a:bodyPr wrap="square" lIns="0" tIns="0" rIns="0" bIns="0" rtlCol="0" anchor="ctr"/>
          <a:lstStyle/>
          <a:p>
            <a:pPr indent="0" marL="0">
              <a:buNone/>
            </a:pPr>
            <a:r>
              <a:rPr lang="en-US" sz="2200" dirty="0">
                <a:solidFill>
                  <a:srgbClr val="FFFFFF"/>
                </a:solidFill>
                <a:latin typeface="Aptos" pitchFamily="34" charset="0"/>
                <a:ea typeface="Aptos" pitchFamily="34" charset="-122"/>
                <a:cs typeface="Aptos" pitchFamily="34" charset="-120"/>
              </a:rPr>
              <a:t>TEAMREFLECTIE – JONAS</a:t>
            </a:r>
            <a:endParaRPr lang="en-US" sz="2200" dirty="0"/>
          </a:p>
        </p:txBody>
      </p:sp>
      <p:sp>
        <p:nvSpPr>
          <p:cNvPr id="41" name="Text 38"/>
          <p:cNvSpPr/>
          <p:nvPr/>
        </p:nvSpPr>
        <p:spPr>
          <a:xfrm>
            <a:off x="676656" y="868680"/>
            <a:ext cx="7772400" cy="228600"/>
          </a:xfrm>
          <a:prstGeom prst="rect">
            <a:avLst/>
          </a:prstGeom>
          <a:noFill/>
          <a:ln/>
        </p:spPr>
        <p:txBody>
          <a:bodyPr wrap="square" lIns="0" tIns="0" rIns="0" bIns="0" rtlCol="0" anchor="ctr"/>
          <a:lstStyle/>
          <a:p>
            <a:pPr indent="0" marL="0">
              <a:buNone/>
            </a:pPr>
            <a:r>
              <a:rPr lang="en-US" sz="1000" i="1" dirty="0">
                <a:solidFill>
                  <a:srgbClr val="E0B24A"/>
                </a:solidFill>
                <a:latin typeface="Aptos" pitchFamily="34" charset="0"/>
                <a:ea typeface="Aptos" pitchFamily="34" charset="-122"/>
                <a:cs typeface="Aptos" pitchFamily="34" charset="-120"/>
              </a:rPr>
              <a:t>WS3.2 Challenge M2</a:t>
            </a:r>
            <a:endParaRPr lang="en-US" sz="1000" dirty="0"/>
          </a:p>
        </p:txBody>
      </p:sp>
      <p:sp>
        <p:nvSpPr>
          <p:cNvPr id="42" name="Text 39"/>
          <p:cNvSpPr/>
          <p:nvPr/>
        </p:nvSpPr>
        <p:spPr>
          <a:xfrm>
            <a:off x="896112" y="1399032"/>
            <a:ext cx="164592" cy="201168"/>
          </a:xfrm>
          <a:prstGeom prst="rect">
            <a:avLst/>
          </a:prstGeom>
          <a:noFill/>
          <a:ln/>
        </p:spPr>
        <p:txBody>
          <a:bodyPr wrap="square" lIns="0" tIns="0" rIns="0" bIns="0" rtlCol="0" anchor="ctr"/>
          <a:lstStyle/>
          <a:p>
            <a:pPr indent="0" marL="0">
              <a:buNone/>
            </a:pPr>
            <a:r>
              <a:rPr lang="en-US" sz="1800" dirty="0">
                <a:solidFill>
                  <a:srgbClr val="E0B24A"/>
                </a:solidFill>
                <a:latin typeface="Aptos" pitchFamily="34" charset="0"/>
                <a:ea typeface="Aptos" pitchFamily="34" charset="-122"/>
                <a:cs typeface="Aptos" pitchFamily="34" charset="-120"/>
              </a:rPr>
              <a:t>•</a:t>
            </a:r>
            <a:endParaRPr lang="en-US" sz="1800" dirty="0"/>
          </a:p>
        </p:txBody>
      </p:sp>
      <p:sp>
        <p:nvSpPr>
          <p:cNvPr id="43" name="Text 40"/>
          <p:cNvSpPr/>
          <p:nvPr/>
        </p:nvSpPr>
        <p:spPr>
          <a:xfrm>
            <a:off x="1133856" y="1389888"/>
            <a:ext cx="6126480" cy="658368"/>
          </a:xfrm>
          <a:prstGeom prst="rect">
            <a:avLst/>
          </a:prstGeom>
          <a:noFill/>
          <a:ln/>
        </p:spPr>
        <p:txBody>
          <a:bodyPr wrap="square" lIns="0" tIns="0" rIns="0" bIns="0" rtlCol="0" anchor="ctr">
            <a:normAutofit/>
          </a:bodyPr>
          <a:lstStyle/>
          <a:p>
            <a:pPr indent="0" marL="0">
              <a:buNone/>
            </a:pPr>
            <a:r>
              <a:rPr lang="en-US" sz="1550" b="1" dirty="0">
                <a:solidFill>
                  <a:srgbClr val="FFFFFF"/>
                </a:solidFill>
                <a:latin typeface="Aptos" pitchFamily="34" charset="0"/>
                <a:ea typeface="Aptos" pitchFamily="34" charset="-122"/>
                <a:cs typeface="Aptos" pitchFamily="34" charset="-120"/>
              </a:rPr>
              <a:t>Key behaviour — </a:t>
            </a:r>
            <a:pPr indent="0" marL="0">
              <a:buNone/>
            </a:pPr>
            <a:r>
              <a:rPr lang="en-US" sz="1550" dirty="0">
                <a:solidFill>
                  <a:srgbClr val="F2F2F2"/>
                </a:solidFill>
                <a:latin typeface="Aptos" pitchFamily="34" charset="0"/>
                <a:ea typeface="Aptos" pitchFamily="34" charset="-122"/>
                <a:cs typeface="Aptos" pitchFamily="34" charset="-120"/>
              </a:rPr>
              <a:t>Ik herken vooral act with urgency en deels sharing power; be transparent bleef in de onduidelijke startsituatie achter.</a:t>
            </a:r>
            <a:endParaRPr lang="en-US" sz="1550" dirty="0"/>
          </a:p>
        </p:txBody>
      </p:sp>
      <p:sp>
        <p:nvSpPr>
          <p:cNvPr id="44" name="Text 41"/>
          <p:cNvSpPr/>
          <p:nvPr/>
        </p:nvSpPr>
        <p:spPr>
          <a:xfrm>
            <a:off x="896112" y="2340864"/>
            <a:ext cx="164592" cy="201168"/>
          </a:xfrm>
          <a:prstGeom prst="rect">
            <a:avLst/>
          </a:prstGeom>
          <a:noFill/>
          <a:ln/>
        </p:spPr>
        <p:txBody>
          <a:bodyPr wrap="square" lIns="0" tIns="0" rIns="0" bIns="0" rtlCol="0" anchor="ctr"/>
          <a:lstStyle/>
          <a:p>
            <a:pPr indent="0" marL="0">
              <a:buNone/>
            </a:pPr>
            <a:r>
              <a:rPr lang="en-US" sz="1800" dirty="0">
                <a:solidFill>
                  <a:srgbClr val="E0B24A"/>
                </a:solidFill>
                <a:latin typeface="Aptos" pitchFamily="34" charset="0"/>
                <a:ea typeface="Aptos" pitchFamily="34" charset="-122"/>
                <a:cs typeface="Aptos" pitchFamily="34" charset="-120"/>
              </a:rPr>
              <a:t>•</a:t>
            </a:r>
            <a:endParaRPr lang="en-US" sz="1800" dirty="0"/>
          </a:p>
        </p:txBody>
      </p:sp>
      <p:sp>
        <p:nvSpPr>
          <p:cNvPr id="45" name="Text 42"/>
          <p:cNvSpPr/>
          <p:nvPr/>
        </p:nvSpPr>
        <p:spPr>
          <a:xfrm>
            <a:off x="1133856" y="2331720"/>
            <a:ext cx="6126480" cy="658368"/>
          </a:xfrm>
          <a:prstGeom prst="rect">
            <a:avLst/>
          </a:prstGeom>
          <a:noFill/>
          <a:ln/>
        </p:spPr>
        <p:txBody>
          <a:bodyPr wrap="square" lIns="0" tIns="0" rIns="0" bIns="0" rtlCol="0" anchor="ctr">
            <a:normAutofit/>
          </a:bodyPr>
          <a:lstStyle/>
          <a:p>
            <a:pPr indent="0" marL="0">
              <a:buNone/>
            </a:pPr>
            <a:r>
              <a:rPr lang="en-US" sz="1550" b="1" dirty="0">
                <a:solidFill>
                  <a:srgbClr val="FFFFFF"/>
                </a:solidFill>
                <a:latin typeface="Aptos" pitchFamily="34" charset="0"/>
                <a:ea typeface="Aptos" pitchFamily="34" charset="-122"/>
                <a:cs typeface="Aptos" pitchFamily="34" charset="-120"/>
              </a:rPr>
              <a:t>Samenwerking — </a:t>
            </a:r>
            <a:pPr indent="0" marL="0">
              <a:buNone/>
            </a:pPr>
            <a:r>
              <a:rPr lang="en-US" sz="1550" dirty="0">
                <a:solidFill>
                  <a:srgbClr val="F2F2F2"/>
                </a:solidFill>
                <a:latin typeface="Aptos" pitchFamily="34" charset="0"/>
                <a:ea typeface="Aptos" pitchFamily="34" charset="-122"/>
                <a:cs typeface="Aptos" pitchFamily="34" charset="-120"/>
              </a:rPr>
              <a:t>Vooraf waren we goed voorbereid, maar de onverwachte opsplitsing zorgde ervoor dat ik in een onbekende groep terechtkwam.</a:t>
            </a:r>
            <a:endParaRPr lang="en-US" sz="1550" dirty="0"/>
          </a:p>
        </p:txBody>
      </p:sp>
      <p:sp>
        <p:nvSpPr>
          <p:cNvPr id="46" name="Text 43"/>
          <p:cNvSpPr/>
          <p:nvPr/>
        </p:nvSpPr>
        <p:spPr>
          <a:xfrm>
            <a:off x="896112" y="3282696"/>
            <a:ext cx="164592" cy="201168"/>
          </a:xfrm>
          <a:prstGeom prst="rect">
            <a:avLst/>
          </a:prstGeom>
          <a:noFill/>
          <a:ln/>
        </p:spPr>
        <p:txBody>
          <a:bodyPr wrap="square" lIns="0" tIns="0" rIns="0" bIns="0" rtlCol="0" anchor="ctr"/>
          <a:lstStyle/>
          <a:p>
            <a:pPr indent="0" marL="0">
              <a:buNone/>
            </a:pPr>
            <a:r>
              <a:rPr lang="en-US" sz="1800" dirty="0">
                <a:solidFill>
                  <a:srgbClr val="E0B24A"/>
                </a:solidFill>
                <a:latin typeface="Aptos" pitchFamily="34" charset="0"/>
                <a:ea typeface="Aptos" pitchFamily="34" charset="-122"/>
                <a:cs typeface="Aptos" pitchFamily="34" charset="-120"/>
              </a:rPr>
              <a:t>•</a:t>
            </a:r>
            <a:endParaRPr lang="en-US" sz="1800" dirty="0"/>
          </a:p>
        </p:txBody>
      </p:sp>
      <p:sp>
        <p:nvSpPr>
          <p:cNvPr id="47" name="Text 44"/>
          <p:cNvSpPr/>
          <p:nvPr/>
        </p:nvSpPr>
        <p:spPr>
          <a:xfrm>
            <a:off x="1133856" y="3273552"/>
            <a:ext cx="6126480" cy="658368"/>
          </a:xfrm>
          <a:prstGeom prst="rect">
            <a:avLst/>
          </a:prstGeom>
          <a:noFill/>
          <a:ln/>
        </p:spPr>
        <p:txBody>
          <a:bodyPr wrap="square" lIns="0" tIns="0" rIns="0" bIns="0" rtlCol="0" anchor="ctr">
            <a:normAutofit/>
          </a:bodyPr>
          <a:lstStyle/>
          <a:p>
            <a:pPr indent="0" marL="0">
              <a:buNone/>
            </a:pPr>
            <a:r>
              <a:rPr lang="en-US" sz="1550" b="1" dirty="0">
                <a:solidFill>
                  <a:srgbClr val="FFFFFF"/>
                </a:solidFill>
                <a:latin typeface="Aptos" pitchFamily="34" charset="0"/>
                <a:ea typeface="Aptos" pitchFamily="34" charset="-122"/>
                <a:cs typeface="Aptos" pitchFamily="34" charset="-120"/>
              </a:rPr>
              <a:t>Leiderschap — </a:t>
            </a:r>
            <a:pPr indent="0" marL="0">
              <a:buNone/>
            </a:pPr>
            <a:r>
              <a:rPr lang="en-US" sz="1550" dirty="0">
                <a:solidFill>
                  <a:srgbClr val="F2F2F2"/>
                </a:solidFill>
                <a:latin typeface="Aptos" pitchFamily="34" charset="0"/>
                <a:ea typeface="Aptos" pitchFamily="34" charset="-122"/>
                <a:cs typeface="Aptos" pitchFamily="34" charset="-120"/>
              </a:rPr>
              <a:t>Als voorzitter van het crisisteam had ik meer moeten instrueren en coachen; motiveren en delegeren waren minder passend.</a:t>
            </a:r>
            <a:endParaRPr lang="en-US" sz="1550" dirty="0"/>
          </a:p>
        </p:txBody>
      </p:sp>
      <p:sp>
        <p:nvSpPr>
          <p:cNvPr id="48" name="Text 45"/>
          <p:cNvSpPr/>
          <p:nvPr/>
        </p:nvSpPr>
        <p:spPr>
          <a:xfrm>
            <a:off x="896112" y="4224528"/>
            <a:ext cx="164592" cy="201168"/>
          </a:xfrm>
          <a:prstGeom prst="rect">
            <a:avLst/>
          </a:prstGeom>
          <a:noFill/>
          <a:ln/>
        </p:spPr>
        <p:txBody>
          <a:bodyPr wrap="square" lIns="0" tIns="0" rIns="0" bIns="0" rtlCol="0" anchor="ctr"/>
          <a:lstStyle/>
          <a:p>
            <a:pPr indent="0" marL="0">
              <a:buNone/>
            </a:pPr>
            <a:r>
              <a:rPr lang="en-US" sz="1800" dirty="0">
                <a:solidFill>
                  <a:srgbClr val="E0B24A"/>
                </a:solidFill>
                <a:latin typeface="Aptos" pitchFamily="34" charset="0"/>
                <a:ea typeface="Aptos" pitchFamily="34" charset="-122"/>
                <a:cs typeface="Aptos" pitchFamily="34" charset="-120"/>
              </a:rPr>
              <a:t>•</a:t>
            </a:r>
            <a:endParaRPr lang="en-US" sz="1800" dirty="0"/>
          </a:p>
        </p:txBody>
      </p:sp>
      <p:sp>
        <p:nvSpPr>
          <p:cNvPr id="49" name="Text 46"/>
          <p:cNvSpPr/>
          <p:nvPr/>
        </p:nvSpPr>
        <p:spPr>
          <a:xfrm>
            <a:off x="1133856" y="4215384"/>
            <a:ext cx="6126480" cy="658368"/>
          </a:xfrm>
          <a:prstGeom prst="rect">
            <a:avLst/>
          </a:prstGeom>
          <a:noFill/>
          <a:ln/>
        </p:spPr>
        <p:txBody>
          <a:bodyPr wrap="square" lIns="0" tIns="0" rIns="0" bIns="0" rtlCol="0" anchor="ctr">
            <a:normAutofit/>
          </a:bodyPr>
          <a:lstStyle/>
          <a:p>
            <a:pPr indent="0" marL="0">
              <a:buNone/>
            </a:pPr>
            <a:r>
              <a:rPr lang="en-US" sz="1550" b="1" dirty="0">
                <a:solidFill>
                  <a:srgbClr val="FFFFFF"/>
                </a:solidFill>
                <a:latin typeface="Aptos" pitchFamily="34" charset="0"/>
                <a:ea typeface="Aptos" pitchFamily="34" charset="-122"/>
                <a:cs typeface="Aptos" pitchFamily="34" charset="-120"/>
              </a:rPr>
              <a:t>Achteraf anders — </a:t>
            </a:r>
            <a:pPr indent="0" marL="0">
              <a:buNone/>
            </a:pPr>
            <a:r>
              <a:rPr lang="en-US" sz="1550" dirty="0">
                <a:solidFill>
                  <a:srgbClr val="F2F2F2"/>
                </a:solidFill>
                <a:latin typeface="Aptos" pitchFamily="34" charset="0"/>
                <a:ea typeface="Aptos" pitchFamily="34" charset="-122"/>
                <a:cs typeface="Aptos" pitchFamily="34" charset="-120"/>
              </a:rPr>
              <a:t>Ik zou de inhoud meer loslaten en sterker sturen op structuur, rust, eigenaarschap en bedrijfscontinuïteit.</a:t>
            </a:r>
            <a:endParaRPr lang="en-US" sz="1550" dirty="0"/>
          </a:p>
        </p:txBody>
      </p:sp>
      <p:sp>
        <p:nvSpPr>
          <p:cNvPr id="50" name="Shape 47"/>
          <p:cNvSpPr/>
          <p:nvPr/>
        </p:nvSpPr>
        <p:spPr>
          <a:xfrm>
            <a:off x="8092440" y="1627632"/>
            <a:ext cx="3218688" cy="3246120"/>
          </a:xfrm>
          <a:prstGeom prst="roundRect">
            <a:avLst>
              <a:gd name="adj" fmla="val 1705"/>
            </a:avLst>
          </a:prstGeom>
          <a:solidFill>
            <a:srgbClr val="113C68">
              <a:alpha val="92000"/>
            </a:srgbClr>
          </a:solidFill>
          <a:ln w="15240">
            <a:solidFill>
              <a:srgbClr val="E0B24A"/>
            </a:solidFill>
            <a:prstDash val="solid"/>
          </a:ln>
        </p:spPr>
      </p:sp>
      <p:sp>
        <p:nvSpPr>
          <p:cNvPr id="51" name="Text 48"/>
          <p:cNvSpPr/>
          <p:nvPr/>
        </p:nvSpPr>
        <p:spPr>
          <a:xfrm>
            <a:off x="8339328" y="1847088"/>
            <a:ext cx="2651760" cy="292608"/>
          </a:xfrm>
          <a:prstGeom prst="rect">
            <a:avLst/>
          </a:prstGeom>
          <a:noFill/>
          <a:ln/>
        </p:spPr>
        <p:txBody>
          <a:bodyPr wrap="square" lIns="0" tIns="0" rIns="0" bIns="0" rtlCol="0" anchor="ctr"/>
          <a:lstStyle/>
          <a:p>
            <a:pPr indent="0" marL="0">
              <a:buNone/>
            </a:pPr>
            <a:r>
              <a:rPr lang="en-US" sz="1600" b="1" dirty="0">
                <a:solidFill>
                  <a:srgbClr val="E0B24A"/>
                </a:solidFill>
                <a:latin typeface="Aptos" pitchFamily="34" charset="0"/>
                <a:ea typeface="Aptos" pitchFamily="34" charset="-122"/>
                <a:cs typeface="Aptos" pitchFamily="34" charset="-120"/>
              </a:rPr>
              <a:t>BELANGRIJKSTE LES</a:t>
            </a:r>
            <a:endParaRPr lang="en-US" sz="1600" dirty="0"/>
          </a:p>
        </p:txBody>
      </p:sp>
      <p:sp>
        <p:nvSpPr>
          <p:cNvPr id="52" name="Text 49"/>
          <p:cNvSpPr/>
          <p:nvPr/>
        </p:nvSpPr>
        <p:spPr>
          <a:xfrm>
            <a:off x="8357616" y="2304288"/>
            <a:ext cx="164592" cy="164592"/>
          </a:xfrm>
          <a:prstGeom prst="rect">
            <a:avLst/>
          </a:prstGeom>
          <a:noFill/>
          <a:ln/>
        </p:spPr>
        <p:txBody>
          <a:bodyPr wrap="square" lIns="0" tIns="0" rIns="0" bIns="0" rtlCol="0" anchor="ctr"/>
          <a:lstStyle/>
          <a:p>
            <a:pPr indent="0" marL="0">
              <a:buNone/>
            </a:pPr>
            <a:r>
              <a:rPr lang="en-US" sz="1600" dirty="0">
                <a:solidFill>
                  <a:srgbClr val="E0B24A"/>
                </a:solidFill>
                <a:latin typeface="Aptos" pitchFamily="34" charset="0"/>
                <a:ea typeface="Aptos" pitchFamily="34" charset="-122"/>
                <a:cs typeface="Aptos" pitchFamily="34" charset="-120"/>
              </a:rPr>
              <a:t>•</a:t>
            </a:r>
            <a:endParaRPr lang="en-US" sz="1600" dirty="0"/>
          </a:p>
        </p:txBody>
      </p:sp>
      <p:sp>
        <p:nvSpPr>
          <p:cNvPr id="53" name="Text 50"/>
          <p:cNvSpPr/>
          <p:nvPr/>
        </p:nvSpPr>
        <p:spPr>
          <a:xfrm>
            <a:off x="8595360" y="2295144"/>
            <a:ext cx="2331720" cy="530352"/>
          </a:xfrm>
          <a:prstGeom prst="rect">
            <a:avLst/>
          </a:prstGeom>
          <a:noFill/>
          <a:ln/>
        </p:spPr>
        <p:txBody>
          <a:bodyPr wrap="square" lIns="0" tIns="0" rIns="0" bIns="0" rtlCol="0" anchor="ctr">
            <a:normAutofit/>
          </a:bodyPr>
          <a:lstStyle/>
          <a:p>
            <a:pPr indent="0" marL="0">
              <a:buNone/>
            </a:pPr>
            <a:r>
              <a:rPr lang="en-US" sz="1350" dirty="0">
                <a:solidFill>
                  <a:srgbClr val="FFFFFF"/>
                </a:solidFill>
                <a:latin typeface="Aptos" pitchFamily="34" charset="0"/>
                <a:ea typeface="Aptos" pitchFamily="34" charset="-122"/>
                <a:cs typeface="Aptos" pitchFamily="34" charset="-120"/>
              </a:rPr>
              <a:t>Meer procesbewaking</a:t>
            </a:r>
            <a:endParaRPr lang="en-US" sz="1350" dirty="0"/>
          </a:p>
        </p:txBody>
      </p:sp>
      <p:sp>
        <p:nvSpPr>
          <p:cNvPr id="54" name="Text 51"/>
          <p:cNvSpPr/>
          <p:nvPr/>
        </p:nvSpPr>
        <p:spPr>
          <a:xfrm>
            <a:off x="8357616" y="2907792"/>
            <a:ext cx="164592" cy="164592"/>
          </a:xfrm>
          <a:prstGeom prst="rect">
            <a:avLst/>
          </a:prstGeom>
          <a:noFill/>
          <a:ln/>
        </p:spPr>
        <p:txBody>
          <a:bodyPr wrap="square" lIns="0" tIns="0" rIns="0" bIns="0" rtlCol="0" anchor="ctr"/>
          <a:lstStyle/>
          <a:p>
            <a:pPr indent="0" marL="0">
              <a:buNone/>
            </a:pPr>
            <a:r>
              <a:rPr lang="en-US" sz="1600" dirty="0">
                <a:solidFill>
                  <a:srgbClr val="E0B24A"/>
                </a:solidFill>
                <a:latin typeface="Aptos" pitchFamily="34" charset="0"/>
                <a:ea typeface="Aptos" pitchFamily="34" charset="-122"/>
                <a:cs typeface="Aptos" pitchFamily="34" charset="-120"/>
              </a:rPr>
              <a:t>•</a:t>
            </a:r>
            <a:endParaRPr lang="en-US" sz="1600" dirty="0"/>
          </a:p>
        </p:txBody>
      </p:sp>
      <p:sp>
        <p:nvSpPr>
          <p:cNvPr id="55" name="Text 52"/>
          <p:cNvSpPr/>
          <p:nvPr/>
        </p:nvSpPr>
        <p:spPr>
          <a:xfrm>
            <a:off x="8595360" y="2898648"/>
            <a:ext cx="2331720" cy="530352"/>
          </a:xfrm>
          <a:prstGeom prst="rect">
            <a:avLst/>
          </a:prstGeom>
          <a:noFill/>
          <a:ln/>
        </p:spPr>
        <p:txBody>
          <a:bodyPr wrap="square" lIns="0" tIns="0" rIns="0" bIns="0" rtlCol="0" anchor="ctr">
            <a:normAutofit/>
          </a:bodyPr>
          <a:lstStyle/>
          <a:p>
            <a:pPr indent="0" marL="0">
              <a:buNone/>
            </a:pPr>
            <a:r>
              <a:rPr lang="en-US" sz="1350" dirty="0">
                <a:solidFill>
                  <a:srgbClr val="FFFFFF"/>
                </a:solidFill>
                <a:latin typeface="Aptos" pitchFamily="34" charset="0"/>
                <a:ea typeface="Aptos" pitchFamily="34" charset="-122"/>
                <a:cs typeface="Aptos" pitchFamily="34" charset="-120"/>
              </a:rPr>
              <a:t>Rust in overleg houden</a:t>
            </a:r>
            <a:endParaRPr lang="en-US" sz="1350" dirty="0"/>
          </a:p>
        </p:txBody>
      </p:sp>
      <p:sp>
        <p:nvSpPr>
          <p:cNvPr id="56" name="Text 53"/>
          <p:cNvSpPr/>
          <p:nvPr/>
        </p:nvSpPr>
        <p:spPr>
          <a:xfrm>
            <a:off x="8357616" y="3511296"/>
            <a:ext cx="164592" cy="164592"/>
          </a:xfrm>
          <a:prstGeom prst="rect">
            <a:avLst/>
          </a:prstGeom>
          <a:noFill/>
          <a:ln/>
        </p:spPr>
        <p:txBody>
          <a:bodyPr wrap="square" lIns="0" tIns="0" rIns="0" bIns="0" rtlCol="0" anchor="ctr"/>
          <a:lstStyle/>
          <a:p>
            <a:pPr indent="0" marL="0">
              <a:buNone/>
            </a:pPr>
            <a:r>
              <a:rPr lang="en-US" sz="1600" dirty="0">
                <a:solidFill>
                  <a:srgbClr val="E0B24A"/>
                </a:solidFill>
                <a:latin typeface="Aptos" pitchFamily="34" charset="0"/>
                <a:ea typeface="Aptos" pitchFamily="34" charset="-122"/>
                <a:cs typeface="Aptos" pitchFamily="34" charset="-120"/>
              </a:rPr>
              <a:t>•</a:t>
            </a:r>
            <a:endParaRPr lang="en-US" sz="1600" dirty="0"/>
          </a:p>
        </p:txBody>
      </p:sp>
      <p:sp>
        <p:nvSpPr>
          <p:cNvPr id="57" name="Text 54"/>
          <p:cNvSpPr/>
          <p:nvPr/>
        </p:nvSpPr>
        <p:spPr>
          <a:xfrm>
            <a:off x="8595360" y="3502152"/>
            <a:ext cx="2331720" cy="530352"/>
          </a:xfrm>
          <a:prstGeom prst="rect">
            <a:avLst/>
          </a:prstGeom>
          <a:noFill/>
          <a:ln/>
        </p:spPr>
        <p:txBody>
          <a:bodyPr wrap="square" lIns="0" tIns="0" rIns="0" bIns="0" rtlCol="0" anchor="ctr">
            <a:normAutofit/>
          </a:bodyPr>
          <a:lstStyle/>
          <a:p>
            <a:pPr indent="0" marL="0">
              <a:buNone/>
            </a:pPr>
            <a:r>
              <a:rPr lang="en-US" sz="1350" dirty="0">
                <a:solidFill>
                  <a:srgbClr val="FFFFFF"/>
                </a:solidFill>
                <a:latin typeface="Aptos" pitchFamily="34" charset="0"/>
                <a:ea typeface="Aptos" pitchFamily="34" charset="-122"/>
                <a:cs typeface="Aptos" pitchFamily="34" charset="-120"/>
              </a:rPr>
              <a:t>Focus op bedrijfsvoering</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5254E"/>
          </a:solidFill>
          <a:ln w="12700">
            <a:solidFill>
              <a:srgbClr val="05254E"/>
            </a:solidFill>
            <a:prstDash val="solid"/>
          </a:ln>
        </p:spPr>
      </p:sp>
      <p:sp>
        <p:nvSpPr>
          <p:cNvPr id="3" name="Shape 1"/>
          <p:cNvSpPr/>
          <p:nvPr/>
        </p:nvSpPr>
        <p:spPr>
          <a:xfrm>
            <a:off x="0" y="1737360"/>
            <a:ext cx="12191695" cy="4069080"/>
          </a:xfrm>
          <a:prstGeom prst="rect">
            <a:avLst/>
          </a:prstGeom>
          <a:solidFill>
            <a:srgbClr val="6F7378">
              <a:alpha val="80000"/>
            </a:srgbClr>
          </a:solidFill>
          <a:ln w="12700">
            <a:solidFill>
              <a:srgbClr val="6F7378">
                <a:alpha val="0"/>
              </a:srgbClr>
            </a:solidFill>
            <a:prstDash val="solid"/>
          </a:ln>
        </p:spPr>
      </p:sp>
      <p:sp>
        <p:nvSpPr>
          <p:cNvPr id="4" name="Shape 2"/>
          <p:cNvSpPr/>
          <p:nvPr/>
        </p:nvSpPr>
        <p:spPr>
          <a:xfrm>
            <a:off x="0" y="5394960"/>
            <a:ext cx="12191695" cy="1463040"/>
          </a:xfrm>
          <a:prstGeom prst="rect">
            <a:avLst/>
          </a:prstGeom>
          <a:solidFill>
            <a:srgbClr val="8C633B"/>
          </a:solidFill>
          <a:ln w="12700">
            <a:solidFill>
              <a:srgbClr val="8C633B"/>
            </a:solidFill>
            <a:prstDash val="solid"/>
          </a:ln>
        </p:spPr>
      </p:sp>
      <p:sp>
        <p:nvSpPr>
          <p:cNvPr id="5" name="Shape 3"/>
          <p:cNvSpPr/>
          <p:nvPr/>
        </p:nvSpPr>
        <p:spPr>
          <a:xfrm>
            <a:off x="914400" y="914400"/>
            <a:ext cx="914400" cy="914400"/>
          </a:xfrm>
          <a:prstGeom prst="line">
            <a:avLst/>
          </a:prstGeom>
          <a:noFill/>
          <a:ln w="15240">
            <a:solidFill>
              <a:srgbClr val="6E4A2A">
                <a:alpha val="85000"/>
              </a:srgbClr>
            </a:solidFill>
            <a:prstDash val="solid"/>
          </a:ln>
        </p:spPr>
      </p:sp>
      <p:sp>
        <p:nvSpPr>
          <p:cNvPr id="6" name="Shape 4"/>
          <p:cNvSpPr/>
          <p:nvPr/>
        </p:nvSpPr>
        <p:spPr>
          <a:xfrm>
            <a:off x="914400" y="914400"/>
            <a:ext cx="914400" cy="914400"/>
          </a:xfrm>
          <a:prstGeom prst="line">
            <a:avLst/>
          </a:prstGeom>
          <a:noFill/>
          <a:ln w="15240">
            <a:solidFill>
              <a:srgbClr val="6E4A2A">
                <a:alpha val="85000"/>
              </a:srgbClr>
            </a:solidFill>
            <a:prstDash val="solid"/>
          </a:ln>
        </p:spPr>
      </p:sp>
      <p:sp>
        <p:nvSpPr>
          <p:cNvPr id="7" name="Shape 5"/>
          <p:cNvSpPr/>
          <p:nvPr/>
        </p:nvSpPr>
        <p:spPr>
          <a:xfrm>
            <a:off x="914400" y="914400"/>
            <a:ext cx="914400" cy="914400"/>
          </a:xfrm>
          <a:prstGeom prst="line">
            <a:avLst/>
          </a:prstGeom>
          <a:noFill/>
          <a:ln w="15240">
            <a:solidFill>
              <a:srgbClr val="6E4A2A">
                <a:alpha val="85000"/>
              </a:srgbClr>
            </a:solidFill>
            <a:prstDash val="solid"/>
          </a:ln>
        </p:spPr>
      </p:sp>
      <p:sp>
        <p:nvSpPr>
          <p:cNvPr id="8" name="Shape 6"/>
          <p:cNvSpPr/>
          <p:nvPr/>
        </p:nvSpPr>
        <p:spPr>
          <a:xfrm>
            <a:off x="914400" y="914400"/>
            <a:ext cx="914400" cy="914400"/>
          </a:xfrm>
          <a:prstGeom prst="line">
            <a:avLst/>
          </a:prstGeom>
          <a:noFill/>
          <a:ln w="15240">
            <a:solidFill>
              <a:srgbClr val="6E4A2A">
                <a:alpha val="85000"/>
              </a:srgbClr>
            </a:solidFill>
            <a:prstDash val="solid"/>
          </a:ln>
        </p:spPr>
      </p:sp>
      <p:sp>
        <p:nvSpPr>
          <p:cNvPr id="9" name="Shape 7"/>
          <p:cNvSpPr/>
          <p:nvPr/>
        </p:nvSpPr>
        <p:spPr>
          <a:xfrm>
            <a:off x="914400" y="914400"/>
            <a:ext cx="914400" cy="914400"/>
          </a:xfrm>
          <a:prstGeom prst="line">
            <a:avLst/>
          </a:prstGeom>
          <a:noFill/>
          <a:ln w="15240">
            <a:solidFill>
              <a:srgbClr val="6E4A2A">
                <a:alpha val="85000"/>
              </a:srgbClr>
            </a:solidFill>
            <a:prstDash val="solid"/>
          </a:ln>
        </p:spPr>
      </p:sp>
      <p:sp>
        <p:nvSpPr>
          <p:cNvPr id="10" name="Shape 8"/>
          <p:cNvSpPr/>
          <p:nvPr/>
        </p:nvSpPr>
        <p:spPr>
          <a:xfrm>
            <a:off x="914400" y="914400"/>
            <a:ext cx="914400" cy="914400"/>
          </a:xfrm>
          <a:prstGeom prst="line">
            <a:avLst/>
          </a:prstGeom>
          <a:noFill/>
          <a:ln w="15240">
            <a:solidFill>
              <a:srgbClr val="6E4A2A">
                <a:alpha val="85000"/>
              </a:srgbClr>
            </a:solidFill>
            <a:prstDash val="solid"/>
          </a:ln>
        </p:spPr>
      </p:sp>
      <p:sp>
        <p:nvSpPr>
          <p:cNvPr id="11" name="Shape 9"/>
          <p:cNvSpPr/>
          <p:nvPr/>
        </p:nvSpPr>
        <p:spPr>
          <a:xfrm>
            <a:off x="914400" y="914400"/>
            <a:ext cx="914400" cy="914400"/>
          </a:xfrm>
          <a:prstGeom prst="line">
            <a:avLst/>
          </a:prstGeom>
          <a:noFill/>
          <a:ln w="15240">
            <a:solidFill>
              <a:srgbClr val="6E4A2A">
                <a:alpha val="85000"/>
              </a:srgbClr>
            </a:solidFill>
            <a:prstDash val="solid"/>
          </a:ln>
        </p:spPr>
      </p:sp>
      <p:sp>
        <p:nvSpPr>
          <p:cNvPr id="12" name="Shape 10"/>
          <p:cNvSpPr/>
          <p:nvPr/>
        </p:nvSpPr>
        <p:spPr>
          <a:xfrm>
            <a:off x="914400" y="914400"/>
            <a:ext cx="914400" cy="914400"/>
          </a:xfrm>
          <a:prstGeom prst="line">
            <a:avLst/>
          </a:prstGeom>
          <a:noFill/>
          <a:ln w="15240">
            <a:solidFill>
              <a:srgbClr val="6E4A2A">
                <a:alpha val="85000"/>
              </a:srgbClr>
            </a:solidFill>
            <a:prstDash val="solid"/>
          </a:ln>
        </p:spPr>
      </p:sp>
      <p:sp>
        <p:nvSpPr>
          <p:cNvPr id="13" name="Shape 11"/>
          <p:cNvSpPr/>
          <p:nvPr/>
        </p:nvSpPr>
        <p:spPr>
          <a:xfrm>
            <a:off x="914400" y="914400"/>
            <a:ext cx="914400" cy="914400"/>
          </a:xfrm>
          <a:prstGeom prst="line">
            <a:avLst/>
          </a:prstGeom>
          <a:noFill/>
          <a:ln w="15240">
            <a:solidFill>
              <a:srgbClr val="6E4A2A">
                <a:alpha val="85000"/>
              </a:srgbClr>
            </a:solidFill>
            <a:prstDash val="solid"/>
          </a:ln>
        </p:spPr>
      </p:sp>
      <p:sp>
        <p:nvSpPr>
          <p:cNvPr id="14" name="Shape 12"/>
          <p:cNvSpPr/>
          <p:nvPr/>
        </p:nvSpPr>
        <p:spPr>
          <a:xfrm>
            <a:off x="914400" y="914400"/>
            <a:ext cx="914400" cy="914400"/>
          </a:xfrm>
          <a:prstGeom prst="line">
            <a:avLst/>
          </a:prstGeom>
          <a:noFill/>
          <a:ln w="15240">
            <a:solidFill>
              <a:srgbClr val="6E4A2A">
                <a:alpha val="85000"/>
              </a:srgbClr>
            </a:solidFill>
            <a:prstDash val="solid"/>
          </a:ln>
        </p:spPr>
      </p:sp>
      <p:sp>
        <p:nvSpPr>
          <p:cNvPr id="15" name="Shape 13"/>
          <p:cNvSpPr/>
          <p:nvPr/>
        </p:nvSpPr>
        <p:spPr>
          <a:xfrm>
            <a:off x="914400" y="914400"/>
            <a:ext cx="914400" cy="914400"/>
          </a:xfrm>
          <a:prstGeom prst="line">
            <a:avLst/>
          </a:prstGeom>
          <a:noFill/>
          <a:ln w="15240">
            <a:solidFill>
              <a:srgbClr val="6E4A2A">
                <a:alpha val="85000"/>
              </a:srgbClr>
            </a:solidFill>
            <a:prstDash val="solid"/>
          </a:ln>
        </p:spPr>
      </p:sp>
      <p:sp>
        <p:nvSpPr>
          <p:cNvPr id="16" name="Shape 14"/>
          <p:cNvSpPr/>
          <p:nvPr/>
        </p:nvSpPr>
        <p:spPr>
          <a:xfrm>
            <a:off x="914400" y="914400"/>
            <a:ext cx="914400" cy="914400"/>
          </a:xfrm>
          <a:prstGeom prst="line">
            <a:avLst/>
          </a:prstGeom>
          <a:noFill/>
          <a:ln w="15240">
            <a:solidFill>
              <a:srgbClr val="6E4A2A">
                <a:alpha val="85000"/>
              </a:srgbClr>
            </a:solidFill>
            <a:prstDash val="solid"/>
          </a:ln>
        </p:spPr>
      </p:sp>
      <p:sp>
        <p:nvSpPr>
          <p:cNvPr id="17" name="Shape 15"/>
          <p:cNvSpPr/>
          <p:nvPr/>
        </p:nvSpPr>
        <p:spPr>
          <a:xfrm>
            <a:off x="914400" y="914400"/>
            <a:ext cx="914400" cy="914400"/>
          </a:xfrm>
          <a:prstGeom prst="line">
            <a:avLst/>
          </a:prstGeom>
          <a:noFill/>
          <a:ln w="15240">
            <a:solidFill>
              <a:srgbClr val="6E4A2A">
                <a:alpha val="85000"/>
              </a:srgbClr>
            </a:solidFill>
            <a:prstDash val="solid"/>
          </a:ln>
        </p:spPr>
      </p:sp>
      <p:sp>
        <p:nvSpPr>
          <p:cNvPr id="18" name="Shape 16"/>
          <p:cNvSpPr/>
          <p:nvPr/>
        </p:nvSpPr>
        <p:spPr>
          <a:xfrm>
            <a:off x="914400" y="914400"/>
            <a:ext cx="914400" cy="914400"/>
          </a:xfrm>
          <a:prstGeom prst="line">
            <a:avLst/>
          </a:prstGeom>
          <a:noFill/>
          <a:ln w="15240">
            <a:solidFill>
              <a:srgbClr val="6E4A2A">
                <a:alpha val="85000"/>
              </a:srgbClr>
            </a:solidFill>
            <a:prstDash val="solid"/>
          </a:ln>
        </p:spPr>
      </p:sp>
      <p:sp>
        <p:nvSpPr>
          <p:cNvPr id="19" name="Shape 17"/>
          <p:cNvSpPr/>
          <p:nvPr/>
        </p:nvSpPr>
        <p:spPr>
          <a:xfrm>
            <a:off x="914400" y="914400"/>
            <a:ext cx="914400" cy="914400"/>
          </a:xfrm>
          <a:prstGeom prst="line">
            <a:avLst/>
          </a:prstGeom>
          <a:noFill/>
          <a:ln w="15240">
            <a:solidFill>
              <a:srgbClr val="6E4A2A">
                <a:alpha val="85000"/>
              </a:srgbClr>
            </a:solidFill>
            <a:prstDash val="solid"/>
          </a:ln>
        </p:spPr>
      </p:sp>
      <p:sp>
        <p:nvSpPr>
          <p:cNvPr id="20" name="Shape 18"/>
          <p:cNvSpPr/>
          <p:nvPr/>
        </p:nvSpPr>
        <p:spPr>
          <a:xfrm>
            <a:off x="914400" y="914400"/>
            <a:ext cx="914400" cy="914400"/>
          </a:xfrm>
          <a:prstGeom prst="line">
            <a:avLst/>
          </a:prstGeom>
          <a:noFill/>
          <a:ln w="15240">
            <a:solidFill>
              <a:srgbClr val="6E4A2A">
                <a:alpha val="85000"/>
              </a:srgbClr>
            </a:solidFill>
            <a:prstDash val="solid"/>
          </a:ln>
        </p:spPr>
      </p:sp>
      <p:sp>
        <p:nvSpPr>
          <p:cNvPr id="21" name="Shape 19"/>
          <p:cNvSpPr/>
          <p:nvPr/>
        </p:nvSpPr>
        <p:spPr>
          <a:xfrm>
            <a:off x="914400" y="914400"/>
            <a:ext cx="914400" cy="914400"/>
          </a:xfrm>
          <a:prstGeom prst="line">
            <a:avLst/>
          </a:prstGeom>
          <a:noFill/>
          <a:ln w="15240">
            <a:solidFill>
              <a:srgbClr val="6E4A2A">
                <a:alpha val="85000"/>
              </a:srgbClr>
            </a:solidFill>
            <a:prstDash val="solid"/>
          </a:ln>
        </p:spPr>
      </p:sp>
      <p:sp>
        <p:nvSpPr>
          <p:cNvPr id="22" name="Shape 20"/>
          <p:cNvSpPr/>
          <p:nvPr/>
        </p:nvSpPr>
        <p:spPr>
          <a:xfrm>
            <a:off x="914400" y="914400"/>
            <a:ext cx="914400" cy="914400"/>
          </a:xfrm>
          <a:prstGeom prst="line">
            <a:avLst/>
          </a:prstGeom>
          <a:noFill/>
          <a:ln w="15240">
            <a:solidFill>
              <a:srgbClr val="6E4A2A">
                <a:alpha val="85000"/>
              </a:srgbClr>
            </a:solidFill>
            <a:prstDash val="solid"/>
          </a:ln>
        </p:spPr>
      </p:sp>
      <p:sp>
        <p:nvSpPr>
          <p:cNvPr id="23" name="Shape 21"/>
          <p:cNvSpPr/>
          <p:nvPr/>
        </p:nvSpPr>
        <p:spPr>
          <a:xfrm>
            <a:off x="914400" y="914400"/>
            <a:ext cx="914400" cy="914400"/>
          </a:xfrm>
          <a:prstGeom prst="line">
            <a:avLst/>
          </a:prstGeom>
          <a:noFill/>
          <a:ln w="15240">
            <a:solidFill>
              <a:srgbClr val="6E4A2A">
                <a:alpha val="85000"/>
              </a:srgbClr>
            </a:solidFill>
            <a:prstDash val="solid"/>
          </a:ln>
        </p:spPr>
      </p:sp>
      <p:sp>
        <p:nvSpPr>
          <p:cNvPr id="24" name="Shape 22"/>
          <p:cNvSpPr/>
          <p:nvPr/>
        </p:nvSpPr>
        <p:spPr>
          <a:xfrm>
            <a:off x="914400" y="914400"/>
            <a:ext cx="914400" cy="914400"/>
          </a:xfrm>
          <a:prstGeom prst="line">
            <a:avLst/>
          </a:prstGeom>
          <a:noFill/>
          <a:ln w="15240">
            <a:solidFill>
              <a:srgbClr val="6E4A2A">
                <a:alpha val="85000"/>
              </a:srgbClr>
            </a:solidFill>
            <a:prstDash val="solid"/>
          </a:ln>
        </p:spPr>
      </p:sp>
      <p:sp>
        <p:nvSpPr>
          <p:cNvPr id="25" name="Shape 23"/>
          <p:cNvSpPr/>
          <p:nvPr/>
        </p:nvSpPr>
        <p:spPr>
          <a:xfrm>
            <a:off x="914400" y="914400"/>
            <a:ext cx="914400" cy="914400"/>
          </a:xfrm>
          <a:prstGeom prst="line">
            <a:avLst/>
          </a:prstGeom>
          <a:noFill/>
          <a:ln w="15240">
            <a:solidFill>
              <a:srgbClr val="6E4A2A">
                <a:alpha val="85000"/>
              </a:srgbClr>
            </a:solidFill>
            <a:prstDash val="solid"/>
          </a:ln>
        </p:spPr>
      </p:sp>
      <p:sp>
        <p:nvSpPr>
          <p:cNvPr id="26" name="Shape 24"/>
          <p:cNvSpPr/>
          <p:nvPr/>
        </p:nvSpPr>
        <p:spPr>
          <a:xfrm>
            <a:off x="914400" y="914400"/>
            <a:ext cx="914400" cy="914400"/>
          </a:xfrm>
          <a:prstGeom prst="line">
            <a:avLst/>
          </a:prstGeom>
          <a:noFill/>
          <a:ln w="15240">
            <a:solidFill>
              <a:srgbClr val="6E4A2A">
                <a:alpha val="85000"/>
              </a:srgbClr>
            </a:solidFill>
            <a:prstDash val="solid"/>
          </a:ln>
        </p:spPr>
      </p:sp>
      <p:sp>
        <p:nvSpPr>
          <p:cNvPr id="27" name="Shape 25"/>
          <p:cNvSpPr/>
          <p:nvPr/>
        </p:nvSpPr>
        <p:spPr>
          <a:xfrm>
            <a:off x="914400" y="914400"/>
            <a:ext cx="914400" cy="914400"/>
          </a:xfrm>
          <a:prstGeom prst="line">
            <a:avLst/>
          </a:prstGeom>
          <a:noFill/>
          <a:ln w="15240">
            <a:solidFill>
              <a:srgbClr val="6E4A2A">
                <a:alpha val="85000"/>
              </a:srgbClr>
            </a:solidFill>
            <a:prstDash val="solid"/>
          </a:ln>
        </p:spPr>
      </p:sp>
      <p:sp>
        <p:nvSpPr>
          <p:cNvPr id="28" name="Shape 26"/>
          <p:cNvSpPr/>
          <p:nvPr/>
        </p:nvSpPr>
        <p:spPr>
          <a:xfrm>
            <a:off x="914400" y="914400"/>
            <a:ext cx="914400" cy="914400"/>
          </a:xfrm>
          <a:prstGeom prst="line">
            <a:avLst/>
          </a:prstGeom>
          <a:noFill/>
          <a:ln w="15240">
            <a:solidFill>
              <a:srgbClr val="6E4A2A">
                <a:alpha val="85000"/>
              </a:srgbClr>
            </a:solidFill>
            <a:prstDash val="solid"/>
          </a:ln>
        </p:spPr>
      </p:sp>
      <p:sp>
        <p:nvSpPr>
          <p:cNvPr id="29" name="Shape 27"/>
          <p:cNvSpPr/>
          <p:nvPr/>
        </p:nvSpPr>
        <p:spPr>
          <a:xfrm>
            <a:off x="914400" y="914400"/>
            <a:ext cx="914400" cy="914400"/>
          </a:xfrm>
          <a:prstGeom prst="line">
            <a:avLst/>
          </a:prstGeom>
          <a:noFill/>
          <a:ln w="15240">
            <a:solidFill>
              <a:srgbClr val="6E4A2A">
                <a:alpha val="85000"/>
              </a:srgbClr>
            </a:solidFill>
            <a:prstDash val="solid"/>
          </a:ln>
        </p:spPr>
      </p:sp>
      <p:sp>
        <p:nvSpPr>
          <p:cNvPr id="30" name="Shape 28"/>
          <p:cNvSpPr/>
          <p:nvPr/>
        </p:nvSpPr>
        <p:spPr>
          <a:xfrm>
            <a:off x="914400" y="914400"/>
            <a:ext cx="914400" cy="914400"/>
          </a:xfrm>
          <a:prstGeom prst="line">
            <a:avLst/>
          </a:prstGeom>
          <a:noFill/>
          <a:ln w="15240">
            <a:solidFill>
              <a:srgbClr val="6E4A2A">
                <a:alpha val="85000"/>
              </a:srgbClr>
            </a:solidFill>
            <a:prstDash val="solid"/>
          </a:ln>
        </p:spPr>
      </p:sp>
      <p:sp>
        <p:nvSpPr>
          <p:cNvPr id="31" name="Shape 29"/>
          <p:cNvSpPr/>
          <p:nvPr/>
        </p:nvSpPr>
        <p:spPr>
          <a:xfrm>
            <a:off x="914400" y="914400"/>
            <a:ext cx="914400" cy="914400"/>
          </a:xfrm>
          <a:prstGeom prst="line">
            <a:avLst/>
          </a:prstGeom>
          <a:noFill/>
          <a:ln w="15240">
            <a:solidFill>
              <a:srgbClr val="6E4A2A">
                <a:alpha val="85000"/>
              </a:srgbClr>
            </a:solidFill>
            <a:prstDash val="solid"/>
          </a:ln>
        </p:spPr>
      </p:sp>
      <p:sp>
        <p:nvSpPr>
          <p:cNvPr id="32" name="Shape 30"/>
          <p:cNvSpPr/>
          <p:nvPr/>
        </p:nvSpPr>
        <p:spPr>
          <a:xfrm>
            <a:off x="914400" y="914400"/>
            <a:ext cx="914400" cy="914400"/>
          </a:xfrm>
          <a:prstGeom prst="line">
            <a:avLst/>
          </a:prstGeom>
          <a:noFill/>
          <a:ln w="15240">
            <a:solidFill>
              <a:srgbClr val="6E4A2A">
                <a:alpha val="85000"/>
              </a:srgbClr>
            </a:solidFill>
            <a:prstDash val="solid"/>
          </a:ln>
        </p:spPr>
      </p:sp>
      <p:sp>
        <p:nvSpPr>
          <p:cNvPr id="33" name="Shape 31"/>
          <p:cNvSpPr/>
          <p:nvPr/>
        </p:nvSpPr>
        <p:spPr>
          <a:xfrm>
            <a:off x="914400" y="914400"/>
            <a:ext cx="914400" cy="914400"/>
          </a:xfrm>
          <a:prstGeom prst="line">
            <a:avLst/>
          </a:prstGeom>
          <a:noFill/>
          <a:ln w="6350">
            <a:solidFill>
              <a:srgbClr val="9B754A">
                <a:alpha val="65000"/>
              </a:srgbClr>
            </a:solidFill>
            <a:prstDash val="solid"/>
          </a:ln>
        </p:spPr>
      </p:sp>
      <p:sp>
        <p:nvSpPr>
          <p:cNvPr id="34" name="Shape 32"/>
          <p:cNvSpPr/>
          <p:nvPr/>
        </p:nvSpPr>
        <p:spPr>
          <a:xfrm>
            <a:off x="914400" y="914400"/>
            <a:ext cx="914400" cy="914400"/>
          </a:xfrm>
          <a:prstGeom prst="line">
            <a:avLst/>
          </a:prstGeom>
          <a:noFill/>
          <a:ln w="6350">
            <a:solidFill>
              <a:srgbClr val="9B754A">
                <a:alpha val="65000"/>
              </a:srgbClr>
            </a:solidFill>
            <a:prstDash val="solid"/>
          </a:ln>
        </p:spPr>
      </p:sp>
      <p:sp>
        <p:nvSpPr>
          <p:cNvPr id="35" name="Shape 33"/>
          <p:cNvSpPr/>
          <p:nvPr/>
        </p:nvSpPr>
        <p:spPr>
          <a:xfrm>
            <a:off x="914400" y="914400"/>
            <a:ext cx="914400" cy="914400"/>
          </a:xfrm>
          <a:prstGeom prst="line">
            <a:avLst/>
          </a:prstGeom>
          <a:noFill/>
          <a:ln w="6350">
            <a:solidFill>
              <a:srgbClr val="9B754A">
                <a:alpha val="65000"/>
              </a:srgbClr>
            </a:solidFill>
            <a:prstDash val="solid"/>
          </a:ln>
        </p:spPr>
      </p:sp>
      <p:sp>
        <p:nvSpPr>
          <p:cNvPr id="36" name="Shape 34"/>
          <p:cNvSpPr/>
          <p:nvPr/>
        </p:nvSpPr>
        <p:spPr>
          <a:xfrm>
            <a:off x="914400" y="914400"/>
            <a:ext cx="914400" cy="914400"/>
          </a:xfrm>
          <a:prstGeom prst="line">
            <a:avLst/>
          </a:prstGeom>
          <a:noFill/>
          <a:ln w="6350">
            <a:solidFill>
              <a:srgbClr val="9B754A">
                <a:alpha val="65000"/>
              </a:srgbClr>
            </a:solidFill>
            <a:prstDash val="solid"/>
          </a:ln>
        </p:spPr>
      </p:sp>
      <p:sp>
        <p:nvSpPr>
          <p:cNvPr id="37" name="Shape 35"/>
          <p:cNvSpPr/>
          <p:nvPr/>
        </p:nvSpPr>
        <p:spPr>
          <a:xfrm>
            <a:off x="914400" y="914400"/>
            <a:ext cx="914400" cy="914400"/>
          </a:xfrm>
          <a:prstGeom prst="line">
            <a:avLst/>
          </a:prstGeom>
          <a:noFill/>
          <a:ln w="6350">
            <a:solidFill>
              <a:srgbClr val="9B754A">
                <a:alpha val="65000"/>
              </a:srgbClr>
            </a:solidFill>
            <a:prstDash val="solid"/>
          </a:ln>
        </p:spPr>
      </p:sp>
      <p:sp>
        <p:nvSpPr>
          <p:cNvPr id="38" name="Shape 36"/>
          <p:cNvSpPr/>
          <p:nvPr/>
        </p:nvSpPr>
        <p:spPr>
          <a:xfrm>
            <a:off x="914400" y="914400"/>
            <a:ext cx="914400" cy="914400"/>
          </a:xfrm>
          <a:prstGeom prst="line">
            <a:avLst/>
          </a:prstGeom>
          <a:noFill/>
          <a:ln w="6350">
            <a:solidFill>
              <a:srgbClr val="9B754A">
                <a:alpha val="65000"/>
              </a:srgbClr>
            </a:solidFill>
            <a:prstDash val="solid"/>
          </a:ln>
        </p:spPr>
      </p:sp>
      <p:pic>
        <p:nvPicPr>
          <p:cNvPr id="3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652760" y="164592"/>
            <a:ext cx="1005840" cy="1005840"/>
          </a:xfrm>
          <a:prstGeom prst="rect">
            <a:avLst/>
          </a:prstGeom>
        </p:spPr>
      </p:pic>
      <p:sp>
        <p:nvSpPr>
          <p:cNvPr id="40" name="Text 37"/>
          <p:cNvSpPr/>
          <p:nvPr/>
        </p:nvSpPr>
        <p:spPr>
          <a:xfrm>
            <a:off x="658368" y="420624"/>
            <a:ext cx="7132320" cy="457200"/>
          </a:xfrm>
          <a:prstGeom prst="rect">
            <a:avLst/>
          </a:prstGeom>
          <a:noFill/>
          <a:ln/>
        </p:spPr>
        <p:txBody>
          <a:bodyPr wrap="square" lIns="0" tIns="0" rIns="0" bIns="0" rtlCol="0" anchor="ctr"/>
          <a:lstStyle/>
          <a:p>
            <a:pPr indent="0" marL="0">
              <a:buNone/>
            </a:pPr>
            <a:r>
              <a:rPr lang="en-US" sz="2200" dirty="0">
                <a:solidFill>
                  <a:srgbClr val="FFFFFF"/>
                </a:solidFill>
                <a:latin typeface="Aptos" pitchFamily="34" charset="0"/>
                <a:ea typeface="Aptos" pitchFamily="34" charset="-122"/>
                <a:cs typeface="Aptos" pitchFamily="34" charset="-120"/>
              </a:rPr>
              <a:t>TEAMREFLECTIE – LUCAS</a:t>
            </a:r>
            <a:endParaRPr lang="en-US" sz="2200" dirty="0"/>
          </a:p>
        </p:txBody>
      </p:sp>
      <p:sp>
        <p:nvSpPr>
          <p:cNvPr id="41" name="Text 38"/>
          <p:cNvSpPr/>
          <p:nvPr/>
        </p:nvSpPr>
        <p:spPr>
          <a:xfrm>
            <a:off x="676656" y="868680"/>
            <a:ext cx="7772400" cy="228600"/>
          </a:xfrm>
          <a:prstGeom prst="rect">
            <a:avLst/>
          </a:prstGeom>
          <a:noFill/>
          <a:ln/>
        </p:spPr>
        <p:txBody>
          <a:bodyPr wrap="square" lIns="0" tIns="0" rIns="0" bIns="0" rtlCol="0" anchor="ctr"/>
          <a:lstStyle/>
          <a:p>
            <a:pPr indent="0" marL="0">
              <a:buNone/>
            </a:pPr>
            <a:r>
              <a:rPr lang="en-US" sz="1000" i="1" dirty="0">
                <a:solidFill>
                  <a:srgbClr val="E0B24A"/>
                </a:solidFill>
                <a:latin typeface="Aptos" pitchFamily="34" charset="0"/>
                <a:ea typeface="Aptos" pitchFamily="34" charset="-122"/>
                <a:cs typeface="Aptos" pitchFamily="34" charset="-120"/>
              </a:rPr>
              <a:t>WS3.2 Challenge M2</a:t>
            </a:r>
            <a:endParaRPr lang="en-US" sz="1000" dirty="0"/>
          </a:p>
        </p:txBody>
      </p:sp>
      <p:sp>
        <p:nvSpPr>
          <p:cNvPr id="42" name="Text 39"/>
          <p:cNvSpPr/>
          <p:nvPr/>
        </p:nvSpPr>
        <p:spPr>
          <a:xfrm>
            <a:off x="896112" y="1399032"/>
            <a:ext cx="164592" cy="201168"/>
          </a:xfrm>
          <a:prstGeom prst="rect">
            <a:avLst/>
          </a:prstGeom>
          <a:noFill/>
          <a:ln/>
        </p:spPr>
        <p:txBody>
          <a:bodyPr wrap="square" lIns="0" tIns="0" rIns="0" bIns="0" rtlCol="0" anchor="ctr"/>
          <a:lstStyle/>
          <a:p>
            <a:pPr indent="0" marL="0">
              <a:buNone/>
            </a:pPr>
            <a:r>
              <a:rPr lang="en-US" sz="1800" dirty="0">
                <a:solidFill>
                  <a:srgbClr val="E0B24A"/>
                </a:solidFill>
                <a:latin typeface="Aptos" pitchFamily="34" charset="0"/>
                <a:ea typeface="Aptos" pitchFamily="34" charset="-122"/>
                <a:cs typeface="Aptos" pitchFamily="34" charset="-120"/>
              </a:rPr>
              <a:t>•</a:t>
            </a:r>
            <a:endParaRPr lang="en-US" sz="1800" dirty="0"/>
          </a:p>
        </p:txBody>
      </p:sp>
      <p:sp>
        <p:nvSpPr>
          <p:cNvPr id="43" name="Text 40"/>
          <p:cNvSpPr/>
          <p:nvPr/>
        </p:nvSpPr>
        <p:spPr>
          <a:xfrm>
            <a:off x="1133856" y="1389888"/>
            <a:ext cx="6126480" cy="658368"/>
          </a:xfrm>
          <a:prstGeom prst="rect">
            <a:avLst/>
          </a:prstGeom>
          <a:noFill/>
          <a:ln/>
        </p:spPr>
        <p:txBody>
          <a:bodyPr wrap="square" lIns="0" tIns="0" rIns="0" bIns="0" rtlCol="0" anchor="ctr">
            <a:normAutofit/>
          </a:bodyPr>
          <a:lstStyle/>
          <a:p>
            <a:pPr indent="0" marL="0">
              <a:buNone/>
            </a:pPr>
            <a:r>
              <a:rPr lang="en-US" sz="1550" b="1" dirty="0">
                <a:solidFill>
                  <a:srgbClr val="FFFFFF"/>
                </a:solidFill>
                <a:latin typeface="Aptos" pitchFamily="34" charset="0"/>
                <a:ea typeface="Aptos" pitchFamily="34" charset="-122"/>
                <a:cs typeface="Aptos" pitchFamily="34" charset="-120"/>
              </a:rPr>
              <a:t>Key behaviour — </a:t>
            </a:r>
            <a:pPr indent="0" marL="0">
              <a:buNone/>
            </a:pPr>
            <a:r>
              <a:rPr lang="en-US" sz="1550" dirty="0">
                <a:solidFill>
                  <a:srgbClr val="F2F2F2"/>
                </a:solidFill>
                <a:latin typeface="Aptos" pitchFamily="34" charset="0"/>
                <a:ea typeface="Aptos" pitchFamily="34" charset="-122"/>
                <a:cs typeface="Aptos" pitchFamily="34" charset="-120"/>
              </a:rPr>
              <a:t>Ik herken vooral sharing power en act with urgency; be transparent was in het begin nog niet sterk genoeg.</a:t>
            </a:r>
            <a:endParaRPr lang="en-US" sz="1550" dirty="0"/>
          </a:p>
        </p:txBody>
      </p:sp>
      <p:sp>
        <p:nvSpPr>
          <p:cNvPr id="44" name="Text 41"/>
          <p:cNvSpPr/>
          <p:nvPr/>
        </p:nvSpPr>
        <p:spPr>
          <a:xfrm>
            <a:off x="896112" y="2340864"/>
            <a:ext cx="164592" cy="201168"/>
          </a:xfrm>
          <a:prstGeom prst="rect">
            <a:avLst/>
          </a:prstGeom>
          <a:noFill/>
          <a:ln/>
        </p:spPr>
        <p:txBody>
          <a:bodyPr wrap="square" lIns="0" tIns="0" rIns="0" bIns="0" rtlCol="0" anchor="ctr"/>
          <a:lstStyle/>
          <a:p>
            <a:pPr indent="0" marL="0">
              <a:buNone/>
            </a:pPr>
            <a:r>
              <a:rPr lang="en-US" sz="1800" dirty="0">
                <a:solidFill>
                  <a:srgbClr val="E0B24A"/>
                </a:solidFill>
                <a:latin typeface="Aptos" pitchFamily="34" charset="0"/>
                <a:ea typeface="Aptos" pitchFamily="34" charset="-122"/>
                <a:cs typeface="Aptos" pitchFamily="34" charset="-120"/>
              </a:rPr>
              <a:t>•</a:t>
            </a:r>
            <a:endParaRPr lang="en-US" sz="1800" dirty="0"/>
          </a:p>
        </p:txBody>
      </p:sp>
      <p:sp>
        <p:nvSpPr>
          <p:cNvPr id="45" name="Text 42"/>
          <p:cNvSpPr/>
          <p:nvPr/>
        </p:nvSpPr>
        <p:spPr>
          <a:xfrm>
            <a:off x="1133856" y="2331720"/>
            <a:ext cx="6126480" cy="658368"/>
          </a:xfrm>
          <a:prstGeom prst="rect">
            <a:avLst/>
          </a:prstGeom>
          <a:noFill/>
          <a:ln/>
        </p:spPr>
        <p:txBody>
          <a:bodyPr wrap="square" lIns="0" tIns="0" rIns="0" bIns="0" rtlCol="0" anchor="ctr">
            <a:normAutofit/>
          </a:bodyPr>
          <a:lstStyle/>
          <a:p>
            <a:pPr indent="0" marL="0">
              <a:buNone/>
            </a:pPr>
            <a:r>
              <a:rPr lang="en-US" sz="1550" b="1" dirty="0">
                <a:solidFill>
                  <a:srgbClr val="FFFFFF"/>
                </a:solidFill>
                <a:latin typeface="Aptos" pitchFamily="34" charset="0"/>
                <a:ea typeface="Aptos" pitchFamily="34" charset="-122"/>
                <a:cs typeface="Aptos" pitchFamily="34" charset="-120"/>
              </a:rPr>
              <a:t>Samenwerking — </a:t>
            </a:r>
            <a:pPr indent="0" marL="0">
              <a:buNone/>
            </a:pPr>
            <a:r>
              <a:rPr lang="en-US" sz="1550" dirty="0">
                <a:solidFill>
                  <a:srgbClr val="F2F2F2"/>
                </a:solidFill>
                <a:latin typeface="Aptos" pitchFamily="34" charset="0"/>
                <a:ea typeface="Aptos" pitchFamily="34" charset="-122"/>
                <a:cs typeface="Aptos" pitchFamily="34" charset="-120"/>
              </a:rPr>
              <a:t>De start voelde ongemakkelijk, maar later viel iedereen meer in zijn rol en verliepen de gesprekken soepeler.</a:t>
            </a:r>
            <a:endParaRPr lang="en-US" sz="1550" dirty="0"/>
          </a:p>
        </p:txBody>
      </p:sp>
      <p:sp>
        <p:nvSpPr>
          <p:cNvPr id="46" name="Text 43"/>
          <p:cNvSpPr/>
          <p:nvPr/>
        </p:nvSpPr>
        <p:spPr>
          <a:xfrm>
            <a:off x="896112" y="3282696"/>
            <a:ext cx="164592" cy="201168"/>
          </a:xfrm>
          <a:prstGeom prst="rect">
            <a:avLst/>
          </a:prstGeom>
          <a:noFill/>
          <a:ln/>
        </p:spPr>
        <p:txBody>
          <a:bodyPr wrap="square" lIns="0" tIns="0" rIns="0" bIns="0" rtlCol="0" anchor="ctr"/>
          <a:lstStyle/>
          <a:p>
            <a:pPr indent="0" marL="0">
              <a:buNone/>
            </a:pPr>
            <a:r>
              <a:rPr lang="en-US" sz="1800" dirty="0">
                <a:solidFill>
                  <a:srgbClr val="E0B24A"/>
                </a:solidFill>
                <a:latin typeface="Aptos" pitchFamily="34" charset="0"/>
                <a:ea typeface="Aptos" pitchFamily="34" charset="-122"/>
                <a:cs typeface="Aptos" pitchFamily="34" charset="-120"/>
              </a:rPr>
              <a:t>•</a:t>
            </a:r>
            <a:endParaRPr lang="en-US" sz="1800" dirty="0"/>
          </a:p>
        </p:txBody>
      </p:sp>
      <p:sp>
        <p:nvSpPr>
          <p:cNvPr id="47" name="Text 44"/>
          <p:cNvSpPr/>
          <p:nvPr/>
        </p:nvSpPr>
        <p:spPr>
          <a:xfrm>
            <a:off x="1133856" y="3273552"/>
            <a:ext cx="6126480" cy="658368"/>
          </a:xfrm>
          <a:prstGeom prst="rect">
            <a:avLst/>
          </a:prstGeom>
          <a:noFill/>
          <a:ln/>
        </p:spPr>
        <p:txBody>
          <a:bodyPr wrap="square" lIns="0" tIns="0" rIns="0" bIns="0" rtlCol="0" anchor="ctr">
            <a:normAutofit/>
          </a:bodyPr>
          <a:lstStyle/>
          <a:p>
            <a:pPr indent="0" marL="0">
              <a:buNone/>
            </a:pPr>
            <a:r>
              <a:rPr lang="en-US" sz="1550" b="1" dirty="0">
                <a:solidFill>
                  <a:srgbClr val="FFFFFF"/>
                </a:solidFill>
                <a:latin typeface="Aptos" pitchFamily="34" charset="0"/>
                <a:ea typeface="Aptos" pitchFamily="34" charset="-122"/>
                <a:cs typeface="Aptos" pitchFamily="34" charset="-120"/>
              </a:rPr>
              <a:t>Leiderschap — </a:t>
            </a:r>
            <a:pPr indent="0" marL="0">
              <a:buNone/>
            </a:pPr>
            <a:r>
              <a:rPr lang="en-US" sz="1550" dirty="0">
                <a:solidFill>
                  <a:srgbClr val="F2F2F2"/>
                </a:solidFill>
                <a:latin typeface="Aptos" pitchFamily="34" charset="0"/>
                <a:ea typeface="Aptos" pitchFamily="34" charset="-122"/>
                <a:cs typeface="Aptos" pitchFamily="34" charset="-120"/>
              </a:rPr>
              <a:t>Mijn rol was vooral coachend en deels motiverend; instrueren en delegeren kwamen minder sterk naar voren.</a:t>
            </a:r>
            <a:endParaRPr lang="en-US" sz="1550" dirty="0"/>
          </a:p>
        </p:txBody>
      </p:sp>
      <p:sp>
        <p:nvSpPr>
          <p:cNvPr id="48" name="Text 45"/>
          <p:cNvSpPr/>
          <p:nvPr/>
        </p:nvSpPr>
        <p:spPr>
          <a:xfrm>
            <a:off x="896112" y="4224528"/>
            <a:ext cx="164592" cy="201168"/>
          </a:xfrm>
          <a:prstGeom prst="rect">
            <a:avLst/>
          </a:prstGeom>
          <a:noFill/>
          <a:ln/>
        </p:spPr>
        <p:txBody>
          <a:bodyPr wrap="square" lIns="0" tIns="0" rIns="0" bIns="0" rtlCol="0" anchor="ctr"/>
          <a:lstStyle/>
          <a:p>
            <a:pPr indent="0" marL="0">
              <a:buNone/>
            </a:pPr>
            <a:r>
              <a:rPr lang="en-US" sz="1800" dirty="0">
                <a:solidFill>
                  <a:srgbClr val="E0B24A"/>
                </a:solidFill>
                <a:latin typeface="Aptos" pitchFamily="34" charset="0"/>
                <a:ea typeface="Aptos" pitchFamily="34" charset="-122"/>
                <a:cs typeface="Aptos" pitchFamily="34" charset="-120"/>
              </a:rPr>
              <a:t>•</a:t>
            </a:r>
            <a:endParaRPr lang="en-US" sz="1800" dirty="0"/>
          </a:p>
        </p:txBody>
      </p:sp>
      <p:sp>
        <p:nvSpPr>
          <p:cNvPr id="49" name="Text 46"/>
          <p:cNvSpPr/>
          <p:nvPr/>
        </p:nvSpPr>
        <p:spPr>
          <a:xfrm>
            <a:off x="1133856" y="4215384"/>
            <a:ext cx="6126480" cy="658368"/>
          </a:xfrm>
          <a:prstGeom prst="rect">
            <a:avLst/>
          </a:prstGeom>
          <a:noFill/>
          <a:ln/>
        </p:spPr>
        <p:txBody>
          <a:bodyPr wrap="square" lIns="0" tIns="0" rIns="0" bIns="0" rtlCol="0" anchor="ctr">
            <a:normAutofit/>
          </a:bodyPr>
          <a:lstStyle/>
          <a:p>
            <a:pPr indent="0" marL="0">
              <a:buNone/>
            </a:pPr>
            <a:r>
              <a:rPr lang="en-US" sz="1550" b="1" dirty="0">
                <a:solidFill>
                  <a:srgbClr val="FFFFFF"/>
                </a:solidFill>
                <a:latin typeface="Aptos" pitchFamily="34" charset="0"/>
                <a:ea typeface="Aptos" pitchFamily="34" charset="-122"/>
                <a:cs typeface="Aptos" pitchFamily="34" charset="-120"/>
              </a:rPr>
              <a:t>Achteraf anders — </a:t>
            </a:r>
            <a:pPr indent="0" marL="0">
              <a:buNone/>
            </a:pPr>
            <a:r>
              <a:rPr lang="en-US" sz="1550" dirty="0">
                <a:solidFill>
                  <a:srgbClr val="F2F2F2"/>
                </a:solidFill>
                <a:latin typeface="Aptos" pitchFamily="34" charset="0"/>
                <a:ea typeface="Aptos" pitchFamily="34" charset="-122"/>
                <a:cs typeface="Aptos" pitchFamily="34" charset="-120"/>
              </a:rPr>
              <a:t>Ik zou sneller duidelijke kaders afspreken en meer diepgang in het BCP aanbrengen voor extra houvast.</a:t>
            </a:r>
            <a:endParaRPr lang="en-US" sz="1550" dirty="0"/>
          </a:p>
        </p:txBody>
      </p:sp>
      <p:sp>
        <p:nvSpPr>
          <p:cNvPr id="50" name="Shape 47"/>
          <p:cNvSpPr/>
          <p:nvPr/>
        </p:nvSpPr>
        <p:spPr>
          <a:xfrm>
            <a:off x="8092440" y="1627632"/>
            <a:ext cx="3218688" cy="3246120"/>
          </a:xfrm>
          <a:prstGeom prst="roundRect">
            <a:avLst>
              <a:gd name="adj" fmla="val 1705"/>
            </a:avLst>
          </a:prstGeom>
          <a:solidFill>
            <a:srgbClr val="113C68">
              <a:alpha val="92000"/>
            </a:srgbClr>
          </a:solidFill>
          <a:ln w="15240">
            <a:solidFill>
              <a:srgbClr val="E0B24A"/>
            </a:solidFill>
            <a:prstDash val="solid"/>
          </a:ln>
        </p:spPr>
      </p:sp>
      <p:sp>
        <p:nvSpPr>
          <p:cNvPr id="51" name="Text 48"/>
          <p:cNvSpPr/>
          <p:nvPr/>
        </p:nvSpPr>
        <p:spPr>
          <a:xfrm>
            <a:off x="8339328" y="1847088"/>
            <a:ext cx="2651760" cy="292608"/>
          </a:xfrm>
          <a:prstGeom prst="rect">
            <a:avLst/>
          </a:prstGeom>
          <a:noFill/>
          <a:ln/>
        </p:spPr>
        <p:txBody>
          <a:bodyPr wrap="square" lIns="0" tIns="0" rIns="0" bIns="0" rtlCol="0" anchor="ctr"/>
          <a:lstStyle/>
          <a:p>
            <a:pPr indent="0" marL="0">
              <a:buNone/>
            </a:pPr>
            <a:r>
              <a:rPr lang="en-US" sz="1600" b="1" dirty="0">
                <a:solidFill>
                  <a:srgbClr val="E0B24A"/>
                </a:solidFill>
                <a:latin typeface="Aptos" pitchFamily="34" charset="0"/>
                <a:ea typeface="Aptos" pitchFamily="34" charset="-122"/>
                <a:cs typeface="Aptos" pitchFamily="34" charset="-120"/>
              </a:rPr>
              <a:t>BELANGRIJKSTE LES</a:t>
            </a:r>
            <a:endParaRPr lang="en-US" sz="1600" dirty="0"/>
          </a:p>
        </p:txBody>
      </p:sp>
      <p:sp>
        <p:nvSpPr>
          <p:cNvPr id="52" name="Text 49"/>
          <p:cNvSpPr/>
          <p:nvPr/>
        </p:nvSpPr>
        <p:spPr>
          <a:xfrm>
            <a:off x="8357616" y="2304288"/>
            <a:ext cx="164592" cy="164592"/>
          </a:xfrm>
          <a:prstGeom prst="rect">
            <a:avLst/>
          </a:prstGeom>
          <a:noFill/>
          <a:ln/>
        </p:spPr>
        <p:txBody>
          <a:bodyPr wrap="square" lIns="0" tIns="0" rIns="0" bIns="0" rtlCol="0" anchor="ctr"/>
          <a:lstStyle/>
          <a:p>
            <a:pPr indent="0" marL="0">
              <a:buNone/>
            </a:pPr>
            <a:r>
              <a:rPr lang="en-US" sz="1600" dirty="0">
                <a:solidFill>
                  <a:srgbClr val="E0B24A"/>
                </a:solidFill>
                <a:latin typeface="Aptos" pitchFamily="34" charset="0"/>
                <a:ea typeface="Aptos" pitchFamily="34" charset="-122"/>
                <a:cs typeface="Aptos" pitchFamily="34" charset="-120"/>
              </a:rPr>
              <a:t>•</a:t>
            </a:r>
            <a:endParaRPr lang="en-US" sz="1600" dirty="0"/>
          </a:p>
        </p:txBody>
      </p:sp>
      <p:sp>
        <p:nvSpPr>
          <p:cNvPr id="53" name="Text 50"/>
          <p:cNvSpPr/>
          <p:nvPr/>
        </p:nvSpPr>
        <p:spPr>
          <a:xfrm>
            <a:off x="8595360" y="2295144"/>
            <a:ext cx="2331720" cy="530352"/>
          </a:xfrm>
          <a:prstGeom prst="rect">
            <a:avLst/>
          </a:prstGeom>
          <a:noFill/>
          <a:ln/>
        </p:spPr>
        <p:txBody>
          <a:bodyPr wrap="square" lIns="0" tIns="0" rIns="0" bIns="0" rtlCol="0" anchor="ctr">
            <a:normAutofit/>
          </a:bodyPr>
          <a:lstStyle/>
          <a:p>
            <a:pPr indent="0" marL="0">
              <a:buNone/>
            </a:pPr>
            <a:r>
              <a:rPr lang="en-US" sz="1350" dirty="0">
                <a:solidFill>
                  <a:srgbClr val="FFFFFF"/>
                </a:solidFill>
                <a:latin typeface="Aptos" pitchFamily="34" charset="0"/>
                <a:ea typeface="Aptos" pitchFamily="34" charset="-122"/>
                <a:cs typeface="Aptos" pitchFamily="34" charset="-120"/>
              </a:rPr>
              <a:t>Gezamenlijke start is cruciaal</a:t>
            </a:r>
            <a:endParaRPr lang="en-US" sz="1350" dirty="0"/>
          </a:p>
        </p:txBody>
      </p:sp>
      <p:sp>
        <p:nvSpPr>
          <p:cNvPr id="54" name="Text 51"/>
          <p:cNvSpPr/>
          <p:nvPr/>
        </p:nvSpPr>
        <p:spPr>
          <a:xfrm>
            <a:off x="8357616" y="2907792"/>
            <a:ext cx="164592" cy="164592"/>
          </a:xfrm>
          <a:prstGeom prst="rect">
            <a:avLst/>
          </a:prstGeom>
          <a:noFill/>
          <a:ln/>
        </p:spPr>
        <p:txBody>
          <a:bodyPr wrap="square" lIns="0" tIns="0" rIns="0" bIns="0" rtlCol="0" anchor="ctr"/>
          <a:lstStyle/>
          <a:p>
            <a:pPr indent="0" marL="0">
              <a:buNone/>
            </a:pPr>
            <a:r>
              <a:rPr lang="en-US" sz="1600" dirty="0">
                <a:solidFill>
                  <a:srgbClr val="E0B24A"/>
                </a:solidFill>
                <a:latin typeface="Aptos" pitchFamily="34" charset="0"/>
                <a:ea typeface="Aptos" pitchFamily="34" charset="-122"/>
                <a:cs typeface="Aptos" pitchFamily="34" charset="-120"/>
              </a:rPr>
              <a:t>•</a:t>
            </a:r>
            <a:endParaRPr lang="en-US" sz="1600" dirty="0"/>
          </a:p>
        </p:txBody>
      </p:sp>
      <p:sp>
        <p:nvSpPr>
          <p:cNvPr id="55" name="Text 52"/>
          <p:cNvSpPr/>
          <p:nvPr/>
        </p:nvSpPr>
        <p:spPr>
          <a:xfrm>
            <a:off x="8595360" y="2898648"/>
            <a:ext cx="2331720" cy="530352"/>
          </a:xfrm>
          <a:prstGeom prst="rect">
            <a:avLst/>
          </a:prstGeom>
          <a:noFill/>
          <a:ln/>
        </p:spPr>
        <p:txBody>
          <a:bodyPr wrap="square" lIns="0" tIns="0" rIns="0" bIns="0" rtlCol="0" anchor="ctr">
            <a:normAutofit/>
          </a:bodyPr>
          <a:lstStyle/>
          <a:p>
            <a:pPr indent="0" marL="0">
              <a:buNone/>
            </a:pPr>
            <a:r>
              <a:rPr lang="en-US" sz="1350" dirty="0">
                <a:solidFill>
                  <a:srgbClr val="FFFFFF"/>
                </a:solidFill>
                <a:latin typeface="Aptos" pitchFamily="34" charset="0"/>
                <a:ea typeface="Aptos" pitchFamily="34" charset="-122"/>
                <a:cs typeface="Aptos" pitchFamily="34" charset="-120"/>
              </a:rPr>
              <a:t>BCP mag dieper uitgewerkt</a:t>
            </a:r>
            <a:endParaRPr lang="en-US" sz="1350" dirty="0"/>
          </a:p>
        </p:txBody>
      </p:sp>
      <p:sp>
        <p:nvSpPr>
          <p:cNvPr id="56" name="Text 53"/>
          <p:cNvSpPr/>
          <p:nvPr/>
        </p:nvSpPr>
        <p:spPr>
          <a:xfrm>
            <a:off x="8357616" y="3511296"/>
            <a:ext cx="164592" cy="164592"/>
          </a:xfrm>
          <a:prstGeom prst="rect">
            <a:avLst/>
          </a:prstGeom>
          <a:noFill/>
          <a:ln/>
        </p:spPr>
        <p:txBody>
          <a:bodyPr wrap="square" lIns="0" tIns="0" rIns="0" bIns="0" rtlCol="0" anchor="ctr"/>
          <a:lstStyle/>
          <a:p>
            <a:pPr indent="0" marL="0">
              <a:buNone/>
            </a:pPr>
            <a:r>
              <a:rPr lang="en-US" sz="1600" dirty="0">
                <a:solidFill>
                  <a:srgbClr val="E0B24A"/>
                </a:solidFill>
                <a:latin typeface="Aptos" pitchFamily="34" charset="0"/>
                <a:ea typeface="Aptos" pitchFamily="34" charset="-122"/>
                <a:cs typeface="Aptos" pitchFamily="34" charset="-120"/>
              </a:rPr>
              <a:t>•</a:t>
            </a:r>
            <a:endParaRPr lang="en-US" sz="1600" dirty="0"/>
          </a:p>
        </p:txBody>
      </p:sp>
      <p:sp>
        <p:nvSpPr>
          <p:cNvPr id="57" name="Text 54"/>
          <p:cNvSpPr/>
          <p:nvPr/>
        </p:nvSpPr>
        <p:spPr>
          <a:xfrm>
            <a:off x="8595360" y="3502152"/>
            <a:ext cx="2331720" cy="530352"/>
          </a:xfrm>
          <a:prstGeom prst="rect">
            <a:avLst/>
          </a:prstGeom>
          <a:noFill/>
          <a:ln/>
        </p:spPr>
        <p:txBody>
          <a:bodyPr wrap="square" lIns="0" tIns="0" rIns="0" bIns="0" rtlCol="0" anchor="ctr">
            <a:normAutofit/>
          </a:bodyPr>
          <a:lstStyle/>
          <a:p>
            <a:pPr indent="0" marL="0">
              <a:buNone/>
            </a:pPr>
            <a:r>
              <a:rPr lang="en-US" sz="1350" dirty="0">
                <a:solidFill>
                  <a:srgbClr val="FFFFFF"/>
                </a:solidFill>
                <a:latin typeface="Aptos" pitchFamily="34" charset="0"/>
                <a:ea typeface="Aptos" pitchFamily="34" charset="-122"/>
                <a:cs typeface="Aptos" pitchFamily="34" charset="-120"/>
              </a:rPr>
              <a:t>Meer houvast in crisis</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5254E"/>
          </a:solidFill>
          <a:ln w="12700">
            <a:solidFill>
              <a:srgbClr val="05254E"/>
            </a:solidFill>
            <a:prstDash val="solid"/>
          </a:ln>
        </p:spPr>
      </p:sp>
      <p:sp>
        <p:nvSpPr>
          <p:cNvPr id="3" name="Shape 1"/>
          <p:cNvSpPr/>
          <p:nvPr/>
        </p:nvSpPr>
        <p:spPr>
          <a:xfrm>
            <a:off x="0" y="1737360"/>
            <a:ext cx="12191695" cy="4069080"/>
          </a:xfrm>
          <a:prstGeom prst="rect">
            <a:avLst/>
          </a:prstGeom>
          <a:solidFill>
            <a:srgbClr val="6F7378">
              <a:alpha val="80000"/>
            </a:srgbClr>
          </a:solidFill>
          <a:ln w="12700">
            <a:solidFill>
              <a:srgbClr val="6F7378">
                <a:alpha val="0"/>
              </a:srgbClr>
            </a:solidFill>
            <a:prstDash val="solid"/>
          </a:ln>
        </p:spPr>
      </p:sp>
      <p:sp>
        <p:nvSpPr>
          <p:cNvPr id="4" name="Shape 2"/>
          <p:cNvSpPr/>
          <p:nvPr/>
        </p:nvSpPr>
        <p:spPr>
          <a:xfrm>
            <a:off x="0" y="5394960"/>
            <a:ext cx="12191695" cy="1463040"/>
          </a:xfrm>
          <a:prstGeom prst="rect">
            <a:avLst/>
          </a:prstGeom>
          <a:solidFill>
            <a:srgbClr val="8C633B"/>
          </a:solidFill>
          <a:ln w="12700">
            <a:solidFill>
              <a:srgbClr val="8C633B"/>
            </a:solidFill>
            <a:prstDash val="solid"/>
          </a:ln>
        </p:spPr>
      </p:sp>
      <p:sp>
        <p:nvSpPr>
          <p:cNvPr id="5" name="Shape 3"/>
          <p:cNvSpPr/>
          <p:nvPr/>
        </p:nvSpPr>
        <p:spPr>
          <a:xfrm>
            <a:off x="914400" y="914400"/>
            <a:ext cx="914400" cy="914400"/>
          </a:xfrm>
          <a:prstGeom prst="line">
            <a:avLst/>
          </a:prstGeom>
          <a:noFill/>
          <a:ln w="15240">
            <a:solidFill>
              <a:srgbClr val="6E4A2A">
                <a:alpha val="85000"/>
              </a:srgbClr>
            </a:solidFill>
            <a:prstDash val="solid"/>
          </a:ln>
        </p:spPr>
      </p:sp>
      <p:sp>
        <p:nvSpPr>
          <p:cNvPr id="6" name="Shape 4"/>
          <p:cNvSpPr/>
          <p:nvPr/>
        </p:nvSpPr>
        <p:spPr>
          <a:xfrm>
            <a:off x="914400" y="914400"/>
            <a:ext cx="914400" cy="914400"/>
          </a:xfrm>
          <a:prstGeom prst="line">
            <a:avLst/>
          </a:prstGeom>
          <a:noFill/>
          <a:ln w="15240">
            <a:solidFill>
              <a:srgbClr val="6E4A2A">
                <a:alpha val="85000"/>
              </a:srgbClr>
            </a:solidFill>
            <a:prstDash val="solid"/>
          </a:ln>
        </p:spPr>
      </p:sp>
      <p:sp>
        <p:nvSpPr>
          <p:cNvPr id="7" name="Shape 5"/>
          <p:cNvSpPr/>
          <p:nvPr/>
        </p:nvSpPr>
        <p:spPr>
          <a:xfrm>
            <a:off x="914400" y="914400"/>
            <a:ext cx="914400" cy="914400"/>
          </a:xfrm>
          <a:prstGeom prst="line">
            <a:avLst/>
          </a:prstGeom>
          <a:noFill/>
          <a:ln w="15240">
            <a:solidFill>
              <a:srgbClr val="6E4A2A">
                <a:alpha val="85000"/>
              </a:srgbClr>
            </a:solidFill>
            <a:prstDash val="solid"/>
          </a:ln>
        </p:spPr>
      </p:sp>
      <p:sp>
        <p:nvSpPr>
          <p:cNvPr id="8" name="Shape 6"/>
          <p:cNvSpPr/>
          <p:nvPr/>
        </p:nvSpPr>
        <p:spPr>
          <a:xfrm>
            <a:off x="914400" y="914400"/>
            <a:ext cx="914400" cy="914400"/>
          </a:xfrm>
          <a:prstGeom prst="line">
            <a:avLst/>
          </a:prstGeom>
          <a:noFill/>
          <a:ln w="15240">
            <a:solidFill>
              <a:srgbClr val="6E4A2A">
                <a:alpha val="85000"/>
              </a:srgbClr>
            </a:solidFill>
            <a:prstDash val="solid"/>
          </a:ln>
        </p:spPr>
      </p:sp>
      <p:sp>
        <p:nvSpPr>
          <p:cNvPr id="9" name="Shape 7"/>
          <p:cNvSpPr/>
          <p:nvPr/>
        </p:nvSpPr>
        <p:spPr>
          <a:xfrm>
            <a:off x="914400" y="914400"/>
            <a:ext cx="914400" cy="914400"/>
          </a:xfrm>
          <a:prstGeom prst="line">
            <a:avLst/>
          </a:prstGeom>
          <a:noFill/>
          <a:ln w="15240">
            <a:solidFill>
              <a:srgbClr val="6E4A2A">
                <a:alpha val="85000"/>
              </a:srgbClr>
            </a:solidFill>
            <a:prstDash val="solid"/>
          </a:ln>
        </p:spPr>
      </p:sp>
      <p:sp>
        <p:nvSpPr>
          <p:cNvPr id="10" name="Shape 8"/>
          <p:cNvSpPr/>
          <p:nvPr/>
        </p:nvSpPr>
        <p:spPr>
          <a:xfrm>
            <a:off x="914400" y="914400"/>
            <a:ext cx="914400" cy="914400"/>
          </a:xfrm>
          <a:prstGeom prst="line">
            <a:avLst/>
          </a:prstGeom>
          <a:noFill/>
          <a:ln w="15240">
            <a:solidFill>
              <a:srgbClr val="6E4A2A">
                <a:alpha val="85000"/>
              </a:srgbClr>
            </a:solidFill>
            <a:prstDash val="solid"/>
          </a:ln>
        </p:spPr>
      </p:sp>
      <p:sp>
        <p:nvSpPr>
          <p:cNvPr id="11" name="Shape 9"/>
          <p:cNvSpPr/>
          <p:nvPr/>
        </p:nvSpPr>
        <p:spPr>
          <a:xfrm>
            <a:off x="914400" y="914400"/>
            <a:ext cx="914400" cy="914400"/>
          </a:xfrm>
          <a:prstGeom prst="line">
            <a:avLst/>
          </a:prstGeom>
          <a:noFill/>
          <a:ln w="15240">
            <a:solidFill>
              <a:srgbClr val="6E4A2A">
                <a:alpha val="85000"/>
              </a:srgbClr>
            </a:solidFill>
            <a:prstDash val="solid"/>
          </a:ln>
        </p:spPr>
      </p:sp>
      <p:sp>
        <p:nvSpPr>
          <p:cNvPr id="12" name="Shape 10"/>
          <p:cNvSpPr/>
          <p:nvPr/>
        </p:nvSpPr>
        <p:spPr>
          <a:xfrm>
            <a:off x="914400" y="914400"/>
            <a:ext cx="914400" cy="914400"/>
          </a:xfrm>
          <a:prstGeom prst="line">
            <a:avLst/>
          </a:prstGeom>
          <a:noFill/>
          <a:ln w="15240">
            <a:solidFill>
              <a:srgbClr val="6E4A2A">
                <a:alpha val="85000"/>
              </a:srgbClr>
            </a:solidFill>
            <a:prstDash val="solid"/>
          </a:ln>
        </p:spPr>
      </p:sp>
      <p:sp>
        <p:nvSpPr>
          <p:cNvPr id="13" name="Shape 11"/>
          <p:cNvSpPr/>
          <p:nvPr/>
        </p:nvSpPr>
        <p:spPr>
          <a:xfrm>
            <a:off x="914400" y="914400"/>
            <a:ext cx="914400" cy="914400"/>
          </a:xfrm>
          <a:prstGeom prst="line">
            <a:avLst/>
          </a:prstGeom>
          <a:noFill/>
          <a:ln w="15240">
            <a:solidFill>
              <a:srgbClr val="6E4A2A">
                <a:alpha val="85000"/>
              </a:srgbClr>
            </a:solidFill>
            <a:prstDash val="solid"/>
          </a:ln>
        </p:spPr>
      </p:sp>
      <p:sp>
        <p:nvSpPr>
          <p:cNvPr id="14" name="Shape 12"/>
          <p:cNvSpPr/>
          <p:nvPr/>
        </p:nvSpPr>
        <p:spPr>
          <a:xfrm>
            <a:off x="914400" y="914400"/>
            <a:ext cx="914400" cy="914400"/>
          </a:xfrm>
          <a:prstGeom prst="line">
            <a:avLst/>
          </a:prstGeom>
          <a:noFill/>
          <a:ln w="15240">
            <a:solidFill>
              <a:srgbClr val="6E4A2A">
                <a:alpha val="85000"/>
              </a:srgbClr>
            </a:solidFill>
            <a:prstDash val="solid"/>
          </a:ln>
        </p:spPr>
      </p:sp>
      <p:sp>
        <p:nvSpPr>
          <p:cNvPr id="15" name="Shape 13"/>
          <p:cNvSpPr/>
          <p:nvPr/>
        </p:nvSpPr>
        <p:spPr>
          <a:xfrm>
            <a:off x="914400" y="914400"/>
            <a:ext cx="914400" cy="914400"/>
          </a:xfrm>
          <a:prstGeom prst="line">
            <a:avLst/>
          </a:prstGeom>
          <a:noFill/>
          <a:ln w="15240">
            <a:solidFill>
              <a:srgbClr val="6E4A2A">
                <a:alpha val="85000"/>
              </a:srgbClr>
            </a:solidFill>
            <a:prstDash val="solid"/>
          </a:ln>
        </p:spPr>
      </p:sp>
      <p:sp>
        <p:nvSpPr>
          <p:cNvPr id="16" name="Shape 14"/>
          <p:cNvSpPr/>
          <p:nvPr/>
        </p:nvSpPr>
        <p:spPr>
          <a:xfrm>
            <a:off x="914400" y="914400"/>
            <a:ext cx="914400" cy="914400"/>
          </a:xfrm>
          <a:prstGeom prst="line">
            <a:avLst/>
          </a:prstGeom>
          <a:noFill/>
          <a:ln w="15240">
            <a:solidFill>
              <a:srgbClr val="6E4A2A">
                <a:alpha val="85000"/>
              </a:srgbClr>
            </a:solidFill>
            <a:prstDash val="solid"/>
          </a:ln>
        </p:spPr>
      </p:sp>
      <p:sp>
        <p:nvSpPr>
          <p:cNvPr id="17" name="Shape 15"/>
          <p:cNvSpPr/>
          <p:nvPr/>
        </p:nvSpPr>
        <p:spPr>
          <a:xfrm>
            <a:off x="914400" y="914400"/>
            <a:ext cx="914400" cy="914400"/>
          </a:xfrm>
          <a:prstGeom prst="line">
            <a:avLst/>
          </a:prstGeom>
          <a:noFill/>
          <a:ln w="15240">
            <a:solidFill>
              <a:srgbClr val="6E4A2A">
                <a:alpha val="85000"/>
              </a:srgbClr>
            </a:solidFill>
            <a:prstDash val="solid"/>
          </a:ln>
        </p:spPr>
      </p:sp>
      <p:sp>
        <p:nvSpPr>
          <p:cNvPr id="18" name="Shape 16"/>
          <p:cNvSpPr/>
          <p:nvPr/>
        </p:nvSpPr>
        <p:spPr>
          <a:xfrm>
            <a:off x="914400" y="914400"/>
            <a:ext cx="914400" cy="914400"/>
          </a:xfrm>
          <a:prstGeom prst="line">
            <a:avLst/>
          </a:prstGeom>
          <a:noFill/>
          <a:ln w="15240">
            <a:solidFill>
              <a:srgbClr val="6E4A2A">
                <a:alpha val="85000"/>
              </a:srgbClr>
            </a:solidFill>
            <a:prstDash val="solid"/>
          </a:ln>
        </p:spPr>
      </p:sp>
      <p:sp>
        <p:nvSpPr>
          <p:cNvPr id="19" name="Shape 17"/>
          <p:cNvSpPr/>
          <p:nvPr/>
        </p:nvSpPr>
        <p:spPr>
          <a:xfrm>
            <a:off x="914400" y="914400"/>
            <a:ext cx="914400" cy="914400"/>
          </a:xfrm>
          <a:prstGeom prst="line">
            <a:avLst/>
          </a:prstGeom>
          <a:noFill/>
          <a:ln w="15240">
            <a:solidFill>
              <a:srgbClr val="6E4A2A">
                <a:alpha val="85000"/>
              </a:srgbClr>
            </a:solidFill>
            <a:prstDash val="solid"/>
          </a:ln>
        </p:spPr>
      </p:sp>
      <p:sp>
        <p:nvSpPr>
          <p:cNvPr id="20" name="Shape 18"/>
          <p:cNvSpPr/>
          <p:nvPr/>
        </p:nvSpPr>
        <p:spPr>
          <a:xfrm>
            <a:off x="914400" y="914400"/>
            <a:ext cx="914400" cy="914400"/>
          </a:xfrm>
          <a:prstGeom prst="line">
            <a:avLst/>
          </a:prstGeom>
          <a:noFill/>
          <a:ln w="15240">
            <a:solidFill>
              <a:srgbClr val="6E4A2A">
                <a:alpha val="85000"/>
              </a:srgbClr>
            </a:solidFill>
            <a:prstDash val="solid"/>
          </a:ln>
        </p:spPr>
      </p:sp>
      <p:sp>
        <p:nvSpPr>
          <p:cNvPr id="21" name="Shape 19"/>
          <p:cNvSpPr/>
          <p:nvPr/>
        </p:nvSpPr>
        <p:spPr>
          <a:xfrm>
            <a:off x="914400" y="914400"/>
            <a:ext cx="914400" cy="914400"/>
          </a:xfrm>
          <a:prstGeom prst="line">
            <a:avLst/>
          </a:prstGeom>
          <a:noFill/>
          <a:ln w="15240">
            <a:solidFill>
              <a:srgbClr val="6E4A2A">
                <a:alpha val="85000"/>
              </a:srgbClr>
            </a:solidFill>
            <a:prstDash val="solid"/>
          </a:ln>
        </p:spPr>
      </p:sp>
      <p:sp>
        <p:nvSpPr>
          <p:cNvPr id="22" name="Shape 20"/>
          <p:cNvSpPr/>
          <p:nvPr/>
        </p:nvSpPr>
        <p:spPr>
          <a:xfrm>
            <a:off x="914400" y="914400"/>
            <a:ext cx="914400" cy="914400"/>
          </a:xfrm>
          <a:prstGeom prst="line">
            <a:avLst/>
          </a:prstGeom>
          <a:noFill/>
          <a:ln w="15240">
            <a:solidFill>
              <a:srgbClr val="6E4A2A">
                <a:alpha val="85000"/>
              </a:srgbClr>
            </a:solidFill>
            <a:prstDash val="solid"/>
          </a:ln>
        </p:spPr>
      </p:sp>
      <p:sp>
        <p:nvSpPr>
          <p:cNvPr id="23" name="Shape 21"/>
          <p:cNvSpPr/>
          <p:nvPr/>
        </p:nvSpPr>
        <p:spPr>
          <a:xfrm>
            <a:off x="914400" y="914400"/>
            <a:ext cx="914400" cy="914400"/>
          </a:xfrm>
          <a:prstGeom prst="line">
            <a:avLst/>
          </a:prstGeom>
          <a:noFill/>
          <a:ln w="15240">
            <a:solidFill>
              <a:srgbClr val="6E4A2A">
                <a:alpha val="85000"/>
              </a:srgbClr>
            </a:solidFill>
            <a:prstDash val="solid"/>
          </a:ln>
        </p:spPr>
      </p:sp>
      <p:sp>
        <p:nvSpPr>
          <p:cNvPr id="24" name="Shape 22"/>
          <p:cNvSpPr/>
          <p:nvPr/>
        </p:nvSpPr>
        <p:spPr>
          <a:xfrm>
            <a:off x="914400" y="914400"/>
            <a:ext cx="914400" cy="914400"/>
          </a:xfrm>
          <a:prstGeom prst="line">
            <a:avLst/>
          </a:prstGeom>
          <a:noFill/>
          <a:ln w="15240">
            <a:solidFill>
              <a:srgbClr val="6E4A2A">
                <a:alpha val="85000"/>
              </a:srgbClr>
            </a:solidFill>
            <a:prstDash val="solid"/>
          </a:ln>
        </p:spPr>
      </p:sp>
      <p:sp>
        <p:nvSpPr>
          <p:cNvPr id="25" name="Shape 23"/>
          <p:cNvSpPr/>
          <p:nvPr/>
        </p:nvSpPr>
        <p:spPr>
          <a:xfrm>
            <a:off x="914400" y="914400"/>
            <a:ext cx="914400" cy="914400"/>
          </a:xfrm>
          <a:prstGeom prst="line">
            <a:avLst/>
          </a:prstGeom>
          <a:noFill/>
          <a:ln w="15240">
            <a:solidFill>
              <a:srgbClr val="6E4A2A">
                <a:alpha val="85000"/>
              </a:srgbClr>
            </a:solidFill>
            <a:prstDash val="solid"/>
          </a:ln>
        </p:spPr>
      </p:sp>
      <p:sp>
        <p:nvSpPr>
          <p:cNvPr id="26" name="Shape 24"/>
          <p:cNvSpPr/>
          <p:nvPr/>
        </p:nvSpPr>
        <p:spPr>
          <a:xfrm>
            <a:off x="914400" y="914400"/>
            <a:ext cx="914400" cy="914400"/>
          </a:xfrm>
          <a:prstGeom prst="line">
            <a:avLst/>
          </a:prstGeom>
          <a:noFill/>
          <a:ln w="15240">
            <a:solidFill>
              <a:srgbClr val="6E4A2A">
                <a:alpha val="85000"/>
              </a:srgbClr>
            </a:solidFill>
            <a:prstDash val="solid"/>
          </a:ln>
        </p:spPr>
      </p:sp>
      <p:sp>
        <p:nvSpPr>
          <p:cNvPr id="27" name="Shape 25"/>
          <p:cNvSpPr/>
          <p:nvPr/>
        </p:nvSpPr>
        <p:spPr>
          <a:xfrm>
            <a:off x="914400" y="914400"/>
            <a:ext cx="914400" cy="914400"/>
          </a:xfrm>
          <a:prstGeom prst="line">
            <a:avLst/>
          </a:prstGeom>
          <a:noFill/>
          <a:ln w="15240">
            <a:solidFill>
              <a:srgbClr val="6E4A2A">
                <a:alpha val="85000"/>
              </a:srgbClr>
            </a:solidFill>
            <a:prstDash val="solid"/>
          </a:ln>
        </p:spPr>
      </p:sp>
      <p:sp>
        <p:nvSpPr>
          <p:cNvPr id="28" name="Shape 26"/>
          <p:cNvSpPr/>
          <p:nvPr/>
        </p:nvSpPr>
        <p:spPr>
          <a:xfrm>
            <a:off x="914400" y="914400"/>
            <a:ext cx="914400" cy="914400"/>
          </a:xfrm>
          <a:prstGeom prst="line">
            <a:avLst/>
          </a:prstGeom>
          <a:noFill/>
          <a:ln w="15240">
            <a:solidFill>
              <a:srgbClr val="6E4A2A">
                <a:alpha val="85000"/>
              </a:srgbClr>
            </a:solidFill>
            <a:prstDash val="solid"/>
          </a:ln>
        </p:spPr>
      </p:sp>
      <p:sp>
        <p:nvSpPr>
          <p:cNvPr id="29" name="Shape 27"/>
          <p:cNvSpPr/>
          <p:nvPr/>
        </p:nvSpPr>
        <p:spPr>
          <a:xfrm>
            <a:off x="914400" y="914400"/>
            <a:ext cx="914400" cy="914400"/>
          </a:xfrm>
          <a:prstGeom prst="line">
            <a:avLst/>
          </a:prstGeom>
          <a:noFill/>
          <a:ln w="15240">
            <a:solidFill>
              <a:srgbClr val="6E4A2A">
                <a:alpha val="85000"/>
              </a:srgbClr>
            </a:solidFill>
            <a:prstDash val="solid"/>
          </a:ln>
        </p:spPr>
      </p:sp>
      <p:sp>
        <p:nvSpPr>
          <p:cNvPr id="30" name="Shape 28"/>
          <p:cNvSpPr/>
          <p:nvPr/>
        </p:nvSpPr>
        <p:spPr>
          <a:xfrm>
            <a:off x="914400" y="914400"/>
            <a:ext cx="914400" cy="914400"/>
          </a:xfrm>
          <a:prstGeom prst="line">
            <a:avLst/>
          </a:prstGeom>
          <a:noFill/>
          <a:ln w="15240">
            <a:solidFill>
              <a:srgbClr val="6E4A2A">
                <a:alpha val="85000"/>
              </a:srgbClr>
            </a:solidFill>
            <a:prstDash val="solid"/>
          </a:ln>
        </p:spPr>
      </p:sp>
      <p:sp>
        <p:nvSpPr>
          <p:cNvPr id="31" name="Shape 29"/>
          <p:cNvSpPr/>
          <p:nvPr/>
        </p:nvSpPr>
        <p:spPr>
          <a:xfrm>
            <a:off x="914400" y="914400"/>
            <a:ext cx="914400" cy="914400"/>
          </a:xfrm>
          <a:prstGeom prst="line">
            <a:avLst/>
          </a:prstGeom>
          <a:noFill/>
          <a:ln w="15240">
            <a:solidFill>
              <a:srgbClr val="6E4A2A">
                <a:alpha val="85000"/>
              </a:srgbClr>
            </a:solidFill>
            <a:prstDash val="solid"/>
          </a:ln>
        </p:spPr>
      </p:sp>
      <p:sp>
        <p:nvSpPr>
          <p:cNvPr id="32" name="Shape 30"/>
          <p:cNvSpPr/>
          <p:nvPr/>
        </p:nvSpPr>
        <p:spPr>
          <a:xfrm>
            <a:off x="914400" y="914400"/>
            <a:ext cx="914400" cy="914400"/>
          </a:xfrm>
          <a:prstGeom prst="line">
            <a:avLst/>
          </a:prstGeom>
          <a:noFill/>
          <a:ln w="15240">
            <a:solidFill>
              <a:srgbClr val="6E4A2A">
                <a:alpha val="85000"/>
              </a:srgbClr>
            </a:solidFill>
            <a:prstDash val="solid"/>
          </a:ln>
        </p:spPr>
      </p:sp>
      <p:sp>
        <p:nvSpPr>
          <p:cNvPr id="33" name="Shape 31"/>
          <p:cNvSpPr/>
          <p:nvPr/>
        </p:nvSpPr>
        <p:spPr>
          <a:xfrm>
            <a:off x="914400" y="914400"/>
            <a:ext cx="914400" cy="914400"/>
          </a:xfrm>
          <a:prstGeom prst="line">
            <a:avLst/>
          </a:prstGeom>
          <a:noFill/>
          <a:ln w="6350">
            <a:solidFill>
              <a:srgbClr val="9B754A">
                <a:alpha val="65000"/>
              </a:srgbClr>
            </a:solidFill>
            <a:prstDash val="solid"/>
          </a:ln>
        </p:spPr>
      </p:sp>
      <p:sp>
        <p:nvSpPr>
          <p:cNvPr id="34" name="Shape 32"/>
          <p:cNvSpPr/>
          <p:nvPr/>
        </p:nvSpPr>
        <p:spPr>
          <a:xfrm>
            <a:off x="914400" y="914400"/>
            <a:ext cx="914400" cy="914400"/>
          </a:xfrm>
          <a:prstGeom prst="line">
            <a:avLst/>
          </a:prstGeom>
          <a:noFill/>
          <a:ln w="6350">
            <a:solidFill>
              <a:srgbClr val="9B754A">
                <a:alpha val="65000"/>
              </a:srgbClr>
            </a:solidFill>
            <a:prstDash val="solid"/>
          </a:ln>
        </p:spPr>
      </p:sp>
      <p:sp>
        <p:nvSpPr>
          <p:cNvPr id="35" name="Shape 33"/>
          <p:cNvSpPr/>
          <p:nvPr/>
        </p:nvSpPr>
        <p:spPr>
          <a:xfrm>
            <a:off x="914400" y="914400"/>
            <a:ext cx="914400" cy="914400"/>
          </a:xfrm>
          <a:prstGeom prst="line">
            <a:avLst/>
          </a:prstGeom>
          <a:noFill/>
          <a:ln w="6350">
            <a:solidFill>
              <a:srgbClr val="9B754A">
                <a:alpha val="65000"/>
              </a:srgbClr>
            </a:solidFill>
            <a:prstDash val="solid"/>
          </a:ln>
        </p:spPr>
      </p:sp>
      <p:sp>
        <p:nvSpPr>
          <p:cNvPr id="36" name="Shape 34"/>
          <p:cNvSpPr/>
          <p:nvPr/>
        </p:nvSpPr>
        <p:spPr>
          <a:xfrm>
            <a:off x="914400" y="914400"/>
            <a:ext cx="914400" cy="914400"/>
          </a:xfrm>
          <a:prstGeom prst="line">
            <a:avLst/>
          </a:prstGeom>
          <a:noFill/>
          <a:ln w="6350">
            <a:solidFill>
              <a:srgbClr val="9B754A">
                <a:alpha val="65000"/>
              </a:srgbClr>
            </a:solidFill>
            <a:prstDash val="solid"/>
          </a:ln>
        </p:spPr>
      </p:sp>
      <p:sp>
        <p:nvSpPr>
          <p:cNvPr id="37" name="Shape 35"/>
          <p:cNvSpPr/>
          <p:nvPr/>
        </p:nvSpPr>
        <p:spPr>
          <a:xfrm>
            <a:off x="914400" y="914400"/>
            <a:ext cx="914400" cy="914400"/>
          </a:xfrm>
          <a:prstGeom prst="line">
            <a:avLst/>
          </a:prstGeom>
          <a:noFill/>
          <a:ln w="6350">
            <a:solidFill>
              <a:srgbClr val="9B754A">
                <a:alpha val="65000"/>
              </a:srgbClr>
            </a:solidFill>
            <a:prstDash val="solid"/>
          </a:ln>
        </p:spPr>
      </p:sp>
      <p:sp>
        <p:nvSpPr>
          <p:cNvPr id="38" name="Shape 36"/>
          <p:cNvSpPr/>
          <p:nvPr/>
        </p:nvSpPr>
        <p:spPr>
          <a:xfrm>
            <a:off x="914400" y="914400"/>
            <a:ext cx="914400" cy="914400"/>
          </a:xfrm>
          <a:prstGeom prst="line">
            <a:avLst/>
          </a:prstGeom>
          <a:noFill/>
          <a:ln w="6350">
            <a:solidFill>
              <a:srgbClr val="9B754A">
                <a:alpha val="65000"/>
              </a:srgbClr>
            </a:solidFill>
            <a:prstDash val="solid"/>
          </a:ln>
        </p:spPr>
      </p:sp>
      <p:pic>
        <p:nvPicPr>
          <p:cNvPr id="3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652760" y="164592"/>
            <a:ext cx="1005840" cy="1005840"/>
          </a:xfrm>
          <a:prstGeom prst="rect">
            <a:avLst/>
          </a:prstGeom>
        </p:spPr>
      </p:pic>
      <p:sp>
        <p:nvSpPr>
          <p:cNvPr id="40" name="Text 37"/>
          <p:cNvSpPr/>
          <p:nvPr/>
        </p:nvSpPr>
        <p:spPr>
          <a:xfrm>
            <a:off x="658368" y="420624"/>
            <a:ext cx="7132320" cy="457200"/>
          </a:xfrm>
          <a:prstGeom prst="rect">
            <a:avLst/>
          </a:prstGeom>
          <a:noFill/>
          <a:ln/>
        </p:spPr>
        <p:txBody>
          <a:bodyPr wrap="square" lIns="0" tIns="0" rIns="0" bIns="0" rtlCol="0" anchor="ctr"/>
          <a:lstStyle/>
          <a:p>
            <a:pPr indent="0" marL="0">
              <a:buNone/>
            </a:pPr>
            <a:r>
              <a:rPr lang="en-US" sz="2200" dirty="0">
                <a:solidFill>
                  <a:srgbClr val="FFFFFF"/>
                </a:solidFill>
                <a:latin typeface="Aptos" pitchFamily="34" charset="0"/>
                <a:ea typeface="Aptos" pitchFamily="34" charset="-122"/>
                <a:cs typeface="Aptos" pitchFamily="34" charset="-120"/>
              </a:rPr>
              <a:t>VO &amp; GROEPSLESSEN</a:t>
            </a:r>
            <a:endParaRPr lang="en-US" sz="2200" dirty="0"/>
          </a:p>
        </p:txBody>
      </p:sp>
      <p:sp>
        <p:nvSpPr>
          <p:cNvPr id="41" name="Text 38"/>
          <p:cNvSpPr/>
          <p:nvPr/>
        </p:nvSpPr>
        <p:spPr>
          <a:xfrm>
            <a:off x="676656" y="868680"/>
            <a:ext cx="7772400" cy="228600"/>
          </a:xfrm>
          <a:prstGeom prst="rect">
            <a:avLst/>
          </a:prstGeom>
          <a:noFill/>
          <a:ln/>
        </p:spPr>
        <p:txBody>
          <a:bodyPr wrap="square" lIns="0" tIns="0" rIns="0" bIns="0" rtlCol="0" anchor="ctr"/>
          <a:lstStyle/>
          <a:p>
            <a:pPr indent="0" marL="0">
              <a:buNone/>
            </a:pPr>
            <a:r>
              <a:rPr lang="en-US" sz="1000" i="1" dirty="0">
                <a:solidFill>
                  <a:srgbClr val="E0B24A"/>
                </a:solidFill>
                <a:latin typeface="Aptos" pitchFamily="34" charset="0"/>
                <a:ea typeface="Aptos" pitchFamily="34" charset="-122"/>
                <a:cs typeface="Aptos" pitchFamily="34" charset="-120"/>
              </a:rPr>
              <a:t>WS3.2 Challenge M2</a:t>
            </a:r>
            <a:endParaRPr lang="en-US" sz="1000" dirty="0"/>
          </a:p>
        </p:txBody>
      </p:sp>
      <p:sp>
        <p:nvSpPr>
          <p:cNvPr id="42" name="Text 39"/>
          <p:cNvSpPr/>
          <p:nvPr/>
        </p:nvSpPr>
        <p:spPr>
          <a:xfrm>
            <a:off x="896112" y="1399032"/>
            <a:ext cx="164592" cy="201168"/>
          </a:xfrm>
          <a:prstGeom prst="rect">
            <a:avLst/>
          </a:prstGeom>
          <a:noFill/>
          <a:ln/>
        </p:spPr>
        <p:txBody>
          <a:bodyPr wrap="square" lIns="0" tIns="0" rIns="0" bIns="0" rtlCol="0" anchor="ctr"/>
          <a:lstStyle/>
          <a:p>
            <a:pPr indent="0" marL="0">
              <a:buNone/>
            </a:pPr>
            <a:r>
              <a:rPr lang="en-US" sz="1800" dirty="0">
                <a:solidFill>
                  <a:srgbClr val="E0B24A"/>
                </a:solidFill>
                <a:latin typeface="Aptos" pitchFamily="34" charset="0"/>
                <a:ea typeface="Aptos" pitchFamily="34" charset="-122"/>
                <a:cs typeface="Aptos" pitchFamily="34" charset="-120"/>
              </a:rPr>
              <a:t>•</a:t>
            </a:r>
            <a:endParaRPr lang="en-US" sz="1800" dirty="0"/>
          </a:p>
        </p:txBody>
      </p:sp>
      <p:sp>
        <p:nvSpPr>
          <p:cNvPr id="43" name="Text 40"/>
          <p:cNvSpPr/>
          <p:nvPr/>
        </p:nvSpPr>
        <p:spPr>
          <a:xfrm>
            <a:off x="1133856" y="1389888"/>
            <a:ext cx="6126480" cy="658368"/>
          </a:xfrm>
          <a:prstGeom prst="rect">
            <a:avLst/>
          </a:prstGeom>
          <a:noFill/>
          <a:ln/>
        </p:spPr>
        <p:txBody>
          <a:bodyPr wrap="square" lIns="0" tIns="0" rIns="0" bIns="0" rtlCol="0" anchor="ctr">
            <a:normAutofit/>
          </a:bodyPr>
          <a:lstStyle/>
          <a:p>
            <a:pPr indent="0" marL="0">
              <a:buNone/>
            </a:pPr>
            <a:r>
              <a:rPr lang="en-US" sz="1550" b="1" dirty="0">
                <a:solidFill>
                  <a:srgbClr val="FFFFFF"/>
                </a:solidFill>
                <a:latin typeface="Aptos" pitchFamily="34" charset="0"/>
                <a:ea typeface="Aptos" pitchFamily="34" charset="-122"/>
                <a:cs typeface="Aptos" pitchFamily="34" charset="-120"/>
              </a:rPr>
              <a:t>Vo — </a:t>
            </a:r>
            <a:pPr indent="0" marL="0">
              <a:buNone/>
            </a:pPr>
            <a:r>
              <a:rPr lang="en-US" sz="1550" dirty="0">
                <a:solidFill>
                  <a:srgbClr val="F2F2F2"/>
                </a:solidFill>
                <a:latin typeface="Aptos" pitchFamily="34" charset="0"/>
                <a:ea typeface="Aptos" pitchFamily="34" charset="-122"/>
                <a:cs typeface="Aptos" pitchFamily="34" charset="-120"/>
              </a:rPr>
              <a:t>Ik was niet aanwezig bij deze bijeenkomst en heb daarom geen persoonlijke reflectie aangeleverd.</a:t>
            </a:r>
            <a:endParaRPr lang="en-US" sz="1550" dirty="0"/>
          </a:p>
        </p:txBody>
      </p:sp>
      <p:sp>
        <p:nvSpPr>
          <p:cNvPr id="44" name="Text 41"/>
          <p:cNvSpPr/>
          <p:nvPr/>
        </p:nvSpPr>
        <p:spPr>
          <a:xfrm>
            <a:off x="896112" y="2340864"/>
            <a:ext cx="164592" cy="201168"/>
          </a:xfrm>
          <a:prstGeom prst="rect">
            <a:avLst/>
          </a:prstGeom>
          <a:noFill/>
          <a:ln/>
        </p:spPr>
        <p:txBody>
          <a:bodyPr wrap="square" lIns="0" tIns="0" rIns="0" bIns="0" rtlCol="0" anchor="ctr"/>
          <a:lstStyle/>
          <a:p>
            <a:pPr indent="0" marL="0">
              <a:buNone/>
            </a:pPr>
            <a:r>
              <a:rPr lang="en-US" sz="1800" dirty="0">
                <a:solidFill>
                  <a:srgbClr val="E0B24A"/>
                </a:solidFill>
                <a:latin typeface="Aptos" pitchFamily="34" charset="0"/>
                <a:ea typeface="Aptos" pitchFamily="34" charset="-122"/>
                <a:cs typeface="Aptos" pitchFamily="34" charset="-120"/>
              </a:rPr>
              <a:t>•</a:t>
            </a:r>
            <a:endParaRPr lang="en-US" sz="1800" dirty="0"/>
          </a:p>
        </p:txBody>
      </p:sp>
      <p:sp>
        <p:nvSpPr>
          <p:cNvPr id="45" name="Text 42"/>
          <p:cNvSpPr/>
          <p:nvPr/>
        </p:nvSpPr>
        <p:spPr>
          <a:xfrm>
            <a:off x="1133856" y="2331720"/>
            <a:ext cx="6126480" cy="658368"/>
          </a:xfrm>
          <a:prstGeom prst="rect">
            <a:avLst/>
          </a:prstGeom>
          <a:noFill/>
          <a:ln/>
        </p:spPr>
        <p:txBody>
          <a:bodyPr wrap="square" lIns="0" tIns="0" rIns="0" bIns="0" rtlCol="0" anchor="ctr">
            <a:normAutofit/>
          </a:bodyPr>
          <a:lstStyle/>
          <a:p>
            <a:pPr indent="0" marL="0">
              <a:buNone/>
            </a:pPr>
            <a:r>
              <a:rPr lang="en-US" sz="1550" b="1" dirty="0">
                <a:solidFill>
                  <a:srgbClr val="FFFFFF"/>
                </a:solidFill>
                <a:latin typeface="Aptos" pitchFamily="34" charset="0"/>
                <a:ea typeface="Aptos" pitchFamily="34" charset="-122"/>
                <a:cs typeface="Aptos" pitchFamily="34" charset="-120"/>
              </a:rPr>
              <a:t>Groepsbeeld — </a:t>
            </a:r>
            <a:pPr indent="0" marL="0">
              <a:buNone/>
            </a:pPr>
            <a:r>
              <a:rPr lang="en-US" sz="1550" dirty="0">
                <a:solidFill>
                  <a:srgbClr val="F2F2F2"/>
                </a:solidFill>
                <a:latin typeface="Aptos" pitchFamily="34" charset="0"/>
                <a:ea typeface="Aptos" pitchFamily="34" charset="-122"/>
                <a:cs typeface="Aptos" pitchFamily="34" charset="-120"/>
              </a:rPr>
              <a:t>Binnen de challenge waren vooral act with urgency en sharing power zichtbaar; be transparent had sterker gekund.</a:t>
            </a:r>
            <a:endParaRPr lang="en-US" sz="1550" dirty="0"/>
          </a:p>
        </p:txBody>
      </p:sp>
      <p:sp>
        <p:nvSpPr>
          <p:cNvPr id="46" name="Text 43"/>
          <p:cNvSpPr/>
          <p:nvPr/>
        </p:nvSpPr>
        <p:spPr>
          <a:xfrm>
            <a:off x="896112" y="3282696"/>
            <a:ext cx="164592" cy="201168"/>
          </a:xfrm>
          <a:prstGeom prst="rect">
            <a:avLst/>
          </a:prstGeom>
          <a:noFill/>
          <a:ln/>
        </p:spPr>
        <p:txBody>
          <a:bodyPr wrap="square" lIns="0" tIns="0" rIns="0" bIns="0" rtlCol="0" anchor="ctr"/>
          <a:lstStyle/>
          <a:p>
            <a:pPr indent="0" marL="0">
              <a:buNone/>
            </a:pPr>
            <a:r>
              <a:rPr lang="en-US" sz="1800" dirty="0">
                <a:solidFill>
                  <a:srgbClr val="E0B24A"/>
                </a:solidFill>
                <a:latin typeface="Aptos" pitchFamily="34" charset="0"/>
                <a:ea typeface="Aptos" pitchFamily="34" charset="-122"/>
                <a:cs typeface="Aptos" pitchFamily="34" charset="-120"/>
              </a:rPr>
              <a:t>•</a:t>
            </a:r>
            <a:endParaRPr lang="en-US" sz="1800" dirty="0"/>
          </a:p>
        </p:txBody>
      </p:sp>
      <p:sp>
        <p:nvSpPr>
          <p:cNvPr id="47" name="Text 44"/>
          <p:cNvSpPr/>
          <p:nvPr/>
        </p:nvSpPr>
        <p:spPr>
          <a:xfrm>
            <a:off x="1133856" y="3273552"/>
            <a:ext cx="6126480" cy="658368"/>
          </a:xfrm>
          <a:prstGeom prst="rect">
            <a:avLst/>
          </a:prstGeom>
          <a:noFill/>
          <a:ln/>
        </p:spPr>
        <p:txBody>
          <a:bodyPr wrap="square" lIns="0" tIns="0" rIns="0" bIns="0" rtlCol="0" anchor="ctr">
            <a:normAutofit/>
          </a:bodyPr>
          <a:lstStyle/>
          <a:p>
            <a:pPr indent="0" marL="0">
              <a:buNone/>
            </a:pPr>
            <a:r>
              <a:rPr lang="en-US" sz="1550" b="1" dirty="0">
                <a:solidFill>
                  <a:srgbClr val="FFFFFF"/>
                </a:solidFill>
                <a:latin typeface="Aptos" pitchFamily="34" charset="0"/>
                <a:ea typeface="Aptos" pitchFamily="34" charset="-122"/>
                <a:cs typeface="Aptos" pitchFamily="34" charset="-120"/>
              </a:rPr>
              <a:t>Leiderschap — </a:t>
            </a:r>
            <a:pPr indent="0" marL="0">
              <a:buNone/>
            </a:pPr>
            <a:r>
              <a:rPr lang="en-US" sz="1550" dirty="0">
                <a:solidFill>
                  <a:srgbClr val="F2F2F2"/>
                </a:solidFill>
                <a:latin typeface="Aptos" pitchFamily="34" charset="0"/>
                <a:ea typeface="Aptos" pitchFamily="34" charset="-122"/>
                <a:cs typeface="Aptos" pitchFamily="34" charset="-120"/>
              </a:rPr>
              <a:t>Instrueren, coachen en motiveren pasten het best bij de onduidelijke en stressvolle situatie; delegeren minder.</a:t>
            </a:r>
            <a:endParaRPr lang="en-US" sz="1550" dirty="0"/>
          </a:p>
        </p:txBody>
      </p:sp>
      <p:sp>
        <p:nvSpPr>
          <p:cNvPr id="48" name="Text 45"/>
          <p:cNvSpPr/>
          <p:nvPr/>
        </p:nvSpPr>
        <p:spPr>
          <a:xfrm>
            <a:off x="896112" y="4224528"/>
            <a:ext cx="164592" cy="201168"/>
          </a:xfrm>
          <a:prstGeom prst="rect">
            <a:avLst/>
          </a:prstGeom>
          <a:noFill/>
          <a:ln/>
        </p:spPr>
        <p:txBody>
          <a:bodyPr wrap="square" lIns="0" tIns="0" rIns="0" bIns="0" rtlCol="0" anchor="ctr"/>
          <a:lstStyle/>
          <a:p>
            <a:pPr indent="0" marL="0">
              <a:buNone/>
            </a:pPr>
            <a:r>
              <a:rPr lang="en-US" sz="1800" dirty="0">
                <a:solidFill>
                  <a:srgbClr val="E0B24A"/>
                </a:solidFill>
                <a:latin typeface="Aptos" pitchFamily="34" charset="0"/>
                <a:ea typeface="Aptos" pitchFamily="34" charset="-122"/>
                <a:cs typeface="Aptos" pitchFamily="34" charset="-120"/>
              </a:rPr>
              <a:t>•</a:t>
            </a:r>
            <a:endParaRPr lang="en-US" sz="1800" dirty="0"/>
          </a:p>
        </p:txBody>
      </p:sp>
      <p:sp>
        <p:nvSpPr>
          <p:cNvPr id="49" name="Text 46"/>
          <p:cNvSpPr/>
          <p:nvPr/>
        </p:nvSpPr>
        <p:spPr>
          <a:xfrm>
            <a:off x="1133856" y="4215384"/>
            <a:ext cx="6126480" cy="658368"/>
          </a:xfrm>
          <a:prstGeom prst="rect">
            <a:avLst/>
          </a:prstGeom>
          <a:noFill/>
          <a:ln/>
        </p:spPr>
        <p:txBody>
          <a:bodyPr wrap="square" lIns="0" tIns="0" rIns="0" bIns="0" rtlCol="0" anchor="ctr">
            <a:normAutofit/>
          </a:bodyPr>
          <a:lstStyle/>
          <a:p>
            <a:pPr indent="0" marL="0">
              <a:buNone/>
            </a:pPr>
            <a:r>
              <a:rPr lang="en-US" sz="1550" b="1" dirty="0">
                <a:solidFill>
                  <a:srgbClr val="FFFFFF"/>
                </a:solidFill>
                <a:latin typeface="Aptos" pitchFamily="34" charset="0"/>
                <a:ea typeface="Aptos" pitchFamily="34" charset="-122"/>
                <a:cs typeface="Aptos" pitchFamily="34" charset="-120"/>
              </a:rPr>
              <a:t>Gezamenlijke les — </a:t>
            </a:r>
            <a:pPr indent="0" marL="0">
              <a:buNone/>
            </a:pPr>
            <a:r>
              <a:rPr lang="en-US" sz="1550" dirty="0">
                <a:solidFill>
                  <a:srgbClr val="F2F2F2"/>
                </a:solidFill>
                <a:latin typeface="Aptos" pitchFamily="34" charset="0"/>
                <a:ea typeface="Aptos" pitchFamily="34" charset="-122"/>
                <a:cs typeface="Aptos" pitchFamily="34" charset="-120"/>
              </a:rPr>
              <a:t>Meer structuur, duidelijkere communicatie en sterker eigenaarschap per rol hadden de samenwerking verbeterd.</a:t>
            </a:r>
            <a:endParaRPr lang="en-US" sz="1550" dirty="0"/>
          </a:p>
        </p:txBody>
      </p:sp>
      <p:sp>
        <p:nvSpPr>
          <p:cNvPr id="50" name="Shape 47"/>
          <p:cNvSpPr/>
          <p:nvPr/>
        </p:nvSpPr>
        <p:spPr>
          <a:xfrm>
            <a:off x="8092440" y="1627632"/>
            <a:ext cx="3218688" cy="3246120"/>
          </a:xfrm>
          <a:prstGeom prst="roundRect">
            <a:avLst>
              <a:gd name="adj" fmla="val 1705"/>
            </a:avLst>
          </a:prstGeom>
          <a:solidFill>
            <a:srgbClr val="113C68">
              <a:alpha val="92000"/>
            </a:srgbClr>
          </a:solidFill>
          <a:ln w="15240">
            <a:solidFill>
              <a:srgbClr val="E0B24A"/>
            </a:solidFill>
            <a:prstDash val="solid"/>
          </a:ln>
        </p:spPr>
      </p:sp>
      <p:sp>
        <p:nvSpPr>
          <p:cNvPr id="51" name="Text 48"/>
          <p:cNvSpPr/>
          <p:nvPr/>
        </p:nvSpPr>
        <p:spPr>
          <a:xfrm>
            <a:off x="8339328" y="1847088"/>
            <a:ext cx="2651760" cy="292608"/>
          </a:xfrm>
          <a:prstGeom prst="rect">
            <a:avLst/>
          </a:prstGeom>
          <a:noFill/>
          <a:ln/>
        </p:spPr>
        <p:txBody>
          <a:bodyPr wrap="square" lIns="0" tIns="0" rIns="0" bIns="0" rtlCol="0" anchor="ctr"/>
          <a:lstStyle/>
          <a:p>
            <a:pPr indent="0" marL="0">
              <a:buNone/>
            </a:pPr>
            <a:r>
              <a:rPr lang="en-US" sz="1600" b="1" dirty="0">
                <a:solidFill>
                  <a:srgbClr val="E0B24A"/>
                </a:solidFill>
                <a:latin typeface="Aptos" pitchFamily="34" charset="0"/>
                <a:ea typeface="Aptos" pitchFamily="34" charset="-122"/>
                <a:cs typeface="Aptos" pitchFamily="34" charset="-120"/>
              </a:rPr>
              <a:t>EINDCONCLUSIE</a:t>
            </a:r>
            <a:endParaRPr lang="en-US" sz="1600" dirty="0"/>
          </a:p>
        </p:txBody>
      </p:sp>
      <p:sp>
        <p:nvSpPr>
          <p:cNvPr id="52" name="Text 49"/>
          <p:cNvSpPr/>
          <p:nvPr/>
        </p:nvSpPr>
        <p:spPr>
          <a:xfrm>
            <a:off x="8357616" y="2304288"/>
            <a:ext cx="164592" cy="164592"/>
          </a:xfrm>
          <a:prstGeom prst="rect">
            <a:avLst/>
          </a:prstGeom>
          <a:noFill/>
          <a:ln/>
        </p:spPr>
        <p:txBody>
          <a:bodyPr wrap="square" lIns="0" tIns="0" rIns="0" bIns="0" rtlCol="0" anchor="ctr"/>
          <a:lstStyle/>
          <a:p>
            <a:pPr indent="0" marL="0">
              <a:buNone/>
            </a:pPr>
            <a:r>
              <a:rPr lang="en-US" sz="1600" dirty="0">
                <a:solidFill>
                  <a:srgbClr val="E0B24A"/>
                </a:solidFill>
                <a:latin typeface="Aptos" pitchFamily="34" charset="0"/>
                <a:ea typeface="Aptos" pitchFamily="34" charset="-122"/>
                <a:cs typeface="Aptos" pitchFamily="34" charset="-120"/>
              </a:rPr>
              <a:t>•</a:t>
            </a:r>
            <a:endParaRPr lang="en-US" sz="1600" dirty="0"/>
          </a:p>
        </p:txBody>
      </p:sp>
      <p:sp>
        <p:nvSpPr>
          <p:cNvPr id="53" name="Text 50"/>
          <p:cNvSpPr/>
          <p:nvPr/>
        </p:nvSpPr>
        <p:spPr>
          <a:xfrm>
            <a:off x="8595360" y="2295144"/>
            <a:ext cx="2331720" cy="530352"/>
          </a:xfrm>
          <a:prstGeom prst="rect">
            <a:avLst/>
          </a:prstGeom>
          <a:noFill/>
          <a:ln/>
        </p:spPr>
        <p:txBody>
          <a:bodyPr wrap="square" lIns="0" tIns="0" rIns="0" bIns="0" rtlCol="0" anchor="ctr">
            <a:normAutofit/>
          </a:bodyPr>
          <a:lstStyle/>
          <a:p>
            <a:pPr indent="0" marL="0">
              <a:buNone/>
            </a:pPr>
            <a:r>
              <a:rPr lang="en-US" sz="1350" dirty="0">
                <a:solidFill>
                  <a:srgbClr val="FFFFFF"/>
                </a:solidFill>
                <a:latin typeface="Aptos" pitchFamily="34" charset="0"/>
                <a:ea typeface="Aptos" pitchFamily="34" charset="-122"/>
                <a:cs typeface="Aptos" pitchFamily="34" charset="-120"/>
              </a:rPr>
              <a:t>Snel handelen was nodig</a:t>
            </a:r>
            <a:endParaRPr lang="en-US" sz="1350" dirty="0"/>
          </a:p>
        </p:txBody>
      </p:sp>
      <p:sp>
        <p:nvSpPr>
          <p:cNvPr id="54" name="Text 51"/>
          <p:cNvSpPr/>
          <p:nvPr/>
        </p:nvSpPr>
        <p:spPr>
          <a:xfrm>
            <a:off x="8357616" y="2907792"/>
            <a:ext cx="164592" cy="164592"/>
          </a:xfrm>
          <a:prstGeom prst="rect">
            <a:avLst/>
          </a:prstGeom>
          <a:noFill/>
          <a:ln/>
        </p:spPr>
        <p:txBody>
          <a:bodyPr wrap="square" lIns="0" tIns="0" rIns="0" bIns="0" rtlCol="0" anchor="ctr"/>
          <a:lstStyle/>
          <a:p>
            <a:pPr indent="0" marL="0">
              <a:buNone/>
            </a:pPr>
            <a:r>
              <a:rPr lang="en-US" sz="1600" dirty="0">
                <a:solidFill>
                  <a:srgbClr val="E0B24A"/>
                </a:solidFill>
                <a:latin typeface="Aptos" pitchFamily="34" charset="0"/>
                <a:ea typeface="Aptos" pitchFamily="34" charset="-122"/>
                <a:cs typeface="Aptos" pitchFamily="34" charset="-120"/>
              </a:rPr>
              <a:t>•</a:t>
            </a:r>
            <a:endParaRPr lang="en-US" sz="1600" dirty="0"/>
          </a:p>
        </p:txBody>
      </p:sp>
      <p:sp>
        <p:nvSpPr>
          <p:cNvPr id="55" name="Text 52"/>
          <p:cNvSpPr/>
          <p:nvPr/>
        </p:nvSpPr>
        <p:spPr>
          <a:xfrm>
            <a:off x="8595360" y="2898648"/>
            <a:ext cx="2331720" cy="530352"/>
          </a:xfrm>
          <a:prstGeom prst="rect">
            <a:avLst/>
          </a:prstGeom>
          <a:noFill/>
          <a:ln/>
        </p:spPr>
        <p:txBody>
          <a:bodyPr wrap="square" lIns="0" tIns="0" rIns="0" bIns="0" rtlCol="0" anchor="ctr">
            <a:normAutofit/>
          </a:bodyPr>
          <a:lstStyle/>
          <a:p>
            <a:pPr indent="0" marL="0">
              <a:buNone/>
            </a:pPr>
            <a:r>
              <a:rPr lang="en-US" sz="1350" dirty="0">
                <a:solidFill>
                  <a:srgbClr val="FFFFFF"/>
                </a:solidFill>
                <a:latin typeface="Aptos" pitchFamily="34" charset="0"/>
                <a:ea typeface="Aptos" pitchFamily="34" charset="-122"/>
                <a:cs typeface="Aptos" pitchFamily="34" charset="-120"/>
              </a:rPr>
              <a:t>Samenwerking maakte verschil</a:t>
            </a:r>
            <a:endParaRPr lang="en-US" sz="1350" dirty="0"/>
          </a:p>
        </p:txBody>
      </p:sp>
      <p:sp>
        <p:nvSpPr>
          <p:cNvPr id="56" name="Text 53"/>
          <p:cNvSpPr/>
          <p:nvPr/>
        </p:nvSpPr>
        <p:spPr>
          <a:xfrm>
            <a:off x="8357616" y="3511296"/>
            <a:ext cx="164592" cy="164592"/>
          </a:xfrm>
          <a:prstGeom prst="rect">
            <a:avLst/>
          </a:prstGeom>
          <a:noFill/>
          <a:ln/>
        </p:spPr>
        <p:txBody>
          <a:bodyPr wrap="square" lIns="0" tIns="0" rIns="0" bIns="0" rtlCol="0" anchor="ctr"/>
          <a:lstStyle/>
          <a:p>
            <a:pPr indent="0" marL="0">
              <a:buNone/>
            </a:pPr>
            <a:r>
              <a:rPr lang="en-US" sz="1600" dirty="0">
                <a:solidFill>
                  <a:srgbClr val="E0B24A"/>
                </a:solidFill>
                <a:latin typeface="Aptos" pitchFamily="34" charset="0"/>
                <a:ea typeface="Aptos" pitchFamily="34" charset="-122"/>
                <a:cs typeface="Aptos" pitchFamily="34" charset="-120"/>
              </a:rPr>
              <a:t>•</a:t>
            </a:r>
            <a:endParaRPr lang="en-US" sz="1600" dirty="0"/>
          </a:p>
        </p:txBody>
      </p:sp>
      <p:sp>
        <p:nvSpPr>
          <p:cNvPr id="57" name="Text 54"/>
          <p:cNvSpPr/>
          <p:nvPr/>
        </p:nvSpPr>
        <p:spPr>
          <a:xfrm>
            <a:off x="8595360" y="3502152"/>
            <a:ext cx="2331720" cy="530352"/>
          </a:xfrm>
          <a:prstGeom prst="rect">
            <a:avLst/>
          </a:prstGeom>
          <a:noFill/>
          <a:ln/>
        </p:spPr>
        <p:txBody>
          <a:bodyPr wrap="square" lIns="0" tIns="0" rIns="0" bIns="0" rtlCol="0" anchor="ctr">
            <a:normAutofit/>
          </a:bodyPr>
          <a:lstStyle/>
          <a:p>
            <a:pPr indent="0" marL="0">
              <a:buNone/>
            </a:pPr>
            <a:r>
              <a:rPr lang="en-US" sz="1350" dirty="0">
                <a:solidFill>
                  <a:srgbClr val="FFFFFF"/>
                </a:solidFill>
                <a:latin typeface="Aptos" pitchFamily="34" charset="0"/>
                <a:ea typeface="Aptos" pitchFamily="34" charset="-122"/>
                <a:cs typeface="Aptos" pitchFamily="34" charset="-120"/>
              </a:rPr>
              <a:t>Heldere rolverdeling blijft cruciaal</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WS3.2 Teamreflectie – Firewall Force</dc:title>
  <dc:subject>WS3.2 Teamreflectie</dc:subject>
  <dc:creator>OpenAI</dc:creator>
  <cp:lastModifiedBy>OpenAI</cp:lastModifiedBy>
  <cp:revision>1</cp:revision>
  <dcterms:created xsi:type="dcterms:W3CDTF">2026-03-26T12:01:02Z</dcterms:created>
  <dcterms:modified xsi:type="dcterms:W3CDTF">2026-03-26T12:01:02Z</dcterms:modified>
</cp:coreProperties>
</file>